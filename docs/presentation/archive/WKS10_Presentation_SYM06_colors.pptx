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hands-on workshop: about 25 minutes of presentation, then you will process four real collection datasets with Claude Code. The goal is not to show you what AI can do. It is to teach you techniques you can repeat on your own data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The presentation sets up the method; the four parts apply it. Every part uses the same Standard Process, so by Part D you will be moving quickly. If you fall behind, skip to Part D, the shortest. Everything stays in the repository for you to finish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about six months I have been building ETL pipelines for several separate projects using Claude every step of the way: data transforms, testing, front-end UI, even custom database abstraction layers. The question I kept coming back to is how to use it effectively in a collections workflow, so the result is repeatable, reusable, and has provenance. AI is an entry-level programmer. I can’t hire one, so nothing is being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often told about AI: told it can do cool things, shown a demo. I want to flip that. I have spent roughly six months working almost exclusively on how to use AI, in many types of projects, many languages and many contexts. I can show some cool stuff, but that is what these sessions always are. So instead: what areas are you interested in? What do you think should be explored further? What do you feel is not given enough time or focus?
Facilitation: take 3–4 minutes. Capture answers on a flip chart or shared doc. Keep them visible and come back to them in the wrap-up. Where an answer connects to one of the four datasets, say so, and point to it during the hands-on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theme at every TDWG I have attended: not enough time, not enough money, not enough people. It is highly unlikely that this will change. AI addresses the problem if it is used in an efficient and strategic manner. Three questions frame the rest of the talk: what problem does it solve, what role does it play, and how accurate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Anecdote: I needed to turn a screenshot into a Figma mockup. I installed a plugin built for that task, which offered several models. I tried Opus, Sonnet, GPT, Flash and Flash Lite. All failed completely except Flash. The lesson: match the model to the task, and be ready to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dates as recorded in the workshop notes: Claude 1 Mar 2023, Claude 3 family Mar 2024, Claude 4 family May 2025, Sonnet 4.5 Sep 2025, Opus 4.5 Nov 2025, Sonnet 5 Jun 2026, Opus 5 Jul 2026. Gemini Flash 2.0 Feb 2025, 2.5 Jun 2025, 3.5 May 2026, 3.6 Jul 2026, 3.7 Aug 2026, 3.8 Sep 2026. Verify these dates before presenting. The point is the pace: a judgment about what a model can do has a short shelf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Organizations are no longer bound to general-purpose software such as Excel. Building software keeps getting easier, and demand for custom solutions keeps rising. For collections people, the valuable skill is being able to describe exactly what you want and then check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difficult task in any software development project is not technical. It is convincing people to change the way they do things every day. That requires a specific set of communication skills and a real time investment, and AI cannot do it for us. What AI does do is reduce labour requirements, both financial and temporal. The time saved can be reallocated: people can build new skills and accomplish more. Demand for software and other technical assets is higher than ever, so AI gives people the chance to focus on higher-level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problems. The biggest is for entry-level workers: the routine work AI takes over is the work people used to learn on, so we need to think about how new staff build experience. Bear in mind that we are social creatures and will always seek interpersonal interaction. At least for now, there will always be tasks that must be performed by humans, especially communication between people. Finally, pattern matching is at the heart of many AI models. That explains both their strength on repetitive transformations and why we validate everything they produce, which is the technique you will use in the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premise: most data is AI-ready with the right prompt. Success depends on three factors: the prompt, the amount of context, and the model. In the exercise you will control all three: the prompts are written for you, the repository provides the context, and you can switch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their hand: the best results come from giving the model every task, note and guideline. Have the model review the instructions: it finds gaps and ambiguity. Wording matters: several times I have had mediocre results, and someone else phrased the same instructions differently and the task succeeded. Process the data ahead of time. Compare results using different levels of information. Provide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ETL vocabulary: Extract pulls data from its source in its verbatim form. Transform cleans, splits, categorizes, translates, reconciles and restructures it. Load writes it to the target. Organize a pipeline as discrete stages with defined inputs and outputs, driven by config rather than hard-coded logic, with small repeatable scripts. Always generate a report that defines what the output contains.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avoid runaway codebases; make things repeatable with config files and scripts; define metrics; give examples; make a plan and have Claude review it; use a stepwise architecture; report at every stage; keep the source verbatim. Provenance: store the work in a standardized repository, minimize reliance on AI to perform specific transformations by scripting the task, and generate reports. In today’s exercise, model translations are saved to mapping files for exactly this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differs from a chat tool in one key way: it works on your files. It reads the documentation in the repository, writes scripts, runs them, and reads the results. A CLAUDE.md file gives it the project rules at the start of every session, which is the most efficient way to provide context. It asks permission before editing files or running commands. Setup: install, sign in, open the repository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Repository layout. data/input holds the verbatim exports and is never edited. Each dataset has a folder in data/output starting at version 00; every step writes the next number plus a report. data/dist holds only reviewed, validated deliverables. Authorities, docs, schemas and scripts support the process. Participants: clone github.com/ben-norton/tdwg2026-wks10.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datasets. A: 2,191 German mineral names from NM Bern; most end in -it, but some need knowledge (Quarz, Schwefel). B: 21,460 specimen rows from MHN Geneva with French names and Strunz numbers, including synonyms, uncertain identifications and notes. C: 14,092 locality strings from Basel, mixed English and German, with qualifiers and historical countries. D: 67 Yale Peabody specimens, each with 2–5 minerals, to be converted to the compound specimen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data model for Part D is the compound specimen model, aligned with the Mineralogy Extension. A physical specimen is a material entity that can contain component parts. Each part becomes its own record, linked to the parent by is_part_of. Procedure: find the fields that hold part names, define the criteria for material categories, list the changes needed to transpose the repeating columns, create the join ID, and stack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Process: 1. analyze (profile) the dataset; 2. define the target; 3. list the changes; 4. provide helpful resources such as normative documentation, external authorities (GADM) and definitions; 5. write a stepwise plan including stages and reports, and have Claude review it; 6. generate the script; 7. run the process; 8. review the results, which must be described by a report. Step 5 is highlighted because it is where most problems are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technique for Parts A and B: rules first, the model for what the rules cannot handle, and then a deterministic authority check on every result, whatever produced it. Matches go to the dictionary; everything else goes to an unresolved file for a person. Figures from profiling the workshop data: a suffix rule alone validates roughly two thirds of the German names. For the French data, only 12 name/Strunz pairs agree as written, but 1,756 agree once the leading zero is removed. That is “process the data ahead of time”. For localities, the authority names are English/ASCII, so it serves as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Exercise Guide. Run Part A together on screen: participants type the same prompts at the same time. Then let pairs work through B, C and D. Walk the room. If people fall behind, send them to Part D, then use the reference outputs for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it is accurate? Compare AI errors with human error; manual digitization is not error-free. Use the latest models. Build in verification: reports, metrics, and a review of unresolved values. Compare runs made with different levels of context. Ask tables to share their unresolved counts from Parts A and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questions captured at the start. Which did the exercise answer, which need a different test, which should the community explore together? Take-home: a repeatable pipeline, the Standard Process as reusable prompts, mapping files and reports that record AI decisions, and unresolved lists that show where people are still needed. Invite feedback on the compound specimen model and the Mineralogy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participants. Point to the repository and the guide, and invite follow-up by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Attribution slide. Lucide icons are ISC-licensed (portions from Feather, MIT); rendered via react-icons (MIT). The TDWG 2026 logo belongs to the conference. Leave this slide at the end of any shared copy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D"/>
        </a:solidFill>
      </p:bgPr>
    </p:bg>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t"/>
          <a:lstStyle/>
          <a:p>
            <a:pPr indent="0" marL="0">
              <a:buNone/>
            </a:pPr>
            <a:r>
              <a:rPr lang="en-US" sz="1200" b="1" spc="100" kern="0" dirty="0">
                <a:solidFill>
                  <a:srgbClr val="E0584A"/>
                </a:solidFill>
                <a:latin typeface="Calibri" pitchFamily="34" charset="0"/>
                <a:ea typeface="Calibri" pitchFamily="34" charset="-122"/>
                <a:cs typeface="Calibri" pitchFamily="34" charset="-120"/>
              </a:rPr>
              <a:t>TDWG 2026  ·  OSLO  ·  WORKSHOP WKS10</a:t>
            </a:r>
            <a:endParaRPr lang="en-US" sz="1200" dirty="0"/>
          </a:p>
        </p:txBody>
      </p:sp>
      <p:pic>
        <p:nvPicPr>
          <p:cNvPr id="3" name="Image 0" descr="/home/claude/oslo_logo.png">    </p:cNvPr>
          <p:cNvPicPr>
            <a:picLocks noChangeAspect="1"/>
          </p:cNvPicPr>
          <p:nvPr/>
        </p:nvPicPr>
        <p:blipFill>
          <a:blip r:embed="rId1"/>
          <a:stretch>
            <a:fillRect/>
          </a:stretch>
        </p:blipFill>
        <p:spPr>
          <a:xfrm>
            <a:off x="10500055" y="365760"/>
            <a:ext cx="1143000" cy="1143000"/>
          </a:xfrm>
          <a:prstGeom prst="rect">
            <a:avLst/>
          </a:prstGeom>
        </p:spPr>
      </p:pic>
      <p:sp>
        <p:nvSpPr>
          <p:cNvPr id="4" name="Text 1"/>
          <p:cNvSpPr txBox="1"/>
          <p:nvPr/>
        </p:nvSpPr>
        <p:spPr>
          <a:xfrm>
            <a:off x="548640" y="960120"/>
            <a:ext cx="96012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Building a Repeatable AI Pipeline</a:t>
            </a:r>
            <a:endParaRPr lang="en-US" sz="4400" dirty="0"/>
          </a:p>
        </p:txBody>
      </p:sp>
      <p:sp>
        <p:nvSpPr>
          <p:cNvPr id="5" name="Text 2"/>
          <p:cNvSpPr txBox="1"/>
          <p:nvPr/>
        </p:nvSpPr>
        <p:spPr>
          <a:xfrm>
            <a:off x="548640" y="1783080"/>
            <a:ext cx="9601200" cy="685800"/>
          </a:xfrm>
          <a:prstGeom prst="rect">
            <a:avLst/>
          </a:prstGeom>
          <a:noFill/>
          <a:ln/>
        </p:spPr>
        <p:txBody>
          <a:bodyPr wrap="square" lIns="0" tIns="0" rIns="0" bIns="0" rtlCol="0" anchor="ctr"/>
          <a:lstStyle/>
          <a:p>
            <a:pPr indent="0" marL="0">
              <a:buNone/>
            </a:pPr>
            <a:r>
              <a:rPr lang="en-US" sz="3000" b="1" dirty="0">
                <a:solidFill>
                  <a:srgbClr val="FAF3E0"/>
                </a:solidFill>
                <a:latin typeface="Cambria" pitchFamily="34" charset="0"/>
                <a:ea typeface="Cambria" pitchFamily="34" charset="-122"/>
                <a:cs typeface="Cambria" pitchFamily="34" charset="-120"/>
              </a:rPr>
              <a:t>Hands-on AI data processing for geological collections</a:t>
            </a:r>
            <a:endParaRPr lang="en-US" sz="3000" dirty="0"/>
          </a:p>
        </p:txBody>
      </p:sp>
      <p:sp>
        <p:nvSpPr>
          <p:cNvPr id="6" name="Text 3"/>
          <p:cNvSpPr txBox="1"/>
          <p:nvPr/>
        </p:nvSpPr>
        <p:spPr>
          <a:xfrm>
            <a:off x="548640" y="2743200"/>
            <a:ext cx="7863840" cy="914400"/>
          </a:xfrm>
          <a:prstGeom prst="rect">
            <a:avLst/>
          </a:prstGeom>
          <a:noFill/>
          <a:ln/>
        </p:spPr>
        <p:txBody>
          <a:bodyPr wrap="square" lIns="0" tIns="0" rIns="0" bIns="0" rtlCol="0" anchor="t"/>
          <a:lstStyle/>
          <a:p>
            <a:pPr indent="0" marL="0">
              <a:lnSpc>
                <a:spcPct val="120000"/>
              </a:lnSpc>
              <a:buNone/>
            </a:pPr>
            <a:r>
              <a:rPr lang="en-US" sz="1600" dirty="0">
                <a:solidFill>
                  <a:srgbClr val="A9B3BF"/>
                </a:solidFill>
                <a:latin typeface="Calibri" pitchFamily="34" charset="0"/>
                <a:ea typeface="Calibri" pitchFamily="34" charset="-122"/>
                <a:cs typeface="Calibri" pitchFamily="34" charset="-120"/>
              </a:rPr>
              <a:t>Geological Collections with Darwin Core: Compound Specimen Model and Mineralogy Extension, Accelerated with AI. Four real collection datasets, one repository, and an AI assistant that works directly on your files.</a:t>
            </a:r>
            <a:endParaRPr lang="en-US" sz="1600" dirty="0"/>
          </a:p>
        </p:txBody>
      </p:sp>
      <p:sp>
        <p:nvSpPr>
          <p:cNvPr id="7" name="Text 4"/>
          <p:cNvSpPr txBox="1"/>
          <p:nvPr/>
        </p:nvSpPr>
        <p:spPr>
          <a:xfrm>
            <a:off x="548640" y="4069080"/>
            <a:ext cx="2560320" cy="822960"/>
          </a:xfrm>
          <a:prstGeom prst="rect">
            <a:avLst/>
          </a:prstGeom>
          <a:noFill/>
          <a:ln/>
        </p:spPr>
        <p:txBody>
          <a:bodyPr wrap="square" lIns="0" tIns="0" rIns="0" bIns="0" rtlCol="0" anchor="ctr"/>
          <a:lstStyle/>
          <a:p>
            <a:pPr indent="0" marL="0">
              <a:buNone/>
            </a:pPr>
            <a:r>
              <a:rPr lang="en-US" sz="5400" b="1" dirty="0">
                <a:solidFill>
                  <a:srgbClr val="E0584A"/>
                </a:solidFill>
                <a:latin typeface="Cambria" pitchFamily="34" charset="0"/>
                <a:ea typeface="Cambria" pitchFamily="34" charset="-122"/>
                <a:cs typeface="Cambria" pitchFamily="34" charset="-120"/>
              </a:rPr>
              <a:t>4</a:t>
            </a:r>
            <a:endParaRPr lang="en-US" sz="5400" dirty="0"/>
          </a:p>
        </p:txBody>
      </p:sp>
      <p:sp>
        <p:nvSpPr>
          <p:cNvPr id="8" name="Text 5"/>
          <p:cNvSpPr txBox="1"/>
          <p:nvPr/>
        </p:nvSpPr>
        <p:spPr>
          <a:xfrm>
            <a:off x="548640" y="4937760"/>
            <a:ext cx="2560320" cy="640080"/>
          </a:xfrm>
          <a:prstGeom prst="rect">
            <a:avLst/>
          </a:prstGeom>
          <a:noFill/>
          <a:ln/>
        </p:spPr>
        <p:txBody>
          <a:bodyPr wrap="square" lIns="0" tIns="0" rIns="0" bIns="0" rtlCol="0" anchor="t"/>
          <a:lstStyle/>
          <a:p>
            <a:pPr indent="0" marL="0">
              <a:buNone/>
            </a:pPr>
            <a:r>
              <a:rPr lang="en-US" sz="1300" dirty="0">
                <a:solidFill>
                  <a:srgbClr val="E4DECF"/>
                </a:solidFill>
                <a:latin typeface="Calibri" pitchFamily="34" charset="0"/>
                <a:ea typeface="Calibri" pitchFamily="34" charset="-122"/>
                <a:cs typeface="Calibri" pitchFamily="34" charset="-120"/>
              </a:rPr>
              <a:t>real datasets from Swiss and</a:t>
            </a:r>
            <a:endParaRPr lang="en-US" sz="1300" dirty="0"/>
          </a:p>
          <a:p>
            <a:pPr indent="0" marL="0">
              <a:buNone/>
            </a:pPr>
            <a:r>
              <a:rPr lang="en-US" sz="1300" dirty="0">
                <a:solidFill>
                  <a:srgbClr val="E4DECF"/>
                </a:solidFill>
                <a:latin typeface="Calibri" pitchFamily="34" charset="0"/>
                <a:ea typeface="Calibri" pitchFamily="34" charset="-122"/>
                <a:cs typeface="Calibri" pitchFamily="34" charset="-120"/>
              </a:rPr>
              <a:t>US collections</a:t>
            </a:r>
            <a:endParaRPr lang="en-US" sz="1300" dirty="0"/>
          </a:p>
        </p:txBody>
      </p:sp>
      <p:sp>
        <p:nvSpPr>
          <p:cNvPr id="9" name="Text 6"/>
          <p:cNvSpPr txBox="1"/>
          <p:nvPr/>
        </p:nvSpPr>
        <p:spPr>
          <a:xfrm>
            <a:off x="3337560" y="4069080"/>
            <a:ext cx="2560320" cy="822960"/>
          </a:xfrm>
          <a:prstGeom prst="rect">
            <a:avLst/>
          </a:prstGeom>
          <a:noFill/>
          <a:ln/>
        </p:spPr>
        <p:txBody>
          <a:bodyPr wrap="square" lIns="0" tIns="0" rIns="0" bIns="0" rtlCol="0" anchor="ctr"/>
          <a:lstStyle/>
          <a:p>
            <a:pPr indent="0" marL="0">
              <a:buNone/>
            </a:pPr>
            <a:r>
              <a:rPr lang="en-US" sz="5400" b="1" dirty="0">
                <a:solidFill>
                  <a:srgbClr val="E0584A"/>
                </a:solidFill>
                <a:latin typeface="Cambria" pitchFamily="34" charset="0"/>
                <a:ea typeface="Cambria" pitchFamily="34" charset="-122"/>
                <a:cs typeface="Cambria" pitchFamily="34" charset="-120"/>
              </a:rPr>
              <a:t>90</a:t>
            </a:r>
            <a:endParaRPr lang="en-US" sz="5400" dirty="0"/>
          </a:p>
        </p:txBody>
      </p:sp>
      <p:sp>
        <p:nvSpPr>
          <p:cNvPr id="10" name="Text 7"/>
          <p:cNvSpPr txBox="1"/>
          <p:nvPr/>
        </p:nvSpPr>
        <p:spPr>
          <a:xfrm>
            <a:off x="3337560" y="4937760"/>
            <a:ext cx="2560320" cy="640080"/>
          </a:xfrm>
          <a:prstGeom prst="rect">
            <a:avLst/>
          </a:prstGeom>
          <a:noFill/>
          <a:ln/>
        </p:spPr>
        <p:txBody>
          <a:bodyPr wrap="square" lIns="0" tIns="0" rIns="0" bIns="0" rtlCol="0" anchor="t"/>
          <a:lstStyle/>
          <a:p>
            <a:pPr indent="0" marL="0">
              <a:buNone/>
            </a:pPr>
            <a:r>
              <a:rPr lang="en-US" sz="1300" dirty="0">
                <a:solidFill>
                  <a:srgbClr val="E4DECF"/>
                </a:solidFill>
                <a:latin typeface="Calibri" pitchFamily="34" charset="0"/>
                <a:ea typeface="Calibri" pitchFamily="34" charset="-122"/>
                <a:cs typeface="Calibri" pitchFamily="34" charset="-120"/>
              </a:rPr>
              <a:t>minutes, more than half</a:t>
            </a:r>
            <a:endParaRPr lang="en-US" sz="1300" dirty="0"/>
          </a:p>
          <a:p>
            <a:pPr indent="0" marL="0">
              <a:buNone/>
            </a:pPr>
            <a:r>
              <a:rPr lang="en-US" sz="1300" dirty="0">
                <a:solidFill>
                  <a:srgbClr val="E4DECF"/>
                </a:solidFill>
                <a:latin typeface="Calibri" pitchFamily="34" charset="0"/>
                <a:ea typeface="Calibri" pitchFamily="34" charset="-122"/>
                <a:cs typeface="Calibri" pitchFamily="34" charset="-120"/>
              </a:rPr>
              <a:t>of them hands-on</a:t>
            </a:r>
            <a:endParaRPr lang="en-US" sz="1300" dirty="0"/>
          </a:p>
        </p:txBody>
      </p:sp>
      <p:sp>
        <p:nvSpPr>
          <p:cNvPr id="11" name="Text 8"/>
          <p:cNvSpPr txBox="1"/>
          <p:nvPr/>
        </p:nvSpPr>
        <p:spPr>
          <a:xfrm>
            <a:off x="6126480" y="4069080"/>
            <a:ext cx="2560320" cy="822960"/>
          </a:xfrm>
          <a:prstGeom prst="rect">
            <a:avLst/>
          </a:prstGeom>
          <a:noFill/>
          <a:ln/>
        </p:spPr>
        <p:txBody>
          <a:bodyPr wrap="square" lIns="0" tIns="0" rIns="0" bIns="0" rtlCol="0" anchor="ctr"/>
          <a:lstStyle/>
          <a:p>
            <a:pPr indent="0" marL="0">
              <a:buNone/>
            </a:pPr>
            <a:r>
              <a:rPr lang="en-US" sz="5400" b="1" dirty="0">
                <a:solidFill>
                  <a:srgbClr val="E0584A"/>
                </a:solidFill>
                <a:latin typeface="Cambria" pitchFamily="34" charset="0"/>
                <a:ea typeface="Cambria" pitchFamily="34" charset="-122"/>
                <a:cs typeface="Cambria" pitchFamily="34" charset="-120"/>
              </a:rPr>
              <a:t>8</a:t>
            </a:r>
            <a:endParaRPr lang="en-US" sz="5400" dirty="0"/>
          </a:p>
        </p:txBody>
      </p:sp>
      <p:sp>
        <p:nvSpPr>
          <p:cNvPr id="12" name="Text 9"/>
          <p:cNvSpPr txBox="1"/>
          <p:nvPr/>
        </p:nvSpPr>
        <p:spPr>
          <a:xfrm>
            <a:off x="6126480" y="4937760"/>
            <a:ext cx="2560320" cy="640080"/>
          </a:xfrm>
          <a:prstGeom prst="rect">
            <a:avLst/>
          </a:prstGeom>
          <a:noFill/>
          <a:ln/>
        </p:spPr>
        <p:txBody>
          <a:bodyPr wrap="square" lIns="0" tIns="0" rIns="0" bIns="0" rtlCol="0" anchor="t"/>
          <a:lstStyle/>
          <a:p>
            <a:pPr indent="0" marL="0">
              <a:buNone/>
            </a:pPr>
            <a:r>
              <a:rPr lang="en-US" sz="1300" dirty="0">
                <a:solidFill>
                  <a:srgbClr val="E4DECF"/>
                </a:solidFill>
                <a:latin typeface="Calibri" pitchFamily="34" charset="0"/>
                <a:ea typeface="Calibri" pitchFamily="34" charset="-122"/>
                <a:cs typeface="Calibri" pitchFamily="34" charset="-120"/>
              </a:rPr>
              <a:t>steps in the Standard</a:t>
            </a:r>
            <a:endParaRPr lang="en-US" sz="1300" dirty="0"/>
          </a:p>
          <a:p>
            <a:pPr indent="0" marL="0">
              <a:buNone/>
            </a:pPr>
            <a:r>
              <a:rPr lang="en-US" sz="1300" dirty="0">
                <a:solidFill>
                  <a:srgbClr val="E4DECF"/>
                </a:solidFill>
                <a:latin typeface="Calibri" pitchFamily="34" charset="0"/>
                <a:ea typeface="Calibri" pitchFamily="34" charset="-122"/>
                <a:cs typeface="Calibri" pitchFamily="34" charset="-120"/>
              </a:rPr>
              <a:t>Process, used every time</a:t>
            </a:r>
            <a:endParaRPr lang="en-US" sz="1300" dirty="0"/>
          </a:p>
        </p:txBody>
      </p:sp>
      <p:sp>
        <p:nvSpPr>
          <p:cNvPr id="13" name="Text 10"/>
          <p:cNvSpPr txBox="1"/>
          <p:nvPr/>
        </p:nvSpPr>
        <p:spPr>
          <a:xfrm>
            <a:off x="8915400" y="4069080"/>
            <a:ext cx="2560320" cy="822960"/>
          </a:xfrm>
          <a:prstGeom prst="rect">
            <a:avLst/>
          </a:prstGeom>
          <a:noFill/>
          <a:ln/>
        </p:spPr>
        <p:txBody>
          <a:bodyPr wrap="square" lIns="0" tIns="0" rIns="0" bIns="0" rtlCol="0" anchor="ctr"/>
          <a:lstStyle/>
          <a:p>
            <a:pPr indent="0" marL="0">
              <a:buNone/>
            </a:pPr>
            <a:r>
              <a:rPr lang="en-US" sz="5400" b="1" dirty="0">
                <a:solidFill>
                  <a:srgbClr val="E0584A"/>
                </a:solidFill>
                <a:latin typeface="Cambria" pitchFamily="34" charset="0"/>
                <a:ea typeface="Cambria" pitchFamily="34" charset="-122"/>
                <a:cs typeface="Cambria" pitchFamily="34" charset="-120"/>
              </a:rPr>
              <a:t>1</a:t>
            </a:r>
            <a:endParaRPr lang="en-US" sz="5400" dirty="0"/>
          </a:p>
        </p:txBody>
      </p:sp>
      <p:sp>
        <p:nvSpPr>
          <p:cNvPr id="14" name="Text 11"/>
          <p:cNvSpPr txBox="1"/>
          <p:nvPr/>
        </p:nvSpPr>
        <p:spPr>
          <a:xfrm>
            <a:off x="8915400" y="4937760"/>
            <a:ext cx="2560320" cy="640080"/>
          </a:xfrm>
          <a:prstGeom prst="rect">
            <a:avLst/>
          </a:prstGeom>
          <a:noFill/>
          <a:ln/>
        </p:spPr>
        <p:txBody>
          <a:bodyPr wrap="square" lIns="0" tIns="0" rIns="0" bIns="0" rtlCol="0" anchor="t"/>
          <a:lstStyle/>
          <a:p>
            <a:pPr indent="0" marL="0">
              <a:buNone/>
            </a:pPr>
            <a:r>
              <a:rPr lang="en-US" sz="1300" dirty="0">
                <a:solidFill>
                  <a:srgbClr val="E4DECF"/>
                </a:solidFill>
                <a:latin typeface="Calibri" pitchFamily="34" charset="0"/>
                <a:ea typeface="Calibri" pitchFamily="34" charset="-122"/>
                <a:cs typeface="Calibri" pitchFamily="34" charset="-120"/>
              </a:rPr>
              <a:t>repository you take home</a:t>
            </a:r>
            <a:endParaRPr lang="en-US" sz="1300" dirty="0"/>
          </a:p>
          <a:p>
            <a:pPr indent="0" marL="0">
              <a:buNone/>
            </a:pPr>
            <a:r>
              <a:rPr lang="en-US" sz="1300" dirty="0">
                <a:solidFill>
                  <a:srgbClr val="E4DECF"/>
                </a:solidFill>
                <a:latin typeface="Calibri" pitchFamily="34" charset="0"/>
                <a:ea typeface="Calibri" pitchFamily="34" charset="-122"/>
                <a:cs typeface="Calibri" pitchFamily="34" charset="-120"/>
              </a:rPr>
              <a:t>and re-run on your data</a:t>
            </a:r>
            <a:endParaRPr lang="en-US" sz="1300" dirty="0"/>
          </a:p>
        </p:txBody>
      </p:sp>
      <p:sp>
        <p:nvSpPr>
          <p:cNvPr id="15" name="Text 12"/>
          <p:cNvSpPr txBox="1"/>
          <p:nvPr/>
        </p:nvSpPr>
        <p:spPr>
          <a:xfrm>
            <a:off x="548640" y="6080760"/>
            <a:ext cx="7315200" cy="274320"/>
          </a:xfrm>
          <a:prstGeom prst="rect">
            <a:avLst/>
          </a:prstGeom>
          <a:noFill/>
          <a:ln/>
        </p:spPr>
        <p:txBody>
          <a:bodyPr wrap="square" lIns="0" tIns="0" rIns="0" bIns="0" rtlCol="0" anchor="t"/>
          <a:lstStyle/>
          <a:p>
            <a:pPr indent="0" marL="0">
              <a:buNone/>
            </a:pPr>
            <a:r>
              <a:rPr lang="en-US" sz="1100" dirty="0">
                <a:solidFill>
                  <a:srgbClr val="7A7F87"/>
                </a:solidFill>
                <a:latin typeface="Calibri" pitchFamily="34" charset="0"/>
                <a:ea typeface="Calibri" pitchFamily="34" charset="-122"/>
                <a:cs typeface="Calibri" pitchFamily="34" charset="-120"/>
              </a:rPr>
              <a:t>Ben Norton (Yale University)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3400" b="1" dirty="0">
                <a:solidFill>
                  <a:srgbClr val="0E1A2D"/>
                </a:solidFill>
                <a:latin typeface="Cambria" pitchFamily="34" charset="0"/>
                <a:ea typeface="Cambria" pitchFamily="34" charset="-122"/>
                <a:cs typeface="Cambria" pitchFamily="34" charset="-120"/>
              </a:rPr>
              <a:t>Today’s 90 minutes</a:t>
            </a:r>
            <a:endParaRPr lang="en-US" sz="3400" dirty="0"/>
          </a:p>
        </p:txBody>
      </p:sp>
      <p:sp>
        <p:nvSpPr>
          <p:cNvPr id="3" name="Text 1"/>
          <p:cNvSpPr txBox="1"/>
          <p:nvPr/>
        </p:nvSpPr>
        <p:spPr>
          <a:xfrm>
            <a:off x="548640" y="1234440"/>
            <a:ext cx="11094415" cy="365760"/>
          </a:xfrm>
          <a:prstGeom prst="rect">
            <a:avLst/>
          </a:prstGeom>
          <a:noFill/>
          <a:ln/>
        </p:spPr>
        <p:txBody>
          <a:bodyPr wrap="square" lIns="0" tIns="0" rIns="0" bIns="0" rtlCol="0" anchor="ctr"/>
          <a:lstStyle/>
          <a:p>
            <a:pPr indent="0" marL="0">
              <a:buNone/>
            </a:pPr>
            <a:r>
              <a:rPr lang="en-US" sz="1500" dirty="0">
                <a:solidFill>
                  <a:srgbClr val="4D4D4D"/>
                </a:solidFill>
                <a:latin typeface="Calibri" pitchFamily="34" charset="0"/>
                <a:ea typeface="Calibri" pitchFamily="34" charset="-122"/>
                <a:cs typeface="Calibri" pitchFamily="34" charset="-120"/>
              </a:rPr>
              <a:t>A short presentation, then four datasets processed hands-on with the same method.</a:t>
            </a:r>
            <a:endParaRPr lang="en-US" sz="1500" dirty="0"/>
          </a:p>
        </p:txBody>
      </p:sp>
      <p:sp>
        <p:nvSpPr>
          <p:cNvPr id="4" name="Shape 2"/>
          <p:cNvSpPr/>
          <p:nvPr/>
        </p:nvSpPr>
        <p:spPr>
          <a:xfrm>
            <a:off x="566928" y="2103120"/>
            <a:ext cx="3045206" cy="685800"/>
          </a:xfrm>
          <a:prstGeom prst="rect">
            <a:avLst/>
          </a:prstGeom>
          <a:solidFill>
            <a:srgbClr val="6E6E6E"/>
          </a:solidFill>
          <a:ln w="12700">
            <a:solidFill>
              <a:srgbClr val="6E6E6E"/>
            </a:solidFill>
            <a:prstDash val="solid"/>
          </a:ln>
        </p:spPr>
      </p:sp>
      <p:sp>
        <p:nvSpPr>
          <p:cNvPr id="5" name="Text 3"/>
          <p:cNvSpPr txBox="1"/>
          <p:nvPr/>
        </p:nvSpPr>
        <p:spPr>
          <a:xfrm>
            <a:off x="566928" y="2103120"/>
            <a:ext cx="3045206"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Presentation</a:t>
            </a:r>
            <a:endParaRPr lang="en-US" sz="1300" dirty="0"/>
          </a:p>
        </p:txBody>
      </p:sp>
      <p:sp>
        <p:nvSpPr>
          <p:cNvPr id="6" name="Text 4"/>
          <p:cNvSpPr txBox="1"/>
          <p:nvPr/>
        </p:nvSpPr>
        <p:spPr>
          <a:xfrm>
            <a:off x="548640" y="2852928"/>
            <a:ext cx="3081782" cy="274320"/>
          </a:xfrm>
          <a:prstGeom prst="rect">
            <a:avLst/>
          </a:prstGeom>
          <a:noFill/>
          <a:ln/>
        </p:spPr>
        <p:txBody>
          <a:bodyPr wrap="square" lIns="0" tIns="0" rIns="0" bIns="0" rtlCol="0" anchor="t"/>
          <a:lstStyle/>
          <a:p>
            <a:pPr algn="ctr" indent="0" marL="0">
              <a:buNone/>
            </a:pPr>
            <a:r>
              <a:rPr lang="en-US" sz="1100" dirty="0">
                <a:solidFill>
                  <a:srgbClr val="7A7F87"/>
                </a:solidFill>
                <a:latin typeface="Calibri" pitchFamily="34" charset="0"/>
                <a:ea typeface="Calibri" pitchFamily="34" charset="-122"/>
                <a:cs typeface="Calibri" pitchFamily="34" charset="-120"/>
              </a:rPr>
              <a:t>25 min</a:t>
            </a:r>
            <a:endParaRPr lang="en-US" sz="1100" dirty="0"/>
          </a:p>
        </p:txBody>
      </p:sp>
      <p:sp>
        <p:nvSpPr>
          <p:cNvPr id="7" name="Shape 5"/>
          <p:cNvSpPr/>
          <p:nvPr/>
        </p:nvSpPr>
        <p:spPr>
          <a:xfrm>
            <a:off x="3648710" y="2103120"/>
            <a:ext cx="579780" cy="685800"/>
          </a:xfrm>
          <a:prstGeom prst="rect">
            <a:avLst/>
          </a:prstGeom>
          <a:solidFill>
            <a:srgbClr val="7A7F87"/>
          </a:solidFill>
          <a:ln w="12700">
            <a:solidFill>
              <a:srgbClr val="7A7F87"/>
            </a:solidFill>
            <a:prstDash val="solid"/>
          </a:ln>
        </p:spPr>
      </p:sp>
      <p:sp>
        <p:nvSpPr>
          <p:cNvPr id="8" name="Text 6"/>
          <p:cNvSpPr txBox="1"/>
          <p:nvPr/>
        </p:nvSpPr>
        <p:spPr>
          <a:xfrm>
            <a:off x="3648710" y="2103120"/>
            <a:ext cx="57978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Setup</a:t>
            </a:r>
            <a:endParaRPr lang="en-US" sz="1300" dirty="0"/>
          </a:p>
        </p:txBody>
      </p:sp>
      <p:sp>
        <p:nvSpPr>
          <p:cNvPr id="9" name="Text 7"/>
          <p:cNvSpPr txBox="1"/>
          <p:nvPr/>
        </p:nvSpPr>
        <p:spPr>
          <a:xfrm>
            <a:off x="3630422" y="2852928"/>
            <a:ext cx="616356" cy="274320"/>
          </a:xfrm>
          <a:prstGeom prst="rect">
            <a:avLst/>
          </a:prstGeom>
          <a:noFill/>
          <a:ln/>
        </p:spPr>
        <p:txBody>
          <a:bodyPr wrap="square" lIns="0" tIns="0" rIns="0" bIns="0" rtlCol="0" anchor="t"/>
          <a:lstStyle/>
          <a:p>
            <a:pPr algn="ctr" indent="0" marL="0">
              <a:buNone/>
            </a:pPr>
            <a:r>
              <a:rPr lang="en-US" sz="1100" dirty="0">
                <a:solidFill>
                  <a:srgbClr val="7A7F87"/>
                </a:solidFill>
                <a:latin typeface="Calibri" pitchFamily="34" charset="0"/>
                <a:ea typeface="Calibri" pitchFamily="34" charset="-122"/>
                <a:cs typeface="Calibri" pitchFamily="34" charset="-120"/>
              </a:rPr>
              <a:t>5 min</a:t>
            </a:r>
            <a:endParaRPr lang="en-US" sz="1100" dirty="0"/>
          </a:p>
        </p:txBody>
      </p:sp>
      <p:sp>
        <p:nvSpPr>
          <p:cNvPr id="10" name="Shape 8"/>
          <p:cNvSpPr/>
          <p:nvPr/>
        </p:nvSpPr>
        <p:spPr>
          <a:xfrm>
            <a:off x="4265066" y="2103120"/>
            <a:ext cx="1812493" cy="685800"/>
          </a:xfrm>
          <a:prstGeom prst="rect">
            <a:avLst/>
          </a:prstGeom>
          <a:solidFill>
            <a:srgbClr val="5B7089"/>
          </a:solidFill>
          <a:ln w="12700">
            <a:solidFill>
              <a:srgbClr val="5B7089"/>
            </a:solidFill>
            <a:prstDash val="solid"/>
          </a:ln>
        </p:spPr>
      </p:sp>
      <p:sp>
        <p:nvSpPr>
          <p:cNvPr id="11" name="Text 9"/>
          <p:cNvSpPr txBox="1"/>
          <p:nvPr/>
        </p:nvSpPr>
        <p:spPr>
          <a:xfrm>
            <a:off x="4265066" y="2103120"/>
            <a:ext cx="1812493"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Part A</a:t>
            </a:r>
            <a:endParaRPr lang="en-US" sz="1300" dirty="0"/>
          </a:p>
        </p:txBody>
      </p:sp>
      <p:sp>
        <p:nvSpPr>
          <p:cNvPr id="12" name="Text 10"/>
          <p:cNvSpPr txBox="1"/>
          <p:nvPr/>
        </p:nvSpPr>
        <p:spPr>
          <a:xfrm>
            <a:off x="4246778" y="2852928"/>
            <a:ext cx="1849069" cy="274320"/>
          </a:xfrm>
          <a:prstGeom prst="rect">
            <a:avLst/>
          </a:prstGeom>
          <a:noFill/>
          <a:ln/>
        </p:spPr>
        <p:txBody>
          <a:bodyPr wrap="square" lIns="0" tIns="0" rIns="0" bIns="0" rtlCol="0" anchor="t"/>
          <a:lstStyle/>
          <a:p>
            <a:pPr algn="ctr" indent="0" marL="0">
              <a:buNone/>
            </a:pPr>
            <a:r>
              <a:rPr lang="en-US" sz="1100" dirty="0">
                <a:solidFill>
                  <a:srgbClr val="7A7F87"/>
                </a:solidFill>
                <a:latin typeface="Calibri" pitchFamily="34" charset="0"/>
                <a:ea typeface="Calibri" pitchFamily="34" charset="-122"/>
                <a:cs typeface="Calibri" pitchFamily="34" charset="-120"/>
              </a:rPr>
              <a:t>15 min</a:t>
            </a:r>
            <a:endParaRPr lang="en-US" sz="1100" dirty="0"/>
          </a:p>
        </p:txBody>
      </p:sp>
      <p:sp>
        <p:nvSpPr>
          <p:cNvPr id="13" name="Shape 11"/>
          <p:cNvSpPr/>
          <p:nvPr/>
        </p:nvSpPr>
        <p:spPr>
          <a:xfrm>
            <a:off x="6114136" y="2103120"/>
            <a:ext cx="1442679" cy="685800"/>
          </a:xfrm>
          <a:prstGeom prst="rect">
            <a:avLst/>
          </a:prstGeom>
          <a:solidFill>
            <a:srgbClr val="5B7089"/>
          </a:solidFill>
          <a:ln w="12700">
            <a:solidFill>
              <a:srgbClr val="5B7089"/>
            </a:solidFill>
            <a:prstDash val="solid"/>
          </a:ln>
        </p:spPr>
      </p:sp>
      <p:sp>
        <p:nvSpPr>
          <p:cNvPr id="14" name="Text 12"/>
          <p:cNvSpPr txBox="1"/>
          <p:nvPr/>
        </p:nvSpPr>
        <p:spPr>
          <a:xfrm>
            <a:off x="6114136" y="2103120"/>
            <a:ext cx="1442679"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Part B</a:t>
            </a:r>
            <a:endParaRPr lang="en-US" sz="1300" dirty="0"/>
          </a:p>
        </p:txBody>
      </p:sp>
      <p:sp>
        <p:nvSpPr>
          <p:cNvPr id="15" name="Text 13"/>
          <p:cNvSpPr txBox="1"/>
          <p:nvPr/>
        </p:nvSpPr>
        <p:spPr>
          <a:xfrm>
            <a:off x="6095848" y="2852928"/>
            <a:ext cx="1479255" cy="274320"/>
          </a:xfrm>
          <a:prstGeom prst="rect">
            <a:avLst/>
          </a:prstGeom>
          <a:noFill/>
          <a:ln/>
        </p:spPr>
        <p:txBody>
          <a:bodyPr wrap="square" lIns="0" tIns="0" rIns="0" bIns="0" rtlCol="0" anchor="t"/>
          <a:lstStyle/>
          <a:p>
            <a:pPr algn="ctr" indent="0" marL="0">
              <a:buNone/>
            </a:pPr>
            <a:r>
              <a:rPr lang="en-US" sz="1100" dirty="0">
                <a:solidFill>
                  <a:srgbClr val="7A7F87"/>
                </a:solidFill>
                <a:latin typeface="Calibri" pitchFamily="34" charset="0"/>
                <a:ea typeface="Calibri" pitchFamily="34" charset="-122"/>
                <a:cs typeface="Calibri" pitchFamily="34" charset="-120"/>
              </a:rPr>
              <a:t>12 min</a:t>
            </a:r>
            <a:endParaRPr lang="en-US" sz="1100" dirty="0"/>
          </a:p>
        </p:txBody>
      </p:sp>
      <p:sp>
        <p:nvSpPr>
          <p:cNvPr id="16" name="Shape 14"/>
          <p:cNvSpPr/>
          <p:nvPr/>
        </p:nvSpPr>
        <p:spPr>
          <a:xfrm>
            <a:off x="7593391" y="2103120"/>
            <a:ext cx="1565951" cy="685800"/>
          </a:xfrm>
          <a:prstGeom prst="rect">
            <a:avLst/>
          </a:prstGeom>
          <a:solidFill>
            <a:srgbClr val="5B7089"/>
          </a:solidFill>
          <a:ln w="12700">
            <a:solidFill>
              <a:srgbClr val="5B7089"/>
            </a:solidFill>
            <a:prstDash val="solid"/>
          </a:ln>
        </p:spPr>
      </p:sp>
      <p:sp>
        <p:nvSpPr>
          <p:cNvPr id="17" name="Text 15"/>
          <p:cNvSpPr txBox="1"/>
          <p:nvPr/>
        </p:nvSpPr>
        <p:spPr>
          <a:xfrm>
            <a:off x="7593391" y="2103120"/>
            <a:ext cx="1565951"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Part C</a:t>
            </a:r>
            <a:endParaRPr lang="en-US" sz="1300" dirty="0"/>
          </a:p>
        </p:txBody>
      </p:sp>
      <p:sp>
        <p:nvSpPr>
          <p:cNvPr id="18" name="Text 16"/>
          <p:cNvSpPr txBox="1"/>
          <p:nvPr/>
        </p:nvSpPr>
        <p:spPr>
          <a:xfrm>
            <a:off x="7575103" y="2852928"/>
            <a:ext cx="1602527" cy="274320"/>
          </a:xfrm>
          <a:prstGeom prst="rect">
            <a:avLst/>
          </a:prstGeom>
          <a:noFill/>
          <a:ln/>
        </p:spPr>
        <p:txBody>
          <a:bodyPr wrap="square" lIns="0" tIns="0" rIns="0" bIns="0" rtlCol="0" anchor="t"/>
          <a:lstStyle/>
          <a:p>
            <a:pPr algn="ctr" indent="0" marL="0">
              <a:buNone/>
            </a:pPr>
            <a:r>
              <a:rPr lang="en-US" sz="1100" dirty="0">
                <a:solidFill>
                  <a:srgbClr val="7A7F87"/>
                </a:solidFill>
                <a:latin typeface="Calibri" pitchFamily="34" charset="0"/>
                <a:ea typeface="Calibri" pitchFamily="34" charset="-122"/>
                <a:cs typeface="Calibri" pitchFamily="34" charset="-120"/>
              </a:rPr>
              <a:t>13 min</a:t>
            </a:r>
            <a:endParaRPr lang="en-US" sz="1100" dirty="0"/>
          </a:p>
        </p:txBody>
      </p:sp>
      <p:sp>
        <p:nvSpPr>
          <p:cNvPr id="19" name="Shape 17"/>
          <p:cNvSpPr/>
          <p:nvPr/>
        </p:nvSpPr>
        <p:spPr>
          <a:xfrm>
            <a:off x="9195918" y="2103120"/>
            <a:ext cx="1196137" cy="685800"/>
          </a:xfrm>
          <a:prstGeom prst="rect">
            <a:avLst/>
          </a:prstGeom>
          <a:solidFill>
            <a:srgbClr val="5B7089"/>
          </a:solidFill>
          <a:ln w="12700">
            <a:solidFill>
              <a:srgbClr val="5B7089"/>
            </a:solidFill>
            <a:prstDash val="solid"/>
          </a:ln>
        </p:spPr>
      </p:sp>
      <p:sp>
        <p:nvSpPr>
          <p:cNvPr id="20" name="Text 18"/>
          <p:cNvSpPr txBox="1"/>
          <p:nvPr/>
        </p:nvSpPr>
        <p:spPr>
          <a:xfrm>
            <a:off x="9195918" y="2103120"/>
            <a:ext cx="1196137"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Part D</a:t>
            </a:r>
            <a:endParaRPr lang="en-US" sz="1300" dirty="0"/>
          </a:p>
        </p:txBody>
      </p:sp>
      <p:sp>
        <p:nvSpPr>
          <p:cNvPr id="21" name="Text 19"/>
          <p:cNvSpPr txBox="1"/>
          <p:nvPr/>
        </p:nvSpPr>
        <p:spPr>
          <a:xfrm>
            <a:off x="9177630" y="2852928"/>
            <a:ext cx="1232713" cy="274320"/>
          </a:xfrm>
          <a:prstGeom prst="rect">
            <a:avLst/>
          </a:prstGeom>
          <a:noFill/>
          <a:ln/>
        </p:spPr>
        <p:txBody>
          <a:bodyPr wrap="square" lIns="0" tIns="0" rIns="0" bIns="0" rtlCol="0" anchor="t"/>
          <a:lstStyle/>
          <a:p>
            <a:pPr algn="ctr" indent="0" marL="0">
              <a:buNone/>
            </a:pPr>
            <a:r>
              <a:rPr lang="en-US" sz="1100" dirty="0">
                <a:solidFill>
                  <a:srgbClr val="7A7F87"/>
                </a:solidFill>
                <a:latin typeface="Calibri" pitchFamily="34" charset="0"/>
                <a:ea typeface="Calibri" pitchFamily="34" charset="-122"/>
                <a:cs typeface="Calibri" pitchFamily="34" charset="-120"/>
              </a:rPr>
              <a:t>10 min</a:t>
            </a:r>
            <a:endParaRPr lang="en-US" sz="1100" dirty="0"/>
          </a:p>
        </p:txBody>
      </p:sp>
      <p:sp>
        <p:nvSpPr>
          <p:cNvPr id="22" name="Shape 20"/>
          <p:cNvSpPr/>
          <p:nvPr/>
        </p:nvSpPr>
        <p:spPr>
          <a:xfrm>
            <a:off x="10428630" y="2103120"/>
            <a:ext cx="1196137" cy="685800"/>
          </a:xfrm>
          <a:prstGeom prst="rect">
            <a:avLst/>
          </a:prstGeom>
          <a:solidFill>
            <a:srgbClr val="C0392B"/>
          </a:solidFill>
          <a:ln w="12700">
            <a:solidFill>
              <a:srgbClr val="C0392B"/>
            </a:solidFill>
            <a:prstDash val="solid"/>
          </a:ln>
        </p:spPr>
      </p:sp>
      <p:sp>
        <p:nvSpPr>
          <p:cNvPr id="23" name="Text 21"/>
          <p:cNvSpPr txBox="1"/>
          <p:nvPr/>
        </p:nvSpPr>
        <p:spPr>
          <a:xfrm>
            <a:off x="10428630" y="2103120"/>
            <a:ext cx="1196137"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Review</a:t>
            </a:r>
            <a:endParaRPr lang="en-US" sz="1300" dirty="0"/>
          </a:p>
        </p:txBody>
      </p:sp>
      <p:sp>
        <p:nvSpPr>
          <p:cNvPr id="24" name="Text 22"/>
          <p:cNvSpPr txBox="1"/>
          <p:nvPr/>
        </p:nvSpPr>
        <p:spPr>
          <a:xfrm>
            <a:off x="10410342" y="2852928"/>
            <a:ext cx="1232713" cy="274320"/>
          </a:xfrm>
          <a:prstGeom prst="rect">
            <a:avLst/>
          </a:prstGeom>
          <a:noFill/>
          <a:ln/>
        </p:spPr>
        <p:txBody>
          <a:bodyPr wrap="square" lIns="0" tIns="0" rIns="0" bIns="0" rtlCol="0" anchor="t"/>
          <a:lstStyle/>
          <a:p>
            <a:pPr algn="ctr" indent="0" marL="0">
              <a:buNone/>
            </a:pPr>
            <a:r>
              <a:rPr lang="en-US" sz="1100" dirty="0">
                <a:solidFill>
                  <a:srgbClr val="7A7F87"/>
                </a:solidFill>
                <a:latin typeface="Calibri" pitchFamily="34" charset="0"/>
                <a:ea typeface="Calibri" pitchFamily="34" charset="-122"/>
                <a:cs typeface="Calibri" pitchFamily="34" charset="-120"/>
              </a:rPr>
              <a:t>10 min</a:t>
            </a:r>
            <a:endParaRPr lang="en-US" sz="1100" dirty="0"/>
          </a:p>
        </p:txBody>
      </p:sp>
      <p:sp>
        <p:nvSpPr>
          <p:cNvPr id="25" name="Shape 23"/>
          <p:cNvSpPr/>
          <p:nvPr/>
        </p:nvSpPr>
        <p:spPr>
          <a:xfrm>
            <a:off x="548640" y="3566160"/>
            <a:ext cx="2651760" cy="2331720"/>
          </a:xfrm>
          <a:prstGeom prst="roundRect">
            <a:avLst>
              <a:gd name="adj" fmla="val 3137"/>
            </a:avLst>
          </a:prstGeom>
          <a:solidFill>
            <a:srgbClr val="EFE5CB"/>
          </a:solidFill>
          <a:ln w="12700">
            <a:solidFill>
              <a:srgbClr val="EFE5CB"/>
            </a:solidFill>
            <a:prstDash val="solid"/>
          </a:ln>
        </p:spPr>
      </p:sp>
      <p:sp>
        <p:nvSpPr>
          <p:cNvPr id="26" name="Shape 24"/>
          <p:cNvSpPr/>
          <p:nvPr/>
        </p:nvSpPr>
        <p:spPr>
          <a:xfrm>
            <a:off x="822960" y="3794760"/>
            <a:ext cx="566928" cy="566928"/>
          </a:xfrm>
          <a:prstGeom prst="ellipse">
            <a:avLst/>
          </a:prstGeom>
          <a:solidFill>
            <a:srgbClr val="5B7089"/>
          </a:solidFill>
          <a:ln w="12700">
            <a:solidFill>
              <a:srgbClr val="5B7089"/>
            </a:solidFill>
            <a:prstDash val="solid"/>
          </a:ln>
        </p:spPr>
      </p:sp>
      <p:pic>
        <p:nvPicPr>
          <p:cNvPr id="27" name="Image 0" descr="preencoded.png">    </p:cNvPr>
          <p:cNvPicPr>
            <a:picLocks noChangeAspect="1"/>
          </p:cNvPicPr>
          <p:nvPr/>
        </p:nvPicPr>
        <p:blipFill>
          <a:blip r:embed="rId1"/>
          <a:stretch>
            <a:fillRect/>
          </a:stretch>
        </p:blipFill>
        <p:spPr>
          <a:xfrm>
            <a:off x="964692" y="3936492"/>
            <a:ext cx="283464" cy="283464"/>
          </a:xfrm>
          <a:prstGeom prst="rect">
            <a:avLst/>
          </a:prstGeom>
        </p:spPr>
      </p:pic>
      <p:sp>
        <p:nvSpPr>
          <p:cNvPr id="28" name="Text 25"/>
          <p:cNvSpPr txBox="1"/>
          <p:nvPr/>
        </p:nvSpPr>
        <p:spPr>
          <a:xfrm>
            <a:off x="822960" y="4526280"/>
            <a:ext cx="2194560" cy="274320"/>
          </a:xfrm>
          <a:prstGeom prst="rect">
            <a:avLst/>
          </a:prstGeom>
          <a:noFill/>
          <a:ln/>
        </p:spPr>
        <p:txBody>
          <a:bodyPr wrap="square" lIns="0" tIns="0" rIns="0" bIns="0" rtlCol="0" anchor="t"/>
          <a:lstStyle/>
          <a:p>
            <a:pPr indent="0" marL="0">
              <a:buNone/>
            </a:pPr>
            <a:r>
              <a:rPr lang="en-US" sz="1100" b="1" spc="100" kern="0" dirty="0">
                <a:solidFill>
                  <a:srgbClr val="C0392B"/>
                </a:solidFill>
                <a:latin typeface="Calibri" pitchFamily="34" charset="0"/>
                <a:ea typeface="Calibri" pitchFamily="34" charset="-122"/>
                <a:cs typeface="Calibri" pitchFamily="34" charset="-120"/>
              </a:rPr>
              <a:t>PART A</a:t>
            </a:r>
            <a:endParaRPr lang="en-US" sz="1100" dirty="0"/>
          </a:p>
        </p:txBody>
      </p:sp>
      <p:sp>
        <p:nvSpPr>
          <p:cNvPr id="29" name="Text 26"/>
          <p:cNvSpPr txBox="1"/>
          <p:nvPr/>
        </p:nvSpPr>
        <p:spPr>
          <a:xfrm>
            <a:off x="822960" y="4800600"/>
            <a:ext cx="2194560" cy="320040"/>
          </a:xfrm>
          <a:prstGeom prst="rect">
            <a:avLst/>
          </a:prstGeom>
          <a:noFill/>
          <a:ln/>
        </p:spPr>
        <p:txBody>
          <a:bodyPr wrap="square" lIns="0" tIns="0" rIns="0" bIns="0" rtlCol="0" anchor="t"/>
          <a:lstStyle/>
          <a:p>
            <a:pPr indent="0" marL="0">
              <a:buNone/>
            </a:pPr>
            <a:r>
              <a:rPr lang="en-US" sz="1600" b="1" dirty="0">
                <a:solidFill>
                  <a:srgbClr val="0E1A2D"/>
                </a:solidFill>
                <a:latin typeface="Calibri" pitchFamily="34" charset="0"/>
                <a:ea typeface="Calibri" pitchFamily="34" charset="-122"/>
                <a:cs typeface="Calibri" pitchFamily="34" charset="-120"/>
              </a:rPr>
              <a:t>German mineral names</a:t>
            </a:r>
            <a:endParaRPr lang="en-US" sz="1600" dirty="0"/>
          </a:p>
        </p:txBody>
      </p:sp>
      <p:sp>
        <p:nvSpPr>
          <p:cNvPr id="30" name="Text 27"/>
          <p:cNvSpPr txBox="1"/>
          <p:nvPr/>
        </p:nvSpPr>
        <p:spPr>
          <a:xfrm>
            <a:off x="822960" y="5166360"/>
            <a:ext cx="2194560" cy="64008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Translate and validate against the mineral authority</a:t>
            </a:r>
            <a:endParaRPr lang="en-US" sz="1250" dirty="0"/>
          </a:p>
        </p:txBody>
      </p:sp>
      <p:sp>
        <p:nvSpPr>
          <p:cNvPr id="31" name="Shape 28"/>
          <p:cNvSpPr/>
          <p:nvPr/>
        </p:nvSpPr>
        <p:spPr>
          <a:xfrm>
            <a:off x="3364992" y="3566160"/>
            <a:ext cx="2651760" cy="2331720"/>
          </a:xfrm>
          <a:prstGeom prst="roundRect">
            <a:avLst>
              <a:gd name="adj" fmla="val 3137"/>
            </a:avLst>
          </a:prstGeom>
          <a:solidFill>
            <a:srgbClr val="EFE5CB"/>
          </a:solidFill>
          <a:ln w="12700">
            <a:solidFill>
              <a:srgbClr val="EFE5CB"/>
            </a:solidFill>
            <a:prstDash val="solid"/>
          </a:ln>
        </p:spPr>
      </p:sp>
      <p:sp>
        <p:nvSpPr>
          <p:cNvPr id="32" name="Shape 29"/>
          <p:cNvSpPr/>
          <p:nvPr/>
        </p:nvSpPr>
        <p:spPr>
          <a:xfrm>
            <a:off x="3639312" y="3794760"/>
            <a:ext cx="566928" cy="566928"/>
          </a:xfrm>
          <a:prstGeom prst="ellipse">
            <a:avLst/>
          </a:prstGeom>
          <a:solidFill>
            <a:srgbClr val="C0392B"/>
          </a:solidFill>
          <a:ln w="12700">
            <a:solidFill>
              <a:srgbClr val="C0392B"/>
            </a:solidFill>
            <a:prstDash val="solid"/>
          </a:ln>
        </p:spPr>
      </p:sp>
      <p:pic>
        <p:nvPicPr>
          <p:cNvPr id="33" name="Image 1" descr="preencoded.png">    </p:cNvPr>
          <p:cNvPicPr>
            <a:picLocks noChangeAspect="1"/>
          </p:cNvPicPr>
          <p:nvPr/>
        </p:nvPicPr>
        <p:blipFill>
          <a:blip r:embed="rId2"/>
          <a:stretch>
            <a:fillRect/>
          </a:stretch>
        </p:blipFill>
        <p:spPr>
          <a:xfrm>
            <a:off x="3781044" y="3936492"/>
            <a:ext cx="283464" cy="283464"/>
          </a:xfrm>
          <a:prstGeom prst="rect">
            <a:avLst/>
          </a:prstGeom>
        </p:spPr>
      </p:pic>
      <p:sp>
        <p:nvSpPr>
          <p:cNvPr id="34" name="Text 30"/>
          <p:cNvSpPr txBox="1"/>
          <p:nvPr/>
        </p:nvSpPr>
        <p:spPr>
          <a:xfrm>
            <a:off x="3639312" y="4526280"/>
            <a:ext cx="2194560" cy="274320"/>
          </a:xfrm>
          <a:prstGeom prst="rect">
            <a:avLst/>
          </a:prstGeom>
          <a:noFill/>
          <a:ln/>
        </p:spPr>
        <p:txBody>
          <a:bodyPr wrap="square" lIns="0" tIns="0" rIns="0" bIns="0" rtlCol="0" anchor="t"/>
          <a:lstStyle/>
          <a:p>
            <a:pPr indent="0" marL="0">
              <a:buNone/>
            </a:pPr>
            <a:r>
              <a:rPr lang="en-US" sz="1100" b="1" spc="100" kern="0" dirty="0">
                <a:solidFill>
                  <a:srgbClr val="C0392B"/>
                </a:solidFill>
                <a:latin typeface="Calibri" pitchFamily="34" charset="0"/>
                <a:ea typeface="Calibri" pitchFamily="34" charset="-122"/>
                <a:cs typeface="Calibri" pitchFamily="34" charset="-120"/>
              </a:rPr>
              <a:t>PART B</a:t>
            </a:r>
            <a:endParaRPr lang="en-US" sz="1100" dirty="0"/>
          </a:p>
        </p:txBody>
      </p:sp>
      <p:sp>
        <p:nvSpPr>
          <p:cNvPr id="35" name="Text 31"/>
          <p:cNvSpPr txBox="1"/>
          <p:nvPr/>
        </p:nvSpPr>
        <p:spPr>
          <a:xfrm>
            <a:off x="3639312" y="4800600"/>
            <a:ext cx="2194560" cy="320040"/>
          </a:xfrm>
          <a:prstGeom prst="rect">
            <a:avLst/>
          </a:prstGeom>
          <a:noFill/>
          <a:ln/>
        </p:spPr>
        <p:txBody>
          <a:bodyPr wrap="square" lIns="0" tIns="0" rIns="0" bIns="0" rtlCol="0" anchor="t"/>
          <a:lstStyle/>
          <a:p>
            <a:pPr indent="0" marL="0">
              <a:buNone/>
            </a:pPr>
            <a:r>
              <a:rPr lang="en-US" sz="1600" b="1" dirty="0">
                <a:solidFill>
                  <a:srgbClr val="0E1A2D"/>
                </a:solidFill>
                <a:latin typeface="Calibri" pitchFamily="34" charset="0"/>
                <a:ea typeface="Calibri" pitchFamily="34" charset="-122"/>
                <a:cs typeface="Calibri" pitchFamily="34" charset="-120"/>
              </a:rPr>
              <a:t>French mineral names</a:t>
            </a:r>
            <a:endParaRPr lang="en-US" sz="1600" dirty="0"/>
          </a:p>
        </p:txBody>
      </p:sp>
      <p:sp>
        <p:nvSpPr>
          <p:cNvPr id="36" name="Text 32"/>
          <p:cNvSpPr txBox="1"/>
          <p:nvPr/>
        </p:nvSpPr>
        <p:spPr>
          <a:xfrm>
            <a:off x="3639312" y="5166360"/>
            <a:ext cx="2194560" cy="64008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Translate, validate, and check Strunz numbers</a:t>
            </a:r>
            <a:endParaRPr lang="en-US" sz="1250" dirty="0"/>
          </a:p>
        </p:txBody>
      </p:sp>
      <p:sp>
        <p:nvSpPr>
          <p:cNvPr id="37" name="Shape 33"/>
          <p:cNvSpPr/>
          <p:nvPr/>
        </p:nvSpPr>
        <p:spPr>
          <a:xfrm>
            <a:off x="6181344" y="3566160"/>
            <a:ext cx="2651760" cy="2331720"/>
          </a:xfrm>
          <a:prstGeom prst="roundRect">
            <a:avLst>
              <a:gd name="adj" fmla="val 3137"/>
            </a:avLst>
          </a:prstGeom>
          <a:solidFill>
            <a:srgbClr val="EFE5CB"/>
          </a:solidFill>
          <a:ln w="12700">
            <a:solidFill>
              <a:srgbClr val="EFE5CB"/>
            </a:solidFill>
            <a:prstDash val="solid"/>
          </a:ln>
        </p:spPr>
      </p:sp>
      <p:sp>
        <p:nvSpPr>
          <p:cNvPr id="38" name="Shape 34"/>
          <p:cNvSpPr/>
          <p:nvPr/>
        </p:nvSpPr>
        <p:spPr>
          <a:xfrm>
            <a:off x="6455664" y="3794760"/>
            <a:ext cx="566928" cy="566928"/>
          </a:xfrm>
          <a:prstGeom prst="ellipse">
            <a:avLst/>
          </a:prstGeom>
          <a:solidFill>
            <a:srgbClr val="5B7089"/>
          </a:solidFill>
          <a:ln w="12700">
            <a:solidFill>
              <a:srgbClr val="5B7089"/>
            </a:solidFill>
            <a:prstDash val="solid"/>
          </a:ln>
        </p:spPr>
      </p:sp>
      <p:pic>
        <p:nvPicPr>
          <p:cNvPr id="39" name="Image 2" descr="preencoded.png">    </p:cNvPr>
          <p:cNvPicPr>
            <a:picLocks noChangeAspect="1"/>
          </p:cNvPicPr>
          <p:nvPr/>
        </p:nvPicPr>
        <p:blipFill>
          <a:blip r:embed="rId3"/>
          <a:stretch>
            <a:fillRect/>
          </a:stretch>
        </p:blipFill>
        <p:spPr>
          <a:xfrm>
            <a:off x="6597396" y="3936492"/>
            <a:ext cx="283464" cy="283464"/>
          </a:xfrm>
          <a:prstGeom prst="rect">
            <a:avLst/>
          </a:prstGeom>
        </p:spPr>
      </p:pic>
      <p:sp>
        <p:nvSpPr>
          <p:cNvPr id="40" name="Text 35"/>
          <p:cNvSpPr txBox="1"/>
          <p:nvPr/>
        </p:nvSpPr>
        <p:spPr>
          <a:xfrm>
            <a:off x="6455664" y="4526280"/>
            <a:ext cx="2194560" cy="274320"/>
          </a:xfrm>
          <a:prstGeom prst="rect">
            <a:avLst/>
          </a:prstGeom>
          <a:noFill/>
          <a:ln/>
        </p:spPr>
        <p:txBody>
          <a:bodyPr wrap="square" lIns="0" tIns="0" rIns="0" bIns="0" rtlCol="0" anchor="t"/>
          <a:lstStyle/>
          <a:p>
            <a:pPr indent="0" marL="0">
              <a:buNone/>
            </a:pPr>
            <a:r>
              <a:rPr lang="en-US" sz="1100" b="1" spc="100" kern="0" dirty="0">
                <a:solidFill>
                  <a:srgbClr val="C0392B"/>
                </a:solidFill>
                <a:latin typeface="Calibri" pitchFamily="34" charset="0"/>
                <a:ea typeface="Calibri" pitchFamily="34" charset="-122"/>
                <a:cs typeface="Calibri" pitchFamily="34" charset="-120"/>
              </a:rPr>
              <a:t>PART C</a:t>
            </a:r>
            <a:endParaRPr lang="en-US" sz="1100" dirty="0"/>
          </a:p>
        </p:txBody>
      </p:sp>
      <p:sp>
        <p:nvSpPr>
          <p:cNvPr id="41" name="Text 36"/>
          <p:cNvSpPr txBox="1"/>
          <p:nvPr/>
        </p:nvSpPr>
        <p:spPr>
          <a:xfrm>
            <a:off x="6455664" y="4800600"/>
            <a:ext cx="2194560" cy="320040"/>
          </a:xfrm>
          <a:prstGeom prst="rect">
            <a:avLst/>
          </a:prstGeom>
          <a:noFill/>
          <a:ln/>
        </p:spPr>
        <p:txBody>
          <a:bodyPr wrap="square" lIns="0" tIns="0" rIns="0" bIns="0" rtlCol="0" anchor="t"/>
          <a:lstStyle/>
          <a:p>
            <a:pPr indent="0" marL="0">
              <a:buNone/>
            </a:pPr>
            <a:r>
              <a:rPr lang="en-US" sz="1600" b="1" dirty="0">
                <a:solidFill>
                  <a:srgbClr val="0E1A2D"/>
                </a:solidFill>
                <a:latin typeface="Calibri" pitchFamily="34" charset="0"/>
                <a:ea typeface="Calibri" pitchFamily="34" charset="-122"/>
                <a:cs typeface="Calibri" pitchFamily="34" charset="-120"/>
              </a:rPr>
              <a:t>German localities</a:t>
            </a:r>
            <a:endParaRPr lang="en-US" sz="1600" dirty="0"/>
          </a:p>
        </p:txBody>
      </p:sp>
      <p:sp>
        <p:nvSpPr>
          <p:cNvPr id="42" name="Text 37"/>
          <p:cNvSpPr txBox="1"/>
          <p:nvPr/>
        </p:nvSpPr>
        <p:spPr>
          <a:xfrm>
            <a:off x="6455664" y="5166360"/>
            <a:ext cx="2194560" cy="64008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Split, rank and translate place hierarchies</a:t>
            </a:r>
            <a:endParaRPr lang="en-US" sz="1250" dirty="0"/>
          </a:p>
        </p:txBody>
      </p:sp>
      <p:sp>
        <p:nvSpPr>
          <p:cNvPr id="43" name="Shape 38"/>
          <p:cNvSpPr/>
          <p:nvPr/>
        </p:nvSpPr>
        <p:spPr>
          <a:xfrm>
            <a:off x="8997696" y="3566160"/>
            <a:ext cx="2651760" cy="2331720"/>
          </a:xfrm>
          <a:prstGeom prst="roundRect">
            <a:avLst>
              <a:gd name="adj" fmla="val 3137"/>
            </a:avLst>
          </a:prstGeom>
          <a:solidFill>
            <a:srgbClr val="EFE5CB"/>
          </a:solidFill>
          <a:ln w="12700">
            <a:solidFill>
              <a:srgbClr val="EFE5CB"/>
            </a:solidFill>
            <a:prstDash val="solid"/>
          </a:ln>
        </p:spPr>
      </p:sp>
      <p:sp>
        <p:nvSpPr>
          <p:cNvPr id="44" name="Shape 39"/>
          <p:cNvSpPr/>
          <p:nvPr/>
        </p:nvSpPr>
        <p:spPr>
          <a:xfrm>
            <a:off x="9272016" y="3794760"/>
            <a:ext cx="566928" cy="566928"/>
          </a:xfrm>
          <a:prstGeom prst="ellipse">
            <a:avLst/>
          </a:prstGeom>
          <a:solidFill>
            <a:srgbClr val="C0392B"/>
          </a:solidFill>
          <a:ln w="12700">
            <a:solidFill>
              <a:srgbClr val="C0392B"/>
            </a:solidFill>
            <a:prstDash val="solid"/>
          </a:ln>
        </p:spPr>
      </p:sp>
      <p:pic>
        <p:nvPicPr>
          <p:cNvPr id="45" name="Image 3" descr="preencoded.png">    </p:cNvPr>
          <p:cNvPicPr>
            <a:picLocks noChangeAspect="1"/>
          </p:cNvPicPr>
          <p:nvPr/>
        </p:nvPicPr>
        <p:blipFill>
          <a:blip r:embed="rId4"/>
          <a:stretch>
            <a:fillRect/>
          </a:stretch>
        </p:blipFill>
        <p:spPr>
          <a:xfrm>
            <a:off x="9413748" y="3936492"/>
            <a:ext cx="283464" cy="283464"/>
          </a:xfrm>
          <a:prstGeom prst="rect">
            <a:avLst/>
          </a:prstGeom>
        </p:spPr>
      </p:pic>
      <p:sp>
        <p:nvSpPr>
          <p:cNvPr id="46" name="Text 40"/>
          <p:cNvSpPr txBox="1"/>
          <p:nvPr/>
        </p:nvSpPr>
        <p:spPr>
          <a:xfrm>
            <a:off x="9272016" y="4526280"/>
            <a:ext cx="2194560" cy="274320"/>
          </a:xfrm>
          <a:prstGeom prst="rect">
            <a:avLst/>
          </a:prstGeom>
          <a:noFill/>
          <a:ln/>
        </p:spPr>
        <p:txBody>
          <a:bodyPr wrap="square" lIns="0" tIns="0" rIns="0" bIns="0" rtlCol="0" anchor="t"/>
          <a:lstStyle/>
          <a:p>
            <a:pPr indent="0" marL="0">
              <a:buNone/>
            </a:pPr>
            <a:r>
              <a:rPr lang="en-US" sz="1100" b="1" spc="100" kern="0" dirty="0">
                <a:solidFill>
                  <a:srgbClr val="C0392B"/>
                </a:solidFill>
                <a:latin typeface="Calibri" pitchFamily="34" charset="0"/>
                <a:ea typeface="Calibri" pitchFamily="34" charset="-122"/>
                <a:cs typeface="Calibri" pitchFamily="34" charset="-120"/>
              </a:rPr>
              <a:t>PART D</a:t>
            </a:r>
            <a:endParaRPr lang="en-US" sz="1100" dirty="0"/>
          </a:p>
        </p:txBody>
      </p:sp>
      <p:sp>
        <p:nvSpPr>
          <p:cNvPr id="47" name="Text 41"/>
          <p:cNvSpPr txBox="1"/>
          <p:nvPr/>
        </p:nvSpPr>
        <p:spPr>
          <a:xfrm>
            <a:off x="9272016" y="4800600"/>
            <a:ext cx="2194560" cy="320040"/>
          </a:xfrm>
          <a:prstGeom prst="rect">
            <a:avLst/>
          </a:prstGeom>
          <a:noFill/>
          <a:ln/>
        </p:spPr>
        <p:txBody>
          <a:bodyPr wrap="square" lIns="0" tIns="0" rIns="0" bIns="0" rtlCol="0" anchor="t"/>
          <a:lstStyle/>
          <a:p>
            <a:pPr indent="0" marL="0">
              <a:buNone/>
            </a:pPr>
            <a:r>
              <a:rPr lang="en-US" sz="1600" b="1" dirty="0">
                <a:solidFill>
                  <a:srgbClr val="0E1A2D"/>
                </a:solidFill>
                <a:latin typeface="Calibri" pitchFamily="34" charset="0"/>
                <a:ea typeface="Calibri" pitchFamily="34" charset="-122"/>
                <a:cs typeface="Calibri" pitchFamily="34" charset="-120"/>
              </a:rPr>
              <a:t>Peabody mineral samples</a:t>
            </a:r>
            <a:endParaRPr lang="en-US" sz="1600" dirty="0"/>
          </a:p>
        </p:txBody>
      </p:sp>
      <p:sp>
        <p:nvSpPr>
          <p:cNvPr id="48" name="Text 42"/>
          <p:cNvSpPr txBox="1"/>
          <p:nvPr/>
        </p:nvSpPr>
        <p:spPr>
          <a:xfrm>
            <a:off x="9272016" y="5166360"/>
            <a:ext cx="2194560" cy="64008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Convert to the compound specimen model</a:t>
            </a:r>
            <a:endParaRPr lang="en-US" sz="1250" dirty="0"/>
          </a:p>
        </p:txBody>
      </p:sp>
      <p:sp>
        <p:nvSpPr>
          <p:cNvPr id="49" name="Text 4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7F87"/>
                </a:solidFill>
                <a:latin typeface="Calibri" pitchFamily="34" charset="0"/>
                <a:ea typeface="Calibri" pitchFamily="34" charset="-122"/>
                <a:cs typeface="Calibri" pitchFamily="34" charset="-120"/>
              </a:rPr>
              <a:t>WKS10  ·  Building a Repeatable AI Pipeline</a:t>
            </a:r>
            <a:endParaRPr lang="en-US" sz="1000" dirty="0"/>
          </a:p>
        </p:txBody>
      </p:sp>
      <p:sp>
        <p:nvSpPr>
          <p:cNvPr id="50" name="Text 44"/>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7F87"/>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392B"/>
                </a:solidFill>
                <a:latin typeface="Calibri" pitchFamily="34" charset="0"/>
                <a:ea typeface="Calibri" pitchFamily="34" charset="-122"/>
                <a:cs typeface="Calibri" pitchFamily="34" charset="-120"/>
              </a:rPr>
              <a:t>INTRODUCTION</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0E1A2D"/>
                </a:solidFill>
                <a:latin typeface="Cambria" pitchFamily="34" charset="0"/>
                <a:ea typeface="Cambria" pitchFamily="34" charset="-122"/>
                <a:cs typeface="Cambria" pitchFamily="34" charset="-120"/>
              </a:rPr>
              <a:t>Six months of building with AI</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4D4D4D"/>
                </a:solidFill>
                <a:latin typeface="Calibri" pitchFamily="34" charset="0"/>
                <a:ea typeface="Calibri" pitchFamily="34" charset="-122"/>
                <a:cs typeface="Calibri" pitchFamily="34" charset="-120"/>
              </a:rPr>
              <a:t>Multiple ETL pipelines across separate projects, with Claude involved at every step.</a:t>
            </a:r>
            <a:endParaRPr lang="en-US" sz="1500" dirty="0"/>
          </a:p>
        </p:txBody>
      </p:sp>
      <p:sp>
        <p:nvSpPr>
          <p:cNvPr id="5" name="Shape 3"/>
          <p:cNvSpPr/>
          <p:nvPr/>
        </p:nvSpPr>
        <p:spPr>
          <a:xfrm>
            <a:off x="548640" y="2148840"/>
            <a:ext cx="5486400" cy="3931920"/>
          </a:xfrm>
          <a:prstGeom prst="roundRect">
            <a:avLst>
              <a:gd name="adj" fmla="val 1860"/>
            </a:avLst>
          </a:prstGeom>
          <a:solidFill>
            <a:srgbClr val="EFE5CB"/>
          </a:solidFill>
          <a:ln w="12700">
            <a:solidFill>
              <a:srgbClr val="EFE5CB"/>
            </a:solidFill>
            <a:prstDash val="solid"/>
          </a:ln>
        </p:spPr>
      </p:sp>
      <p:sp>
        <p:nvSpPr>
          <p:cNvPr id="6" name="Text 4"/>
          <p:cNvSpPr txBox="1"/>
          <p:nvPr/>
        </p:nvSpPr>
        <p:spPr>
          <a:xfrm>
            <a:off x="914400" y="2377440"/>
            <a:ext cx="4572000" cy="274320"/>
          </a:xfrm>
          <a:prstGeom prst="rect">
            <a:avLst/>
          </a:prstGeom>
          <a:noFill/>
          <a:ln/>
        </p:spPr>
        <p:txBody>
          <a:bodyPr wrap="square" lIns="0" tIns="0" rIns="0" bIns="0" rtlCol="0" anchor="t"/>
          <a:lstStyle/>
          <a:p>
            <a:pPr indent="0" marL="0">
              <a:buNone/>
            </a:pPr>
            <a:r>
              <a:rPr lang="en-US" sz="1100" b="1" spc="100" kern="0" dirty="0">
                <a:solidFill>
                  <a:srgbClr val="5B7089"/>
                </a:solidFill>
                <a:latin typeface="Calibri" pitchFamily="34" charset="0"/>
                <a:ea typeface="Calibri" pitchFamily="34" charset="-122"/>
                <a:cs typeface="Calibri" pitchFamily="34" charset="-120"/>
              </a:rPr>
              <a:t>WHAT THAT HAS INCLUDED</a:t>
            </a:r>
            <a:endParaRPr lang="en-US" sz="1100" dirty="0"/>
          </a:p>
        </p:txBody>
      </p:sp>
      <p:sp>
        <p:nvSpPr>
          <p:cNvPr id="7" name="Text 5"/>
          <p:cNvSpPr/>
          <p:nvPr/>
        </p:nvSpPr>
        <p:spPr>
          <a:xfrm>
            <a:off x="914400" y="2743200"/>
            <a:ext cx="4846320" cy="21945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0E1A2D"/>
                </a:solidFill>
                <a:latin typeface="Calibri" pitchFamily="34" charset="0"/>
                <a:ea typeface="Calibri" pitchFamily="34" charset="-122"/>
                <a:cs typeface="Calibri" pitchFamily="34" charset="-120"/>
              </a:rPr>
              <a:t>Data transforms and ETL pipelines (Python, SQL)</a:t>
            </a:r>
            <a:endParaRPr lang="en-US" sz="1500" dirty="0"/>
          </a:p>
          <a:p>
            <a:pPr marL="203200" indent="-203200">
              <a:spcAft>
                <a:spcPts val="800"/>
              </a:spcAft>
              <a:buSzPct val="100000"/>
              <a:buChar char="•"/>
            </a:pPr>
            <a:r>
              <a:rPr lang="en-US" sz="1500" dirty="0">
                <a:solidFill>
                  <a:srgbClr val="0E1A2D"/>
                </a:solidFill>
                <a:latin typeface="Calibri" pitchFamily="34" charset="0"/>
                <a:ea typeface="Calibri" pitchFamily="34" charset="-122"/>
                <a:cs typeface="Calibri" pitchFamily="34" charset="-120"/>
              </a:rPr>
              <a:t>Testing and validation</a:t>
            </a:r>
            <a:endParaRPr lang="en-US" sz="1500" dirty="0"/>
          </a:p>
          <a:p>
            <a:pPr marL="203200" indent="-203200">
              <a:spcAft>
                <a:spcPts val="800"/>
              </a:spcAft>
              <a:buSzPct val="100000"/>
              <a:buChar char="•"/>
            </a:pPr>
            <a:r>
              <a:rPr lang="en-US" sz="1500" dirty="0">
                <a:solidFill>
                  <a:srgbClr val="0E1A2D"/>
                </a:solidFill>
                <a:latin typeface="Calibri" pitchFamily="34" charset="0"/>
                <a:ea typeface="Calibri" pitchFamily="34" charset="-122"/>
                <a:cs typeface="Calibri" pitchFamily="34" charset="-120"/>
              </a:rPr>
              <a:t>Front-end user interfaces and back ends</a:t>
            </a:r>
            <a:endParaRPr lang="en-US" sz="1500" dirty="0"/>
          </a:p>
          <a:p>
            <a:pPr marL="203200" indent="-203200">
              <a:spcAft>
                <a:spcPts val="800"/>
              </a:spcAft>
              <a:buSzPct val="100000"/>
              <a:buChar char="•"/>
            </a:pPr>
            <a:r>
              <a:rPr lang="en-US" sz="1500" dirty="0">
                <a:solidFill>
                  <a:srgbClr val="0E1A2D"/>
                </a:solidFill>
                <a:latin typeface="Calibri" pitchFamily="34" charset="0"/>
                <a:ea typeface="Calibri" pitchFamily="34" charset="-122"/>
                <a:cs typeface="Calibri" pitchFamily="34" charset="-120"/>
              </a:rPr>
              <a:t>Custom database abstraction layers</a:t>
            </a:r>
            <a:endParaRPr lang="en-US" sz="1500" dirty="0"/>
          </a:p>
          <a:p>
            <a:pPr marL="203200" indent="-203200">
              <a:spcAft>
                <a:spcPts val="800"/>
              </a:spcAft>
              <a:buSzPct val="100000"/>
              <a:buChar char="•"/>
            </a:pPr>
            <a:r>
              <a:rPr lang="en-US" sz="1500" dirty="0">
                <a:solidFill>
                  <a:srgbClr val="0E1A2D"/>
                </a:solidFill>
                <a:latin typeface="Calibri" pitchFamily="34" charset="0"/>
                <a:ea typeface="Calibri" pitchFamily="34" charset="-122"/>
                <a:cs typeface="Calibri" pitchFamily="34" charset="-120"/>
              </a:rPr>
              <a:t>Documentation (Python, JS) and DevOps (Rust, PHP)</a:t>
            </a:r>
            <a:endParaRPr lang="en-US" sz="1500" dirty="0"/>
          </a:p>
        </p:txBody>
      </p:sp>
      <p:sp>
        <p:nvSpPr>
          <p:cNvPr id="8" name="Text 6"/>
          <p:cNvSpPr txBox="1"/>
          <p:nvPr/>
        </p:nvSpPr>
        <p:spPr>
          <a:xfrm>
            <a:off x="914400" y="5074920"/>
            <a:ext cx="4754880" cy="822960"/>
          </a:xfrm>
          <a:prstGeom prst="rect">
            <a:avLst/>
          </a:prstGeom>
          <a:noFill/>
          <a:ln/>
        </p:spPr>
        <p:txBody>
          <a:bodyPr wrap="square" lIns="0" tIns="0" rIns="0" bIns="0" rtlCol="0" anchor="t"/>
          <a:lstStyle/>
          <a:p>
            <a:pPr indent="0" marL="0">
              <a:buNone/>
            </a:pPr>
            <a:r>
              <a:rPr lang="en-US" sz="1300" i="1" dirty="0">
                <a:solidFill>
                  <a:srgbClr val="4D4D4D"/>
                </a:solidFill>
                <a:latin typeface="Calibri" pitchFamily="34" charset="0"/>
                <a:ea typeface="Calibri" pitchFamily="34" charset="-122"/>
                <a:cs typeface="Calibri" pitchFamily="34" charset="-120"/>
              </a:rPr>
              <a:t>The question behind all of it: how do we use Claude Code effectively in a collections data workflow?</a:t>
            </a:r>
            <a:endParaRPr lang="en-US" sz="1300" dirty="0"/>
          </a:p>
        </p:txBody>
      </p:sp>
      <p:sp>
        <p:nvSpPr>
          <p:cNvPr id="9" name="Shape 7"/>
          <p:cNvSpPr/>
          <p:nvPr/>
        </p:nvSpPr>
        <p:spPr>
          <a:xfrm>
            <a:off x="6492240" y="2240280"/>
            <a:ext cx="548640" cy="548640"/>
          </a:xfrm>
          <a:prstGeom prst="ellipse">
            <a:avLst/>
          </a:prstGeom>
          <a:solidFill>
            <a:srgbClr val="5B7089"/>
          </a:solidFill>
          <a:ln w="12700">
            <a:solidFill>
              <a:srgbClr val="5B7089"/>
            </a:solidFill>
            <a:prstDash val="solid"/>
          </a:ln>
        </p:spPr>
      </p:sp>
      <p:pic>
        <p:nvPicPr>
          <p:cNvPr id="10" name="Image 0" descr="preencoded.png">    </p:cNvPr>
          <p:cNvPicPr>
            <a:picLocks noChangeAspect="1"/>
          </p:cNvPicPr>
          <p:nvPr/>
        </p:nvPicPr>
        <p:blipFill>
          <a:blip r:embed="rId1"/>
          <a:stretch>
            <a:fillRect/>
          </a:stretch>
        </p:blipFill>
        <p:spPr>
          <a:xfrm>
            <a:off x="6629400" y="2377440"/>
            <a:ext cx="274320" cy="274320"/>
          </a:xfrm>
          <a:prstGeom prst="rect">
            <a:avLst/>
          </a:prstGeom>
        </p:spPr>
      </p:pic>
      <p:sp>
        <p:nvSpPr>
          <p:cNvPr id="11" name="Text 8"/>
          <p:cNvSpPr txBox="1"/>
          <p:nvPr/>
        </p:nvSpPr>
        <p:spPr>
          <a:xfrm>
            <a:off x="7223760" y="2194560"/>
            <a:ext cx="4389120" cy="320040"/>
          </a:xfrm>
          <a:prstGeom prst="rect">
            <a:avLst/>
          </a:prstGeom>
          <a:noFill/>
          <a:ln/>
        </p:spPr>
        <p:txBody>
          <a:bodyPr wrap="square" lIns="0" tIns="0" rIns="0" bIns="0" rtlCol="0" anchor="t"/>
          <a:lstStyle/>
          <a:p>
            <a:pPr indent="0" marL="0">
              <a:buNone/>
            </a:pPr>
            <a:r>
              <a:rPr lang="en-US" sz="1600" b="1" dirty="0">
                <a:solidFill>
                  <a:srgbClr val="0E1A2D"/>
                </a:solidFill>
                <a:latin typeface="Calibri" pitchFamily="34" charset="0"/>
                <a:ea typeface="Calibri" pitchFamily="34" charset="-122"/>
                <a:cs typeface="Calibri" pitchFamily="34" charset="-120"/>
              </a:rPr>
              <a:t>Repeatable and transparent</a:t>
            </a:r>
            <a:endParaRPr lang="en-US" sz="1600" dirty="0"/>
          </a:p>
        </p:txBody>
      </p:sp>
      <p:sp>
        <p:nvSpPr>
          <p:cNvPr id="12" name="Text 9"/>
          <p:cNvSpPr txBox="1"/>
          <p:nvPr/>
        </p:nvSpPr>
        <p:spPr>
          <a:xfrm>
            <a:off x="7223760" y="2532888"/>
            <a:ext cx="4389120" cy="45720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Anyone can re-run the process and get the same result.</a:t>
            </a:r>
            <a:endParaRPr lang="en-US" sz="1300" dirty="0"/>
          </a:p>
        </p:txBody>
      </p:sp>
      <p:sp>
        <p:nvSpPr>
          <p:cNvPr id="13" name="Shape 10"/>
          <p:cNvSpPr/>
          <p:nvPr/>
        </p:nvSpPr>
        <p:spPr>
          <a:xfrm>
            <a:off x="6492240" y="3264408"/>
            <a:ext cx="548640" cy="548640"/>
          </a:xfrm>
          <a:prstGeom prst="ellipse">
            <a:avLst/>
          </a:prstGeom>
          <a:solidFill>
            <a:srgbClr val="5B7089"/>
          </a:solidFill>
          <a:ln w="12700">
            <a:solidFill>
              <a:srgbClr val="5B7089"/>
            </a:solidFill>
            <a:prstDash val="solid"/>
          </a:ln>
        </p:spPr>
      </p:sp>
      <p:pic>
        <p:nvPicPr>
          <p:cNvPr id="14" name="Image 1" descr="preencoded.png">    </p:cNvPr>
          <p:cNvPicPr>
            <a:picLocks noChangeAspect="1"/>
          </p:cNvPicPr>
          <p:nvPr/>
        </p:nvPicPr>
        <p:blipFill>
          <a:blip r:embed="rId2"/>
          <a:stretch>
            <a:fillRect/>
          </a:stretch>
        </p:blipFill>
        <p:spPr>
          <a:xfrm>
            <a:off x="6629400" y="3401568"/>
            <a:ext cx="274320" cy="274320"/>
          </a:xfrm>
          <a:prstGeom prst="rect">
            <a:avLst/>
          </a:prstGeom>
        </p:spPr>
      </p:pic>
      <p:sp>
        <p:nvSpPr>
          <p:cNvPr id="15" name="Text 11"/>
          <p:cNvSpPr txBox="1"/>
          <p:nvPr/>
        </p:nvSpPr>
        <p:spPr>
          <a:xfrm>
            <a:off x="7223760" y="3218688"/>
            <a:ext cx="4389120" cy="320040"/>
          </a:xfrm>
          <a:prstGeom prst="rect">
            <a:avLst/>
          </a:prstGeom>
          <a:noFill/>
          <a:ln/>
        </p:spPr>
        <p:txBody>
          <a:bodyPr wrap="square" lIns="0" tIns="0" rIns="0" bIns="0" rtlCol="0" anchor="t"/>
          <a:lstStyle/>
          <a:p>
            <a:pPr indent="0" marL="0">
              <a:buNone/>
            </a:pPr>
            <a:r>
              <a:rPr lang="en-US" sz="1600" b="1" dirty="0">
                <a:solidFill>
                  <a:srgbClr val="0E1A2D"/>
                </a:solidFill>
                <a:latin typeface="Calibri" pitchFamily="34" charset="0"/>
                <a:ea typeface="Calibri" pitchFamily="34" charset="-122"/>
                <a:cs typeface="Calibri" pitchFamily="34" charset="-120"/>
              </a:rPr>
              <a:t>Reusable</a:t>
            </a:r>
            <a:endParaRPr lang="en-US" sz="1600" dirty="0"/>
          </a:p>
        </p:txBody>
      </p:sp>
      <p:sp>
        <p:nvSpPr>
          <p:cNvPr id="16" name="Text 12"/>
          <p:cNvSpPr txBox="1"/>
          <p:nvPr/>
        </p:nvSpPr>
        <p:spPr>
          <a:xfrm>
            <a:off x="7223760" y="3557016"/>
            <a:ext cx="4389120" cy="45720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Scripts and plans carry over to the next dataset.</a:t>
            </a:r>
            <a:endParaRPr lang="en-US" sz="1300" dirty="0"/>
          </a:p>
        </p:txBody>
      </p:sp>
      <p:sp>
        <p:nvSpPr>
          <p:cNvPr id="17" name="Shape 13"/>
          <p:cNvSpPr/>
          <p:nvPr/>
        </p:nvSpPr>
        <p:spPr>
          <a:xfrm>
            <a:off x="6492240" y="4288536"/>
            <a:ext cx="548640" cy="548640"/>
          </a:xfrm>
          <a:prstGeom prst="ellipse">
            <a:avLst/>
          </a:prstGeom>
          <a:solidFill>
            <a:srgbClr val="C0392B"/>
          </a:solidFill>
          <a:ln w="12700">
            <a:solidFill>
              <a:srgbClr val="C0392B"/>
            </a:solidFill>
            <a:prstDash val="solid"/>
          </a:ln>
        </p:spPr>
      </p:sp>
      <p:pic>
        <p:nvPicPr>
          <p:cNvPr id="18" name="Image 2" descr="preencoded.png">    </p:cNvPr>
          <p:cNvPicPr>
            <a:picLocks noChangeAspect="1"/>
          </p:cNvPicPr>
          <p:nvPr/>
        </p:nvPicPr>
        <p:blipFill>
          <a:blip r:embed="rId3"/>
          <a:stretch>
            <a:fillRect/>
          </a:stretch>
        </p:blipFill>
        <p:spPr>
          <a:xfrm>
            <a:off x="6629400" y="4425696"/>
            <a:ext cx="274320" cy="274320"/>
          </a:xfrm>
          <a:prstGeom prst="rect">
            <a:avLst/>
          </a:prstGeom>
        </p:spPr>
      </p:pic>
      <p:sp>
        <p:nvSpPr>
          <p:cNvPr id="19" name="Text 14"/>
          <p:cNvSpPr txBox="1"/>
          <p:nvPr/>
        </p:nvSpPr>
        <p:spPr>
          <a:xfrm>
            <a:off x="7223760" y="4242816"/>
            <a:ext cx="4389120" cy="320040"/>
          </a:xfrm>
          <a:prstGeom prst="rect">
            <a:avLst/>
          </a:prstGeom>
          <a:noFill/>
          <a:ln/>
        </p:spPr>
        <p:txBody>
          <a:bodyPr wrap="square" lIns="0" tIns="0" rIns="0" bIns="0" rtlCol="0" anchor="t"/>
          <a:lstStyle/>
          <a:p>
            <a:pPr indent="0" marL="0">
              <a:buNone/>
            </a:pPr>
            <a:r>
              <a:rPr lang="en-US" sz="1600" b="1" dirty="0">
                <a:solidFill>
                  <a:srgbClr val="0E1A2D"/>
                </a:solidFill>
                <a:latin typeface="Calibri" pitchFamily="34" charset="0"/>
                <a:ea typeface="Calibri" pitchFamily="34" charset="-122"/>
                <a:cs typeface="Calibri" pitchFamily="34" charset="-120"/>
              </a:rPr>
              <a:t>Provenance</a:t>
            </a:r>
            <a:endParaRPr lang="en-US" sz="1600" dirty="0"/>
          </a:p>
        </p:txBody>
      </p:sp>
      <p:sp>
        <p:nvSpPr>
          <p:cNvPr id="20" name="Text 15"/>
          <p:cNvSpPr txBox="1"/>
          <p:nvPr/>
        </p:nvSpPr>
        <p:spPr>
          <a:xfrm>
            <a:off x="7223760" y="4581144"/>
            <a:ext cx="4389120" cy="45720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Every step leaves a file and a report behind.</a:t>
            </a:r>
            <a:endParaRPr lang="en-US" sz="1300" dirty="0"/>
          </a:p>
        </p:txBody>
      </p:sp>
      <p:sp>
        <p:nvSpPr>
          <p:cNvPr id="21" name="Text 16"/>
          <p:cNvSpPr txBox="1"/>
          <p:nvPr/>
        </p:nvSpPr>
        <p:spPr>
          <a:xfrm>
            <a:off x="6492240" y="5303520"/>
            <a:ext cx="5120640" cy="777240"/>
          </a:xfrm>
          <a:prstGeom prst="rect">
            <a:avLst/>
          </a:prstGeom>
          <a:noFill/>
          <a:ln/>
        </p:spPr>
        <p:txBody>
          <a:bodyPr wrap="square" lIns="0" tIns="0" rIns="0" bIns="0" rtlCol="0" anchor="ctr"/>
          <a:lstStyle/>
          <a:p>
            <a:pPr indent="0" marL="0">
              <a:buNone/>
            </a:pPr>
            <a:r>
              <a:rPr lang="en-US" sz="1700" i="1" dirty="0">
                <a:solidFill>
                  <a:srgbClr val="5B7089"/>
                </a:solidFill>
                <a:latin typeface="Cambria" pitchFamily="34" charset="0"/>
                <a:ea typeface="Cambria" pitchFamily="34" charset="-122"/>
                <a:cs typeface="Cambria" pitchFamily="34" charset="-120"/>
              </a:rPr>
              <a:t>“AI is an entry-level programmer. I can’t hire one, so nothing is being lost.”</a:t>
            </a:r>
            <a:endParaRPr lang="en-US" sz="1700" dirty="0"/>
          </a:p>
        </p:txBody>
      </p:sp>
      <p:sp>
        <p:nvSpPr>
          <p:cNvPr id="22" name="Text 1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7F87"/>
                </a:solidFill>
                <a:latin typeface="Calibri" pitchFamily="34" charset="0"/>
                <a:ea typeface="Calibri" pitchFamily="34" charset="-122"/>
                <a:cs typeface="Calibri" pitchFamily="34" charset="-120"/>
              </a:rPr>
              <a:t>WKS10  ·  Building a Repeatable AI Pipeline</a:t>
            </a:r>
            <a:endParaRPr lang="en-US" sz="1000" dirty="0"/>
          </a:p>
        </p:txBody>
      </p:sp>
      <p:sp>
        <p:nvSpPr>
          <p:cNvPr id="23" name="Text 18"/>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7F87"/>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A2D"/>
        </a:solidFill>
      </p:bgPr>
    </p:bg>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t"/>
          <a:lstStyle/>
          <a:p>
            <a:pPr indent="0" marL="0">
              <a:buNone/>
            </a:pPr>
            <a:r>
              <a:rPr lang="en-US" sz="1200" b="1" spc="100" kern="0" dirty="0">
                <a:solidFill>
                  <a:srgbClr val="E0584A"/>
                </a:solidFill>
                <a:latin typeface="Calibri" pitchFamily="34" charset="0"/>
                <a:ea typeface="Calibri" pitchFamily="34" charset="-122"/>
                <a:cs typeface="Calibri" pitchFamily="34" charset="-120"/>
              </a:rPr>
              <a:t>BEFORE WE START</a:t>
            </a:r>
            <a:endParaRPr lang="en-US" sz="1200" dirty="0"/>
          </a:p>
        </p:txBody>
      </p:sp>
      <p:sp>
        <p:nvSpPr>
          <p:cNvPr id="3" name="Text 1"/>
          <p:cNvSpPr txBox="1"/>
          <p:nvPr/>
        </p:nvSpPr>
        <p:spPr>
          <a:xfrm>
            <a:off x="548640" y="822960"/>
            <a:ext cx="10972800" cy="6858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We’re usually shown what AI can do.</a:t>
            </a:r>
            <a:endParaRPr lang="en-US" sz="3600" dirty="0"/>
          </a:p>
        </p:txBody>
      </p:sp>
      <p:sp>
        <p:nvSpPr>
          <p:cNvPr id="4" name="Text 2"/>
          <p:cNvSpPr txBox="1"/>
          <p:nvPr/>
        </p:nvSpPr>
        <p:spPr>
          <a:xfrm>
            <a:off x="548640" y="1508760"/>
            <a:ext cx="10972800" cy="640080"/>
          </a:xfrm>
          <a:prstGeom prst="rect">
            <a:avLst/>
          </a:prstGeom>
          <a:noFill/>
          <a:ln/>
        </p:spPr>
        <p:txBody>
          <a:bodyPr wrap="square" lIns="0" tIns="0" rIns="0" bIns="0" rtlCol="0" anchor="ctr"/>
          <a:lstStyle/>
          <a:p>
            <a:pPr indent="0" marL="0">
              <a:buNone/>
            </a:pPr>
            <a:r>
              <a:rPr lang="en-US" sz="3200" b="1" dirty="0">
                <a:solidFill>
                  <a:srgbClr val="FAF3E0"/>
                </a:solidFill>
                <a:latin typeface="Cambria" pitchFamily="34" charset="0"/>
                <a:ea typeface="Cambria" pitchFamily="34" charset="-122"/>
                <a:cs typeface="Cambria" pitchFamily="34" charset="-120"/>
              </a:rPr>
              <a:t>Let’s flip that.</a:t>
            </a:r>
            <a:endParaRPr lang="en-US" sz="3200" dirty="0"/>
          </a:p>
        </p:txBody>
      </p:sp>
      <p:sp>
        <p:nvSpPr>
          <p:cNvPr id="5" name="Text 3"/>
          <p:cNvSpPr txBox="1"/>
          <p:nvPr/>
        </p:nvSpPr>
        <p:spPr>
          <a:xfrm>
            <a:off x="548640" y="2377440"/>
            <a:ext cx="10789920" cy="914400"/>
          </a:xfrm>
          <a:prstGeom prst="rect">
            <a:avLst/>
          </a:prstGeom>
          <a:noFill/>
          <a:ln/>
        </p:spPr>
        <p:txBody>
          <a:bodyPr wrap="square" lIns="0" tIns="0" rIns="0" bIns="0" rtlCol="0" anchor="t"/>
          <a:lstStyle/>
          <a:p>
            <a:pPr indent="0" marL="0">
              <a:lnSpc>
                <a:spcPct val="115000"/>
              </a:lnSpc>
              <a:buNone/>
            </a:pPr>
            <a:r>
              <a:rPr lang="en-US" sz="1600" dirty="0">
                <a:solidFill>
                  <a:srgbClr val="E4DECF"/>
                </a:solidFill>
                <a:latin typeface="Calibri" pitchFamily="34" charset="0"/>
                <a:ea typeface="Calibri" pitchFamily="34" charset="-122"/>
                <a:cs typeface="Calibri" pitchFamily="34" charset="-120"/>
              </a:rPr>
              <a:t>Most AI talks follow the same format: “look at this cool stuff.” I could do that too. But for six months I have worked almost exclusively on how to use AI, across many types of project, many programming languages and many contexts. I would rather use that to answer your questions.</a:t>
            </a:r>
            <a:endParaRPr lang="en-US" sz="1600" dirty="0"/>
          </a:p>
        </p:txBody>
      </p:sp>
      <p:sp>
        <p:nvSpPr>
          <p:cNvPr id="6" name="Shape 4"/>
          <p:cNvSpPr/>
          <p:nvPr/>
        </p:nvSpPr>
        <p:spPr>
          <a:xfrm>
            <a:off x="548640" y="3611880"/>
            <a:ext cx="3520440" cy="2423160"/>
          </a:xfrm>
          <a:prstGeom prst="roundRect">
            <a:avLst>
              <a:gd name="adj" fmla="val 3019"/>
            </a:avLst>
          </a:prstGeom>
          <a:solidFill>
            <a:srgbClr val="2C3E50"/>
          </a:solidFill>
          <a:ln w="15875">
            <a:solidFill>
              <a:srgbClr val="6E6E6E"/>
            </a:solidFill>
            <a:prstDash val="solid"/>
          </a:ln>
        </p:spPr>
      </p:sp>
      <p:sp>
        <p:nvSpPr>
          <p:cNvPr id="7" name="Shape 5"/>
          <p:cNvSpPr/>
          <p:nvPr/>
        </p:nvSpPr>
        <p:spPr>
          <a:xfrm>
            <a:off x="822960" y="3840480"/>
            <a:ext cx="566928" cy="566928"/>
          </a:xfrm>
          <a:prstGeom prst="ellipse">
            <a:avLst/>
          </a:prstGeom>
          <a:solidFill>
            <a:srgbClr val="6E6E6E"/>
          </a:solidFill>
          <a:ln w="12700">
            <a:solidFill>
              <a:srgbClr val="6E6E6E"/>
            </a:solidFill>
            <a:prstDash val="solid"/>
          </a:ln>
        </p:spPr>
      </p:sp>
      <p:pic>
        <p:nvPicPr>
          <p:cNvPr id="8" name="Image 0" descr="preencoded.png">    </p:cNvPr>
          <p:cNvPicPr>
            <a:picLocks noChangeAspect="1"/>
          </p:cNvPicPr>
          <p:nvPr/>
        </p:nvPicPr>
        <p:blipFill>
          <a:blip r:embed="rId1"/>
          <a:stretch>
            <a:fillRect/>
          </a:stretch>
        </p:blipFill>
        <p:spPr>
          <a:xfrm>
            <a:off x="964692" y="3982212"/>
            <a:ext cx="283464" cy="283464"/>
          </a:xfrm>
          <a:prstGeom prst="rect">
            <a:avLst/>
          </a:prstGeom>
        </p:spPr>
      </p:pic>
      <p:sp>
        <p:nvSpPr>
          <p:cNvPr id="9" name="Text 6"/>
          <p:cNvSpPr txBox="1"/>
          <p:nvPr/>
        </p:nvSpPr>
        <p:spPr>
          <a:xfrm>
            <a:off x="822960" y="4526280"/>
            <a:ext cx="3017520" cy="64008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What areas are you interested in?</a:t>
            </a:r>
            <a:endParaRPr lang="en-US" sz="1700" dirty="0"/>
          </a:p>
        </p:txBody>
      </p:sp>
      <p:sp>
        <p:nvSpPr>
          <p:cNvPr id="10" name="Text 7"/>
          <p:cNvSpPr txBox="1"/>
          <p:nvPr/>
        </p:nvSpPr>
        <p:spPr>
          <a:xfrm>
            <a:off x="822960" y="5212080"/>
            <a:ext cx="3017520" cy="731520"/>
          </a:xfrm>
          <a:prstGeom prst="rect">
            <a:avLst/>
          </a:prstGeom>
          <a:noFill/>
          <a:ln/>
        </p:spPr>
        <p:txBody>
          <a:bodyPr wrap="square" lIns="0" tIns="0" rIns="0" bIns="0" rtlCol="0" anchor="t"/>
          <a:lstStyle/>
          <a:p>
            <a:pPr indent="0" marL="0">
              <a:buNone/>
            </a:pPr>
            <a:r>
              <a:rPr lang="en-US" sz="1300" dirty="0">
                <a:solidFill>
                  <a:srgbClr val="A9B3BF"/>
                </a:solidFill>
                <a:latin typeface="Calibri" pitchFamily="34" charset="0"/>
                <a:ea typeface="Calibri" pitchFamily="34" charset="-122"/>
                <a:cs typeface="Calibri" pitchFamily="34" charset="-120"/>
              </a:rPr>
              <a:t>Which parts of your collections work would you most like to see AI applied to?</a:t>
            </a:r>
            <a:endParaRPr lang="en-US" sz="1300" dirty="0"/>
          </a:p>
        </p:txBody>
      </p:sp>
      <p:sp>
        <p:nvSpPr>
          <p:cNvPr id="11" name="Shape 8"/>
          <p:cNvSpPr/>
          <p:nvPr/>
        </p:nvSpPr>
        <p:spPr>
          <a:xfrm>
            <a:off x="4297680" y="3611880"/>
            <a:ext cx="3520440" cy="2423160"/>
          </a:xfrm>
          <a:prstGeom prst="roundRect">
            <a:avLst>
              <a:gd name="adj" fmla="val 3019"/>
            </a:avLst>
          </a:prstGeom>
          <a:solidFill>
            <a:srgbClr val="2C3E50"/>
          </a:solidFill>
          <a:ln w="15875">
            <a:solidFill>
              <a:srgbClr val="8F7A4C"/>
            </a:solidFill>
            <a:prstDash val="solid"/>
          </a:ln>
        </p:spPr>
      </p:sp>
      <p:sp>
        <p:nvSpPr>
          <p:cNvPr id="12" name="Shape 9"/>
          <p:cNvSpPr/>
          <p:nvPr/>
        </p:nvSpPr>
        <p:spPr>
          <a:xfrm>
            <a:off x="4572000" y="3840480"/>
            <a:ext cx="566928" cy="566928"/>
          </a:xfrm>
          <a:prstGeom prst="ellipse">
            <a:avLst/>
          </a:prstGeom>
          <a:solidFill>
            <a:srgbClr val="8F7A4C"/>
          </a:solidFill>
          <a:ln w="12700">
            <a:solidFill>
              <a:srgbClr val="8F7A4C"/>
            </a:solidFill>
            <a:prstDash val="solid"/>
          </a:ln>
        </p:spPr>
      </p:sp>
      <p:pic>
        <p:nvPicPr>
          <p:cNvPr id="13" name="Image 1" descr="preencoded.png">    </p:cNvPr>
          <p:cNvPicPr>
            <a:picLocks noChangeAspect="1"/>
          </p:cNvPicPr>
          <p:nvPr/>
        </p:nvPicPr>
        <p:blipFill>
          <a:blip r:embed="rId2"/>
          <a:stretch>
            <a:fillRect/>
          </a:stretch>
        </p:blipFill>
        <p:spPr>
          <a:xfrm>
            <a:off x="4713732" y="3982212"/>
            <a:ext cx="283464" cy="283464"/>
          </a:xfrm>
          <a:prstGeom prst="rect">
            <a:avLst/>
          </a:prstGeom>
        </p:spPr>
      </p:pic>
      <p:sp>
        <p:nvSpPr>
          <p:cNvPr id="14" name="Text 10"/>
          <p:cNvSpPr txBox="1"/>
          <p:nvPr/>
        </p:nvSpPr>
        <p:spPr>
          <a:xfrm>
            <a:off x="4572000" y="4526280"/>
            <a:ext cx="3017520" cy="64008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What should be explored further?</a:t>
            </a:r>
            <a:endParaRPr lang="en-US" sz="1700" dirty="0"/>
          </a:p>
        </p:txBody>
      </p:sp>
      <p:sp>
        <p:nvSpPr>
          <p:cNvPr id="15" name="Text 11"/>
          <p:cNvSpPr txBox="1"/>
          <p:nvPr/>
        </p:nvSpPr>
        <p:spPr>
          <a:xfrm>
            <a:off x="4572000" y="5212080"/>
            <a:ext cx="3017520" cy="731520"/>
          </a:xfrm>
          <a:prstGeom prst="rect">
            <a:avLst/>
          </a:prstGeom>
          <a:noFill/>
          <a:ln/>
        </p:spPr>
        <p:txBody>
          <a:bodyPr wrap="square" lIns="0" tIns="0" rIns="0" bIns="0" rtlCol="0" anchor="t"/>
          <a:lstStyle/>
          <a:p>
            <a:pPr indent="0" marL="0">
              <a:buNone/>
            </a:pPr>
            <a:r>
              <a:rPr lang="en-US" sz="1300" dirty="0">
                <a:solidFill>
                  <a:srgbClr val="A9B3BF"/>
                </a:solidFill>
                <a:latin typeface="Calibri" pitchFamily="34" charset="0"/>
                <a:ea typeface="Calibri" pitchFamily="34" charset="-122"/>
                <a:cs typeface="Calibri" pitchFamily="34" charset="-120"/>
              </a:rPr>
              <a:t>Where have you seen promise, but not enough real testing or evidence?</a:t>
            </a:r>
            <a:endParaRPr lang="en-US" sz="1300" dirty="0"/>
          </a:p>
        </p:txBody>
      </p:sp>
      <p:sp>
        <p:nvSpPr>
          <p:cNvPr id="16" name="Shape 12"/>
          <p:cNvSpPr/>
          <p:nvPr/>
        </p:nvSpPr>
        <p:spPr>
          <a:xfrm>
            <a:off x="8046720" y="3611880"/>
            <a:ext cx="3520440" cy="2423160"/>
          </a:xfrm>
          <a:prstGeom prst="roundRect">
            <a:avLst>
              <a:gd name="adj" fmla="val 3019"/>
            </a:avLst>
          </a:prstGeom>
          <a:solidFill>
            <a:srgbClr val="2C3E50"/>
          </a:solidFill>
          <a:ln w="15875">
            <a:solidFill>
              <a:srgbClr val="E0584A"/>
            </a:solidFill>
            <a:prstDash val="solid"/>
          </a:ln>
        </p:spPr>
      </p:sp>
      <p:sp>
        <p:nvSpPr>
          <p:cNvPr id="17" name="Shape 13"/>
          <p:cNvSpPr/>
          <p:nvPr/>
        </p:nvSpPr>
        <p:spPr>
          <a:xfrm>
            <a:off x="8321040" y="3840480"/>
            <a:ext cx="566928" cy="566928"/>
          </a:xfrm>
          <a:prstGeom prst="ellipse">
            <a:avLst/>
          </a:prstGeom>
          <a:solidFill>
            <a:srgbClr val="E0584A"/>
          </a:solidFill>
          <a:ln w="12700">
            <a:solidFill>
              <a:srgbClr val="E0584A"/>
            </a:solidFill>
            <a:prstDash val="solid"/>
          </a:ln>
        </p:spPr>
      </p:sp>
      <p:pic>
        <p:nvPicPr>
          <p:cNvPr id="18" name="Image 2" descr="preencoded.png">    </p:cNvPr>
          <p:cNvPicPr>
            <a:picLocks noChangeAspect="1"/>
          </p:cNvPicPr>
          <p:nvPr/>
        </p:nvPicPr>
        <p:blipFill>
          <a:blip r:embed="rId3"/>
          <a:stretch>
            <a:fillRect/>
          </a:stretch>
        </p:blipFill>
        <p:spPr>
          <a:xfrm>
            <a:off x="8462772" y="3982212"/>
            <a:ext cx="283464" cy="283464"/>
          </a:xfrm>
          <a:prstGeom prst="rect">
            <a:avLst/>
          </a:prstGeom>
        </p:spPr>
      </p:pic>
      <p:sp>
        <p:nvSpPr>
          <p:cNvPr id="19" name="Text 14"/>
          <p:cNvSpPr txBox="1"/>
          <p:nvPr/>
        </p:nvSpPr>
        <p:spPr>
          <a:xfrm>
            <a:off x="8321040" y="4526280"/>
            <a:ext cx="3017520" cy="64008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What isn’t getting enough time or focus?</a:t>
            </a:r>
            <a:endParaRPr lang="en-US" sz="1700" dirty="0"/>
          </a:p>
        </p:txBody>
      </p:sp>
      <p:sp>
        <p:nvSpPr>
          <p:cNvPr id="20" name="Text 15"/>
          <p:cNvSpPr txBox="1"/>
          <p:nvPr/>
        </p:nvSpPr>
        <p:spPr>
          <a:xfrm>
            <a:off x="8321040" y="5212080"/>
            <a:ext cx="3017520" cy="731520"/>
          </a:xfrm>
          <a:prstGeom prst="rect">
            <a:avLst/>
          </a:prstGeom>
          <a:noFill/>
          <a:ln/>
        </p:spPr>
        <p:txBody>
          <a:bodyPr wrap="square" lIns="0" tIns="0" rIns="0" bIns="0" rtlCol="0" anchor="t"/>
          <a:lstStyle/>
          <a:p>
            <a:pPr indent="0" marL="0">
              <a:buNone/>
            </a:pPr>
            <a:r>
              <a:rPr lang="en-US" sz="1300" dirty="0">
                <a:solidFill>
                  <a:srgbClr val="A9B3BF"/>
                </a:solidFill>
                <a:latin typeface="Calibri" pitchFamily="34" charset="0"/>
                <a:ea typeface="Calibri" pitchFamily="34" charset="-122"/>
                <a:cs typeface="Calibri" pitchFamily="34" charset="-120"/>
              </a:rPr>
              <a:t>Which questions keep being skipped in AI talks: accuracy, cost, provenance, skills, trust?</a:t>
            </a:r>
            <a:endParaRPr lang="en-US" sz="1300" dirty="0"/>
          </a:p>
        </p:txBody>
      </p:sp>
      <p:sp>
        <p:nvSpPr>
          <p:cNvPr id="21" name="Text 1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A9B3BF"/>
                </a:solidFill>
                <a:latin typeface="Calibri" pitchFamily="34" charset="0"/>
                <a:ea typeface="Calibri" pitchFamily="34" charset="-122"/>
                <a:cs typeface="Calibri" pitchFamily="34" charset="-120"/>
              </a:rPr>
              <a:t>WKS10  ·  Building a Repeatable AI Pipeline</a:t>
            </a:r>
            <a:endParaRPr lang="en-US" sz="1000" dirty="0"/>
          </a:p>
        </p:txBody>
      </p:sp>
      <p:sp>
        <p:nvSpPr>
          <p:cNvPr id="22" name="Text 17"/>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A9B3B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392B"/>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0E1A2D"/>
                </a:solidFill>
                <a:latin typeface="Cambria" pitchFamily="34" charset="0"/>
                <a:ea typeface="Cambria" pitchFamily="34" charset="-122"/>
                <a:cs typeface="Cambria" pitchFamily="34" charset="-120"/>
              </a:rPr>
              <a:t>The role of AI in museums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4D4D4D"/>
                </a:solidFill>
                <a:latin typeface="Calibri" pitchFamily="34" charset="0"/>
                <a:ea typeface="Calibri" pitchFamily="34" charset="-122"/>
                <a:cs typeface="Calibri" pitchFamily="34" charset="-120"/>
              </a:rPr>
              <a:t>Every TDWG conference I have attended makes the same point.</a:t>
            </a:r>
            <a:endParaRPr lang="en-US" sz="1500" dirty="0"/>
          </a:p>
        </p:txBody>
      </p:sp>
      <p:sp>
        <p:nvSpPr>
          <p:cNvPr id="5" name="Shape 3"/>
          <p:cNvSpPr/>
          <p:nvPr/>
        </p:nvSpPr>
        <p:spPr>
          <a:xfrm>
            <a:off x="548640" y="2194560"/>
            <a:ext cx="3520440" cy="1463040"/>
          </a:xfrm>
          <a:prstGeom prst="roundRect">
            <a:avLst>
              <a:gd name="adj" fmla="val 5000"/>
            </a:avLst>
          </a:prstGeom>
          <a:solidFill>
            <a:srgbClr val="EFE5CB"/>
          </a:solidFill>
          <a:ln w="12700">
            <a:solidFill>
              <a:srgbClr val="EFE5CB"/>
            </a:solidFill>
            <a:prstDash val="solid"/>
          </a:ln>
        </p:spPr>
      </p:sp>
      <p:sp>
        <p:nvSpPr>
          <p:cNvPr id="6" name="Shape 4"/>
          <p:cNvSpPr/>
          <p:nvPr/>
        </p:nvSpPr>
        <p:spPr>
          <a:xfrm>
            <a:off x="868680" y="2606040"/>
            <a:ext cx="640080" cy="640080"/>
          </a:xfrm>
          <a:prstGeom prst="ellipse">
            <a:avLst/>
          </a:prstGeom>
          <a:solidFill>
            <a:srgbClr val="5B7089"/>
          </a:solidFill>
          <a:ln w="12700">
            <a:solidFill>
              <a:srgbClr val="5B7089"/>
            </a:solidFill>
            <a:prstDash val="solid"/>
          </a:ln>
        </p:spPr>
      </p:sp>
      <p:pic>
        <p:nvPicPr>
          <p:cNvPr id="7" name="Image 0" descr="preencoded.png">    </p:cNvPr>
          <p:cNvPicPr>
            <a:picLocks noChangeAspect="1"/>
          </p:cNvPicPr>
          <p:nvPr/>
        </p:nvPicPr>
        <p:blipFill>
          <a:blip r:embed="rId1"/>
          <a:stretch>
            <a:fillRect/>
          </a:stretch>
        </p:blipFill>
        <p:spPr>
          <a:xfrm>
            <a:off x="1028700" y="2766060"/>
            <a:ext cx="320040" cy="320040"/>
          </a:xfrm>
          <a:prstGeom prst="rect">
            <a:avLst/>
          </a:prstGeom>
        </p:spPr>
      </p:pic>
      <p:sp>
        <p:nvSpPr>
          <p:cNvPr id="8" name="Text 5"/>
          <p:cNvSpPr txBox="1"/>
          <p:nvPr/>
        </p:nvSpPr>
        <p:spPr>
          <a:xfrm>
            <a:off x="1737360" y="2606040"/>
            <a:ext cx="2194560" cy="640080"/>
          </a:xfrm>
          <a:prstGeom prst="rect">
            <a:avLst/>
          </a:prstGeom>
          <a:noFill/>
          <a:ln/>
        </p:spPr>
        <p:txBody>
          <a:bodyPr wrap="square" lIns="0" tIns="0" rIns="0" bIns="0" rtlCol="0" anchor="ctr"/>
          <a:lstStyle/>
          <a:p>
            <a:pPr indent="0" marL="0">
              <a:buNone/>
            </a:pPr>
            <a:r>
              <a:rPr lang="en-US" sz="2000" b="1" dirty="0">
                <a:solidFill>
                  <a:srgbClr val="0E1A2D"/>
                </a:solidFill>
                <a:latin typeface="Cambria" pitchFamily="34" charset="0"/>
                <a:ea typeface="Cambria" pitchFamily="34" charset="-122"/>
                <a:cs typeface="Cambria" pitchFamily="34" charset="-120"/>
              </a:rPr>
              <a:t>Not enough time</a:t>
            </a:r>
            <a:endParaRPr lang="en-US" sz="2000" dirty="0"/>
          </a:p>
        </p:txBody>
      </p:sp>
      <p:sp>
        <p:nvSpPr>
          <p:cNvPr id="9" name="Shape 6"/>
          <p:cNvSpPr/>
          <p:nvPr/>
        </p:nvSpPr>
        <p:spPr>
          <a:xfrm>
            <a:off x="4297680" y="2194560"/>
            <a:ext cx="3520440" cy="1463040"/>
          </a:xfrm>
          <a:prstGeom prst="roundRect">
            <a:avLst>
              <a:gd name="adj" fmla="val 5000"/>
            </a:avLst>
          </a:prstGeom>
          <a:solidFill>
            <a:srgbClr val="EFE5CB"/>
          </a:solidFill>
          <a:ln w="12700">
            <a:solidFill>
              <a:srgbClr val="EFE5CB"/>
            </a:solidFill>
            <a:prstDash val="solid"/>
          </a:ln>
        </p:spPr>
      </p:sp>
      <p:sp>
        <p:nvSpPr>
          <p:cNvPr id="10" name="Shape 7"/>
          <p:cNvSpPr/>
          <p:nvPr/>
        </p:nvSpPr>
        <p:spPr>
          <a:xfrm>
            <a:off x="4617720" y="2606040"/>
            <a:ext cx="640080" cy="640080"/>
          </a:xfrm>
          <a:prstGeom prst="ellipse">
            <a:avLst/>
          </a:prstGeom>
          <a:solidFill>
            <a:srgbClr val="C0392B"/>
          </a:solidFill>
          <a:ln w="12700">
            <a:solidFill>
              <a:srgbClr val="C0392B"/>
            </a:solidFill>
            <a:prstDash val="solid"/>
          </a:ln>
        </p:spPr>
      </p:sp>
      <p:pic>
        <p:nvPicPr>
          <p:cNvPr id="11" name="Image 1" descr="preencoded.png">    </p:cNvPr>
          <p:cNvPicPr>
            <a:picLocks noChangeAspect="1"/>
          </p:cNvPicPr>
          <p:nvPr/>
        </p:nvPicPr>
        <p:blipFill>
          <a:blip r:embed="rId2"/>
          <a:stretch>
            <a:fillRect/>
          </a:stretch>
        </p:blipFill>
        <p:spPr>
          <a:xfrm>
            <a:off x="4777740" y="2766060"/>
            <a:ext cx="320040" cy="320040"/>
          </a:xfrm>
          <a:prstGeom prst="rect">
            <a:avLst/>
          </a:prstGeom>
        </p:spPr>
      </p:pic>
      <p:sp>
        <p:nvSpPr>
          <p:cNvPr id="12" name="Text 8"/>
          <p:cNvSpPr txBox="1"/>
          <p:nvPr/>
        </p:nvSpPr>
        <p:spPr>
          <a:xfrm>
            <a:off x="5486400" y="2606040"/>
            <a:ext cx="2194560" cy="640080"/>
          </a:xfrm>
          <a:prstGeom prst="rect">
            <a:avLst/>
          </a:prstGeom>
          <a:noFill/>
          <a:ln/>
        </p:spPr>
        <p:txBody>
          <a:bodyPr wrap="square" lIns="0" tIns="0" rIns="0" bIns="0" rtlCol="0" anchor="ctr"/>
          <a:lstStyle/>
          <a:p>
            <a:pPr indent="0" marL="0">
              <a:buNone/>
            </a:pPr>
            <a:r>
              <a:rPr lang="en-US" sz="2000" b="1" dirty="0">
                <a:solidFill>
                  <a:srgbClr val="0E1A2D"/>
                </a:solidFill>
                <a:latin typeface="Cambria" pitchFamily="34" charset="0"/>
                <a:ea typeface="Cambria" pitchFamily="34" charset="-122"/>
                <a:cs typeface="Cambria" pitchFamily="34" charset="-120"/>
              </a:rPr>
              <a:t>Not enough money</a:t>
            </a:r>
            <a:endParaRPr lang="en-US" sz="2000" dirty="0"/>
          </a:p>
        </p:txBody>
      </p:sp>
      <p:sp>
        <p:nvSpPr>
          <p:cNvPr id="13" name="Shape 9"/>
          <p:cNvSpPr/>
          <p:nvPr/>
        </p:nvSpPr>
        <p:spPr>
          <a:xfrm>
            <a:off x="8046720" y="2194560"/>
            <a:ext cx="3520440" cy="1463040"/>
          </a:xfrm>
          <a:prstGeom prst="roundRect">
            <a:avLst>
              <a:gd name="adj" fmla="val 5000"/>
            </a:avLst>
          </a:prstGeom>
          <a:solidFill>
            <a:srgbClr val="EFE5CB"/>
          </a:solidFill>
          <a:ln w="12700">
            <a:solidFill>
              <a:srgbClr val="EFE5CB"/>
            </a:solidFill>
            <a:prstDash val="solid"/>
          </a:ln>
        </p:spPr>
      </p:sp>
      <p:sp>
        <p:nvSpPr>
          <p:cNvPr id="14" name="Shape 10"/>
          <p:cNvSpPr/>
          <p:nvPr/>
        </p:nvSpPr>
        <p:spPr>
          <a:xfrm>
            <a:off x="8366760" y="2606040"/>
            <a:ext cx="640080" cy="640080"/>
          </a:xfrm>
          <a:prstGeom prst="ellipse">
            <a:avLst/>
          </a:prstGeom>
          <a:solidFill>
            <a:srgbClr val="6E6E6E"/>
          </a:solidFill>
          <a:ln w="12700">
            <a:solidFill>
              <a:srgbClr val="6E6E6E"/>
            </a:solidFill>
            <a:prstDash val="solid"/>
          </a:ln>
        </p:spPr>
      </p:sp>
      <p:pic>
        <p:nvPicPr>
          <p:cNvPr id="15" name="Image 2" descr="preencoded.png">    </p:cNvPr>
          <p:cNvPicPr>
            <a:picLocks noChangeAspect="1"/>
          </p:cNvPicPr>
          <p:nvPr/>
        </p:nvPicPr>
        <p:blipFill>
          <a:blip r:embed="rId3"/>
          <a:stretch>
            <a:fillRect/>
          </a:stretch>
        </p:blipFill>
        <p:spPr>
          <a:xfrm>
            <a:off x="8526780" y="2766060"/>
            <a:ext cx="320040" cy="320040"/>
          </a:xfrm>
          <a:prstGeom prst="rect">
            <a:avLst/>
          </a:prstGeom>
        </p:spPr>
      </p:pic>
      <p:sp>
        <p:nvSpPr>
          <p:cNvPr id="16" name="Text 11"/>
          <p:cNvSpPr txBox="1"/>
          <p:nvPr/>
        </p:nvSpPr>
        <p:spPr>
          <a:xfrm>
            <a:off x="9235440" y="2606040"/>
            <a:ext cx="2194560" cy="640080"/>
          </a:xfrm>
          <a:prstGeom prst="rect">
            <a:avLst/>
          </a:prstGeom>
          <a:noFill/>
          <a:ln/>
        </p:spPr>
        <p:txBody>
          <a:bodyPr wrap="square" lIns="0" tIns="0" rIns="0" bIns="0" rtlCol="0" anchor="ctr"/>
          <a:lstStyle/>
          <a:p>
            <a:pPr indent="0" marL="0">
              <a:buNone/>
            </a:pPr>
            <a:r>
              <a:rPr lang="en-US" sz="2000" b="1" dirty="0">
                <a:solidFill>
                  <a:srgbClr val="0E1A2D"/>
                </a:solidFill>
                <a:latin typeface="Cambria" pitchFamily="34" charset="0"/>
                <a:ea typeface="Cambria" pitchFamily="34" charset="-122"/>
                <a:cs typeface="Cambria" pitchFamily="34" charset="-120"/>
              </a:rPr>
              <a:t>Not enough people</a:t>
            </a:r>
            <a:endParaRPr lang="en-US" sz="2000" dirty="0"/>
          </a:p>
        </p:txBody>
      </p:sp>
      <p:sp>
        <p:nvSpPr>
          <p:cNvPr id="17" name="Text 12"/>
          <p:cNvSpPr txBox="1"/>
          <p:nvPr/>
        </p:nvSpPr>
        <p:spPr>
          <a:xfrm>
            <a:off x="548640" y="3977640"/>
            <a:ext cx="10972800" cy="548640"/>
          </a:xfrm>
          <a:prstGeom prst="rect">
            <a:avLst/>
          </a:prstGeom>
          <a:noFill/>
          <a:ln/>
        </p:spPr>
        <p:txBody>
          <a:bodyPr wrap="square" lIns="0" tIns="0" rIns="0" bIns="0" rtlCol="0" anchor="ctr"/>
          <a:lstStyle/>
          <a:p>
            <a:pPr indent="0" marL="0">
              <a:buNone/>
            </a:pPr>
            <a:r>
              <a:rPr lang="en-US" sz="2000" i="1" dirty="0">
                <a:solidFill>
                  <a:srgbClr val="5B7089"/>
                </a:solidFill>
                <a:latin typeface="Cambria" pitchFamily="34" charset="0"/>
                <a:ea typeface="Cambria" pitchFamily="34" charset="-122"/>
                <a:cs typeface="Cambria" pitchFamily="34" charset="-120"/>
              </a:rPr>
              <a:t>That is unlikely to change. AI addresses the problem if it is used efficiently and strategically.</a:t>
            </a:r>
            <a:endParaRPr lang="en-US" sz="2000" dirty="0"/>
          </a:p>
        </p:txBody>
      </p:sp>
      <p:sp>
        <p:nvSpPr>
          <p:cNvPr id="18" name="Text 13"/>
          <p:cNvSpPr txBox="1"/>
          <p:nvPr/>
        </p:nvSpPr>
        <p:spPr>
          <a:xfrm>
            <a:off x="548640" y="4800600"/>
            <a:ext cx="3520440" cy="320040"/>
          </a:xfrm>
          <a:prstGeom prst="rect">
            <a:avLst/>
          </a:prstGeom>
          <a:noFill/>
          <a:ln/>
        </p:spPr>
        <p:txBody>
          <a:bodyPr wrap="square" lIns="0" tIns="0" rIns="0" bIns="0" rtlCol="0" anchor="t"/>
          <a:lstStyle/>
          <a:p>
            <a:pPr indent="0" marL="0">
              <a:buNone/>
            </a:pPr>
            <a:r>
              <a:rPr lang="en-US" sz="1500" b="1" dirty="0">
                <a:solidFill>
                  <a:srgbClr val="0E1A2D"/>
                </a:solidFill>
                <a:latin typeface="Calibri" pitchFamily="34" charset="0"/>
                <a:ea typeface="Calibri" pitchFamily="34" charset="-122"/>
                <a:cs typeface="Calibri" pitchFamily="34" charset="-120"/>
              </a:rPr>
              <a:t>What problem does it solve?</a:t>
            </a:r>
            <a:endParaRPr lang="en-US" sz="1500" dirty="0"/>
          </a:p>
        </p:txBody>
      </p:sp>
      <p:sp>
        <p:nvSpPr>
          <p:cNvPr id="19" name="Text 14"/>
          <p:cNvSpPr txBox="1"/>
          <p:nvPr/>
        </p:nvSpPr>
        <p:spPr>
          <a:xfrm>
            <a:off x="548640" y="5166360"/>
            <a:ext cx="3520440" cy="82296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Backlogs of transcription, cleaning, translation and mapping work that no one has time for.</a:t>
            </a:r>
            <a:endParaRPr lang="en-US" sz="1300" dirty="0"/>
          </a:p>
        </p:txBody>
      </p:sp>
      <p:sp>
        <p:nvSpPr>
          <p:cNvPr id="20" name="Text 15"/>
          <p:cNvSpPr txBox="1"/>
          <p:nvPr/>
        </p:nvSpPr>
        <p:spPr>
          <a:xfrm>
            <a:off x="4297680" y="4800600"/>
            <a:ext cx="3520440" cy="320040"/>
          </a:xfrm>
          <a:prstGeom prst="rect">
            <a:avLst/>
          </a:prstGeom>
          <a:noFill/>
          <a:ln/>
        </p:spPr>
        <p:txBody>
          <a:bodyPr wrap="square" lIns="0" tIns="0" rIns="0" bIns="0" rtlCol="0" anchor="t"/>
          <a:lstStyle/>
          <a:p>
            <a:pPr indent="0" marL="0">
              <a:buNone/>
            </a:pPr>
            <a:r>
              <a:rPr lang="en-US" sz="1500" b="1" dirty="0">
                <a:solidFill>
                  <a:srgbClr val="0E1A2D"/>
                </a:solidFill>
                <a:latin typeface="Calibri" pitchFamily="34" charset="0"/>
                <a:ea typeface="Calibri" pitchFamily="34" charset="-122"/>
                <a:cs typeface="Calibri" pitchFamily="34" charset="-120"/>
              </a:rPr>
              <a:t>What role does it play?</a:t>
            </a:r>
            <a:endParaRPr lang="en-US" sz="1500" dirty="0"/>
          </a:p>
        </p:txBody>
      </p:sp>
      <p:sp>
        <p:nvSpPr>
          <p:cNvPr id="21" name="Text 16"/>
          <p:cNvSpPr txBox="1"/>
          <p:nvPr/>
        </p:nvSpPr>
        <p:spPr>
          <a:xfrm>
            <a:off x="4297680" y="5166360"/>
            <a:ext cx="3520440" cy="82296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An assistant that plans, writes and runs code, supervised by the people who know the data.</a:t>
            </a:r>
            <a:endParaRPr lang="en-US" sz="1300" dirty="0"/>
          </a:p>
        </p:txBody>
      </p:sp>
      <p:sp>
        <p:nvSpPr>
          <p:cNvPr id="22" name="Text 17"/>
          <p:cNvSpPr txBox="1"/>
          <p:nvPr/>
        </p:nvSpPr>
        <p:spPr>
          <a:xfrm>
            <a:off x="8046720" y="4800600"/>
            <a:ext cx="3520440" cy="320040"/>
          </a:xfrm>
          <a:prstGeom prst="rect">
            <a:avLst/>
          </a:prstGeom>
          <a:noFill/>
          <a:ln/>
        </p:spPr>
        <p:txBody>
          <a:bodyPr wrap="square" lIns="0" tIns="0" rIns="0" bIns="0" rtlCol="0" anchor="t"/>
          <a:lstStyle/>
          <a:p>
            <a:pPr indent="0" marL="0">
              <a:buNone/>
            </a:pPr>
            <a:r>
              <a:rPr lang="en-US" sz="1500" b="1" dirty="0">
                <a:solidFill>
                  <a:srgbClr val="0E1A2D"/>
                </a:solidFill>
                <a:latin typeface="Calibri" pitchFamily="34" charset="0"/>
                <a:ea typeface="Calibri" pitchFamily="34" charset="-122"/>
                <a:cs typeface="Calibri" pitchFamily="34" charset="-120"/>
              </a:rPr>
              <a:t>How accurate is it?</a:t>
            </a:r>
            <a:endParaRPr lang="en-US" sz="1500" dirty="0"/>
          </a:p>
        </p:txBody>
      </p:sp>
      <p:sp>
        <p:nvSpPr>
          <p:cNvPr id="23" name="Text 18"/>
          <p:cNvSpPr txBox="1"/>
          <p:nvPr/>
        </p:nvSpPr>
        <p:spPr>
          <a:xfrm>
            <a:off x="8046720" y="5166360"/>
            <a:ext cx="3520440" cy="82296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Accurate enough only when it is verified. We come back to this at the end.</a:t>
            </a:r>
            <a:endParaRPr lang="en-US" sz="1300" dirty="0"/>
          </a:p>
        </p:txBody>
      </p:sp>
      <p:sp>
        <p:nvSpPr>
          <p:cNvPr id="24" name="Text 1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7F87"/>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20"/>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7F87"/>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392B"/>
                </a:solidFill>
                <a:latin typeface="Calibri" pitchFamily="34" charset="0"/>
                <a:ea typeface="Calibri" pitchFamily="34" charset="-122"/>
                <a:cs typeface="Calibri" pitchFamily="34" charset="-120"/>
              </a:rPr>
              <a:t>THE MODEL LANDSCAPE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0E1A2D"/>
                </a:solidFill>
                <a:latin typeface="Cambria" pitchFamily="34" charset="0"/>
                <a:ea typeface="Cambria" pitchFamily="34" charset="-122"/>
                <a:cs typeface="Cambria" pitchFamily="34" charset="-120"/>
              </a:rPr>
              <a:t>Many models, different strengths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4D4D4D"/>
                </a:solidFill>
                <a:latin typeface="Calibri" pitchFamily="34" charset="0"/>
                <a:ea typeface="Calibri" pitchFamily="34" charset="-122"/>
                <a:cs typeface="Calibri" pitchFamily="34" charset="-120"/>
              </a:rPr>
              <a:t>Some models perform specific tasks far better than others.</a:t>
            </a:r>
            <a:endParaRPr lang="en-US" sz="1500" dirty="0"/>
          </a:p>
        </p:txBody>
      </p:sp>
      <p:sp>
        <p:nvSpPr>
          <p:cNvPr id="5" name="Shape 3"/>
          <p:cNvSpPr/>
          <p:nvPr/>
        </p:nvSpPr>
        <p:spPr>
          <a:xfrm>
            <a:off x="548640" y="2148840"/>
            <a:ext cx="6675120" cy="3886200"/>
          </a:xfrm>
          <a:prstGeom prst="roundRect">
            <a:avLst>
              <a:gd name="adj" fmla="val 1882"/>
            </a:avLst>
          </a:prstGeom>
          <a:solidFill>
            <a:srgbClr val="EFE5CB"/>
          </a:solidFill>
          <a:ln w="12700">
            <a:solidFill>
              <a:srgbClr val="EFE5CB"/>
            </a:solidFill>
            <a:prstDash val="solid"/>
          </a:ln>
        </p:spPr>
      </p:sp>
      <p:sp>
        <p:nvSpPr>
          <p:cNvPr id="6" name="Text 4"/>
          <p:cNvSpPr txBox="1"/>
          <p:nvPr/>
        </p:nvSpPr>
        <p:spPr>
          <a:xfrm>
            <a:off x="914400" y="2377440"/>
            <a:ext cx="6035040" cy="274320"/>
          </a:xfrm>
          <a:prstGeom prst="rect">
            <a:avLst/>
          </a:prstGeom>
          <a:noFill/>
          <a:ln/>
        </p:spPr>
        <p:txBody>
          <a:bodyPr wrap="square" lIns="0" tIns="0" rIns="0" bIns="0" rtlCol="0" anchor="t"/>
          <a:lstStyle/>
          <a:p>
            <a:pPr indent="0" marL="0">
              <a:buNone/>
            </a:pPr>
            <a:r>
              <a:rPr lang="en-US" sz="1100" b="1" spc="100" kern="0" dirty="0">
                <a:solidFill>
                  <a:srgbClr val="C0392B"/>
                </a:solidFill>
                <a:latin typeface="Calibri" pitchFamily="34" charset="0"/>
                <a:ea typeface="Calibri" pitchFamily="34" charset="-122"/>
                <a:cs typeface="Calibri" pitchFamily="34" charset="-120"/>
              </a:rPr>
              <a:t>A REAL EXAMPLE: SCREENSHOT → FIGMA MOCKUP</a:t>
            </a:r>
            <a:endParaRPr lang="en-US" sz="1100" dirty="0"/>
          </a:p>
        </p:txBody>
      </p:sp>
      <p:sp>
        <p:nvSpPr>
          <p:cNvPr id="7" name="Text 5"/>
          <p:cNvSpPr txBox="1"/>
          <p:nvPr/>
        </p:nvSpPr>
        <p:spPr>
          <a:xfrm>
            <a:off x="914400" y="2743200"/>
            <a:ext cx="5943600" cy="640080"/>
          </a:xfrm>
          <a:prstGeom prst="rect">
            <a:avLst/>
          </a:prstGeom>
          <a:noFill/>
          <a:ln/>
        </p:spPr>
        <p:txBody>
          <a:bodyPr wrap="square" lIns="0" tIns="0" rIns="0" bIns="0" rtlCol="0" anchor="t"/>
          <a:lstStyle/>
          <a:p>
            <a:pPr indent="0" marL="0">
              <a:buNone/>
            </a:pPr>
            <a:r>
              <a:rPr lang="en-US" sz="1400" dirty="0">
                <a:solidFill>
                  <a:srgbClr val="4D4D4D"/>
                </a:solidFill>
                <a:latin typeface="Calibri" pitchFamily="34" charset="0"/>
                <a:ea typeface="Calibri" pitchFamily="34" charset="-122"/>
                <a:cs typeface="Calibri" pitchFamily="34" charset="-120"/>
              </a:rPr>
              <a:t>A plugin designed for exactly this task offered several models. The same task was run with each of them:</a:t>
            </a:r>
            <a:endParaRPr lang="en-US" sz="1400" dirty="0"/>
          </a:p>
        </p:txBody>
      </p:sp>
      <p:sp>
        <p:nvSpPr>
          <p:cNvPr id="8" name="Shape 6"/>
          <p:cNvSpPr/>
          <p:nvPr/>
        </p:nvSpPr>
        <p:spPr>
          <a:xfrm>
            <a:off x="914400" y="3474720"/>
            <a:ext cx="347472" cy="347472"/>
          </a:xfrm>
          <a:prstGeom prst="ellipse">
            <a:avLst/>
          </a:prstGeom>
          <a:solidFill>
            <a:srgbClr val="E0584A"/>
          </a:solidFill>
          <a:ln w="12700">
            <a:solidFill>
              <a:srgbClr val="E0584A"/>
            </a:solidFill>
            <a:prstDash val="solid"/>
          </a:ln>
        </p:spPr>
      </p:sp>
      <p:pic>
        <p:nvPicPr>
          <p:cNvPr id="9" name="Image 0" descr="preencoded.png">    </p:cNvPr>
          <p:cNvPicPr>
            <a:picLocks noChangeAspect="1"/>
          </p:cNvPicPr>
          <p:nvPr/>
        </p:nvPicPr>
        <p:blipFill>
          <a:blip r:embed="rId1"/>
          <a:stretch>
            <a:fillRect/>
          </a:stretch>
        </p:blipFill>
        <p:spPr>
          <a:xfrm>
            <a:off x="1001268" y="3561588"/>
            <a:ext cx="173736" cy="173736"/>
          </a:xfrm>
          <a:prstGeom prst="rect">
            <a:avLst/>
          </a:prstGeom>
        </p:spPr>
      </p:pic>
      <p:sp>
        <p:nvSpPr>
          <p:cNvPr id="10" name="Text 7"/>
          <p:cNvSpPr txBox="1"/>
          <p:nvPr/>
        </p:nvSpPr>
        <p:spPr>
          <a:xfrm>
            <a:off x="1417320" y="3493008"/>
            <a:ext cx="2286000" cy="320040"/>
          </a:xfrm>
          <a:prstGeom prst="rect">
            <a:avLst/>
          </a:prstGeom>
          <a:noFill/>
          <a:ln/>
        </p:spPr>
        <p:txBody>
          <a:bodyPr wrap="square" lIns="0" tIns="0" rIns="0" bIns="0" rtlCol="0" anchor="ctr"/>
          <a:lstStyle/>
          <a:p>
            <a:pPr indent="0" marL="0">
              <a:buNone/>
            </a:pPr>
            <a:r>
              <a:rPr lang="en-US" sz="1500" b="1" dirty="0">
                <a:solidFill>
                  <a:srgbClr val="0E1A2D"/>
                </a:solidFill>
                <a:latin typeface="Calibri" pitchFamily="34" charset="0"/>
                <a:ea typeface="Calibri" pitchFamily="34" charset="-122"/>
                <a:cs typeface="Calibri" pitchFamily="34" charset="-120"/>
              </a:rPr>
              <a:t>Opus</a:t>
            </a:r>
            <a:endParaRPr lang="en-US" sz="1500" dirty="0"/>
          </a:p>
        </p:txBody>
      </p:sp>
      <p:sp>
        <p:nvSpPr>
          <p:cNvPr id="11" name="Text 8"/>
          <p:cNvSpPr txBox="1"/>
          <p:nvPr/>
        </p:nvSpPr>
        <p:spPr>
          <a:xfrm>
            <a:off x="3291840" y="3493008"/>
            <a:ext cx="3200400" cy="320040"/>
          </a:xfrm>
          <a:prstGeom prst="rect">
            <a:avLst/>
          </a:prstGeom>
          <a:noFill/>
          <a:ln/>
        </p:spPr>
        <p:txBody>
          <a:bodyPr wrap="square" lIns="0" tIns="0" rIns="0" bIns="0" rtlCol="0" anchor="ctr"/>
          <a:lstStyle/>
          <a:p>
            <a:pPr indent="0" marL="0">
              <a:buNone/>
            </a:pPr>
            <a:r>
              <a:rPr lang="en-US" sz="1400" dirty="0">
                <a:solidFill>
                  <a:srgbClr val="4D4D4D"/>
                </a:solidFill>
                <a:latin typeface="Calibri" pitchFamily="34" charset="0"/>
                <a:ea typeface="Calibri" pitchFamily="34" charset="-122"/>
                <a:cs typeface="Calibri" pitchFamily="34" charset="-120"/>
              </a:rPr>
              <a:t>Failed completely</a:t>
            </a:r>
            <a:endParaRPr lang="en-US" sz="1400" dirty="0"/>
          </a:p>
        </p:txBody>
      </p:sp>
      <p:sp>
        <p:nvSpPr>
          <p:cNvPr id="12" name="Shape 9"/>
          <p:cNvSpPr/>
          <p:nvPr/>
        </p:nvSpPr>
        <p:spPr>
          <a:xfrm>
            <a:off x="914400" y="3950208"/>
            <a:ext cx="347472" cy="347472"/>
          </a:xfrm>
          <a:prstGeom prst="ellipse">
            <a:avLst/>
          </a:prstGeom>
          <a:solidFill>
            <a:srgbClr val="E0584A"/>
          </a:solidFill>
          <a:ln w="12700">
            <a:solidFill>
              <a:srgbClr val="E0584A"/>
            </a:solidFill>
            <a:prstDash val="solid"/>
          </a:ln>
        </p:spPr>
      </p:sp>
      <p:pic>
        <p:nvPicPr>
          <p:cNvPr id="13" name="Image 1" descr="preencoded.png">    </p:cNvPr>
          <p:cNvPicPr>
            <a:picLocks noChangeAspect="1"/>
          </p:cNvPicPr>
          <p:nvPr/>
        </p:nvPicPr>
        <p:blipFill>
          <a:blip r:embed="rId2"/>
          <a:stretch>
            <a:fillRect/>
          </a:stretch>
        </p:blipFill>
        <p:spPr>
          <a:xfrm>
            <a:off x="1001268" y="4037076"/>
            <a:ext cx="173736" cy="173736"/>
          </a:xfrm>
          <a:prstGeom prst="rect">
            <a:avLst/>
          </a:prstGeom>
        </p:spPr>
      </p:pic>
      <p:sp>
        <p:nvSpPr>
          <p:cNvPr id="14" name="Text 10"/>
          <p:cNvSpPr txBox="1"/>
          <p:nvPr/>
        </p:nvSpPr>
        <p:spPr>
          <a:xfrm>
            <a:off x="1417320" y="3968496"/>
            <a:ext cx="2286000" cy="320040"/>
          </a:xfrm>
          <a:prstGeom prst="rect">
            <a:avLst/>
          </a:prstGeom>
          <a:noFill/>
          <a:ln/>
        </p:spPr>
        <p:txBody>
          <a:bodyPr wrap="square" lIns="0" tIns="0" rIns="0" bIns="0" rtlCol="0" anchor="ctr"/>
          <a:lstStyle/>
          <a:p>
            <a:pPr indent="0" marL="0">
              <a:buNone/>
            </a:pPr>
            <a:r>
              <a:rPr lang="en-US" sz="1500" b="1" dirty="0">
                <a:solidFill>
                  <a:srgbClr val="0E1A2D"/>
                </a:solidFill>
                <a:latin typeface="Calibri" pitchFamily="34" charset="0"/>
                <a:ea typeface="Calibri" pitchFamily="34" charset="-122"/>
                <a:cs typeface="Calibri" pitchFamily="34" charset="-120"/>
              </a:rPr>
              <a:t>Sonnet</a:t>
            </a:r>
            <a:endParaRPr lang="en-US" sz="1500" dirty="0"/>
          </a:p>
        </p:txBody>
      </p:sp>
      <p:sp>
        <p:nvSpPr>
          <p:cNvPr id="15" name="Text 11"/>
          <p:cNvSpPr txBox="1"/>
          <p:nvPr/>
        </p:nvSpPr>
        <p:spPr>
          <a:xfrm>
            <a:off x="3291840" y="3968496"/>
            <a:ext cx="3200400" cy="320040"/>
          </a:xfrm>
          <a:prstGeom prst="rect">
            <a:avLst/>
          </a:prstGeom>
          <a:noFill/>
          <a:ln/>
        </p:spPr>
        <p:txBody>
          <a:bodyPr wrap="square" lIns="0" tIns="0" rIns="0" bIns="0" rtlCol="0" anchor="ctr"/>
          <a:lstStyle/>
          <a:p>
            <a:pPr indent="0" marL="0">
              <a:buNone/>
            </a:pPr>
            <a:r>
              <a:rPr lang="en-US" sz="1400" dirty="0">
                <a:solidFill>
                  <a:srgbClr val="4D4D4D"/>
                </a:solidFill>
                <a:latin typeface="Calibri" pitchFamily="34" charset="0"/>
                <a:ea typeface="Calibri" pitchFamily="34" charset="-122"/>
                <a:cs typeface="Calibri" pitchFamily="34" charset="-120"/>
              </a:rPr>
              <a:t>Failed completely</a:t>
            </a:r>
            <a:endParaRPr lang="en-US" sz="1400" dirty="0"/>
          </a:p>
        </p:txBody>
      </p:sp>
      <p:sp>
        <p:nvSpPr>
          <p:cNvPr id="16" name="Shape 12"/>
          <p:cNvSpPr/>
          <p:nvPr/>
        </p:nvSpPr>
        <p:spPr>
          <a:xfrm>
            <a:off x="914400" y="4425696"/>
            <a:ext cx="347472" cy="347472"/>
          </a:xfrm>
          <a:prstGeom prst="ellipse">
            <a:avLst/>
          </a:prstGeom>
          <a:solidFill>
            <a:srgbClr val="E0584A"/>
          </a:solidFill>
          <a:ln w="12700">
            <a:solidFill>
              <a:srgbClr val="E0584A"/>
            </a:solidFill>
            <a:prstDash val="solid"/>
          </a:ln>
        </p:spPr>
      </p:sp>
      <p:pic>
        <p:nvPicPr>
          <p:cNvPr id="17" name="Image 2" descr="preencoded.png">    </p:cNvPr>
          <p:cNvPicPr>
            <a:picLocks noChangeAspect="1"/>
          </p:cNvPicPr>
          <p:nvPr/>
        </p:nvPicPr>
        <p:blipFill>
          <a:blip r:embed="rId3"/>
          <a:stretch>
            <a:fillRect/>
          </a:stretch>
        </p:blipFill>
        <p:spPr>
          <a:xfrm>
            <a:off x="1001268" y="4512564"/>
            <a:ext cx="173736" cy="173736"/>
          </a:xfrm>
          <a:prstGeom prst="rect">
            <a:avLst/>
          </a:prstGeom>
        </p:spPr>
      </p:pic>
      <p:sp>
        <p:nvSpPr>
          <p:cNvPr id="18" name="Text 13"/>
          <p:cNvSpPr txBox="1"/>
          <p:nvPr/>
        </p:nvSpPr>
        <p:spPr>
          <a:xfrm>
            <a:off x="1417320" y="4443984"/>
            <a:ext cx="2286000" cy="320040"/>
          </a:xfrm>
          <a:prstGeom prst="rect">
            <a:avLst/>
          </a:prstGeom>
          <a:noFill/>
          <a:ln/>
        </p:spPr>
        <p:txBody>
          <a:bodyPr wrap="square" lIns="0" tIns="0" rIns="0" bIns="0" rtlCol="0" anchor="ctr"/>
          <a:lstStyle/>
          <a:p>
            <a:pPr indent="0" marL="0">
              <a:buNone/>
            </a:pPr>
            <a:r>
              <a:rPr lang="en-US" sz="1500" b="1" dirty="0">
                <a:solidFill>
                  <a:srgbClr val="0E1A2D"/>
                </a:solidFill>
                <a:latin typeface="Calibri" pitchFamily="34" charset="0"/>
                <a:ea typeface="Calibri" pitchFamily="34" charset="-122"/>
                <a:cs typeface="Calibri" pitchFamily="34" charset="-120"/>
              </a:rPr>
              <a:t>GPT</a:t>
            </a:r>
            <a:endParaRPr lang="en-US" sz="1500" dirty="0"/>
          </a:p>
        </p:txBody>
      </p:sp>
      <p:sp>
        <p:nvSpPr>
          <p:cNvPr id="19" name="Text 14"/>
          <p:cNvSpPr txBox="1"/>
          <p:nvPr/>
        </p:nvSpPr>
        <p:spPr>
          <a:xfrm>
            <a:off x="3291840" y="4443984"/>
            <a:ext cx="3200400" cy="320040"/>
          </a:xfrm>
          <a:prstGeom prst="rect">
            <a:avLst/>
          </a:prstGeom>
          <a:noFill/>
          <a:ln/>
        </p:spPr>
        <p:txBody>
          <a:bodyPr wrap="square" lIns="0" tIns="0" rIns="0" bIns="0" rtlCol="0" anchor="ctr"/>
          <a:lstStyle/>
          <a:p>
            <a:pPr indent="0" marL="0">
              <a:buNone/>
            </a:pPr>
            <a:r>
              <a:rPr lang="en-US" sz="1400" dirty="0">
                <a:solidFill>
                  <a:srgbClr val="4D4D4D"/>
                </a:solidFill>
                <a:latin typeface="Calibri" pitchFamily="34" charset="0"/>
                <a:ea typeface="Calibri" pitchFamily="34" charset="-122"/>
                <a:cs typeface="Calibri" pitchFamily="34" charset="-120"/>
              </a:rPr>
              <a:t>Failed completely</a:t>
            </a:r>
            <a:endParaRPr lang="en-US" sz="1400" dirty="0"/>
          </a:p>
        </p:txBody>
      </p:sp>
      <p:sp>
        <p:nvSpPr>
          <p:cNvPr id="20" name="Shape 15"/>
          <p:cNvSpPr/>
          <p:nvPr/>
        </p:nvSpPr>
        <p:spPr>
          <a:xfrm>
            <a:off x="914400" y="4901184"/>
            <a:ext cx="347472" cy="347472"/>
          </a:xfrm>
          <a:prstGeom prst="ellipse">
            <a:avLst/>
          </a:prstGeom>
          <a:solidFill>
            <a:srgbClr val="E0584A"/>
          </a:solidFill>
          <a:ln w="12700">
            <a:solidFill>
              <a:srgbClr val="E0584A"/>
            </a:solidFill>
            <a:prstDash val="solid"/>
          </a:ln>
        </p:spPr>
      </p:sp>
      <p:pic>
        <p:nvPicPr>
          <p:cNvPr id="21" name="Image 3" descr="preencoded.png">    </p:cNvPr>
          <p:cNvPicPr>
            <a:picLocks noChangeAspect="1"/>
          </p:cNvPicPr>
          <p:nvPr/>
        </p:nvPicPr>
        <p:blipFill>
          <a:blip r:embed="rId4"/>
          <a:stretch>
            <a:fillRect/>
          </a:stretch>
        </p:blipFill>
        <p:spPr>
          <a:xfrm>
            <a:off x="1001268" y="4988052"/>
            <a:ext cx="173736" cy="173736"/>
          </a:xfrm>
          <a:prstGeom prst="rect">
            <a:avLst/>
          </a:prstGeom>
        </p:spPr>
      </p:pic>
      <p:sp>
        <p:nvSpPr>
          <p:cNvPr id="22" name="Text 16"/>
          <p:cNvSpPr txBox="1"/>
          <p:nvPr/>
        </p:nvSpPr>
        <p:spPr>
          <a:xfrm>
            <a:off x="1417320" y="4919472"/>
            <a:ext cx="2286000" cy="320040"/>
          </a:xfrm>
          <a:prstGeom prst="rect">
            <a:avLst/>
          </a:prstGeom>
          <a:noFill/>
          <a:ln/>
        </p:spPr>
        <p:txBody>
          <a:bodyPr wrap="square" lIns="0" tIns="0" rIns="0" bIns="0" rtlCol="0" anchor="ctr"/>
          <a:lstStyle/>
          <a:p>
            <a:pPr indent="0" marL="0">
              <a:buNone/>
            </a:pPr>
            <a:r>
              <a:rPr lang="en-US" sz="1500" b="1" dirty="0">
                <a:solidFill>
                  <a:srgbClr val="0E1A2D"/>
                </a:solidFill>
                <a:latin typeface="Calibri" pitchFamily="34" charset="0"/>
                <a:ea typeface="Calibri" pitchFamily="34" charset="-122"/>
                <a:cs typeface="Calibri" pitchFamily="34" charset="-120"/>
              </a:rPr>
              <a:t>Flash Lite</a:t>
            </a:r>
            <a:endParaRPr lang="en-US" sz="1500" dirty="0"/>
          </a:p>
        </p:txBody>
      </p:sp>
      <p:sp>
        <p:nvSpPr>
          <p:cNvPr id="23" name="Text 17"/>
          <p:cNvSpPr txBox="1"/>
          <p:nvPr/>
        </p:nvSpPr>
        <p:spPr>
          <a:xfrm>
            <a:off x="3291840" y="4919472"/>
            <a:ext cx="3200400" cy="320040"/>
          </a:xfrm>
          <a:prstGeom prst="rect">
            <a:avLst/>
          </a:prstGeom>
          <a:noFill/>
          <a:ln/>
        </p:spPr>
        <p:txBody>
          <a:bodyPr wrap="square" lIns="0" tIns="0" rIns="0" bIns="0" rtlCol="0" anchor="ctr"/>
          <a:lstStyle/>
          <a:p>
            <a:pPr indent="0" marL="0">
              <a:buNone/>
            </a:pPr>
            <a:r>
              <a:rPr lang="en-US" sz="1400" dirty="0">
                <a:solidFill>
                  <a:srgbClr val="4D4D4D"/>
                </a:solidFill>
                <a:latin typeface="Calibri" pitchFamily="34" charset="0"/>
                <a:ea typeface="Calibri" pitchFamily="34" charset="-122"/>
                <a:cs typeface="Calibri" pitchFamily="34" charset="-120"/>
              </a:rPr>
              <a:t>Failed completely</a:t>
            </a:r>
            <a:endParaRPr lang="en-US" sz="1400" dirty="0"/>
          </a:p>
        </p:txBody>
      </p:sp>
      <p:sp>
        <p:nvSpPr>
          <p:cNvPr id="24" name="Shape 18"/>
          <p:cNvSpPr/>
          <p:nvPr/>
        </p:nvSpPr>
        <p:spPr>
          <a:xfrm>
            <a:off x="914400" y="5376672"/>
            <a:ext cx="347472" cy="347472"/>
          </a:xfrm>
          <a:prstGeom prst="ellipse">
            <a:avLst/>
          </a:prstGeom>
          <a:solidFill>
            <a:srgbClr val="5B7089"/>
          </a:solidFill>
          <a:ln w="12700">
            <a:solidFill>
              <a:srgbClr val="5B7089"/>
            </a:solidFill>
            <a:prstDash val="solid"/>
          </a:ln>
        </p:spPr>
      </p:sp>
      <p:pic>
        <p:nvPicPr>
          <p:cNvPr id="25" name="Image 4" descr="preencoded.png">    </p:cNvPr>
          <p:cNvPicPr>
            <a:picLocks noChangeAspect="1"/>
          </p:cNvPicPr>
          <p:nvPr/>
        </p:nvPicPr>
        <p:blipFill>
          <a:blip r:embed="rId5"/>
          <a:stretch>
            <a:fillRect/>
          </a:stretch>
        </p:blipFill>
        <p:spPr>
          <a:xfrm>
            <a:off x="1001268" y="5463540"/>
            <a:ext cx="173736" cy="173736"/>
          </a:xfrm>
          <a:prstGeom prst="rect">
            <a:avLst/>
          </a:prstGeom>
        </p:spPr>
      </p:pic>
      <p:sp>
        <p:nvSpPr>
          <p:cNvPr id="26" name="Text 19"/>
          <p:cNvSpPr txBox="1"/>
          <p:nvPr/>
        </p:nvSpPr>
        <p:spPr>
          <a:xfrm>
            <a:off x="1417320" y="5394960"/>
            <a:ext cx="2286000" cy="320040"/>
          </a:xfrm>
          <a:prstGeom prst="rect">
            <a:avLst/>
          </a:prstGeom>
          <a:noFill/>
          <a:ln/>
        </p:spPr>
        <p:txBody>
          <a:bodyPr wrap="square" lIns="0" tIns="0" rIns="0" bIns="0" rtlCol="0" anchor="ctr"/>
          <a:lstStyle/>
          <a:p>
            <a:pPr indent="0" marL="0">
              <a:buNone/>
            </a:pPr>
            <a:r>
              <a:rPr lang="en-US" sz="1500" b="1" dirty="0">
                <a:solidFill>
                  <a:srgbClr val="0E1A2D"/>
                </a:solidFill>
                <a:latin typeface="Calibri" pitchFamily="34" charset="0"/>
                <a:ea typeface="Calibri" pitchFamily="34" charset="-122"/>
                <a:cs typeface="Calibri" pitchFamily="34" charset="-120"/>
              </a:rPr>
              <a:t>Flash</a:t>
            </a:r>
            <a:endParaRPr lang="en-US" sz="1500" dirty="0"/>
          </a:p>
        </p:txBody>
      </p:sp>
      <p:sp>
        <p:nvSpPr>
          <p:cNvPr id="27" name="Text 20"/>
          <p:cNvSpPr txBox="1"/>
          <p:nvPr/>
        </p:nvSpPr>
        <p:spPr>
          <a:xfrm>
            <a:off x="3291840" y="5394960"/>
            <a:ext cx="3200400" cy="320040"/>
          </a:xfrm>
          <a:prstGeom prst="rect">
            <a:avLst/>
          </a:prstGeom>
          <a:noFill/>
          <a:ln/>
        </p:spPr>
        <p:txBody>
          <a:bodyPr wrap="square" lIns="0" tIns="0" rIns="0" bIns="0" rtlCol="0" anchor="ctr"/>
          <a:lstStyle/>
          <a:p>
            <a:pPr indent="0" marL="0">
              <a:buNone/>
            </a:pPr>
            <a:r>
              <a:rPr lang="en-US" sz="1400" b="1" dirty="0">
                <a:solidFill>
                  <a:srgbClr val="5B7089"/>
                </a:solidFill>
                <a:latin typeface="Calibri" pitchFamily="34" charset="0"/>
                <a:ea typeface="Calibri" pitchFamily="34" charset="-122"/>
                <a:cs typeface="Calibri" pitchFamily="34" charset="-120"/>
              </a:rPr>
              <a:t>Succeeded</a:t>
            </a:r>
            <a:endParaRPr lang="en-US" sz="1400" dirty="0"/>
          </a:p>
        </p:txBody>
      </p:sp>
      <p:sp>
        <p:nvSpPr>
          <p:cNvPr id="28" name="Text 21"/>
          <p:cNvSpPr txBox="1"/>
          <p:nvPr/>
        </p:nvSpPr>
        <p:spPr>
          <a:xfrm>
            <a:off x="7589520" y="2286000"/>
            <a:ext cx="4023360" cy="1280160"/>
          </a:xfrm>
          <a:prstGeom prst="rect">
            <a:avLst/>
          </a:prstGeom>
          <a:noFill/>
          <a:ln/>
        </p:spPr>
        <p:txBody>
          <a:bodyPr wrap="square" lIns="0" tIns="0" rIns="0" bIns="0" rtlCol="0" anchor="t"/>
          <a:lstStyle/>
          <a:p>
            <a:pPr indent="0" marL="0">
              <a:buNone/>
            </a:pPr>
            <a:r>
              <a:rPr lang="en-US" sz="2400" b="1" dirty="0">
                <a:solidFill>
                  <a:srgbClr val="0E1A2D"/>
                </a:solidFill>
                <a:latin typeface="Cambria" pitchFamily="34" charset="0"/>
                <a:ea typeface="Cambria" pitchFamily="34" charset="-122"/>
                <a:cs typeface="Cambria" pitchFamily="34" charset="-120"/>
              </a:rPr>
              <a:t>Match the model to the task, and be prepared to switch.</a:t>
            </a:r>
            <a:endParaRPr lang="en-US" sz="2400" dirty="0"/>
          </a:p>
        </p:txBody>
      </p:sp>
      <p:sp>
        <p:nvSpPr>
          <p:cNvPr id="29" name="Text 22"/>
          <p:cNvSpPr txBox="1"/>
          <p:nvPr/>
        </p:nvSpPr>
        <p:spPr>
          <a:xfrm>
            <a:off x="7589520" y="3749040"/>
            <a:ext cx="4023360" cy="1463040"/>
          </a:xfrm>
          <a:prstGeom prst="rect">
            <a:avLst/>
          </a:prstGeom>
          <a:noFill/>
          <a:ln/>
        </p:spPr>
        <p:txBody>
          <a:bodyPr wrap="square" lIns="0" tIns="0" rIns="0" bIns="0" rtlCol="0" anchor="t"/>
          <a:lstStyle/>
          <a:p>
            <a:pPr indent="0" marL="0">
              <a:lnSpc>
                <a:spcPct val="115000"/>
              </a:lnSpc>
              <a:buNone/>
            </a:pPr>
            <a:r>
              <a:rPr lang="en-US" sz="1400" dirty="0">
                <a:solidFill>
                  <a:srgbClr val="4D4D4D"/>
                </a:solidFill>
                <a:latin typeface="Calibri" pitchFamily="34" charset="0"/>
                <a:ea typeface="Calibri" pitchFamily="34" charset="-122"/>
                <a:cs typeface="Calibri" pitchFamily="34" charset="-120"/>
              </a:rPr>
              <a:t>Large models are not always better. A fast, inexpensive model can win on a narrow task. Opus-class and Flash-class models will both have roles in biodiversity informatics.</a:t>
            </a:r>
            <a:endParaRPr lang="en-US" sz="1400" dirty="0"/>
          </a:p>
        </p:txBody>
      </p:sp>
      <p:sp>
        <p:nvSpPr>
          <p:cNvPr id="30" name="Text 2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7F87"/>
                </a:solidFill>
                <a:latin typeface="Calibri" pitchFamily="34" charset="0"/>
                <a:ea typeface="Calibri" pitchFamily="34" charset="-122"/>
                <a:cs typeface="Calibri" pitchFamily="34" charset="-120"/>
              </a:rPr>
              <a:t>WKS10  ·  Building a Repeatable AI Pipeline</a:t>
            </a:r>
            <a:endParaRPr lang="en-US" sz="1000" dirty="0"/>
          </a:p>
        </p:txBody>
      </p:sp>
      <p:sp>
        <p:nvSpPr>
          <p:cNvPr id="31" name="Text 24"/>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7F87"/>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3400" b="1" dirty="0">
                <a:solidFill>
                  <a:srgbClr val="0E1A2D"/>
                </a:solidFill>
                <a:latin typeface="Cambria" pitchFamily="34" charset="0"/>
                <a:ea typeface="Cambria" pitchFamily="34" charset="-122"/>
                <a:cs typeface="Cambria" pitchFamily="34" charset="-120"/>
              </a:rPr>
              <a:t>Models change quickly</a:t>
            </a:r>
            <a:endParaRPr lang="en-US" sz="3400" dirty="0"/>
          </a:p>
        </p:txBody>
      </p:sp>
      <p:sp>
        <p:nvSpPr>
          <p:cNvPr id="3" name="Text 1"/>
          <p:cNvSpPr txBox="1"/>
          <p:nvPr/>
        </p:nvSpPr>
        <p:spPr>
          <a:xfrm>
            <a:off x="548640" y="1234440"/>
            <a:ext cx="11094415" cy="365760"/>
          </a:xfrm>
          <a:prstGeom prst="rect">
            <a:avLst/>
          </a:prstGeom>
          <a:noFill/>
          <a:ln/>
        </p:spPr>
        <p:txBody>
          <a:bodyPr wrap="square" lIns="0" tIns="0" rIns="0" bIns="0" rtlCol="0" anchor="ctr"/>
          <a:lstStyle/>
          <a:p>
            <a:pPr indent="0" marL="0">
              <a:buNone/>
            </a:pPr>
            <a:r>
              <a:rPr lang="en-US" sz="1500" dirty="0">
                <a:solidFill>
                  <a:srgbClr val="4D4D4D"/>
                </a:solidFill>
                <a:latin typeface="Calibri" pitchFamily="34" charset="0"/>
                <a:ea typeface="Calibri" pitchFamily="34" charset="-122"/>
                <a:cs typeface="Calibri" pitchFamily="34" charset="-120"/>
              </a:rPr>
              <a:t>Judgments about reliability go out of date: “Gemini Flash 3 is reliable; Flash 1 is not.”</a:t>
            </a:r>
            <a:endParaRPr lang="en-US" sz="1500" dirty="0"/>
          </a:p>
        </p:txBody>
      </p:sp>
      <p:sp>
        <p:nvSpPr>
          <p:cNvPr id="4" name="Shape 2"/>
          <p:cNvSpPr/>
          <p:nvPr/>
        </p:nvSpPr>
        <p:spPr>
          <a:xfrm>
            <a:off x="822960" y="3977640"/>
            <a:ext cx="10545775" cy="0"/>
          </a:xfrm>
          <a:prstGeom prst="line">
            <a:avLst/>
          </a:prstGeom>
          <a:noFill/>
          <a:ln w="19050">
            <a:solidFill>
              <a:srgbClr val="0E1A2D"/>
            </a:solidFill>
            <a:prstDash val="solid"/>
          </a:ln>
        </p:spPr>
      </p:sp>
      <p:sp>
        <p:nvSpPr>
          <p:cNvPr id="5" name="Shape 3"/>
          <p:cNvSpPr/>
          <p:nvPr/>
        </p:nvSpPr>
        <p:spPr>
          <a:xfrm>
            <a:off x="822960" y="3904488"/>
            <a:ext cx="0" cy="146304"/>
          </a:xfrm>
          <a:prstGeom prst="line">
            <a:avLst/>
          </a:prstGeom>
          <a:noFill/>
          <a:ln w="12700">
            <a:solidFill>
              <a:srgbClr val="0E1A2D"/>
            </a:solidFill>
            <a:prstDash val="solid"/>
          </a:ln>
        </p:spPr>
      </p:sp>
      <p:sp>
        <p:nvSpPr>
          <p:cNvPr id="6" name="Text 4"/>
          <p:cNvSpPr txBox="1"/>
          <p:nvPr/>
        </p:nvSpPr>
        <p:spPr>
          <a:xfrm>
            <a:off x="457200" y="4050792"/>
            <a:ext cx="731520" cy="228600"/>
          </a:xfrm>
          <a:prstGeom prst="rect">
            <a:avLst/>
          </a:prstGeom>
          <a:noFill/>
          <a:ln/>
        </p:spPr>
        <p:txBody>
          <a:bodyPr wrap="square" lIns="0" tIns="0" rIns="0" bIns="0" rtlCol="0" anchor="t"/>
          <a:lstStyle/>
          <a:p>
            <a:pPr algn="ctr" indent="0" marL="0">
              <a:buNone/>
            </a:pPr>
            <a:r>
              <a:rPr lang="en-US" sz="1000" dirty="0">
                <a:solidFill>
                  <a:srgbClr val="7A7F87"/>
                </a:solidFill>
                <a:latin typeface="Calibri" pitchFamily="34" charset="0"/>
                <a:ea typeface="Calibri" pitchFamily="34" charset="-122"/>
                <a:cs typeface="Calibri" pitchFamily="34" charset="-120"/>
              </a:rPr>
              <a:t>2023</a:t>
            </a:r>
            <a:endParaRPr lang="en-US" sz="1000" dirty="0"/>
          </a:p>
        </p:txBody>
      </p:sp>
      <p:sp>
        <p:nvSpPr>
          <p:cNvPr id="7" name="Shape 5"/>
          <p:cNvSpPr/>
          <p:nvPr/>
        </p:nvSpPr>
        <p:spPr>
          <a:xfrm>
            <a:off x="3492777" y="3904488"/>
            <a:ext cx="0" cy="146304"/>
          </a:xfrm>
          <a:prstGeom prst="line">
            <a:avLst/>
          </a:prstGeom>
          <a:noFill/>
          <a:ln w="12700">
            <a:solidFill>
              <a:srgbClr val="0E1A2D"/>
            </a:solidFill>
            <a:prstDash val="solid"/>
          </a:ln>
        </p:spPr>
      </p:sp>
      <p:sp>
        <p:nvSpPr>
          <p:cNvPr id="8" name="Text 6"/>
          <p:cNvSpPr txBox="1"/>
          <p:nvPr/>
        </p:nvSpPr>
        <p:spPr>
          <a:xfrm>
            <a:off x="3127017" y="4050792"/>
            <a:ext cx="731520" cy="228600"/>
          </a:xfrm>
          <a:prstGeom prst="rect">
            <a:avLst/>
          </a:prstGeom>
          <a:noFill/>
          <a:ln/>
        </p:spPr>
        <p:txBody>
          <a:bodyPr wrap="square" lIns="0" tIns="0" rIns="0" bIns="0" rtlCol="0" anchor="t"/>
          <a:lstStyle/>
          <a:p>
            <a:pPr algn="ctr" indent="0" marL="0">
              <a:buNone/>
            </a:pPr>
            <a:r>
              <a:rPr lang="en-US" sz="1000" dirty="0">
                <a:solidFill>
                  <a:srgbClr val="7A7F87"/>
                </a:solidFill>
                <a:latin typeface="Calibri" pitchFamily="34" charset="0"/>
                <a:ea typeface="Calibri" pitchFamily="34" charset="-122"/>
                <a:cs typeface="Calibri" pitchFamily="34" charset="-120"/>
              </a:rPr>
              <a:t>2024</a:t>
            </a:r>
            <a:endParaRPr lang="en-US" sz="1000" dirty="0"/>
          </a:p>
        </p:txBody>
      </p:sp>
      <p:sp>
        <p:nvSpPr>
          <p:cNvPr id="9" name="Shape 7"/>
          <p:cNvSpPr/>
          <p:nvPr/>
        </p:nvSpPr>
        <p:spPr>
          <a:xfrm>
            <a:off x="6162593" y="3904488"/>
            <a:ext cx="0" cy="146304"/>
          </a:xfrm>
          <a:prstGeom prst="line">
            <a:avLst/>
          </a:prstGeom>
          <a:noFill/>
          <a:ln w="12700">
            <a:solidFill>
              <a:srgbClr val="0E1A2D"/>
            </a:solidFill>
            <a:prstDash val="solid"/>
          </a:ln>
        </p:spPr>
      </p:sp>
      <p:sp>
        <p:nvSpPr>
          <p:cNvPr id="10" name="Text 8"/>
          <p:cNvSpPr txBox="1"/>
          <p:nvPr/>
        </p:nvSpPr>
        <p:spPr>
          <a:xfrm>
            <a:off x="5796833" y="4050792"/>
            <a:ext cx="731520" cy="228600"/>
          </a:xfrm>
          <a:prstGeom prst="rect">
            <a:avLst/>
          </a:prstGeom>
          <a:noFill/>
          <a:ln/>
        </p:spPr>
        <p:txBody>
          <a:bodyPr wrap="square" lIns="0" tIns="0" rIns="0" bIns="0" rtlCol="0" anchor="t"/>
          <a:lstStyle/>
          <a:p>
            <a:pPr algn="ctr" indent="0" marL="0">
              <a:buNone/>
            </a:pPr>
            <a:r>
              <a:rPr lang="en-US" sz="1000" dirty="0">
                <a:solidFill>
                  <a:srgbClr val="7A7F87"/>
                </a:solidFill>
                <a:latin typeface="Calibri" pitchFamily="34" charset="0"/>
                <a:ea typeface="Calibri" pitchFamily="34" charset="-122"/>
                <a:cs typeface="Calibri" pitchFamily="34" charset="-120"/>
              </a:rPr>
              <a:t>2025</a:t>
            </a:r>
            <a:endParaRPr lang="en-US" sz="1000" dirty="0"/>
          </a:p>
        </p:txBody>
      </p:sp>
      <p:sp>
        <p:nvSpPr>
          <p:cNvPr id="11" name="Shape 9"/>
          <p:cNvSpPr/>
          <p:nvPr/>
        </p:nvSpPr>
        <p:spPr>
          <a:xfrm>
            <a:off x="8832410" y="3904488"/>
            <a:ext cx="0" cy="146304"/>
          </a:xfrm>
          <a:prstGeom prst="line">
            <a:avLst/>
          </a:prstGeom>
          <a:noFill/>
          <a:ln w="12700">
            <a:solidFill>
              <a:srgbClr val="0E1A2D"/>
            </a:solidFill>
            <a:prstDash val="solid"/>
          </a:ln>
        </p:spPr>
      </p:sp>
      <p:sp>
        <p:nvSpPr>
          <p:cNvPr id="12" name="Text 10"/>
          <p:cNvSpPr txBox="1"/>
          <p:nvPr/>
        </p:nvSpPr>
        <p:spPr>
          <a:xfrm>
            <a:off x="8466650" y="4050792"/>
            <a:ext cx="731520" cy="228600"/>
          </a:xfrm>
          <a:prstGeom prst="rect">
            <a:avLst/>
          </a:prstGeom>
          <a:noFill/>
          <a:ln/>
        </p:spPr>
        <p:txBody>
          <a:bodyPr wrap="square" lIns="0" tIns="0" rIns="0" bIns="0" rtlCol="0" anchor="t"/>
          <a:lstStyle/>
          <a:p>
            <a:pPr algn="ctr" indent="0" marL="0">
              <a:buNone/>
            </a:pPr>
            <a:r>
              <a:rPr lang="en-US" sz="1000" dirty="0">
                <a:solidFill>
                  <a:srgbClr val="7A7F87"/>
                </a:solidFill>
                <a:latin typeface="Calibri" pitchFamily="34" charset="0"/>
                <a:ea typeface="Calibri" pitchFamily="34" charset="-122"/>
                <a:cs typeface="Calibri" pitchFamily="34" charset="-120"/>
              </a:rPr>
              <a:t>2026</a:t>
            </a:r>
            <a:endParaRPr lang="en-US" sz="1000" dirty="0"/>
          </a:p>
        </p:txBody>
      </p:sp>
      <p:sp>
        <p:nvSpPr>
          <p:cNvPr id="13" name="Shape 11"/>
          <p:cNvSpPr/>
          <p:nvPr/>
        </p:nvSpPr>
        <p:spPr>
          <a:xfrm>
            <a:off x="6376178" y="3072384"/>
            <a:ext cx="0" cy="905256"/>
          </a:xfrm>
          <a:prstGeom prst="line">
            <a:avLst/>
          </a:prstGeom>
          <a:noFill/>
          <a:ln w="12700">
            <a:solidFill>
              <a:srgbClr val="8F7A4C"/>
            </a:solidFill>
            <a:prstDash val="solid"/>
          </a:ln>
        </p:spPr>
      </p:sp>
      <p:sp>
        <p:nvSpPr>
          <p:cNvPr id="14" name="Shape 12"/>
          <p:cNvSpPr/>
          <p:nvPr/>
        </p:nvSpPr>
        <p:spPr>
          <a:xfrm>
            <a:off x="6293882" y="3895344"/>
            <a:ext cx="164592" cy="164592"/>
          </a:xfrm>
          <a:prstGeom prst="ellipse">
            <a:avLst/>
          </a:prstGeom>
          <a:solidFill>
            <a:srgbClr val="8F7A4C"/>
          </a:solidFill>
          <a:ln w="12700">
            <a:solidFill>
              <a:srgbClr val="FFFFFF"/>
            </a:solidFill>
            <a:prstDash val="solid"/>
          </a:ln>
        </p:spPr>
      </p:sp>
      <p:sp>
        <p:nvSpPr>
          <p:cNvPr id="15" name="Text 13"/>
          <p:cNvSpPr txBox="1"/>
          <p:nvPr/>
        </p:nvSpPr>
        <p:spPr>
          <a:xfrm>
            <a:off x="6431042" y="3026664"/>
            <a:ext cx="1005840" cy="274320"/>
          </a:xfrm>
          <a:prstGeom prst="rect">
            <a:avLst/>
          </a:prstGeom>
          <a:noFill/>
          <a:ln/>
        </p:spPr>
        <p:txBody>
          <a:bodyPr wrap="square" lIns="0" tIns="0" rIns="0" bIns="0" rtlCol="0" anchor="t"/>
          <a:lstStyle/>
          <a:p>
            <a:pPr algn="l" indent="0" marL="0">
              <a:buNone/>
            </a:pPr>
            <a:r>
              <a:rPr lang="en-US" sz="1050" b="1" dirty="0">
                <a:solidFill>
                  <a:srgbClr val="8F7A4C"/>
                </a:solidFill>
                <a:latin typeface="Calibri" pitchFamily="34" charset="0"/>
                <a:ea typeface="Calibri" pitchFamily="34" charset="-122"/>
                <a:cs typeface="Calibri" pitchFamily="34" charset="-120"/>
              </a:rPr>
              <a:t>Flash 2.0</a:t>
            </a:r>
            <a:endParaRPr lang="en-US" sz="1050" dirty="0"/>
          </a:p>
        </p:txBody>
      </p:sp>
      <p:sp>
        <p:nvSpPr>
          <p:cNvPr id="16" name="Shape 14"/>
          <p:cNvSpPr/>
          <p:nvPr/>
        </p:nvSpPr>
        <p:spPr>
          <a:xfrm>
            <a:off x="7390709" y="3383280"/>
            <a:ext cx="0" cy="594360"/>
          </a:xfrm>
          <a:prstGeom prst="line">
            <a:avLst/>
          </a:prstGeom>
          <a:noFill/>
          <a:ln w="12700">
            <a:solidFill>
              <a:srgbClr val="8F7A4C"/>
            </a:solidFill>
            <a:prstDash val="solid"/>
          </a:ln>
        </p:spPr>
      </p:sp>
      <p:sp>
        <p:nvSpPr>
          <p:cNvPr id="17" name="Shape 15"/>
          <p:cNvSpPr/>
          <p:nvPr/>
        </p:nvSpPr>
        <p:spPr>
          <a:xfrm>
            <a:off x="7308413" y="3895344"/>
            <a:ext cx="164592" cy="164592"/>
          </a:xfrm>
          <a:prstGeom prst="ellipse">
            <a:avLst/>
          </a:prstGeom>
          <a:solidFill>
            <a:srgbClr val="8F7A4C"/>
          </a:solidFill>
          <a:ln w="12700">
            <a:solidFill>
              <a:srgbClr val="FFFFFF"/>
            </a:solidFill>
            <a:prstDash val="solid"/>
          </a:ln>
        </p:spPr>
      </p:sp>
      <p:sp>
        <p:nvSpPr>
          <p:cNvPr id="18" name="Text 16"/>
          <p:cNvSpPr txBox="1"/>
          <p:nvPr/>
        </p:nvSpPr>
        <p:spPr>
          <a:xfrm>
            <a:off x="7445573" y="3337560"/>
            <a:ext cx="1005840" cy="274320"/>
          </a:xfrm>
          <a:prstGeom prst="rect">
            <a:avLst/>
          </a:prstGeom>
          <a:noFill/>
          <a:ln/>
        </p:spPr>
        <p:txBody>
          <a:bodyPr wrap="square" lIns="0" tIns="0" rIns="0" bIns="0" rtlCol="0" anchor="t"/>
          <a:lstStyle/>
          <a:p>
            <a:pPr algn="l" indent="0" marL="0">
              <a:buNone/>
            </a:pPr>
            <a:r>
              <a:rPr lang="en-US" sz="1050" b="1" dirty="0">
                <a:solidFill>
                  <a:srgbClr val="8F7A4C"/>
                </a:solidFill>
                <a:latin typeface="Calibri" pitchFamily="34" charset="0"/>
                <a:ea typeface="Calibri" pitchFamily="34" charset="-122"/>
                <a:cs typeface="Calibri" pitchFamily="34" charset="-120"/>
              </a:rPr>
              <a:t>Flash 2.5</a:t>
            </a:r>
            <a:endParaRPr lang="en-US" sz="1050" dirty="0"/>
          </a:p>
        </p:txBody>
      </p:sp>
      <p:sp>
        <p:nvSpPr>
          <p:cNvPr id="19" name="Shape 17"/>
          <p:cNvSpPr/>
          <p:nvPr/>
        </p:nvSpPr>
        <p:spPr>
          <a:xfrm>
            <a:off x="9846940" y="2450592"/>
            <a:ext cx="0" cy="1527048"/>
          </a:xfrm>
          <a:prstGeom prst="line">
            <a:avLst/>
          </a:prstGeom>
          <a:noFill/>
          <a:ln w="12700">
            <a:solidFill>
              <a:srgbClr val="8F7A4C"/>
            </a:solidFill>
            <a:prstDash val="solid"/>
          </a:ln>
        </p:spPr>
      </p:sp>
      <p:sp>
        <p:nvSpPr>
          <p:cNvPr id="20" name="Shape 18"/>
          <p:cNvSpPr/>
          <p:nvPr/>
        </p:nvSpPr>
        <p:spPr>
          <a:xfrm>
            <a:off x="9764644" y="3895344"/>
            <a:ext cx="164592" cy="164592"/>
          </a:xfrm>
          <a:prstGeom prst="ellipse">
            <a:avLst/>
          </a:prstGeom>
          <a:solidFill>
            <a:srgbClr val="8F7A4C"/>
          </a:solidFill>
          <a:ln w="12700">
            <a:solidFill>
              <a:srgbClr val="FFFFFF"/>
            </a:solidFill>
            <a:prstDash val="solid"/>
          </a:ln>
        </p:spPr>
      </p:sp>
      <p:sp>
        <p:nvSpPr>
          <p:cNvPr id="21" name="Text 19"/>
          <p:cNvSpPr txBox="1"/>
          <p:nvPr/>
        </p:nvSpPr>
        <p:spPr>
          <a:xfrm>
            <a:off x="9901804" y="2404872"/>
            <a:ext cx="1005840" cy="274320"/>
          </a:xfrm>
          <a:prstGeom prst="rect">
            <a:avLst/>
          </a:prstGeom>
          <a:noFill/>
          <a:ln/>
        </p:spPr>
        <p:txBody>
          <a:bodyPr wrap="square" lIns="0" tIns="0" rIns="0" bIns="0" rtlCol="0" anchor="t"/>
          <a:lstStyle/>
          <a:p>
            <a:pPr algn="l" indent="0" marL="0">
              <a:buNone/>
            </a:pPr>
            <a:r>
              <a:rPr lang="en-US" sz="1050" b="1" dirty="0">
                <a:solidFill>
                  <a:srgbClr val="8F7A4C"/>
                </a:solidFill>
                <a:latin typeface="Calibri" pitchFamily="34" charset="0"/>
                <a:ea typeface="Calibri" pitchFamily="34" charset="-122"/>
                <a:cs typeface="Calibri" pitchFamily="34" charset="-120"/>
              </a:rPr>
              <a:t>Flash 3.5</a:t>
            </a:r>
            <a:endParaRPr lang="en-US" sz="1050" dirty="0"/>
          </a:p>
        </p:txBody>
      </p:sp>
      <p:sp>
        <p:nvSpPr>
          <p:cNvPr id="22" name="Shape 20"/>
          <p:cNvSpPr/>
          <p:nvPr/>
        </p:nvSpPr>
        <p:spPr>
          <a:xfrm>
            <a:off x="10300809" y="2761488"/>
            <a:ext cx="0" cy="1216152"/>
          </a:xfrm>
          <a:prstGeom prst="line">
            <a:avLst/>
          </a:prstGeom>
          <a:noFill/>
          <a:ln w="12700">
            <a:solidFill>
              <a:srgbClr val="8F7A4C"/>
            </a:solidFill>
            <a:prstDash val="solid"/>
          </a:ln>
        </p:spPr>
      </p:sp>
      <p:sp>
        <p:nvSpPr>
          <p:cNvPr id="23" name="Shape 21"/>
          <p:cNvSpPr/>
          <p:nvPr/>
        </p:nvSpPr>
        <p:spPr>
          <a:xfrm>
            <a:off x="10218513" y="3895344"/>
            <a:ext cx="164592" cy="164592"/>
          </a:xfrm>
          <a:prstGeom prst="ellipse">
            <a:avLst/>
          </a:prstGeom>
          <a:solidFill>
            <a:srgbClr val="8F7A4C"/>
          </a:solidFill>
          <a:ln w="12700">
            <a:solidFill>
              <a:srgbClr val="FFFFFF"/>
            </a:solidFill>
            <a:prstDash val="solid"/>
          </a:ln>
        </p:spPr>
      </p:sp>
      <p:sp>
        <p:nvSpPr>
          <p:cNvPr id="24" name="Text 22"/>
          <p:cNvSpPr txBox="1"/>
          <p:nvPr/>
        </p:nvSpPr>
        <p:spPr>
          <a:xfrm>
            <a:off x="10355673" y="2715768"/>
            <a:ext cx="1005840" cy="274320"/>
          </a:xfrm>
          <a:prstGeom prst="rect">
            <a:avLst/>
          </a:prstGeom>
          <a:noFill/>
          <a:ln/>
        </p:spPr>
        <p:txBody>
          <a:bodyPr wrap="square" lIns="0" tIns="0" rIns="0" bIns="0" rtlCol="0" anchor="t"/>
          <a:lstStyle/>
          <a:p>
            <a:pPr algn="l" indent="0" marL="0">
              <a:buNone/>
            </a:pPr>
            <a:r>
              <a:rPr lang="en-US" sz="1050" b="1" dirty="0">
                <a:solidFill>
                  <a:srgbClr val="8F7A4C"/>
                </a:solidFill>
                <a:latin typeface="Calibri" pitchFamily="34" charset="0"/>
                <a:ea typeface="Calibri" pitchFamily="34" charset="-122"/>
                <a:cs typeface="Calibri" pitchFamily="34" charset="-120"/>
              </a:rPr>
              <a:t>Flash 3.6</a:t>
            </a:r>
            <a:endParaRPr lang="en-US" sz="1050" dirty="0"/>
          </a:p>
        </p:txBody>
      </p:sp>
      <p:sp>
        <p:nvSpPr>
          <p:cNvPr id="25" name="Shape 23"/>
          <p:cNvSpPr/>
          <p:nvPr/>
        </p:nvSpPr>
        <p:spPr>
          <a:xfrm>
            <a:off x="10487696" y="3072384"/>
            <a:ext cx="0" cy="905256"/>
          </a:xfrm>
          <a:prstGeom prst="line">
            <a:avLst/>
          </a:prstGeom>
          <a:noFill/>
          <a:ln w="12700">
            <a:solidFill>
              <a:srgbClr val="8F7A4C"/>
            </a:solidFill>
            <a:prstDash val="solid"/>
          </a:ln>
        </p:spPr>
      </p:sp>
      <p:sp>
        <p:nvSpPr>
          <p:cNvPr id="26" name="Shape 24"/>
          <p:cNvSpPr/>
          <p:nvPr/>
        </p:nvSpPr>
        <p:spPr>
          <a:xfrm>
            <a:off x="10405400" y="3895344"/>
            <a:ext cx="164592" cy="164592"/>
          </a:xfrm>
          <a:prstGeom prst="ellipse">
            <a:avLst/>
          </a:prstGeom>
          <a:solidFill>
            <a:srgbClr val="8F7A4C"/>
          </a:solidFill>
          <a:ln w="12700">
            <a:solidFill>
              <a:srgbClr val="FFFFFF"/>
            </a:solidFill>
            <a:prstDash val="solid"/>
          </a:ln>
        </p:spPr>
      </p:sp>
      <p:sp>
        <p:nvSpPr>
          <p:cNvPr id="27" name="Text 25"/>
          <p:cNvSpPr txBox="1"/>
          <p:nvPr/>
        </p:nvSpPr>
        <p:spPr>
          <a:xfrm>
            <a:off x="10542560" y="3026664"/>
            <a:ext cx="1005840" cy="274320"/>
          </a:xfrm>
          <a:prstGeom prst="rect">
            <a:avLst/>
          </a:prstGeom>
          <a:noFill/>
          <a:ln/>
        </p:spPr>
        <p:txBody>
          <a:bodyPr wrap="square" lIns="0" tIns="0" rIns="0" bIns="0" rtlCol="0" anchor="t"/>
          <a:lstStyle/>
          <a:p>
            <a:pPr algn="l" indent="0" marL="0">
              <a:buNone/>
            </a:pPr>
            <a:r>
              <a:rPr lang="en-US" sz="1050" b="1" dirty="0">
                <a:solidFill>
                  <a:srgbClr val="8F7A4C"/>
                </a:solidFill>
                <a:latin typeface="Calibri" pitchFamily="34" charset="0"/>
                <a:ea typeface="Calibri" pitchFamily="34" charset="-122"/>
                <a:cs typeface="Calibri" pitchFamily="34" charset="-120"/>
              </a:rPr>
              <a:t>Flash 3.7</a:t>
            </a:r>
            <a:endParaRPr lang="en-US" sz="1050" dirty="0"/>
          </a:p>
        </p:txBody>
      </p:sp>
      <p:sp>
        <p:nvSpPr>
          <p:cNvPr id="28" name="Shape 26"/>
          <p:cNvSpPr/>
          <p:nvPr/>
        </p:nvSpPr>
        <p:spPr>
          <a:xfrm>
            <a:off x="10621187" y="3383280"/>
            <a:ext cx="0" cy="594360"/>
          </a:xfrm>
          <a:prstGeom prst="line">
            <a:avLst/>
          </a:prstGeom>
          <a:noFill/>
          <a:ln w="12700">
            <a:solidFill>
              <a:srgbClr val="8F7A4C"/>
            </a:solidFill>
            <a:prstDash val="solid"/>
          </a:ln>
        </p:spPr>
      </p:sp>
      <p:sp>
        <p:nvSpPr>
          <p:cNvPr id="29" name="Shape 27"/>
          <p:cNvSpPr/>
          <p:nvPr/>
        </p:nvSpPr>
        <p:spPr>
          <a:xfrm>
            <a:off x="10538891" y="3895344"/>
            <a:ext cx="164592" cy="164592"/>
          </a:xfrm>
          <a:prstGeom prst="ellipse">
            <a:avLst/>
          </a:prstGeom>
          <a:solidFill>
            <a:srgbClr val="8F7A4C"/>
          </a:solidFill>
          <a:ln w="12700">
            <a:solidFill>
              <a:srgbClr val="FFFFFF"/>
            </a:solidFill>
            <a:prstDash val="solid"/>
          </a:ln>
        </p:spPr>
      </p:sp>
      <p:sp>
        <p:nvSpPr>
          <p:cNvPr id="30" name="Text 28"/>
          <p:cNvSpPr txBox="1"/>
          <p:nvPr/>
        </p:nvSpPr>
        <p:spPr>
          <a:xfrm>
            <a:off x="10676051" y="3337560"/>
            <a:ext cx="1005840" cy="274320"/>
          </a:xfrm>
          <a:prstGeom prst="rect">
            <a:avLst/>
          </a:prstGeom>
          <a:noFill/>
          <a:ln/>
        </p:spPr>
        <p:txBody>
          <a:bodyPr wrap="square" lIns="0" tIns="0" rIns="0" bIns="0" rtlCol="0" anchor="t"/>
          <a:lstStyle/>
          <a:p>
            <a:pPr algn="l" indent="0" marL="0">
              <a:buNone/>
            </a:pPr>
            <a:r>
              <a:rPr lang="en-US" sz="1050" b="1" dirty="0">
                <a:solidFill>
                  <a:srgbClr val="8F7A4C"/>
                </a:solidFill>
                <a:latin typeface="Calibri" pitchFamily="34" charset="0"/>
                <a:ea typeface="Calibri" pitchFamily="34" charset="-122"/>
                <a:cs typeface="Calibri" pitchFamily="34" charset="-120"/>
              </a:rPr>
              <a:t>Flash 3.8</a:t>
            </a:r>
            <a:endParaRPr lang="en-US" sz="1050" dirty="0"/>
          </a:p>
        </p:txBody>
      </p:sp>
      <p:sp>
        <p:nvSpPr>
          <p:cNvPr id="31" name="Shape 29"/>
          <p:cNvSpPr/>
          <p:nvPr/>
        </p:nvSpPr>
        <p:spPr>
          <a:xfrm>
            <a:off x="1356923" y="3977640"/>
            <a:ext cx="0" cy="640080"/>
          </a:xfrm>
          <a:prstGeom prst="line">
            <a:avLst/>
          </a:prstGeom>
          <a:noFill/>
          <a:ln w="12700">
            <a:solidFill>
              <a:srgbClr val="6E6E6E"/>
            </a:solidFill>
            <a:prstDash val="solid"/>
          </a:ln>
        </p:spPr>
      </p:sp>
      <p:sp>
        <p:nvSpPr>
          <p:cNvPr id="32" name="Shape 30"/>
          <p:cNvSpPr/>
          <p:nvPr/>
        </p:nvSpPr>
        <p:spPr>
          <a:xfrm>
            <a:off x="1274627" y="3895344"/>
            <a:ext cx="164592" cy="164592"/>
          </a:xfrm>
          <a:prstGeom prst="ellipse">
            <a:avLst/>
          </a:prstGeom>
          <a:solidFill>
            <a:srgbClr val="6E6E6E"/>
          </a:solidFill>
          <a:ln w="12700">
            <a:solidFill>
              <a:srgbClr val="FFFFFF"/>
            </a:solidFill>
            <a:prstDash val="solid"/>
          </a:ln>
        </p:spPr>
      </p:sp>
      <p:sp>
        <p:nvSpPr>
          <p:cNvPr id="33" name="Text 31"/>
          <p:cNvSpPr txBox="1"/>
          <p:nvPr/>
        </p:nvSpPr>
        <p:spPr>
          <a:xfrm>
            <a:off x="1411787" y="4389120"/>
            <a:ext cx="1005840" cy="274320"/>
          </a:xfrm>
          <a:prstGeom prst="rect">
            <a:avLst/>
          </a:prstGeom>
          <a:noFill/>
          <a:ln/>
        </p:spPr>
        <p:txBody>
          <a:bodyPr wrap="square" lIns="0" tIns="0" rIns="0" bIns="0" rtlCol="0" anchor="t"/>
          <a:lstStyle/>
          <a:p>
            <a:pPr algn="l" indent="0" marL="0">
              <a:buNone/>
            </a:pPr>
            <a:r>
              <a:rPr lang="en-US" sz="1050" b="1" dirty="0">
                <a:solidFill>
                  <a:srgbClr val="6E6E6E"/>
                </a:solidFill>
                <a:latin typeface="Calibri" pitchFamily="34" charset="0"/>
                <a:ea typeface="Calibri" pitchFamily="34" charset="-122"/>
                <a:cs typeface="Calibri" pitchFamily="34" charset="-120"/>
              </a:rPr>
              <a:t>Claude 1</a:t>
            </a:r>
            <a:endParaRPr lang="en-US" sz="1050" dirty="0"/>
          </a:p>
        </p:txBody>
      </p:sp>
      <p:sp>
        <p:nvSpPr>
          <p:cNvPr id="34" name="Shape 32"/>
          <p:cNvSpPr/>
          <p:nvPr/>
        </p:nvSpPr>
        <p:spPr>
          <a:xfrm>
            <a:off x="3946645" y="3977640"/>
            <a:ext cx="0" cy="640080"/>
          </a:xfrm>
          <a:prstGeom prst="line">
            <a:avLst/>
          </a:prstGeom>
          <a:noFill/>
          <a:ln w="12700">
            <a:solidFill>
              <a:srgbClr val="6E6E6E"/>
            </a:solidFill>
            <a:prstDash val="solid"/>
          </a:ln>
        </p:spPr>
      </p:sp>
      <p:sp>
        <p:nvSpPr>
          <p:cNvPr id="35" name="Shape 33"/>
          <p:cNvSpPr/>
          <p:nvPr/>
        </p:nvSpPr>
        <p:spPr>
          <a:xfrm>
            <a:off x="3864349" y="3895344"/>
            <a:ext cx="164592" cy="164592"/>
          </a:xfrm>
          <a:prstGeom prst="ellipse">
            <a:avLst/>
          </a:prstGeom>
          <a:solidFill>
            <a:srgbClr val="6E6E6E"/>
          </a:solidFill>
          <a:ln w="12700">
            <a:solidFill>
              <a:srgbClr val="FFFFFF"/>
            </a:solidFill>
            <a:prstDash val="solid"/>
          </a:ln>
        </p:spPr>
      </p:sp>
      <p:sp>
        <p:nvSpPr>
          <p:cNvPr id="36" name="Text 34"/>
          <p:cNvSpPr txBox="1"/>
          <p:nvPr/>
        </p:nvSpPr>
        <p:spPr>
          <a:xfrm>
            <a:off x="4001509" y="4389120"/>
            <a:ext cx="1005840" cy="274320"/>
          </a:xfrm>
          <a:prstGeom prst="rect">
            <a:avLst/>
          </a:prstGeom>
          <a:noFill/>
          <a:ln/>
        </p:spPr>
        <p:txBody>
          <a:bodyPr wrap="square" lIns="0" tIns="0" rIns="0" bIns="0" rtlCol="0" anchor="t"/>
          <a:lstStyle/>
          <a:p>
            <a:pPr algn="l" indent="0" marL="0">
              <a:buNone/>
            </a:pPr>
            <a:r>
              <a:rPr lang="en-US" sz="1050" b="1" dirty="0">
                <a:solidFill>
                  <a:srgbClr val="6E6E6E"/>
                </a:solidFill>
                <a:latin typeface="Calibri" pitchFamily="34" charset="0"/>
                <a:ea typeface="Calibri" pitchFamily="34" charset="-122"/>
                <a:cs typeface="Calibri" pitchFamily="34" charset="-120"/>
              </a:rPr>
              <a:t>Claude 3</a:t>
            </a:r>
            <a:endParaRPr lang="en-US" sz="1050" dirty="0"/>
          </a:p>
        </p:txBody>
      </p:sp>
      <p:sp>
        <p:nvSpPr>
          <p:cNvPr id="37" name="Shape 35"/>
          <p:cNvSpPr/>
          <p:nvPr/>
        </p:nvSpPr>
        <p:spPr>
          <a:xfrm>
            <a:off x="7203821" y="3977640"/>
            <a:ext cx="0" cy="1261872"/>
          </a:xfrm>
          <a:prstGeom prst="line">
            <a:avLst/>
          </a:prstGeom>
          <a:noFill/>
          <a:ln w="12700">
            <a:solidFill>
              <a:srgbClr val="6E6E6E"/>
            </a:solidFill>
            <a:prstDash val="solid"/>
          </a:ln>
        </p:spPr>
      </p:sp>
      <p:sp>
        <p:nvSpPr>
          <p:cNvPr id="38" name="Shape 36"/>
          <p:cNvSpPr/>
          <p:nvPr/>
        </p:nvSpPr>
        <p:spPr>
          <a:xfrm>
            <a:off x="7121525" y="3895344"/>
            <a:ext cx="164592" cy="164592"/>
          </a:xfrm>
          <a:prstGeom prst="ellipse">
            <a:avLst/>
          </a:prstGeom>
          <a:solidFill>
            <a:srgbClr val="6E6E6E"/>
          </a:solidFill>
          <a:ln w="12700">
            <a:solidFill>
              <a:srgbClr val="FFFFFF"/>
            </a:solidFill>
            <a:prstDash val="solid"/>
          </a:ln>
        </p:spPr>
      </p:sp>
      <p:sp>
        <p:nvSpPr>
          <p:cNvPr id="39" name="Text 37"/>
          <p:cNvSpPr txBox="1"/>
          <p:nvPr/>
        </p:nvSpPr>
        <p:spPr>
          <a:xfrm>
            <a:off x="7258685" y="5010912"/>
            <a:ext cx="1005840" cy="274320"/>
          </a:xfrm>
          <a:prstGeom prst="rect">
            <a:avLst/>
          </a:prstGeom>
          <a:noFill/>
          <a:ln/>
        </p:spPr>
        <p:txBody>
          <a:bodyPr wrap="square" lIns="0" tIns="0" rIns="0" bIns="0" rtlCol="0" anchor="t"/>
          <a:lstStyle/>
          <a:p>
            <a:pPr algn="l" indent="0" marL="0">
              <a:buNone/>
            </a:pPr>
            <a:r>
              <a:rPr lang="en-US" sz="1050" b="1" dirty="0">
                <a:solidFill>
                  <a:srgbClr val="6E6E6E"/>
                </a:solidFill>
                <a:latin typeface="Calibri" pitchFamily="34" charset="0"/>
                <a:ea typeface="Calibri" pitchFamily="34" charset="-122"/>
                <a:cs typeface="Calibri" pitchFamily="34" charset="-120"/>
              </a:rPr>
              <a:t>Claude 4</a:t>
            </a:r>
            <a:endParaRPr lang="en-US" sz="1050" dirty="0"/>
          </a:p>
        </p:txBody>
      </p:sp>
      <p:sp>
        <p:nvSpPr>
          <p:cNvPr id="40" name="Shape 38"/>
          <p:cNvSpPr/>
          <p:nvPr/>
        </p:nvSpPr>
        <p:spPr>
          <a:xfrm>
            <a:off x="8138257" y="3977640"/>
            <a:ext cx="0" cy="950976"/>
          </a:xfrm>
          <a:prstGeom prst="line">
            <a:avLst/>
          </a:prstGeom>
          <a:noFill/>
          <a:ln w="12700">
            <a:solidFill>
              <a:srgbClr val="6E6E6E"/>
            </a:solidFill>
            <a:prstDash val="solid"/>
          </a:ln>
        </p:spPr>
      </p:sp>
      <p:sp>
        <p:nvSpPr>
          <p:cNvPr id="41" name="Shape 39"/>
          <p:cNvSpPr/>
          <p:nvPr/>
        </p:nvSpPr>
        <p:spPr>
          <a:xfrm>
            <a:off x="8055961" y="3895344"/>
            <a:ext cx="164592" cy="164592"/>
          </a:xfrm>
          <a:prstGeom prst="ellipse">
            <a:avLst/>
          </a:prstGeom>
          <a:solidFill>
            <a:srgbClr val="6E6E6E"/>
          </a:solidFill>
          <a:ln w="12700">
            <a:solidFill>
              <a:srgbClr val="FFFFFF"/>
            </a:solidFill>
            <a:prstDash val="solid"/>
          </a:ln>
        </p:spPr>
      </p:sp>
      <p:sp>
        <p:nvSpPr>
          <p:cNvPr id="42" name="Text 40"/>
          <p:cNvSpPr txBox="1"/>
          <p:nvPr/>
        </p:nvSpPr>
        <p:spPr>
          <a:xfrm>
            <a:off x="8193121" y="4700016"/>
            <a:ext cx="1005840" cy="274320"/>
          </a:xfrm>
          <a:prstGeom prst="rect">
            <a:avLst/>
          </a:prstGeom>
          <a:noFill/>
          <a:ln/>
        </p:spPr>
        <p:txBody>
          <a:bodyPr wrap="square" lIns="0" tIns="0" rIns="0" bIns="0" rtlCol="0" anchor="t"/>
          <a:lstStyle/>
          <a:p>
            <a:pPr algn="l" indent="0" marL="0">
              <a:buNone/>
            </a:pPr>
            <a:r>
              <a:rPr lang="en-US" sz="1050" b="1" dirty="0">
                <a:solidFill>
                  <a:srgbClr val="6E6E6E"/>
                </a:solidFill>
                <a:latin typeface="Calibri" pitchFamily="34" charset="0"/>
                <a:ea typeface="Calibri" pitchFamily="34" charset="-122"/>
                <a:cs typeface="Calibri" pitchFamily="34" charset="-120"/>
              </a:rPr>
              <a:t>Sonnet 4.5</a:t>
            </a:r>
            <a:endParaRPr lang="en-US" sz="1050" dirty="0"/>
          </a:p>
        </p:txBody>
      </p:sp>
      <p:sp>
        <p:nvSpPr>
          <p:cNvPr id="43" name="Shape 41"/>
          <p:cNvSpPr/>
          <p:nvPr/>
        </p:nvSpPr>
        <p:spPr>
          <a:xfrm>
            <a:off x="8565428" y="3977640"/>
            <a:ext cx="0" cy="640080"/>
          </a:xfrm>
          <a:prstGeom prst="line">
            <a:avLst/>
          </a:prstGeom>
          <a:noFill/>
          <a:ln w="12700">
            <a:solidFill>
              <a:srgbClr val="6E6E6E"/>
            </a:solidFill>
            <a:prstDash val="solid"/>
          </a:ln>
        </p:spPr>
      </p:sp>
      <p:sp>
        <p:nvSpPr>
          <p:cNvPr id="44" name="Shape 42"/>
          <p:cNvSpPr/>
          <p:nvPr/>
        </p:nvSpPr>
        <p:spPr>
          <a:xfrm>
            <a:off x="8483132" y="3895344"/>
            <a:ext cx="164592" cy="164592"/>
          </a:xfrm>
          <a:prstGeom prst="ellipse">
            <a:avLst/>
          </a:prstGeom>
          <a:solidFill>
            <a:srgbClr val="6E6E6E"/>
          </a:solidFill>
          <a:ln w="12700">
            <a:solidFill>
              <a:srgbClr val="FFFFFF"/>
            </a:solidFill>
            <a:prstDash val="solid"/>
          </a:ln>
        </p:spPr>
      </p:sp>
      <p:sp>
        <p:nvSpPr>
          <p:cNvPr id="45" name="Text 43"/>
          <p:cNvSpPr txBox="1"/>
          <p:nvPr/>
        </p:nvSpPr>
        <p:spPr>
          <a:xfrm>
            <a:off x="8620292" y="4389120"/>
            <a:ext cx="1005840" cy="274320"/>
          </a:xfrm>
          <a:prstGeom prst="rect">
            <a:avLst/>
          </a:prstGeom>
          <a:noFill/>
          <a:ln/>
        </p:spPr>
        <p:txBody>
          <a:bodyPr wrap="square" lIns="0" tIns="0" rIns="0" bIns="0" rtlCol="0" anchor="t"/>
          <a:lstStyle/>
          <a:p>
            <a:pPr algn="l" indent="0" marL="0">
              <a:buNone/>
            </a:pPr>
            <a:r>
              <a:rPr lang="en-US" sz="1050" b="1" dirty="0">
                <a:solidFill>
                  <a:srgbClr val="6E6E6E"/>
                </a:solidFill>
                <a:latin typeface="Calibri" pitchFamily="34" charset="0"/>
                <a:ea typeface="Calibri" pitchFamily="34" charset="-122"/>
                <a:cs typeface="Calibri" pitchFamily="34" charset="-120"/>
              </a:rPr>
              <a:t>Opus 4.5</a:t>
            </a:r>
            <a:endParaRPr lang="en-US" sz="1050" dirty="0"/>
          </a:p>
        </p:txBody>
      </p:sp>
      <p:sp>
        <p:nvSpPr>
          <p:cNvPr id="46" name="Shape 44"/>
          <p:cNvSpPr/>
          <p:nvPr/>
        </p:nvSpPr>
        <p:spPr>
          <a:xfrm>
            <a:off x="10140620" y="3977640"/>
            <a:ext cx="0" cy="950976"/>
          </a:xfrm>
          <a:prstGeom prst="line">
            <a:avLst/>
          </a:prstGeom>
          <a:noFill/>
          <a:ln w="12700">
            <a:solidFill>
              <a:srgbClr val="6E6E6E"/>
            </a:solidFill>
            <a:prstDash val="solid"/>
          </a:ln>
        </p:spPr>
      </p:sp>
      <p:sp>
        <p:nvSpPr>
          <p:cNvPr id="47" name="Shape 45"/>
          <p:cNvSpPr/>
          <p:nvPr/>
        </p:nvSpPr>
        <p:spPr>
          <a:xfrm>
            <a:off x="10058324" y="3895344"/>
            <a:ext cx="164592" cy="164592"/>
          </a:xfrm>
          <a:prstGeom prst="ellipse">
            <a:avLst/>
          </a:prstGeom>
          <a:solidFill>
            <a:srgbClr val="6E6E6E"/>
          </a:solidFill>
          <a:ln w="12700">
            <a:solidFill>
              <a:srgbClr val="FFFFFF"/>
            </a:solidFill>
            <a:prstDash val="solid"/>
          </a:ln>
        </p:spPr>
      </p:sp>
      <p:sp>
        <p:nvSpPr>
          <p:cNvPr id="48" name="Text 46"/>
          <p:cNvSpPr txBox="1"/>
          <p:nvPr/>
        </p:nvSpPr>
        <p:spPr>
          <a:xfrm>
            <a:off x="10195484" y="4700016"/>
            <a:ext cx="1005840" cy="274320"/>
          </a:xfrm>
          <a:prstGeom prst="rect">
            <a:avLst/>
          </a:prstGeom>
          <a:noFill/>
          <a:ln/>
        </p:spPr>
        <p:txBody>
          <a:bodyPr wrap="square" lIns="0" tIns="0" rIns="0" bIns="0" rtlCol="0" anchor="t"/>
          <a:lstStyle/>
          <a:p>
            <a:pPr algn="l" indent="0" marL="0">
              <a:buNone/>
            </a:pPr>
            <a:r>
              <a:rPr lang="en-US" sz="1050" b="1" dirty="0">
                <a:solidFill>
                  <a:srgbClr val="6E6E6E"/>
                </a:solidFill>
                <a:latin typeface="Calibri" pitchFamily="34" charset="0"/>
                <a:ea typeface="Calibri" pitchFamily="34" charset="-122"/>
                <a:cs typeface="Calibri" pitchFamily="34" charset="-120"/>
              </a:rPr>
              <a:t>Sonnet 5</a:t>
            </a:r>
            <a:endParaRPr lang="en-US" sz="1050" dirty="0"/>
          </a:p>
        </p:txBody>
      </p:sp>
      <p:sp>
        <p:nvSpPr>
          <p:cNvPr id="49" name="Shape 47"/>
          <p:cNvSpPr/>
          <p:nvPr/>
        </p:nvSpPr>
        <p:spPr>
          <a:xfrm>
            <a:off x="10327507" y="3977640"/>
            <a:ext cx="0" cy="640080"/>
          </a:xfrm>
          <a:prstGeom prst="line">
            <a:avLst/>
          </a:prstGeom>
          <a:noFill/>
          <a:ln w="12700">
            <a:solidFill>
              <a:srgbClr val="6E6E6E"/>
            </a:solidFill>
            <a:prstDash val="solid"/>
          </a:ln>
        </p:spPr>
      </p:sp>
      <p:sp>
        <p:nvSpPr>
          <p:cNvPr id="50" name="Shape 48"/>
          <p:cNvSpPr/>
          <p:nvPr/>
        </p:nvSpPr>
        <p:spPr>
          <a:xfrm>
            <a:off x="10245211" y="3895344"/>
            <a:ext cx="164592" cy="164592"/>
          </a:xfrm>
          <a:prstGeom prst="ellipse">
            <a:avLst/>
          </a:prstGeom>
          <a:solidFill>
            <a:srgbClr val="6E6E6E"/>
          </a:solidFill>
          <a:ln w="12700">
            <a:solidFill>
              <a:srgbClr val="FFFFFF"/>
            </a:solidFill>
            <a:prstDash val="solid"/>
          </a:ln>
        </p:spPr>
      </p:sp>
      <p:sp>
        <p:nvSpPr>
          <p:cNvPr id="51" name="Text 49"/>
          <p:cNvSpPr txBox="1"/>
          <p:nvPr/>
        </p:nvSpPr>
        <p:spPr>
          <a:xfrm>
            <a:off x="10382371" y="4389120"/>
            <a:ext cx="1005840" cy="274320"/>
          </a:xfrm>
          <a:prstGeom prst="rect">
            <a:avLst/>
          </a:prstGeom>
          <a:noFill/>
          <a:ln/>
        </p:spPr>
        <p:txBody>
          <a:bodyPr wrap="square" lIns="0" tIns="0" rIns="0" bIns="0" rtlCol="0" anchor="t"/>
          <a:lstStyle/>
          <a:p>
            <a:pPr algn="l" indent="0" marL="0">
              <a:buNone/>
            </a:pPr>
            <a:r>
              <a:rPr lang="en-US" sz="1050" b="1" dirty="0">
                <a:solidFill>
                  <a:srgbClr val="6E6E6E"/>
                </a:solidFill>
                <a:latin typeface="Calibri" pitchFamily="34" charset="0"/>
                <a:ea typeface="Calibri" pitchFamily="34" charset="-122"/>
                <a:cs typeface="Calibri" pitchFamily="34" charset="-120"/>
              </a:rPr>
              <a:t>Opus 5</a:t>
            </a:r>
            <a:endParaRPr lang="en-US" sz="1050" dirty="0"/>
          </a:p>
        </p:txBody>
      </p:sp>
      <p:sp>
        <p:nvSpPr>
          <p:cNvPr id="52" name="Shape 50"/>
          <p:cNvSpPr/>
          <p:nvPr/>
        </p:nvSpPr>
        <p:spPr>
          <a:xfrm>
            <a:off x="548640" y="1938528"/>
            <a:ext cx="146304" cy="146304"/>
          </a:xfrm>
          <a:prstGeom prst="ellipse">
            <a:avLst/>
          </a:prstGeom>
          <a:solidFill>
            <a:srgbClr val="8F7A4C"/>
          </a:solidFill>
          <a:ln w="12700">
            <a:solidFill>
              <a:srgbClr val="8F7A4C"/>
            </a:solidFill>
            <a:prstDash val="solid"/>
          </a:ln>
        </p:spPr>
      </p:sp>
      <p:sp>
        <p:nvSpPr>
          <p:cNvPr id="53" name="Text 51"/>
          <p:cNvSpPr txBox="1"/>
          <p:nvPr/>
        </p:nvSpPr>
        <p:spPr>
          <a:xfrm>
            <a:off x="777240" y="1883664"/>
            <a:ext cx="2926080" cy="256032"/>
          </a:xfrm>
          <a:prstGeom prst="rect">
            <a:avLst/>
          </a:prstGeom>
          <a:noFill/>
          <a:ln/>
        </p:spPr>
        <p:txBody>
          <a:bodyPr wrap="square" lIns="0" tIns="0" rIns="0" bIns="0" rtlCol="0" anchor="t"/>
          <a:lstStyle/>
          <a:p>
            <a:pPr indent="0" marL="0">
              <a:buNone/>
            </a:pPr>
            <a:r>
              <a:rPr lang="en-US" sz="1200" dirty="0">
                <a:solidFill>
                  <a:srgbClr val="6E6E6E"/>
                </a:solidFill>
                <a:latin typeface="Calibri" pitchFamily="34" charset="0"/>
                <a:ea typeface="Calibri" pitchFamily="34" charset="-122"/>
                <a:cs typeface="Calibri" pitchFamily="34" charset="-120"/>
              </a:rPr>
              <a:t>Gemini Flash releases (above)</a:t>
            </a:r>
            <a:endParaRPr lang="en-US" sz="1200" dirty="0"/>
          </a:p>
        </p:txBody>
      </p:sp>
      <p:sp>
        <p:nvSpPr>
          <p:cNvPr id="54" name="Shape 52"/>
          <p:cNvSpPr/>
          <p:nvPr/>
        </p:nvSpPr>
        <p:spPr>
          <a:xfrm>
            <a:off x="3840480" y="1938528"/>
            <a:ext cx="146304" cy="146304"/>
          </a:xfrm>
          <a:prstGeom prst="ellipse">
            <a:avLst/>
          </a:prstGeom>
          <a:solidFill>
            <a:srgbClr val="6E6E6E"/>
          </a:solidFill>
          <a:ln w="12700">
            <a:solidFill>
              <a:srgbClr val="6E6E6E"/>
            </a:solidFill>
            <a:prstDash val="solid"/>
          </a:ln>
        </p:spPr>
      </p:sp>
      <p:sp>
        <p:nvSpPr>
          <p:cNvPr id="55" name="Text 53"/>
          <p:cNvSpPr txBox="1"/>
          <p:nvPr/>
        </p:nvSpPr>
        <p:spPr>
          <a:xfrm>
            <a:off x="4069080" y="1883664"/>
            <a:ext cx="2926080" cy="256032"/>
          </a:xfrm>
          <a:prstGeom prst="rect">
            <a:avLst/>
          </a:prstGeom>
          <a:noFill/>
          <a:ln/>
        </p:spPr>
        <p:txBody>
          <a:bodyPr wrap="square" lIns="0" tIns="0" rIns="0" bIns="0" rtlCol="0" anchor="t"/>
          <a:lstStyle/>
          <a:p>
            <a:pPr indent="0" marL="0">
              <a:buNone/>
            </a:pPr>
            <a:r>
              <a:rPr lang="en-US" sz="1200" dirty="0">
                <a:solidFill>
                  <a:srgbClr val="6E6E6E"/>
                </a:solidFill>
                <a:latin typeface="Calibri" pitchFamily="34" charset="0"/>
                <a:ea typeface="Calibri" pitchFamily="34" charset="-122"/>
                <a:cs typeface="Calibri" pitchFamily="34" charset="-120"/>
              </a:rPr>
              <a:t>Claude releases (below)</a:t>
            </a:r>
            <a:endParaRPr lang="en-US" sz="1200" dirty="0"/>
          </a:p>
        </p:txBody>
      </p:sp>
      <p:sp>
        <p:nvSpPr>
          <p:cNvPr id="56" name="Text 54"/>
          <p:cNvSpPr txBox="1"/>
          <p:nvPr/>
        </p:nvSpPr>
        <p:spPr>
          <a:xfrm>
            <a:off x="548640" y="5760720"/>
            <a:ext cx="10972800" cy="457200"/>
          </a:xfrm>
          <a:prstGeom prst="rect">
            <a:avLst/>
          </a:prstGeom>
          <a:noFill/>
          <a:ln/>
        </p:spPr>
        <p:txBody>
          <a:bodyPr wrap="square" lIns="0" tIns="0" rIns="0" bIns="0" rtlCol="0" anchor="t"/>
          <a:lstStyle/>
          <a:p>
            <a:pPr indent="0" marL="0">
              <a:buNone/>
            </a:pPr>
            <a:r>
              <a:rPr lang="en-US" sz="1400" i="1" dirty="0">
                <a:solidFill>
                  <a:srgbClr val="0E1A2D"/>
                </a:solidFill>
                <a:latin typeface="Calibri" pitchFamily="34" charset="0"/>
                <a:ea typeface="Calibri" pitchFamily="34" charset="-122"/>
                <a:cs typeface="Calibri" pitchFamily="34" charset="-120"/>
              </a:rPr>
              <a:t>Six Gemini Flash releases and five Claude releases in under two years. Test again before you decide a model “can’t do it.”</a:t>
            </a:r>
            <a:endParaRPr lang="en-US" sz="1400" dirty="0"/>
          </a:p>
        </p:txBody>
      </p:sp>
      <p:sp>
        <p:nvSpPr>
          <p:cNvPr id="57" name="Text 5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7F87"/>
                </a:solidFill>
                <a:latin typeface="Calibri" pitchFamily="34" charset="0"/>
                <a:ea typeface="Calibri" pitchFamily="34" charset="-122"/>
                <a:cs typeface="Calibri" pitchFamily="34" charset="-120"/>
              </a:rPr>
              <a:t>WKS10  ·  Building a Repeatable AI Pipeline</a:t>
            </a:r>
            <a:endParaRPr lang="en-US" sz="1000" dirty="0"/>
          </a:p>
        </p:txBody>
      </p:sp>
      <p:sp>
        <p:nvSpPr>
          <p:cNvPr id="58" name="Text 5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7F87"/>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A2D"/>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Broader implications</a:t>
            </a:r>
            <a:endParaRPr lang="en-US" sz="3400" dirty="0"/>
          </a:p>
        </p:txBody>
      </p:sp>
      <p:sp>
        <p:nvSpPr>
          <p:cNvPr id="3" name="Shape 1"/>
          <p:cNvSpPr/>
          <p:nvPr/>
        </p:nvSpPr>
        <p:spPr>
          <a:xfrm>
            <a:off x="548640" y="1737360"/>
            <a:ext cx="3520440" cy="3383280"/>
          </a:xfrm>
          <a:prstGeom prst="roundRect">
            <a:avLst>
              <a:gd name="adj" fmla="val 2162"/>
            </a:avLst>
          </a:prstGeom>
          <a:solidFill>
            <a:srgbClr val="2C3E50"/>
          </a:solidFill>
          <a:ln w="12700">
            <a:solidFill>
              <a:srgbClr val="2C3E50"/>
            </a:solidFill>
            <a:prstDash val="solid"/>
          </a:ln>
        </p:spPr>
      </p:sp>
      <p:sp>
        <p:nvSpPr>
          <p:cNvPr id="4" name="Shape 2"/>
          <p:cNvSpPr/>
          <p:nvPr/>
        </p:nvSpPr>
        <p:spPr>
          <a:xfrm>
            <a:off x="868680" y="2057400"/>
            <a:ext cx="640080" cy="640080"/>
          </a:xfrm>
          <a:prstGeom prst="ellipse">
            <a:avLst/>
          </a:prstGeom>
          <a:solidFill>
            <a:srgbClr val="5B7089"/>
          </a:solidFill>
          <a:ln w="12700">
            <a:solidFill>
              <a:srgbClr val="5B7089"/>
            </a:solidFill>
            <a:prstDash val="solid"/>
          </a:ln>
        </p:spPr>
      </p:sp>
      <p:pic>
        <p:nvPicPr>
          <p:cNvPr id="5" name="Image 0" descr="preencoded.png">    </p:cNvPr>
          <p:cNvPicPr>
            <a:picLocks noChangeAspect="1"/>
          </p:cNvPicPr>
          <p:nvPr/>
        </p:nvPicPr>
        <p:blipFill>
          <a:blip r:embed="rId1"/>
          <a:stretch>
            <a:fillRect/>
          </a:stretch>
        </p:blipFill>
        <p:spPr>
          <a:xfrm>
            <a:off x="1028700" y="2217420"/>
            <a:ext cx="320040" cy="320040"/>
          </a:xfrm>
          <a:prstGeom prst="rect">
            <a:avLst/>
          </a:prstGeom>
        </p:spPr>
      </p:pic>
      <p:sp>
        <p:nvSpPr>
          <p:cNvPr id="6" name="Text 3"/>
          <p:cNvSpPr txBox="1"/>
          <p:nvPr/>
        </p:nvSpPr>
        <p:spPr>
          <a:xfrm>
            <a:off x="868680" y="2926080"/>
            <a:ext cx="2926080" cy="86868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No longer bound to general-purpose software</a:t>
            </a:r>
            <a:endParaRPr lang="en-US" sz="1800" dirty="0"/>
          </a:p>
        </p:txBody>
      </p:sp>
      <p:sp>
        <p:nvSpPr>
          <p:cNvPr id="7" name="Text 4"/>
          <p:cNvSpPr txBox="1"/>
          <p:nvPr/>
        </p:nvSpPr>
        <p:spPr>
          <a:xfrm>
            <a:off x="868680" y="3840480"/>
            <a:ext cx="2926080" cy="1097280"/>
          </a:xfrm>
          <a:prstGeom prst="rect">
            <a:avLst/>
          </a:prstGeom>
          <a:noFill/>
          <a:ln/>
        </p:spPr>
        <p:txBody>
          <a:bodyPr wrap="square" lIns="0" tIns="0" rIns="0" bIns="0" rtlCol="0" anchor="t"/>
          <a:lstStyle/>
          <a:p>
            <a:pPr indent="0" marL="0">
              <a:buNone/>
            </a:pPr>
            <a:r>
              <a:rPr lang="en-US" sz="1350" dirty="0">
                <a:solidFill>
                  <a:srgbClr val="A9B3BF"/>
                </a:solidFill>
                <a:latin typeface="Calibri" pitchFamily="34" charset="0"/>
                <a:ea typeface="Calibri" pitchFamily="34" charset="-122"/>
                <a:cs typeface="Calibri" pitchFamily="34" charset="-120"/>
              </a:rPr>
              <a:t>Excel and similar tools stop being the ceiling for what a small collections team can build.</a:t>
            </a:r>
            <a:endParaRPr lang="en-US" sz="1350" dirty="0"/>
          </a:p>
        </p:txBody>
      </p:sp>
      <p:sp>
        <p:nvSpPr>
          <p:cNvPr id="8" name="Shape 5"/>
          <p:cNvSpPr/>
          <p:nvPr/>
        </p:nvSpPr>
        <p:spPr>
          <a:xfrm>
            <a:off x="4297680" y="1737360"/>
            <a:ext cx="3520440" cy="3383280"/>
          </a:xfrm>
          <a:prstGeom prst="roundRect">
            <a:avLst>
              <a:gd name="adj" fmla="val 2162"/>
            </a:avLst>
          </a:prstGeom>
          <a:solidFill>
            <a:srgbClr val="2C3E50"/>
          </a:solidFill>
          <a:ln w="12700">
            <a:solidFill>
              <a:srgbClr val="2C3E50"/>
            </a:solidFill>
            <a:prstDash val="solid"/>
          </a:ln>
        </p:spPr>
      </p:sp>
      <p:sp>
        <p:nvSpPr>
          <p:cNvPr id="9" name="Shape 6"/>
          <p:cNvSpPr/>
          <p:nvPr/>
        </p:nvSpPr>
        <p:spPr>
          <a:xfrm>
            <a:off x="4617720" y="2057400"/>
            <a:ext cx="640080" cy="640080"/>
          </a:xfrm>
          <a:prstGeom prst="ellipse">
            <a:avLst/>
          </a:prstGeom>
          <a:solidFill>
            <a:srgbClr val="E0584A"/>
          </a:solidFill>
          <a:ln w="12700">
            <a:solidFill>
              <a:srgbClr val="E0584A"/>
            </a:solidFill>
            <a:prstDash val="solid"/>
          </a:ln>
        </p:spPr>
      </p:sp>
      <p:pic>
        <p:nvPicPr>
          <p:cNvPr id="10" name="Image 1" descr="preencoded.png">    </p:cNvPr>
          <p:cNvPicPr>
            <a:picLocks noChangeAspect="1"/>
          </p:cNvPicPr>
          <p:nvPr/>
        </p:nvPicPr>
        <p:blipFill>
          <a:blip r:embed="rId2"/>
          <a:stretch>
            <a:fillRect/>
          </a:stretch>
        </p:blipFill>
        <p:spPr>
          <a:xfrm>
            <a:off x="4777740" y="2217420"/>
            <a:ext cx="320040" cy="320040"/>
          </a:xfrm>
          <a:prstGeom prst="rect">
            <a:avLst/>
          </a:prstGeom>
        </p:spPr>
      </p:pic>
      <p:sp>
        <p:nvSpPr>
          <p:cNvPr id="11" name="Text 7"/>
          <p:cNvSpPr txBox="1"/>
          <p:nvPr/>
        </p:nvSpPr>
        <p:spPr>
          <a:xfrm>
            <a:off x="4617720" y="2926080"/>
            <a:ext cx="2926080" cy="86868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Building software keeps getting easier</a:t>
            </a:r>
            <a:endParaRPr lang="en-US" sz="1800" dirty="0"/>
          </a:p>
        </p:txBody>
      </p:sp>
      <p:sp>
        <p:nvSpPr>
          <p:cNvPr id="12" name="Text 8"/>
          <p:cNvSpPr txBox="1"/>
          <p:nvPr/>
        </p:nvSpPr>
        <p:spPr>
          <a:xfrm>
            <a:off x="4617720" y="3840480"/>
            <a:ext cx="2926080" cy="1097280"/>
          </a:xfrm>
          <a:prstGeom prst="rect">
            <a:avLst/>
          </a:prstGeom>
          <a:noFill/>
          <a:ln/>
        </p:spPr>
        <p:txBody>
          <a:bodyPr wrap="square" lIns="0" tIns="0" rIns="0" bIns="0" rtlCol="0" anchor="t"/>
          <a:lstStyle/>
          <a:p>
            <a:pPr indent="0" marL="0">
              <a:buNone/>
            </a:pPr>
            <a:r>
              <a:rPr lang="en-US" sz="1350" dirty="0">
                <a:solidFill>
                  <a:srgbClr val="A9B3BF"/>
                </a:solidFill>
                <a:latin typeface="Calibri" pitchFamily="34" charset="0"/>
                <a:ea typeface="Calibri" pitchFamily="34" charset="-122"/>
                <a:cs typeface="Calibri" pitchFamily="34" charset="-120"/>
              </a:rPr>
              <a:t>Scripts, small apps and pipelines that once needed a developer are now within reach.</a:t>
            </a:r>
            <a:endParaRPr lang="en-US" sz="1350" dirty="0"/>
          </a:p>
        </p:txBody>
      </p:sp>
      <p:sp>
        <p:nvSpPr>
          <p:cNvPr id="13" name="Shape 9"/>
          <p:cNvSpPr/>
          <p:nvPr/>
        </p:nvSpPr>
        <p:spPr>
          <a:xfrm>
            <a:off x="8046720" y="1737360"/>
            <a:ext cx="3520440" cy="3383280"/>
          </a:xfrm>
          <a:prstGeom prst="roundRect">
            <a:avLst>
              <a:gd name="adj" fmla="val 2162"/>
            </a:avLst>
          </a:prstGeom>
          <a:solidFill>
            <a:srgbClr val="2C3E50"/>
          </a:solidFill>
          <a:ln w="12700">
            <a:solidFill>
              <a:srgbClr val="2C3E50"/>
            </a:solidFill>
            <a:prstDash val="solid"/>
          </a:ln>
        </p:spPr>
      </p:sp>
      <p:sp>
        <p:nvSpPr>
          <p:cNvPr id="14" name="Shape 10"/>
          <p:cNvSpPr/>
          <p:nvPr/>
        </p:nvSpPr>
        <p:spPr>
          <a:xfrm>
            <a:off x="8366760" y="2057400"/>
            <a:ext cx="640080" cy="640080"/>
          </a:xfrm>
          <a:prstGeom prst="ellipse">
            <a:avLst/>
          </a:prstGeom>
          <a:solidFill>
            <a:srgbClr val="6E6E6E"/>
          </a:solidFill>
          <a:ln w="12700">
            <a:solidFill>
              <a:srgbClr val="6E6E6E"/>
            </a:solidFill>
            <a:prstDash val="solid"/>
          </a:ln>
        </p:spPr>
      </p:sp>
      <p:pic>
        <p:nvPicPr>
          <p:cNvPr id="15" name="Image 2" descr="preencoded.png">    </p:cNvPr>
          <p:cNvPicPr>
            <a:picLocks noChangeAspect="1"/>
          </p:cNvPicPr>
          <p:nvPr/>
        </p:nvPicPr>
        <p:blipFill>
          <a:blip r:embed="rId3"/>
          <a:stretch>
            <a:fillRect/>
          </a:stretch>
        </p:blipFill>
        <p:spPr>
          <a:xfrm>
            <a:off x="8526780" y="2217420"/>
            <a:ext cx="320040" cy="320040"/>
          </a:xfrm>
          <a:prstGeom prst="rect">
            <a:avLst/>
          </a:prstGeom>
        </p:spPr>
      </p:pic>
      <p:sp>
        <p:nvSpPr>
          <p:cNvPr id="16" name="Text 11"/>
          <p:cNvSpPr txBox="1"/>
          <p:nvPr/>
        </p:nvSpPr>
        <p:spPr>
          <a:xfrm>
            <a:off x="8366760" y="2926080"/>
            <a:ext cx="2926080" cy="86868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Demand for custom solutions keeps rising</a:t>
            </a:r>
            <a:endParaRPr lang="en-US" sz="1800" dirty="0"/>
          </a:p>
        </p:txBody>
      </p:sp>
      <p:sp>
        <p:nvSpPr>
          <p:cNvPr id="17" name="Text 12"/>
          <p:cNvSpPr txBox="1"/>
          <p:nvPr/>
        </p:nvSpPr>
        <p:spPr>
          <a:xfrm>
            <a:off x="8366760" y="3840480"/>
            <a:ext cx="2926080" cy="1097280"/>
          </a:xfrm>
          <a:prstGeom prst="rect">
            <a:avLst/>
          </a:prstGeom>
          <a:noFill/>
          <a:ln/>
        </p:spPr>
        <p:txBody>
          <a:bodyPr wrap="square" lIns="0" tIns="0" rIns="0" bIns="0" rtlCol="0" anchor="t"/>
          <a:lstStyle/>
          <a:p>
            <a:pPr indent="0" marL="0">
              <a:buNone/>
            </a:pPr>
            <a:r>
              <a:rPr lang="en-US" sz="1350" dirty="0">
                <a:solidFill>
                  <a:srgbClr val="A9B3BF"/>
                </a:solidFill>
                <a:latin typeface="Calibri" pitchFamily="34" charset="0"/>
                <a:ea typeface="Calibri" pitchFamily="34" charset="-122"/>
                <a:cs typeface="Calibri" pitchFamily="34" charset="-120"/>
              </a:rPr>
              <a:t>Every collection has its own quirks. Custom tools fit them better than generic ones.</a:t>
            </a:r>
            <a:endParaRPr lang="en-US" sz="1350" dirty="0"/>
          </a:p>
        </p:txBody>
      </p:sp>
      <p:sp>
        <p:nvSpPr>
          <p:cNvPr id="18" name="Text 13"/>
          <p:cNvSpPr txBox="1"/>
          <p:nvPr/>
        </p:nvSpPr>
        <p:spPr>
          <a:xfrm>
            <a:off x="548640" y="5486400"/>
            <a:ext cx="10972800" cy="457200"/>
          </a:xfrm>
          <a:prstGeom prst="rect">
            <a:avLst/>
          </a:prstGeom>
          <a:noFill/>
          <a:ln/>
        </p:spPr>
        <p:txBody>
          <a:bodyPr wrap="square" lIns="0" tIns="0" rIns="0" bIns="0" rtlCol="0" anchor="ctr"/>
          <a:lstStyle/>
          <a:p>
            <a:pPr indent="0" marL="0">
              <a:buNone/>
            </a:pPr>
            <a:r>
              <a:rPr lang="en-US" sz="1800" i="1" dirty="0">
                <a:solidFill>
                  <a:srgbClr val="A9BCD0"/>
                </a:solidFill>
                <a:latin typeface="Cambria" pitchFamily="34" charset="0"/>
                <a:ea typeface="Cambria" pitchFamily="34" charset="-122"/>
                <a:cs typeface="Cambria" pitchFamily="34" charset="-120"/>
              </a:rPr>
              <a:t>The skill that matters is describing what you want precisely, then checking what you get.</a:t>
            </a:r>
            <a:endParaRPr lang="en-US" sz="1800" dirty="0"/>
          </a:p>
        </p:txBody>
      </p:sp>
      <p:sp>
        <p:nvSpPr>
          <p:cNvPr id="19" name="Text 1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A9B3BF"/>
                </a:solidFill>
                <a:latin typeface="Calibri" pitchFamily="34" charset="0"/>
                <a:ea typeface="Calibri" pitchFamily="34" charset="-122"/>
                <a:cs typeface="Calibri" pitchFamily="34" charset="-120"/>
              </a:rPr>
              <a:t>WKS10  ·  Building a Repeatable AI Pipeline</a:t>
            </a:r>
            <a:endParaRPr lang="en-US" sz="1000" dirty="0"/>
          </a:p>
        </p:txBody>
      </p:sp>
      <p:sp>
        <p:nvSpPr>
          <p:cNvPr id="20" name="Text 1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A9B3B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392B"/>
                </a:solidFill>
                <a:latin typeface="Calibri" pitchFamily="34" charset="0"/>
                <a:ea typeface="Calibri" pitchFamily="34" charset="-122"/>
                <a:cs typeface="Calibri" pitchFamily="34" charset="-120"/>
              </a:rPr>
              <a:t>AI AND PEOPLE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0E1A2D"/>
                </a:solidFill>
                <a:latin typeface="Cambria" pitchFamily="34" charset="0"/>
                <a:ea typeface="Cambria" pitchFamily="34" charset="-122"/>
                <a:cs typeface="Cambria" pitchFamily="34" charset="-120"/>
              </a:rPr>
              <a:t>The hardest part of any project is people</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4D4D4D"/>
                </a:solidFill>
                <a:latin typeface="Calibri" pitchFamily="34" charset="0"/>
                <a:ea typeface="Calibri" pitchFamily="34" charset="-122"/>
                <a:cs typeface="Calibri" pitchFamily="34" charset="-120"/>
              </a:rPr>
              <a:t>AI changes how much work a task takes. It does not change how people work.</a:t>
            </a:r>
            <a:endParaRPr lang="en-US" sz="1500" dirty="0"/>
          </a:p>
        </p:txBody>
      </p:sp>
      <p:sp>
        <p:nvSpPr>
          <p:cNvPr id="5" name="Shape 3"/>
          <p:cNvSpPr/>
          <p:nvPr/>
        </p:nvSpPr>
        <p:spPr>
          <a:xfrm>
            <a:off x="548640" y="2148840"/>
            <a:ext cx="4937760" cy="3931920"/>
          </a:xfrm>
          <a:prstGeom prst="roundRect">
            <a:avLst>
              <a:gd name="adj" fmla="val 1860"/>
            </a:avLst>
          </a:prstGeom>
          <a:solidFill>
            <a:srgbClr val="EFE5CB"/>
          </a:solidFill>
          <a:ln w="12700">
            <a:solidFill>
              <a:srgbClr val="EFE5CB"/>
            </a:solidFill>
            <a:prstDash val="solid"/>
          </a:ln>
        </p:spPr>
      </p:sp>
      <p:sp>
        <p:nvSpPr>
          <p:cNvPr id="6" name="Shape 4"/>
          <p:cNvSpPr/>
          <p:nvPr/>
        </p:nvSpPr>
        <p:spPr>
          <a:xfrm>
            <a:off x="868680" y="2423160"/>
            <a:ext cx="640080" cy="640080"/>
          </a:xfrm>
          <a:prstGeom prst="ellipse">
            <a:avLst/>
          </a:prstGeom>
          <a:solidFill>
            <a:srgbClr val="C0392B"/>
          </a:solidFill>
          <a:ln w="12700">
            <a:solidFill>
              <a:srgbClr val="C0392B"/>
            </a:solidFill>
            <a:prstDash val="solid"/>
          </a:ln>
        </p:spPr>
      </p:sp>
      <p:pic>
        <p:nvPicPr>
          <p:cNvPr id="7" name="Image 0" descr="preencoded.png">    </p:cNvPr>
          <p:cNvPicPr>
            <a:picLocks noChangeAspect="1"/>
          </p:cNvPicPr>
          <p:nvPr/>
        </p:nvPicPr>
        <p:blipFill>
          <a:blip r:embed="rId1"/>
          <a:stretch>
            <a:fillRect/>
          </a:stretch>
        </p:blipFill>
        <p:spPr>
          <a:xfrm>
            <a:off x="1028700" y="2583180"/>
            <a:ext cx="320040" cy="320040"/>
          </a:xfrm>
          <a:prstGeom prst="rect">
            <a:avLst/>
          </a:prstGeom>
        </p:spPr>
      </p:pic>
      <p:sp>
        <p:nvSpPr>
          <p:cNvPr id="8" name="Text 5"/>
          <p:cNvSpPr txBox="1"/>
          <p:nvPr/>
        </p:nvSpPr>
        <p:spPr>
          <a:xfrm>
            <a:off x="868680" y="3246120"/>
            <a:ext cx="4297680" cy="1371600"/>
          </a:xfrm>
          <a:prstGeom prst="rect">
            <a:avLst/>
          </a:prstGeom>
          <a:noFill/>
          <a:ln/>
        </p:spPr>
        <p:txBody>
          <a:bodyPr wrap="square" lIns="0" tIns="0" rIns="0" bIns="0" rtlCol="0" anchor="t"/>
          <a:lstStyle/>
          <a:p>
            <a:pPr indent="0" marL="0">
              <a:buNone/>
            </a:pPr>
            <a:r>
              <a:rPr lang="en-US" sz="1900" b="1" dirty="0">
                <a:solidFill>
                  <a:srgbClr val="0E1A2D"/>
                </a:solidFill>
                <a:latin typeface="Cambria" pitchFamily="34" charset="0"/>
                <a:ea typeface="Cambria" pitchFamily="34" charset="-122"/>
                <a:cs typeface="Cambria" pitchFamily="34" charset="-120"/>
              </a:rPr>
              <a:t>Getting people to change how they work every day is the most difficult task in any software project.</a:t>
            </a:r>
            <a:endParaRPr lang="en-US" sz="1900" dirty="0"/>
          </a:p>
        </p:txBody>
      </p:sp>
      <p:sp>
        <p:nvSpPr>
          <p:cNvPr id="9" name="Text 6"/>
          <p:cNvSpPr txBox="1"/>
          <p:nvPr/>
        </p:nvSpPr>
        <p:spPr>
          <a:xfrm>
            <a:off x="868680" y="4800600"/>
            <a:ext cx="4297680" cy="914400"/>
          </a:xfrm>
          <a:prstGeom prst="rect">
            <a:avLst/>
          </a:prstGeom>
          <a:noFill/>
          <a:ln/>
        </p:spPr>
        <p:txBody>
          <a:bodyPr wrap="square" lIns="0" tIns="0" rIns="0" bIns="0" rtlCol="0" anchor="t"/>
          <a:lstStyle/>
          <a:p>
            <a:pPr indent="0" marL="0">
              <a:buNone/>
            </a:pPr>
            <a:r>
              <a:rPr lang="en-US" sz="1400" dirty="0">
                <a:solidFill>
                  <a:srgbClr val="4D4D4D"/>
                </a:solidFill>
                <a:latin typeface="Calibri" pitchFamily="34" charset="0"/>
                <a:ea typeface="Calibri" pitchFamily="34" charset="-122"/>
                <a:cs typeface="Calibri" pitchFamily="34" charset="-120"/>
              </a:rPr>
              <a:t>It takes communication skills and a real investment of time. AI cannot do it.</a:t>
            </a:r>
            <a:endParaRPr lang="en-US" sz="1400" dirty="0"/>
          </a:p>
        </p:txBody>
      </p:sp>
      <p:sp>
        <p:nvSpPr>
          <p:cNvPr id="10" name="Shape 7"/>
          <p:cNvSpPr/>
          <p:nvPr/>
        </p:nvSpPr>
        <p:spPr>
          <a:xfrm>
            <a:off x="5943600" y="2240280"/>
            <a:ext cx="566928" cy="566928"/>
          </a:xfrm>
          <a:prstGeom prst="ellipse">
            <a:avLst/>
          </a:prstGeom>
          <a:solidFill>
            <a:srgbClr val="5B7089"/>
          </a:solidFill>
          <a:ln w="12700">
            <a:solidFill>
              <a:srgbClr val="5B7089"/>
            </a:solidFill>
            <a:prstDash val="solid"/>
          </a:ln>
        </p:spPr>
      </p:sp>
      <p:pic>
        <p:nvPicPr>
          <p:cNvPr id="11" name="Image 1" descr="preencoded.png">    </p:cNvPr>
          <p:cNvPicPr>
            <a:picLocks noChangeAspect="1"/>
          </p:cNvPicPr>
          <p:nvPr/>
        </p:nvPicPr>
        <p:blipFill>
          <a:blip r:embed="rId2"/>
          <a:stretch>
            <a:fillRect/>
          </a:stretch>
        </p:blipFill>
        <p:spPr>
          <a:xfrm>
            <a:off x="6085332" y="2382012"/>
            <a:ext cx="283464" cy="283464"/>
          </a:xfrm>
          <a:prstGeom prst="rect">
            <a:avLst/>
          </a:prstGeom>
        </p:spPr>
      </p:pic>
      <p:sp>
        <p:nvSpPr>
          <p:cNvPr id="12" name="Text 8"/>
          <p:cNvSpPr txBox="1"/>
          <p:nvPr/>
        </p:nvSpPr>
        <p:spPr>
          <a:xfrm>
            <a:off x="6720840" y="2194560"/>
            <a:ext cx="4846320" cy="365760"/>
          </a:xfrm>
          <a:prstGeom prst="rect">
            <a:avLst/>
          </a:prstGeom>
          <a:noFill/>
          <a:ln/>
        </p:spPr>
        <p:txBody>
          <a:bodyPr wrap="square" lIns="0" tIns="0" rIns="0" bIns="0" rtlCol="0" anchor="t"/>
          <a:lstStyle/>
          <a:p>
            <a:pPr indent="0" marL="0">
              <a:buNone/>
            </a:pPr>
            <a:r>
              <a:rPr lang="en-US" sz="1700" b="1" dirty="0">
                <a:solidFill>
                  <a:srgbClr val="0E1A2D"/>
                </a:solidFill>
                <a:latin typeface="Calibri" pitchFamily="34" charset="0"/>
                <a:ea typeface="Calibri" pitchFamily="34" charset="-122"/>
                <a:cs typeface="Calibri" pitchFamily="34" charset="-120"/>
              </a:rPr>
              <a:t>AI reduces labour</a:t>
            </a:r>
            <a:endParaRPr lang="en-US" sz="1700" dirty="0"/>
          </a:p>
        </p:txBody>
      </p:sp>
      <p:sp>
        <p:nvSpPr>
          <p:cNvPr id="13" name="Text 9"/>
          <p:cNvSpPr txBox="1"/>
          <p:nvPr/>
        </p:nvSpPr>
        <p:spPr>
          <a:xfrm>
            <a:off x="6720840" y="2606040"/>
            <a:ext cx="4846320" cy="685800"/>
          </a:xfrm>
          <a:prstGeom prst="rect">
            <a:avLst/>
          </a:prstGeom>
          <a:noFill/>
          <a:ln/>
        </p:spPr>
        <p:txBody>
          <a:bodyPr wrap="square" lIns="0" tIns="0" rIns="0" bIns="0" rtlCol="0" anchor="t"/>
          <a:lstStyle/>
          <a:p>
            <a:pPr indent="0" marL="0">
              <a:buNone/>
            </a:pPr>
            <a:r>
              <a:rPr lang="en-US" sz="1350" dirty="0">
                <a:solidFill>
                  <a:srgbClr val="4D4D4D"/>
                </a:solidFill>
                <a:latin typeface="Calibri" pitchFamily="34" charset="0"/>
                <a:ea typeface="Calibri" pitchFamily="34" charset="-122"/>
                <a:cs typeface="Calibri" pitchFamily="34" charset="-120"/>
              </a:rPr>
              <a:t>The same work takes less time and costs less.</a:t>
            </a:r>
            <a:endParaRPr lang="en-US" sz="1350" dirty="0"/>
          </a:p>
        </p:txBody>
      </p:sp>
      <p:pic>
        <p:nvPicPr>
          <p:cNvPr id="14" name="Image 2" descr="preencoded.png">    </p:cNvPr>
          <p:cNvPicPr>
            <a:picLocks noChangeAspect="1"/>
          </p:cNvPicPr>
          <p:nvPr/>
        </p:nvPicPr>
        <p:blipFill>
          <a:blip r:embed="rId3"/>
          <a:stretch>
            <a:fillRect/>
          </a:stretch>
        </p:blipFill>
        <p:spPr>
          <a:xfrm>
            <a:off x="6089904" y="2971800"/>
            <a:ext cx="274320" cy="274320"/>
          </a:xfrm>
          <a:prstGeom prst="rect">
            <a:avLst/>
          </a:prstGeom>
        </p:spPr>
      </p:pic>
      <p:sp>
        <p:nvSpPr>
          <p:cNvPr id="15" name="Shape 10"/>
          <p:cNvSpPr/>
          <p:nvPr/>
        </p:nvSpPr>
        <p:spPr>
          <a:xfrm>
            <a:off x="5943600" y="3611880"/>
            <a:ext cx="566928" cy="566928"/>
          </a:xfrm>
          <a:prstGeom prst="ellipse">
            <a:avLst/>
          </a:prstGeom>
          <a:solidFill>
            <a:srgbClr val="5B7089"/>
          </a:solidFill>
          <a:ln w="12700">
            <a:solidFill>
              <a:srgbClr val="5B7089"/>
            </a:solidFill>
            <a:prstDash val="solid"/>
          </a:ln>
        </p:spPr>
      </p:sp>
      <p:pic>
        <p:nvPicPr>
          <p:cNvPr id="16" name="Image 3" descr="preencoded.png">    </p:cNvPr>
          <p:cNvPicPr>
            <a:picLocks noChangeAspect="1"/>
          </p:cNvPicPr>
          <p:nvPr/>
        </p:nvPicPr>
        <p:blipFill>
          <a:blip r:embed="rId4"/>
          <a:stretch>
            <a:fillRect/>
          </a:stretch>
        </p:blipFill>
        <p:spPr>
          <a:xfrm>
            <a:off x="6085332" y="3753612"/>
            <a:ext cx="283464" cy="283464"/>
          </a:xfrm>
          <a:prstGeom prst="rect">
            <a:avLst/>
          </a:prstGeom>
        </p:spPr>
      </p:pic>
      <p:sp>
        <p:nvSpPr>
          <p:cNvPr id="17" name="Text 11"/>
          <p:cNvSpPr txBox="1"/>
          <p:nvPr/>
        </p:nvSpPr>
        <p:spPr>
          <a:xfrm>
            <a:off x="6720840" y="3566160"/>
            <a:ext cx="4846320" cy="365760"/>
          </a:xfrm>
          <a:prstGeom prst="rect">
            <a:avLst/>
          </a:prstGeom>
          <a:noFill/>
          <a:ln/>
        </p:spPr>
        <p:txBody>
          <a:bodyPr wrap="square" lIns="0" tIns="0" rIns="0" bIns="0" rtlCol="0" anchor="t"/>
          <a:lstStyle/>
          <a:p>
            <a:pPr indent="0" marL="0">
              <a:buNone/>
            </a:pPr>
            <a:r>
              <a:rPr lang="en-US" sz="1700" b="1" dirty="0">
                <a:solidFill>
                  <a:srgbClr val="0E1A2D"/>
                </a:solidFill>
                <a:latin typeface="Calibri" pitchFamily="34" charset="0"/>
                <a:ea typeface="Calibri" pitchFamily="34" charset="-122"/>
                <a:cs typeface="Calibri" pitchFamily="34" charset="-120"/>
              </a:rPr>
              <a:t>Time saved is reinvested</a:t>
            </a:r>
            <a:endParaRPr lang="en-US" sz="1700" dirty="0"/>
          </a:p>
        </p:txBody>
      </p:sp>
      <p:sp>
        <p:nvSpPr>
          <p:cNvPr id="18" name="Text 12"/>
          <p:cNvSpPr txBox="1"/>
          <p:nvPr/>
        </p:nvSpPr>
        <p:spPr>
          <a:xfrm>
            <a:off x="6720840" y="3977640"/>
            <a:ext cx="4846320" cy="685800"/>
          </a:xfrm>
          <a:prstGeom prst="rect">
            <a:avLst/>
          </a:prstGeom>
          <a:noFill/>
          <a:ln/>
        </p:spPr>
        <p:txBody>
          <a:bodyPr wrap="square" lIns="0" tIns="0" rIns="0" bIns="0" rtlCol="0" anchor="t"/>
          <a:lstStyle/>
          <a:p>
            <a:pPr indent="0" marL="0">
              <a:buNone/>
            </a:pPr>
            <a:r>
              <a:rPr lang="en-US" sz="1350" dirty="0">
                <a:solidFill>
                  <a:srgbClr val="4D4D4D"/>
                </a:solidFill>
                <a:latin typeface="Calibri" pitchFamily="34" charset="0"/>
                <a:ea typeface="Calibri" pitchFamily="34" charset="-122"/>
                <a:cs typeface="Calibri" pitchFamily="34" charset="-120"/>
              </a:rPr>
              <a:t>Learn new skills and take on work that was out of reach.</a:t>
            </a:r>
            <a:endParaRPr lang="en-US" sz="1350" dirty="0"/>
          </a:p>
        </p:txBody>
      </p:sp>
      <p:pic>
        <p:nvPicPr>
          <p:cNvPr id="19" name="Image 4" descr="preencoded.png">    </p:cNvPr>
          <p:cNvPicPr>
            <a:picLocks noChangeAspect="1"/>
          </p:cNvPicPr>
          <p:nvPr/>
        </p:nvPicPr>
        <p:blipFill>
          <a:blip r:embed="rId5"/>
          <a:stretch>
            <a:fillRect/>
          </a:stretch>
        </p:blipFill>
        <p:spPr>
          <a:xfrm>
            <a:off x="6089904" y="4343400"/>
            <a:ext cx="274320" cy="274320"/>
          </a:xfrm>
          <a:prstGeom prst="rect">
            <a:avLst/>
          </a:prstGeom>
        </p:spPr>
      </p:pic>
      <p:sp>
        <p:nvSpPr>
          <p:cNvPr id="20" name="Shape 13"/>
          <p:cNvSpPr/>
          <p:nvPr/>
        </p:nvSpPr>
        <p:spPr>
          <a:xfrm>
            <a:off x="5943600" y="4983480"/>
            <a:ext cx="566928" cy="566928"/>
          </a:xfrm>
          <a:prstGeom prst="ellipse">
            <a:avLst/>
          </a:prstGeom>
          <a:solidFill>
            <a:srgbClr val="6E6E6E"/>
          </a:solidFill>
          <a:ln w="12700">
            <a:solidFill>
              <a:srgbClr val="6E6E6E"/>
            </a:solidFill>
            <a:prstDash val="solid"/>
          </a:ln>
        </p:spPr>
      </p:sp>
      <p:pic>
        <p:nvPicPr>
          <p:cNvPr id="21" name="Image 5" descr="preencoded.png">    </p:cNvPr>
          <p:cNvPicPr>
            <a:picLocks noChangeAspect="1"/>
          </p:cNvPicPr>
          <p:nvPr/>
        </p:nvPicPr>
        <p:blipFill>
          <a:blip r:embed="rId6"/>
          <a:stretch>
            <a:fillRect/>
          </a:stretch>
        </p:blipFill>
        <p:spPr>
          <a:xfrm>
            <a:off x="6085332" y="5125212"/>
            <a:ext cx="283464" cy="283464"/>
          </a:xfrm>
          <a:prstGeom prst="rect">
            <a:avLst/>
          </a:prstGeom>
        </p:spPr>
      </p:pic>
      <p:sp>
        <p:nvSpPr>
          <p:cNvPr id="22" name="Text 14"/>
          <p:cNvSpPr txBox="1"/>
          <p:nvPr/>
        </p:nvSpPr>
        <p:spPr>
          <a:xfrm>
            <a:off x="6720840" y="4937760"/>
            <a:ext cx="4846320" cy="365760"/>
          </a:xfrm>
          <a:prstGeom prst="rect">
            <a:avLst/>
          </a:prstGeom>
          <a:noFill/>
          <a:ln/>
        </p:spPr>
        <p:txBody>
          <a:bodyPr wrap="square" lIns="0" tIns="0" rIns="0" bIns="0" rtlCol="0" anchor="t"/>
          <a:lstStyle/>
          <a:p>
            <a:pPr indent="0" marL="0">
              <a:buNone/>
            </a:pPr>
            <a:r>
              <a:rPr lang="en-US" sz="1700" b="1" dirty="0">
                <a:solidFill>
                  <a:srgbClr val="0E1A2D"/>
                </a:solidFill>
                <a:latin typeface="Calibri" pitchFamily="34" charset="0"/>
                <a:ea typeface="Calibri" pitchFamily="34" charset="-122"/>
                <a:cs typeface="Calibri" pitchFamily="34" charset="-120"/>
              </a:rPr>
              <a:t>People move to higher-level work</a:t>
            </a:r>
            <a:endParaRPr lang="en-US" sz="1700" dirty="0"/>
          </a:p>
        </p:txBody>
      </p:sp>
      <p:sp>
        <p:nvSpPr>
          <p:cNvPr id="23" name="Text 15"/>
          <p:cNvSpPr txBox="1"/>
          <p:nvPr/>
        </p:nvSpPr>
        <p:spPr>
          <a:xfrm>
            <a:off x="6720840" y="5349240"/>
            <a:ext cx="4846320" cy="685800"/>
          </a:xfrm>
          <a:prstGeom prst="rect">
            <a:avLst/>
          </a:prstGeom>
          <a:noFill/>
          <a:ln/>
        </p:spPr>
        <p:txBody>
          <a:bodyPr wrap="square" lIns="0" tIns="0" rIns="0" bIns="0" rtlCol="0" anchor="t"/>
          <a:lstStyle/>
          <a:p>
            <a:pPr indent="0" marL="0">
              <a:buNone/>
            </a:pPr>
            <a:r>
              <a:rPr lang="en-US" sz="1350" dirty="0">
                <a:solidFill>
                  <a:srgbClr val="4D4D4D"/>
                </a:solidFill>
                <a:latin typeface="Calibri" pitchFamily="34" charset="0"/>
                <a:ea typeface="Calibri" pitchFamily="34" charset="-122"/>
                <a:cs typeface="Calibri" pitchFamily="34" charset="-120"/>
              </a:rPr>
              <a:t>Demand for software is higher than ever. Design, decisions and review stay with people.</a:t>
            </a:r>
            <a:endParaRPr lang="en-US" sz="1350" dirty="0"/>
          </a:p>
        </p:txBody>
      </p:sp>
      <p:sp>
        <p:nvSpPr>
          <p:cNvPr id="24" name="Text 1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7F87"/>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17"/>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7F87"/>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A2D"/>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A9BCD0"/>
                </a:solidFill>
                <a:latin typeface="Calibri" pitchFamily="34" charset="0"/>
                <a:ea typeface="Calibri" pitchFamily="34" charset="-122"/>
                <a:cs typeface="Calibri" pitchFamily="34" charset="-120"/>
              </a:rPr>
              <a:t>AI AND PEOPLE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stays human</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A9B3BF"/>
                </a:solidFill>
                <a:latin typeface="Calibri" pitchFamily="34" charset="0"/>
                <a:ea typeface="Calibri" pitchFamily="34" charset="-122"/>
                <a:cs typeface="Calibri" pitchFamily="34" charset="-120"/>
              </a:rPr>
              <a:t>AI is not free of costs, and it is not a replacement for people.</a:t>
            </a:r>
            <a:endParaRPr lang="en-US" sz="1500" dirty="0"/>
          </a:p>
        </p:txBody>
      </p:sp>
      <p:sp>
        <p:nvSpPr>
          <p:cNvPr id="5" name="Shape 3"/>
          <p:cNvSpPr/>
          <p:nvPr/>
        </p:nvSpPr>
        <p:spPr>
          <a:xfrm>
            <a:off x="548640" y="2103120"/>
            <a:ext cx="3520440" cy="3246120"/>
          </a:xfrm>
          <a:prstGeom prst="roundRect">
            <a:avLst>
              <a:gd name="adj" fmla="val 2254"/>
            </a:avLst>
          </a:prstGeom>
          <a:solidFill>
            <a:srgbClr val="2C3E50"/>
          </a:solidFill>
          <a:ln w="12700">
            <a:solidFill>
              <a:srgbClr val="2C3E50"/>
            </a:solidFill>
            <a:prstDash val="solid"/>
          </a:ln>
        </p:spPr>
      </p:sp>
      <p:sp>
        <p:nvSpPr>
          <p:cNvPr id="6" name="Shape 4"/>
          <p:cNvSpPr/>
          <p:nvPr/>
        </p:nvSpPr>
        <p:spPr>
          <a:xfrm>
            <a:off x="868680" y="2377440"/>
            <a:ext cx="640080" cy="640080"/>
          </a:xfrm>
          <a:prstGeom prst="ellipse">
            <a:avLst/>
          </a:prstGeom>
          <a:solidFill>
            <a:srgbClr val="E0584A"/>
          </a:solidFill>
          <a:ln w="12700">
            <a:solidFill>
              <a:srgbClr val="E0584A"/>
            </a:solidFill>
            <a:prstDash val="solid"/>
          </a:ln>
        </p:spPr>
      </p:sp>
      <p:pic>
        <p:nvPicPr>
          <p:cNvPr id="7" name="Image 0" descr="preencoded.png">    </p:cNvPr>
          <p:cNvPicPr>
            <a:picLocks noChangeAspect="1"/>
          </p:cNvPicPr>
          <p:nvPr/>
        </p:nvPicPr>
        <p:blipFill>
          <a:blip r:embed="rId1"/>
          <a:stretch>
            <a:fillRect/>
          </a:stretch>
        </p:blipFill>
        <p:spPr>
          <a:xfrm>
            <a:off x="1028700" y="2537460"/>
            <a:ext cx="320040" cy="320040"/>
          </a:xfrm>
          <a:prstGeom prst="rect">
            <a:avLst/>
          </a:prstGeom>
        </p:spPr>
      </p:pic>
      <p:sp>
        <p:nvSpPr>
          <p:cNvPr id="8" name="Text 5"/>
          <p:cNvSpPr txBox="1"/>
          <p:nvPr/>
        </p:nvSpPr>
        <p:spPr>
          <a:xfrm>
            <a:off x="868680" y="3200400"/>
            <a:ext cx="2926080" cy="73152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Entry-level roles are at risk</a:t>
            </a:r>
            <a:endParaRPr lang="en-US" sz="1800" dirty="0"/>
          </a:p>
        </p:txBody>
      </p:sp>
      <p:sp>
        <p:nvSpPr>
          <p:cNvPr id="9" name="Text 6"/>
          <p:cNvSpPr txBox="1"/>
          <p:nvPr/>
        </p:nvSpPr>
        <p:spPr>
          <a:xfrm>
            <a:off x="868680" y="3931920"/>
            <a:ext cx="2926080" cy="1371600"/>
          </a:xfrm>
          <a:prstGeom prst="rect">
            <a:avLst/>
          </a:prstGeom>
          <a:noFill/>
          <a:ln/>
        </p:spPr>
        <p:txBody>
          <a:bodyPr wrap="square" lIns="0" tIns="0" rIns="0" bIns="0" rtlCol="0" anchor="t"/>
          <a:lstStyle/>
          <a:p>
            <a:pPr indent="0" marL="0">
              <a:buNone/>
            </a:pPr>
            <a:r>
              <a:rPr lang="en-US" sz="1300" dirty="0">
                <a:solidFill>
                  <a:srgbClr val="A9B3BF"/>
                </a:solidFill>
                <a:latin typeface="Calibri" pitchFamily="34" charset="0"/>
                <a:ea typeface="Calibri" pitchFamily="34" charset="-122"/>
                <a:cs typeface="Calibri" pitchFamily="34" charset="-120"/>
              </a:rPr>
              <a:t>The routine tasks that AI now absorbs are the tasks people have traditionally learned on. We need new ways to train people and bring them into the field.</a:t>
            </a:r>
            <a:endParaRPr lang="en-US" sz="1300" dirty="0"/>
          </a:p>
        </p:txBody>
      </p:sp>
      <p:sp>
        <p:nvSpPr>
          <p:cNvPr id="10" name="Shape 7"/>
          <p:cNvSpPr/>
          <p:nvPr/>
        </p:nvSpPr>
        <p:spPr>
          <a:xfrm>
            <a:off x="4297680" y="2103120"/>
            <a:ext cx="3520440" cy="3246120"/>
          </a:xfrm>
          <a:prstGeom prst="roundRect">
            <a:avLst>
              <a:gd name="adj" fmla="val 2254"/>
            </a:avLst>
          </a:prstGeom>
          <a:solidFill>
            <a:srgbClr val="2C3E50"/>
          </a:solidFill>
          <a:ln w="12700">
            <a:solidFill>
              <a:srgbClr val="2C3E50"/>
            </a:solidFill>
            <a:prstDash val="solid"/>
          </a:ln>
        </p:spPr>
      </p:sp>
      <p:sp>
        <p:nvSpPr>
          <p:cNvPr id="11" name="Shape 8"/>
          <p:cNvSpPr/>
          <p:nvPr/>
        </p:nvSpPr>
        <p:spPr>
          <a:xfrm>
            <a:off x="4617720" y="2377440"/>
            <a:ext cx="640080" cy="640080"/>
          </a:xfrm>
          <a:prstGeom prst="ellipse">
            <a:avLst/>
          </a:prstGeom>
          <a:solidFill>
            <a:srgbClr val="5B7089"/>
          </a:solidFill>
          <a:ln w="12700">
            <a:solidFill>
              <a:srgbClr val="5B7089"/>
            </a:solidFill>
            <a:prstDash val="solid"/>
          </a:ln>
        </p:spPr>
      </p:sp>
      <p:pic>
        <p:nvPicPr>
          <p:cNvPr id="12" name="Image 1" descr="preencoded.png">    </p:cNvPr>
          <p:cNvPicPr>
            <a:picLocks noChangeAspect="1"/>
          </p:cNvPicPr>
          <p:nvPr/>
        </p:nvPicPr>
        <p:blipFill>
          <a:blip r:embed="rId2"/>
          <a:stretch>
            <a:fillRect/>
          </a:stretch>
        </p:blipFill>
        <p:spPr>
          <a:xfrm>
            <a:off x="4777740" y="2537460"/>
            <a:ext cx="320040" cy="320040"/>
          </a:xfrm>
          <a:prstGeom prst="rect">
            <a:avLst/>
          </a:prstGeom>
        </p:spPr>
      </p:pic>
      <p:sp>
        <p:nvSpPr>
          <p:cNvPr id="13" name="Text 9"/>
          <p:cNvSpPr txBox="1"/>
          <p:nvPr/>
        </p:nvSpPr>
        <p:spPr>
          <a:xfrm>
            <a:off x="4617720" y="3200400"/>
            <a:ext cx="2926080" cy="73152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We are social creatures</a:t>
            </a:r>
            <a:endParaRPr lang="en-US" sz="1800" dirty="0"/>
          </a:p>
        </p:txBody>
      </p:sp>
      <p:sp>
        <p:nvSpPr>
          <p:cNvPr id="14" name="Text 10"/>
          <p:cNvSpPr txBox="1"/>
          <p:nvPr/>
        </p:nvSpPr>
        <p:spPr>
          <a:xfrm>
            <a:off x="4617720" y="3931920"/>
            <a:ext cx="2926080" cy="1371600"/>
          </a:xfrm>
          <a:prstGeom prst="rect">
            <a:avLst/>
          </a:prstGeom>
          <a:noFill/>
          <a:ln/>
        </p:spPr>
        <p:txBody>
          <a:bodyPr wrap="square" lIns="0" tIns="0" rIns="0" bIns="0" rtlCol="0" anchor="t"/>
          <a:lstStyle/>
          <a:p>
            <a:pPr indent="0" marL="0">
              <a:buNone/>
            </a:pPr>
            <a:r>
              <a:rPr lang="en-US" sz="1300" dirty="0">
                <a:solidFill>
                  <a:srgbClr val="A9B3BF"/>
                </a:solidFill>
                <a:latin typeface="Calibri" pitchFamily="34" charset="0"/>
                <a:ea typeface="Calibri" pitchFamily="34" charset="-122"/>
                <a:cs typeface="Calibri" pitchFamily="34" charset="-120"/>
              </a:rPr>
              <a:t>People will always seek contact with other people. For now, some tasks must be done by humans, above all communication between people.</a:t>
            </a:r>
            <a:endParaRPr lang="en-US" sz="1300" dirty="0"/>
          </a:p>
        </p:txBody>
      </p:sp>
      <p:sp>
        <p:nvSpPr>
          <p:cNvPr id="15" name="Shape 11"/>
          <p:cNvSpPr/>
          <p:nvPr/>
        </p:nvSpPr>
        <p:spPr>
          <a:xfrm>
            <a:off x="8046720" y="2103120"/>
            <a:ext cx="3520440" cy="3246120"/>
          </a:xfrm>
          <a:prstGeom prst="roundRect">
            <a:avLst>
              <a:gd name="adj" fmla="val 2254"/>
            </a:avLst>
          </a:prstGeom>
          <a:solidFill>
            <a:srgbClr val="2C3E50"/>
          </a:solidFill>
          <a:ln w="12700">
            <a:solidFill>
              <a:srgbClr val="2C3E50"/>
            </a:solidFill>
            <a:prstDash val="solid"/>
          </a:ln>
        </p:spPr>
      </p:sp>
      <p:sp>
        <p:nvSpPr>
          <p:cNvPr id="16" name="Shape 12"/>
          <p:cNvSpPr/>
          <p:nvPr/>
        </p:nvSpPr>
        <p:spPr>
          <a:xfrm>
            <a:off x="8366760" y="2377440"/>
            <a:ext cx="640080" cy="640080"/>
          </a:xfrm>
          <a:prstGeom prst="ellipse">
            <a:avLst/>
          </a:prstGeom>
          <a:solidFill>
            <a:srgbClr val="6E6E6E"/>
          </a:solidFill>
          <a:ln w="12700">
            <a:solidFill>
              <a:srgbClr val="6E6E6E"/>
            </a:solidFill>
            <a:prstDash val="solid"/>
          </a:ln>
        </p:spPr>
      </p:sp>
      <p:pic>
        <p:nvPicPr>
          <p:cNvPr id="17" name="Image 2" descr="preencoded.png">    </p:cNvPr>
          <p:cNvPicPr>
            <a:picLocks noChangeAspect="1"/>
          </p:cNvPicPr>
          <p:nvPr/>
        </p:nvPicPr>
        <p:blipFill>
          <a:blip r:embed="rId3"/>
          <a:stretch>
            <a:fillRect/>
          </a:stretch>
        </p:blipFill>
        <p:spPr>
          <a:xfrm>
            <a:off x="8526780" y="2537460"/>
            <a:ext cx="320040" cy="320040"/>
          </a:xfrm>
          <a:prstGeom prst="rect">
            <a:avLst/>
          </a:prstGeom>
        </p:spPr>
      </p:pic>
      <p:sp>
        <p:nvSpPr>
          <p:cNvPr id="18" name="Text 13"/>
          <p:cNvSpPr txBox="1"/>
          <p:nvPr/>
        </p:nvSpPr>
        <p:spPr>
          <a:xfrm>
            <a:off x="8366760" y="3200400"/>
            <a:ext cx="2926080" cy="73152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AI is pattern matching</a:t>
            </a:r>
            <a:endParaRPr lang="en-US" sz="1800" dirty="0"/>
          </a:p>
        </p:txBody>
      </p:sp>
      <p:sp>
        <p:nvSpPr>
          <p:cNvPr id="19" name="Text 14"/>
          <p:cNvSpPr txBox="1"/>
          <p:nvPr/>
        </p:nvSpPr>
        <p:spPr>
          <a:xfrm>
            <a:off x="8366760" y="3931920"/>
            <a:ext cx="2926080" cy="1371600"/>
          </a:xfrm>
          <a:prstGeom prst="rect">
            <a:avLst/>
          </a:prstGeom>
          <a:noFill/>
          <a:ln/>
        </p:spPr>
        <p:txBody>
          <a:bodyPr wrap="square" lIns="0" tIns="0" rIns="0" bIns="0" rtlCol="0" anchor="t"/>
          <a:lstStyle/>
          <a:p>
            <a:pPr indent="0" marL="0">
              <a:buNone/>
            </a:pPr>
            <a:r>
              <a:rPr lang="en-US" sz="1300" dirty="0">
                <a:solidFill>
                  <a:srgbClr val="A9B3BF"/>
                </a:solidFill>
                <a:latin typeface="Calibri" pitchFamily="34" charset="0"/>
                <a:ea typeface="Calibri" pitchFamily="34" charset="-122"/>
                <a:cs typeface="Calibri" pitchFamily="34" charset="-120"/>
              </a:rPr>
              <a:t>Pattern matching is at the heart of many AI models. That is why they excel at repetitive, well-defined work, and why their results must be checked.</a:t>
            </a:r>
            <a:endParaRPr lang="en-US" sz="1300" dirty="0"/>
          </a:p>
        </p:txBody>
      </p:sp>
      <p:sp>
        <p:nvSpPr>
          <p:cNvPr id="20" name="Text 15"/>
          <p:cNvSpPr txBox="1"/>
          <p:nvPr/>
        </p:nvSpPr>
        <p:spPr>
          <a:xfrm>
            <a:off x="548640" y="5623560"/>
            <a:ext cx="10972800" cy="457200"/>
          </a:xfrm>
          <a:prstGeom prst="rect">
            <a:avLst/>
          </a:prstGeom>
          <a:noFill/>
          <a:ln/>
        </p:spPr>
        <p:txBody>
          <a:bodyPr wrap="square" lIns="0" tIns="0" rIns="0" bIns="0" rtlCol="0" anchor="ctr"/>
          <a:lstStyle/>
          <a:p>
            <a:pPr indent="0" marL="0">
              <a:buNone/>
            </a:pPr>
            <a:r>
              <a:rPr lang="en-US" sz="1800" i="1" dirty="0">
                <a:solidFill>
                  <a:srgbClr val="A9BCD0"/>
                </a:solidFill>
                <a:latin typeface="Cambria" pitchFamily="34" charset="0"/>
                <a:ea typeface="Cambria" pitchFamily="34" charset="-122"/>
                <a:cs typeface="Cambria" pitchFamily="34" charset="-120"/>
              </a:rPr>
              <a:t>AI takes on the repetitive work. People stay responsible for change, communication and judgement.</a:t>
            </a:r>
            <a:endParaRPr lang="en-US" sz="1800" dirty="0"/>
          </a:p>
        </p:txBody>
      </p:sp>
      <p:sp>
        <p:nvSpPr>
          <p:cNvPr id="21" name="Text 1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A9B3BF"/>
                </a:solidFill>
                <a:latin typeface="Calibri" pitchFamily="34" charset="0"/>
                <a:ea typeface="Calibri" pitchFamily="34" charset="-122"/>
                <a:cs typeface="Calibri" pitchFamily="34" charset="-120"/>
              </a:rPr>
              <a:t>WKS10  ·  Building a Repeatable AI Pipeline</a:t>
            </a:r>
            <a:endParaRPr lang="en-US" sz="1000" dirty="0"/>
          </a:p>
        </p:txBody>
      </p:sp>
      <p:sp>
        <p:nvSpPr>
          <p:cNvPr id="22" name="Text 17"/>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A9B3B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392B"/>
                </a:solidFill>
                <a:latin typeface="Calibri" pitchFamily="34" charset="0"/>
                <a:ea typeface="Calibri" pitchFamily="34" charset="-122"/>
                <a:cs typeface="Calibri" pitchFamily="34" charset="-120"/>
              </a:rPr>
              <a:t>USING AI EFFECTIVELY</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0E1A2D"/>
                </a:solidFill>
                <a:latin typeface="Cambria" pitchFamily="34" charset="0"/>
                <a:ea typeface="Cambria" pitchFamily="34" charset="-122"/>
                <a:cs typeface="Cambria" pitchFamily="34" charset="-120"/>
              </a:rPr>
              <a:t>Most data is AI-ready with the right prompt</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4D4D4D"/>
                </a:solidFill>
                <a:latin typeface="Calibri" pitchFamily="34" charset="0"/>
                <a:ea typeface="Calibri" pitchFamily="34" charset="-122"/>
                <a:cs typeface="Calibri" pitchFamily="34" charset="-120"/>
              </a:rPr>
              <a:t>Success depends on three factors.</a:t>
            </a:r>
            <a:endParaRPr lang="en-US" sz="1500" dirty="0"/>
          </a:p>
        </p:txBody>
      </p:sp>
      <p:sp>
        <p:nvSpPr>
          <p:cNvPr id="5" name="Shape 3"/>
          <p:cNvSpPr/>
          <p:nvPr/>
        </p:nvSpPr>
        <p:spPr>
          <a:xfrm>
            <a:off x="548640" y="2194560"/>
            <a:ext cx="3520440" cy="3566160"/>
          </a:xfrm>
          <a:prstGeom prst="roundRect">
            <a:avLst>
              <a:gd name="adj" fmla="val 2078"/>
            </a:avLst>
          </a:prstGeom>
          <a:solidFill>
            <a:srgbClr val="EFE5CB"/>
          </a:solidFill>
          <a:ln w="12700">
            <a:solidFill>
              <a:srgbClr val="EFE5CB"/>
            </a:solidFill>
            <a:prstDash val="solid"/>
          </a:ln>
        </p:spPr>
      </p:sp>
      <p:sp>
        <p:nvSpPr>
          <p:cNvPr id="6" name="Text 4"/>
          <p:cNvSpPr txBox="1"/>
          <p:nvPr/>
        </p:nvSpPr>
        <p:spPr>
          <a:xfrm>
            <a:off x="868680" y="2377440"/>
            <a:ext cx="1371600" cy="1005840"/>
          </a:xfrm>
          <a:prstGeom prst="rect">
            <a:avLst/>
          </a:prstGeom>
          <a:noFill/>
          <a:ln/>
        </p:spPr>
        <p:txBody>
          <a:bodyPr wrap="square" lIns="0" tIns="0" rIns="0" bIns="0" rtlCol="0" anchor="ctr"/>
          <a:lstStyle/>
          <a:p>
            <a:pPr indent="0" marL="0">
              <a:buNone/>
            </a:pPr>
            <a:r>
              <a:rPr lang="en-US" sz="6000" b="1" dirty="0">
                <a:solidFill>
                  <a:srgbClr val="5B7089"/>
                </a:solidFill>
                <a:latin typeface="Cambria" pitchFamily="34" charset="0"/>
                <a:ea typeface="Cambria" pitchFamily="34" charset="-122"/>
                <a:cs typeface="Cambria" pitchFamily="34" charset="-120"/>
              </a:rPr>
              <a:t>1</a:t>
            </a:r>
            <a:endParaRPr lang="en-US" sz="6000" dirty="0"/>
          </a:p>
        </p:txBody>
      </p:sp>
      <p:sp>
        <p:nvSpPr>
          <p:cNvPr id="7" name="Text 5"/>
          <p:cNvSpPr txBox="1"/>
          <p:nvPr/>
        </p:nvSpPr>
        <p:spPr>
          <a:xfrm>
            <a:off x="868680" y="3474720"/>
            <a:ext cx="2926080" cy="457200"/>
          </a:xfrm>
          <a:prstGeom prst="rect">
            <a:avLst/>
          </a:prstGeom>
          <a:noFill/>
          <a:ln/>
        </p:spPr>
        <p:txBody>
          <a:bodyPr wrap="square" lIns="0" tIns="0" rIns="0" bIns="0" rtlCol="0" anchor="ctr"/>
          <a:lstStyle/>
          <a:p>
            <a:pPr indent="0" marL="0">
              <a:buNone/>
            </a:pPr>
            <a:r>
              <a:rPr lang="en-US" sz="2200" b="1" dirty="0">
                <a:solidFill>
                  <a:srgbClr val="0E1A2D"/>
                </a:solidFill>
                <a:latin typeface="Cambria" pitchFamily="34" charset="0"/>
                <a:ea typeface="Cambria" pitchFamily="34" charset="-122"/>
                <a:cs typeface="Cambria" pitchFamily="34" charset="-120"/>
              </a:rPr>
              <a:t>The prompt</a:t>
            </a:r>
            <a:endParaRPr lang="en-US" sz="2200" dirty="0"/>
          </a:p>
        </p:txBody>
      </p:sp>
      <p:sp>
        <p:nvSpPr>
          <p:cNvPr id="8" name="Text 6"/>
          <p:cNvSpPr txBox="1"/>
          <p:nvPr/>
        </p:nvSpPr>
        <p:spPr>
          <a:xfrm>
            <a:off x="868680" y="4023360"/>
            <a:ext cx="2926080" cy="1463040"/>
          </a:xfrm>
          <a:prstGeom prst="rect">
            <a:avLst/>
          </a:prstGeom>
          <a:noFill/>
          <a:ln/>
        </p:spPr>
        <p:txBody>
          <a:bodyPr wrap="square" lIns="0" tIns="0" rIns="0" bIns="0" rtlCol="0" anchor="t"/>
          <a:lstStyle/>
          <a:p>
            <a:pPr indent="0" marL="0">
              <a:lnSpc>
                <a:spcPct val="110000"/>
              </a:lnSpc>
              <a:buNone/>
            </a:pPr>
            <a:r>
              <a:rPr lang="en-US" sz="1400" dirty="0">
                <a:solidFill>
                  <a:srgbClr val="4D4D4D"/>
                </a:solidFill>
                <a:latin typeface="Calibri" pitchFamily="34" charset="0"/>
                <a:ea typeface="Calibri" pitchFamily="34" charset="-122"/>
                <a:cs typeface="Calibri" pitchFamily="34" charset="-120"/>
              </a:rPr>
              <a:t>Every task, note and guideline, stated explicitly. The wording itself matters.</a:t>
            </a:r>
            <a:endParaRPr lang="en-US" sz="1400" dirty="0"/>
          </a:p>
        </p:txBody>
      </p:sp>
      <p:sp>
        <p:nvSpPr>
          <p:cNvPr id="9" name="Shape 7"/>
          <p:cNvSpPr/>
          <p:nvPr/>
        </p:nvSpPr>
        <p:spPr>
          <a:xfrm>
            <a:off x="4297680" y="2194560"/>
            <a:ext cx="3520440" cy="3566160"/>
          </a:xfrm>
          <a:prstGeom prst="roundRect">
            <a:avLst>
              <a:gd name="adj" fmla="val 2078"/>
            </a:avLst>
          </a:prstGeom>
          <a:solidFill>
            <a:srgbClr val="EFE5CB"/>
          </a:solidFill>
          <a:ln w="12700">
            <a:solidFill>
              <a:srgbClr val="EFE5CB"/>
            </a:solidFill>
            <a:prstDash val="solid"/>
          </a:ln>
        </p:spPr>
      </p:sp>
      <p:sp>
        <p:nvSpPr>
          <p:cNvPr id="10" name="Text 8"/>
          <p:cNvSpPr txBox="1"/>
          <p:nvPr/>
        </p:nvSpPr>
        <p:spPr>
          <a:xfrm>
            <a:off x="4617720" y="2377440"/>
            <a:ext cx="1371600" cy="1005840"/>
          </a:xfrm>
          <a:prstGeom prst="rect">
            <a:avLst/>
          </a:prstGeom>
          <a:noFill/>
          <a:ln/>
        </p:spPr>
        <p:txBody>
          <a:bodyPr wrap="square" lIns="0" tIns="0" rIns="0" bIns="0" rtlCol="0" anchor="ctr"/>
          <a:lstStyle/>
          <a:p>
            <a:pPr indent="0" marL="0">
              <a:buNone/>
            </a:pPr>
            <a:r>
              <a:rPr lang="en-US" sz="6000" b="1" dirty="0">
                <a:solidFill>
                  <a:srgbClr val="C0392B"/>
                </a:solidFill>
                <a:latin typeface="Cambria" pitchFamily="34" charset="0"/>
                <a:ea typeface="Cambria" pitchFamily="34" charset="-122"/>
                <a:cs typeface="Cambria" pitchFamily="34" charset="-120"/>
              </a:rPr>
              <a:t>2</a:t>
            </a:r>
            <a:endParaRPr lang="en-US" sz="6000" dirty="0"/>
          </a:p>
        </p:txBody>
      </p:sp>
      <p:sp>
        <p:nvSpPr>
          <p:cNvPr id="11" name="Text 9"/>
          <p:cNvSpPr txBox="1"/>
          <p:nvPr/>
        </p:nvSpPr>
        <p:spPr>
          <a:xfrm>
            <a:off x="4617720" y="3474720"/>
            <a:ext cx="2926080" cy="457200"/>
          </a:xfrm>
          <a:prstGeom prst="rect">
            <a:avLst/>
          </a:prstGeom>
          <a:noFill/>
          <a:ln/>
        </p:spPr>
        <p:txBody>
          <a:bodyPr wrap="square" lIns="0" tIns="0" rIns="0" bIns="0" rtlCol="0" anchor="ctr"/>
          <a:lstStyle/>
          <a:p>
            <a:pPr indent="0" marL="0">
              <a:buNone/>
            </a:pPr>
            <a:r>
              <a:rPr lang="en-US" sz="2200" b="1" dirty="0">
                <a:solidFill>
                  <a:srgbClr val="0E1A2D"/>
                </a:solidFill>
                <a:latin typeface="Cambria" pitchFamily="34" charset="0"/>
                <a:ea typeface="Cambria" pitchFamily="34" charset="-122"/>
                <a:cs typeface="Cambria" pitchFamily="34" charset="-120"/>
              </a:rPr>
              <a:t>The context</a:t>
            </a:r>
            <a:endParaRPr lang="en-US" sz="2200" dirty="0"/>
          </a:p>
        </p:txBody>
      </p:sp>
      <p:sp>
        <p:nvSpPr>
          <p:cNvPr id="12" name="Text 10"/>
          <p:cNvSpPr txBox="1"/>
          <p:nvPr/>
        </p:nvSpPr>
        <p:spPr>
          <a:xfrm>
            <a:off x="4617720" y="4023360"/>
            <a:ext cx="2926080" cy="1463040"/>
          </a:xfrm>
          <a:prstGeom prst="rect">
            <a:avLst/>
          </a:prstGeom>
          <a:noFill/>
          <a:ln/>
        </p:spPr>
        <p:txBody>
          <a:bodyPr wrap="square" lIns="0" tIns="0" rIns="0" bIns="0" rtlCol="0" anchor="t"/>
          <a:lstStyle/>
          <a:p>
            <a:pPr indent="0" marL="0">
              <a:lnSpc>
                <a:spcPct val="110000"/>
              </a:lnSpc>
              <a:buNone/>
            </a:pPr>
            <a:r>
              <a:rPr lang="en-US" sz="1400" dirty="0">
                <a:solidFill>
                  <a:srgbClr val="4D4D4D"/>
                </a:solidFill>
                <a:latin typeface="Calibri" pitchFamily="34" charset="0"/>
                <a:ea typeface="Calibri" pitchFamily="34" charset="-122"/>
                <a:cs typeface="Calibri" pitchFamily="34" charset="-120"/>
              </a:rPr>
              <a:t>Documentation, authorities, definitions, examples: everything a new colleague would need.</a:t>
            </a:r>
            <a:endParaRPr lang="en-US" sz="1400" dirty="0"/>
          </a:p>
        </p:txBody>
      </p:sp>
      <p:sp>
        <p:nvSpPr>
          <p:cNvPr id="13" name="Shape 11"/>
          <p:cNvSpPr/>
          <p:nvPr/>
        </p:nvSpPr>
        <p:spPr>
          <a:xfrm>
            <a:off x="8046720" y="2194560"/>
            <a:ext cx="3520440" cy="3566160"/>
          </a:xfrm>
          <a:prstGeom prst="roundRect">
            <a:avLst>
              <a:gd name="adj" fmla="val 2078"/>
            </a:avLst>
          </a:prstGeom>
          <a:solidFill>
            <a:srgbClr val="EFE5CB"/>
          </a:solidFill>
          <a:ln w="12700">
            <a:solidFill>
              <a:srgbClr val="EFE5CB"/>
            </a:solidFill>
            <a:prstDash val="solid"/>
          </a:ln>
        </p:spPr>
      </p:sp>
      <p:sp>
        <p:nvSpPr>
          <p:cNvPr id="14" name="Text 12"/>
          <p:cNvSpPr txBox="1"/>
          <p:nvPr/>
        </p:nvSpPr>
        <p:spPr>
          <a:xfrm>
            <a:off x="8366760" y="2377440"/>
            <a:ext cx="1371600" cy="1005840"/>
          </a:xfrm>
          <a:prstGeom prst="rect">
            <a:avLst/>
          </a:prstGeom>
          <a:noFill/>
          <a:ln/>
        </p:spPr>
        <p:txBody>
          <a:bodyPr wrap="square" lIns="0" tIns="0" rIns="0" bIns="0" rtlCol="0" anchor="ctr"/>
          <a:lstStyle/>
          <a:p>
            <a:pPr indent="0" marL="0">
              <a:buNone/>
            </a:pPr>
            <a:r>
              <a:rPr lang="en-US" sz="6000" b="1" dirty="0">
                <a:solidFill>
                  <a:srgbClr val="6E6E6E"/>
                </a:solidFill>
                <a:latin typeface="Cambria" pitchFamily="34" charset="0"/>
                <a:ea typeface="Cambria" pitchFamily="34" charset="-122"/>
                <a:cs typeface="Cambria" pitchFamily="34" charset="-120"/>
              </a:rPr>
              <a:t>3</a:t>
            </a:r>
            <a:endParaRPr lang="en-US" sz="6000" dirty="0"/>
          </a:p>
        </p:txBody>
      </p:sp>
      <p:sp>
        <p:nvSpPr>
          <p:cNvPr id="15" name="Text 13"/>
          <p:cNvSpPr txBox="1"/>
          <p:nvPr/>
        </p:nvSpPr>
        <p:spPr>
          <a:xfrm>
            <a:off x="8366760" y="3474720"/>
            <a:ext cx="2926080" cy="457200"/>
          </a:xfrm>
          <a:prstGeom prst="rect">
            <a:avLst/>
          </a:prstGeom>
          <a:noFill/>
          <a:ln/>
        </p:spPr>
        <p:txBody>
          <a:bodyPr wrap="square" lIns="0" tIns="0" rIns="0" bIns="0" rtlCol="0" anchor="ctr"/>
          <a:lstStyle/>
          <a:p>
            <a:pPr indent="0" marL="0">
              <a:buNone/>
            </a:pPr>
            <a:r>
              <a:rPr lang="en-US" sz="2200" b="1" dirty="0">
                <a:solidFill>
                  <a:srgbClr val="0E1A2D"/>
                </a:solidFill>
                <a:latin typeface="Cambria" pitchFamily="34" charset="0"/>
                <a:ea typeface="Cambria" pitchFamily="34" charset="-122"/>
                <a:cs typeface="Cambria" pitchFamily="34" charset="-120"/>
              </a:rPr>
              <a:t>The model</a:t>
            </a:r>
            <a:endParaRPr lang="en-US" sz="2200" dirty="0"/>
          </a:p>
        </p:txBody>
      </p:sp>
      <p:sp>
        <p:nvSpPr>
          <p:cNvPr id="16" name="Text 14"/>
          <p:cNvSpPr txBox="1"/>
          <p:nvPr/>
        </p:nvSpPr>
        <p:spPr>
          <a:xfrm>
            <a:off x="8366760" y="4023360"/>
            <a:ext cx="2926080" cy="1463040"/>
          </a:xfrm>
          <a:prstGeom prst="rect">
            <a:avLst/>
          </a:prstGeom>
          <a:noFill/>
          <a:ln/>
        </p:spPr>
        <p:txBody>
          <a:bodyPr wrap="square" lIns="0" tIns="0" rIns="0" bIns="0" rtlCol="0" anchor="t"/>
          <a:lstStyle/>
          <a:p>
            <a:pPr indent="0" marL="0">
              <a:lnSpc>
                <a:spcPct val="110000"/>
              </a:lnSpc>
              <a:buNone/>
            </a:pPr>
            <a:r>
              <a:rPr lang="en-US" sz="1400" dirty="0">
                <a:solidFill>
                  <a:srgbClr val="4D4D4D"/>
                </a:solidFill>
                <a:latin typeface="Calibri" pitchFamily="34" charset="0"/>
                <a:ea typeface="Calibri" pitchFamily="34" charset="-122"/>
                <a:cs typeface="Calibri" pitchFamily="34" charset="-120"/>
              </a:rPr>
              <a:t>Chosen for the task, and retested as models change.</a:t>
            </a:r>
            <a:endParaRPr lang="en-US" sz="1400" dirty="0"/>
          </a:p>
        </p:txBody>
      </p:sp>
      <p:sp>
        <p:nvSpPr>
          <p:cNvPr id="17" name="Text 1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7F87"/>
                </a:solidFill>
                <a:latin typeface="Calibri" pitchFamily="34" charset="0"/>
                <a:ea typeface="Calibri" pitchFamily="34" charset="-122"/>
                <a:cs typeface="Calibri" pitchFamily="34" charset="-120"/>
              </a:rPr>
              <a:t>WKS10  ·  Building a Repeatable AI Pipeline</a:t>
            </a:r>
            <a:endParaRPr lang="en-US" sz="1000" dirty="0"/>
          </a:p>
        </p:txBody>
      </p:sp>
      <p:sp>
        <p:nvSpPr>
          <p:cNvPr id="18" name="Text 1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7F87"/>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392B"/>
                </a:solidFill>
                <a:latin typeface="Calibri" pitchFamily="34" charset="0"/>
                <a:ea typeface="Calibri" pitchFamily="34" charset="-122"/>
                <a:cs typeface="Calibri" pitchFamily="34" charset="-120"/>
              </a:rPr>
              <a:t>USING AI EFFECTIVELY</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0E1A2D"/>
                </a:solidFill>
                <a:latin typeface="Cambria" pitchFamily="34" charset="0"/>
                <a:ea typeface="Cambria" pitchFamily="34" charset="-122"/>
                <a:cs typeface="Cambria" pitchFamily="34" charset="-120"/>
              </a:rPr>
              <a:t>Rules of thumb</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4D4D4D"/>
                </a:solidFill>
                <a:latin typeface="Calibri" pitchFamily="34" charset="0"/>
                <a:ea typeface="Calibri" pitchFamily="34" charset="-122"/>
                <a:cs typeface="Calibri" pitchFamily="34" charset="-120"/>
              </a:rPr>
              <a:t>What six months of daily use has taught me.</a:t>
            </a:r>
            <a:endParaRPr lang="en-US" sz="1500" dirty="0"/>
          </a:p>
        </p:txBody>
      </p:sp>
      <p:sp>
        <p:nvSpPr>
          <p:cNvPr id="5" name="Shape 3"/>
          <p:cNvSpPr/>
          <p:nvPr/>
        </p:nvSpPr>
        <p:spPr>
          <a:xfrm>
            <a:off x="548640" y="2103120"/>
            <a:ext cx="3520440" cy="1828800"/>
          </a:xfrm>
          <a:prstGeom prst="roundRect">
            <a:avLst>
              <a:gd name="adj" fmla="val 4000"/>
            </a:avLst>
          </a:prstGeom>
          <a:solidFill>
            <a:srgbClr val="EFE5CB"/>
          </a:solidFill>
          <a:ln w="12700">
            <a:solidFill>
              <a:srgbClr val="EFE5CB"/>
            </a:solidFill>
            <a:prstDash val="solid"/>
          </a:ln>
        </p:spPr>
      </p:sp>
      <p:sp>
        <p:nvSpPr>
          <p:cNvPr id="6" name="Shape 4"/>
          <p:cNvSpPr/>
          <p:nvPr/>
        </p:nvSpPr>
        <p:spPr>
          <a:xfrm>
            <a:off x="822960" y="2377440"/>
            <a:ext cx="502920" cy="502920"/>
          </a:xfrm>
          <a:prstGeom prst="ellipse">
            <a:avLst/>
          </a:prstGeom>
          <a:solidFill>
            <a:srgbClr val="5B7089"/>
          </a:solidFill>
          <a:ln w="12700">
            <a:solidFill>
              <a:srgbClr val="5B7089"/>
            </a:solidFill>
            <a:prstDash val="solid"/>
          </a:ln>
        </p:spPr>
      </p:sp>
      <p:pic>
        <p:nvPicPr>
          <p:cNvPr id="7" name="Image 0" descr="preencoded.png">    </p:cNvPr>
          <p:cNvPicPr>
            <a:picLocks noChangeAspect="1"/>
          </p:cNvPicPr>
          <p:nvPr/>
        </p:nvPicPr>
        <p:blipFill>
          <a:blip r:embed="rId1"/>
          <a:stretch>
            <a:fillRect/>
          </a:stretch>
        </p:blipFill>
        <p:spPr>
          <a:xfrm>
            <a:off x="948690" y="2503170"/>
            <a:ext cx="251460" cy="251460"/>
          </a:xfrm>
          <a:prstGeom prst="rect">
            <a:avLst/>
          </a:prstGeom>
        </p:spPr>
      </p:pic>
      <p:sp>
        <p:nvSpPr>
          <p:cNvPr id="8" name="Text 5"/>
          <p:cNvSpPr txBox="1"/>
          <p:nvPr/>
        </p:nvSpPr>
        <p:spPr>
          <a:xfrm>
            <a:off x="1508760" y="2404872"/>
            <a:ext cx="2423160" cy="457200"/>
          </a:xfrm>
          <a:prstGeom prst="rect">
            <a:avLst/>
          </a:prstGeom>
          <a:noFill/>
          <a:ln/>
        </p:spPr>
        <p:txBody>
          <a:bodyPr wrap="square" lIns="0" tIns="0" rIns="0" bIns="0" rtlCol="0" anchor="ctr"/>
          <a:lstStyle/>
          <a:p>
            <a:pPr indent="0" marL="0">
              <a:buNone/>
            </a:pPr>
            <a:r>
              <a:rPr lang="en-US" sz="1550" b="1" dirty="0">
                <a:solidFill>
                  <a:srgbClr val="0E1A2D"/>
                </a:solidFill>
                <a:latin typeface="Calibri" pitchFamily="34" charset="0"/>
                <a:ea typeface="Calibri" pitchFamily="34" charset="-122"/>
                <a:cs typeface="Calibri" pitchFamily="34" charset="-120"/>
              </a:rPr>
              <a:t>Hold their hand</a:t>
            </a:r>
            <a:endParaRPr lang="en-US" sz="1550" dirty="0"/>
          </a:p>
        </p:txBody>
      </p:sp>
      <p:sp>
        <p:nvSpPr>
          <p:cNvPr id="9" name="Text 6"/>
          <p:cNvSpPr txBox="1"/>
          <p:nvPr/>
        </p:nvSpPr>
        <p:spPr>
          <a:xfrm>
            <a:off x="822960" y="3017520"/>
            <a:ext cx="3017520" cy="86868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AI models are dumb and computers are dumb. Give the model every task, note and guideline.</a:t>
            </a:r>
            <a:endParaRPr lang="en-US" sz="1250" dirty="0"/>
          </a:p>
        </p:txBody>
      </p:sp>
      <p:sp>
        <p:nvSpPr>
          <p:cNvPr id="10" name="Shape 7"/>
          <p:cNvSpPr/>
          <p:nvPr/>
        </p:nvSpPr>
        <p:spPr>
          <a:xfrm>
            <a:off x="4297680" y="2103120"/>
            <a:ext cx="3520440" cy="1828800"/>
          </a:xfrm>
          <a:prstGeom prst="roundRect">
            <a:avLst>
              <a:gd name="adj" fmla="val 4000"/>
            </a:avLst>
          </a:prstGeom>
          <a:solidFill>
            <a:srgbClr val="EFE5CB"/>
          </a:solidFill>
          <a:ln w="12700">
            <a:solidFill>
              <a:srgbClr val="EFE5CB"/>
            </a:solidFill>
            <a:prstDash val="solid"/>
          </a:ln>
        </p:spPr>
      </p:sp>
      <p:sp>
        <p:nvSpPr>
          <p:cNvPr id="11" name="Shape 8"/>
          <p:cNvSpPr/>
          <p:nvPr/>
        </p:nvSpPr>
        <p:spPr>
          <a:xfrm>
            <a:off x="4572000" y="2377440"/>
            <a:ext cx="502920" cy="502920"/>
          </a:xfrm>
          <a:prstGeom prst="ellipse">
            <a:avLst/>
          </a:prstGeom>
          <a:solidFill>
            <a:srgbClr val="C0392B"/>
          </a:solidFill>
          <a:ln w="12700">
            <a:solidFill>
              <a:srgbClr val="C0392B"/>
            </a:solidFill>
            <a:prstDash val="solid"/>
          </a:ln>
        </p:spPr>
      </p:sp>
      <p:pic>
        <p:nvPicPr>
          <p:cNvPr id="12" name="Image 1" descr="preencoded.png">    </p:cNvPr>
          <p:cNvPicPr>
            <a:picLocks noChangeAspect="1"/>
          </p:cNvPicPr>
          <p:nvPr/>
        </p:nvPicPr>
        <p:blipFill>
          <a:blip r:embed="rId2"/>
          <a:stretch>
            <a:fillRect/>
          </a:stretch>
        </p:blipFill>
        <p:spPr>
          <a:xfrm>
            <a:off x="4697730" y="2503170"/>
            <a:ext cx="251460" cy="251460"/>
          </a:xfrm>
          <a:prstGeom prst="rect">
            <a:avLst/>
          </a:prstGeom>
        </p:spPr>
      </p:pic>
      <p:sp>
        <p:nvSpPr>
          <p:cNvPr id="13" name="Text 9"/>
          <p:cNvSpPr txBox="1"/>
          <p:nvPr/>
        </p:nvSpPr>
        <p:spPr>
          <a:xfrm>
            <a:off x="5257800" y="2404872"/>
            <a:ext cx="2423160" cy="457200"/>
          </a:xfrm>
          <a:prstGeom prst="rect">
            <a:avLst/>
          </a:prstGeom>
          <a:noFill/>
          <a:ln/>
        </p:spPr>
        <p:txBody>
          <a:bodyPr wrap="square" lIns="0" tIns="0" rIns="0" bIns="0" rtlCol="0" anchor="ctr"/>
          <a:lstStyle/>
          <a:p>
            <a:pPr indent="0" marL="0">
              <a:buNone/>
            </a:pPr>
            <a:r>
              <a:rPr lang="en-US" sz="1550" b="1" dirty="0">
                <a:solidFill>
                  <a:srgbClr val="0E1A2D"/>
                </a:solidFill>
                <a:latin typeface="Calibri" pitchFamily="34" charset="0"/>
                <a:ea typeface="Calibri" pitchFamily="34" charset="-122"/>
                <a:cs typeface="Calibri" pitchFamily="34" charset="-120"/>
              </a:rPr>
              <a:t>Have the model review the plan</a:t>
            </a:r>
            <a:endParaRPr lang="en-US" sz="1550" dirty="0"/>
          </a:p>
        </p:txBody>
      </p:sp>
      <p:sp>
        <p:nvSpPr>
          <p:cNvPr id="14" name="Text 10"/>
          <p:cNvSpPr txBox="1"/>
          <p:nvPr/>
        </p:nvSpPr>
        <p:spPr>
          <a:xfrm>
            <a:off x="4572000" y="3017520"/>
            <a:ext cx="3017520" cy="86868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Models are good at finding gaps and ambiguity in instructions before anything runs.</a:t>
            </a:r>
            <a:endParaRPr lang="en-US" sz="1250" dirty="0"/>
          </a:p>
        </p:txBody>
      </p:sp>
      <p:sp>
        <p:nvSpPr>
          <p:cNvPr id="15" name="Shape 11"/>
          <p:cNvSpPr/>
          <p:nvPr/>
        </p:nvSpPr>
        <p:spPr>
          <a:xfrm>
            <a:off x="8046720" y="2103120"/>
            <a:ext cx="3520440" cy="1828800"/>
          </a:xfrm>
          <a:prstGeom prst="roundRect">
            <a:avLst>
              <a:gd name="adj" fmla="val 4000"/>
            </a:avLst>
          </a:prstGeom>
          <a:solidFill>
            <a:srgbClr val="EFE5CB"/>
          </a:solidFill>
          <a:ln w="12700">
            <a:solidFill>
              <a:srgbClr val="EFE5CB"/>
            </a:solidFill>
            <a:prstDash val="solid"/>
          </a:ln>
        </p:spPr>
      </p:sp>
      <p:sp>
        <p:nvSpPr>
          <p:cNvPr id="16" name="Shape 12"/>
          <p:cNvSpPr/>
          <p:nvPr/>
        </p:nvSpPr>
        <p:spPr>
          <a:xfrm>
            <a:off x="8321040" y="2377440"/>
            <a:ext cx="502920" cy="502920"/>
          </a:xfrm>
          <a:prstGeom prst="ellipse">
            <a:avLst/>
          </a:prstGeom>
          <a:solidFill>
            <a:srgbClr val="5B7089"/>
          </a:solidFill>
          <a:ln w="12700">
            <a:solidFill>
              <a:srgbClr val="5B7089"/>
            </a:solidFill>
            <a:prstDash val="solid"/>
          </a:ln>
        </p:spPr>
      </p:sp>
      <p:pic>
        <p:nvPicPr>
          <p:cNvPr id="17" name="Image 2" descr="preencoded.png">    </p:cNvPr>
          <p:cNvPicPr>
            <a:picLocks noChangeAspect="1"/>
          </p:cNvPicPr>
          <p:nvPr/>
        </p:nvPicPr>
        <p:blipFill>
          <a:blip r:embed="rId3"/>
          <a:stretch>
            <a:fillRect/>
          </a:stretch>
        </p:blipFill>
        <p:spPr>
          <a:xfrm>
            <a:off x="8446770" y="2503170"/>
            <a:ext cx="251460" cy="251460"/>
          </a:xfrm>
          <a:prstGeom prst="rect">
            <a:avLst/>
          </a:prstGeom>
        </p:spPr>
      </p:pic>
      <p:sp>
        <p:nvSpPr>
          <p:cNvPr id="18" name="Text 13"/>
          <p:cNvSpPr txBox="1"/>
          <p:nvPr/>
        </p:nvSpPr>
        <p:spPr>
          <a:xfrm>
            <a:off x="9006840" y="2404872"/>
            <a:ext cx="2423160" cy="457200"/>
          </a:xfrm>
          <a:prstGeom prst="rect">
            <a:avLst/>
          </a:prstGeom>
          <a:noFill/>
          <a:ln/>
        </p:spPr>
        <p:txBody>
          <a:bodyPr wrap="square" lIns="0" tIns="0" rIns="0" bIns="0" rtlCol="0" anchor="ctr"/>
          <a:lstStyle/>
          <a:p>
            <a:pPr indent="0" marL="0">
              <a:buNone/>
            </a:pPr>
            <a:r>
              <a:rPr lang="en-US" sz="1550" b="1" dirty="0">
                <a:solidFill>
                  <a:srgbClr val="0E1A2D"/>
                </a:solidFill>
                <a:latin typeface="Calibri" pitchFamily="34" charset="0"/>
                <a:ea typeface="Calibri" pitchFamily="34" charset="-122"/>
                <a:cs typeface="Calibri" pitchFamily="34" charset="-120"/>
              </a:rPr>
              <a:t>Wording matters</a:t>
            </a:r>
            <a:endParaRPr lang="en-US" sz="1550" dirty="0"/>
          </a:p>
        </p:txBody>
      </p:sp>
      <p:sp>
        <p:nvSpPr>
          <p:cNvPr id="19" name="Text 14"/>
          <p:cNvSpPr txBox="1"/>
          <p:nvPr/>
        </p:nvSpPr>
        <p:spPr>
          <a:xfrm>
            <a:off x="8321040" y="3017520"/>
            <a:ext cx="3017520" cy="86868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I have had mediocre results become good ones when someone else phrased the same instructions differently.</a:t>
            </a:r>
            <a:endParaRPr lang="en-US" sz="1250" dirty="0"/>
          </a:p>
        </p:txBody>
      </p:sp>
      <p:sp>
        <p:nvSpPr>
          <p:cNvPr id="20" name="Shape 15"/>
          <p:cNvSpPr/>
          <p:nvPr/>
        </p:nvSpPr>
        <p:spPr>
          <a:xfrm>
            <a:off x="548640" y="4114800"/>
            <a:ext cx="3520440" cy="1828800"/>
          </a:xfrm>
          <a:prstGeom prst="roundRect">
            <a:avLst>
              <a:gd name="adj" fmla="val 4000"/>
            </a:avLst>
          </a:prstGeom>
          <a:solidFill>
            <a:srgbClr val="EFE5CB"/>
          </a:solidFill>
          <a:ln w="12700">
            <a:solidFill>
              <a:srgbClr val="EFE5CB"/>
            </a:solidFill>
            <a:prstDash val="solid"/>
          </a:ln>
        </p:spPr>
      </p:sp>
      <p:sp>
        <p:nvSpPr>
          <p:cNvPr id="21" name="Shape 16"/>
          <p:cNvSpPr/>
          <p:nvPr/>
        </p:nvSpPr>
        <p:spPr>
          <a:xfrm>
            <a:off x="822960" y="4389120"/>
            <a:ext cx="502920" cy="502920"/>
          </a:xfrm>
          <a:prstGeom prst="ellipse">
            <a:avLst/>
          </a:prstGeom>
          <a:solidFill>
            <a:srgbClr val="C0392B"/>
          </a:solidFill>
          <a:ln w="12700">
            <a:solidFill>
              <a:srgbClr val="C0392B"/>
            </a:solidFill>
            <a:prstDash val="solid"/>
          </a:ln>
        </p:spPr>
      </p:sp>
      <p:pic>
        <p:nvPicPr>
          <p:cNvPr id="22" name="Image 3" descr="preencoded.png">    </p:cNvPr>
          <p:cNvPicPr>
            <a:picLocks noChangeAspect="1"/>
          </p:cNvPicPr>
          <p:nvPr/>
        </p:nvPicPr>
        <p:blipFill>
          <a:blip r:embed="rId4"/>
          <a:stretch>
            <a:fillRect/>
          </a:stretch>
        </p:blipFill>
        <p:spPr>
          <a:xfrm>
            <a:off x="948690" y="4514850"/>
            <a:ext cx="251460" cy="251460"/>
          </a:xfrm>
          <a:prstGeom prst="rect">
            <a:avLst/>
          </a:prstGeom>
        </p:spPr>
      </p:pic>
      <p:sp>
        <p:nvSpPr>
          <p:cNvPr id="23" name="Text 17"/>
          <p:cNvSpPr txBox="1"/>
          <p:nvPr/>
        </p:nvSpPr>
        <p:spPr>
          <a:xfrm>
            <a:off x="1508760" y="4416552"/>
            <a:ext cx="2423160" cy="457200"/>
          </a:xfrm>
          <a:prstGeom prst="rect">
            <a:avLst/>
          </a:prstGeom>
          <a:noFill/>
          <a:ln/>
        </p:spPr>
        <p:txBody>
          <a:bodyPr wrap="square" lIns="0" tIns="0" rIns="0" bIns="0" rtlCol="0" anchor="ctr"/>
          <a:lstStyle/>
          <a:p>
            <a:pPr indent="0" marL="0">
              <a:buNone/>
            </a:pPr>
            <a:r>
              <a:rPr lang="en-US" sz="1550" b="1" dirty="0">
                <a:solidFill>
                  <a:srgbClr val="0E1A2D"/>
                </a:solidFill>
                <a:latin typeface="Calibri" pitchFamily="34" charset="0"/>
                <a:ea typeface="Calibri" pitchFamily="34" charset="-122"/>
                <a:cs typeface="Calibri" pitchFamily="34" charset="-120"/>
              </a:rPr>
              <a:t>Process the data ahead of time</a:t>
            </a:r>
            <a:endParaRPr lang="en-US" sz="1550" dirty="0"/>
          </a:p>
        </p:txBody>
      </p:sp>
      <p:sp>
        <p:nvSpPr>
          <p:cNvPr id="24" name="Text 18"/>
          <p:cNvSpPr txBox="1"/>
          <p:nvPr/>
        </p:nvSpPr>
        <p:spPr>
          <a:xfrm>
            <a:off x="822960" y="5029200"/>
            <a:ext cx="3017520" cy="86868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Profile and clean the data before asking for transformations.</a:t>
            </a:r>
            <a:endParaRPr lang="en-US" sz="1250" dirty="0"/>
          </a:p>
        </p:txBody>
      </p:sp>
      <p:sp>
        <p:nvSpPr>
          <p:cNvPr id="25" name="Shape 19"/>
          <p:cNvSpPr/>
          <p:nvPr/>
        </p:nvSpPr>
        <p:spPr>
          <a:xfrm>
            <a:off x="4297680" y="4114800"/>
            <a:ext cx="3520440" cy="1828800"/>
          </a:xfrm>
          <a:prstGeom prst="roundRect">
            <a:avLst>
              <a:gd name="adj" fmla="val 4000"/>
            </a:avLst>
          </a:prstGeom>
          <a:solidFill>
            <a:srgbClr val="EFE5CB"/>
          </a:solidFill>
          <a:ln w="12700">
            <a:solidFill>
              <a:srgbClr val="EFE5CB"/>
            </a:solidFill>
            <a:prstDash val="solid"/>
          </a:ln>
        </p:spPr>
      </p:sp>
      <p:sp>
        <p:nvSpPr>
          <p:cNvPr id="26" name="Shape 20"/>
          <p:cNvSpPr/>
          <p:nvPr/>
        </p:nvSpPr>
        <p:spPr>
          <a:xfrm>
            <a:off x="4572000" y="4389120"/>
            <a:ext cx="502920" cy="502920"/>
          </a:xfrm>
          <a:prstGeom prst="ellipse">
            <a:avLst/>
          </a:prstGeom>
          <a:solidFill>
            <a:srgbClr val="5B7089"/>
          </a:solidFill>
          <a:ln w="12700">
            <a:solidFill>
              <a:srgbClr val="5B7089"/>
            </a:solidFill>
            <a:prstDash val="solid"/>
          </a:ln>
        </p:spPr>
      </p:sp>
      <p:pic>
        <p:nvPicPr>
          <p:cNvPr id="27" name="Image 4" descr="preencoded.png">    </p:cNvPr>
          <p:cNvPicPr>
            <a:picLocks noChangeAspect="1"/>
          </p:cNvPicPr>
          <p:nvPr/>
        </p:nvPicPr>
        <p:blipFill>
          <a:blip r:embed="rId5"/>
          <a:stretch>
            <a:fillRect/>
          </a:stretch>
        </p:blipFill>
        <p:spPr>
          <a:xfrm>
            <a:off x="4697730" y="4514850"/>
            <a:ext cx="251460" cy="251460"/>
          </a:xfrm>
          <a:prstGeom prst="rect">
            <a:avLst/>
          </a:prstGeom>
        </p:spPr>
      </p:pic>
      <p:sp>
        <p:nvSpPr>
          <p:cNvPr id="28" name="Text 21"/>
          <p:cNvSpPr txBox="1"/>
          <p:nvPr/>
        </p:nvSpPr>
        <p:spPr>
          <a:xfrm>
            <a:off x="5257800" y="4416552"/>
            <a:ext cx="2423160" cy="457200"/>
          </a:xfrm>
          <a:prstGeom prst="rect">
            <a:avLst/>
          </a:prstGeom>
          <a:noFill/>
          <a:ln/>
        </p:spPr>
        <p:txBody>
          <a:bodyPr wrap="square" lIns="0" tIns="0" rIns="0" bIns="0" rtlCol="0" anchor="ctr"/>
          <a:lstStyle/>
          <a:p>
            <a:pPr indent="0" marL="0">
              <a:buNone/>
            </a:pPr>
            <a:r>
              <a:rPr lang="en-US" sz="1550" b="1" dirty="0">
                <a:solidFill>
                  <a:srgbClr val="0E1A2D"/>
                </a:solidFill>
                <a:latin typeface="Calibri" pitchFamily="34" charset="0"/>
                <a:ea typeface="Calibri" pitchFamily="34" charset="-122"/>
                <a:cs typeface="Calibri" pitchFamily="34" charset="-120"/>
              </a:rPr>
              <a:t>Compare levels of context</a:t>
            </a:r>
            <a:endParaRPr lang="en-US" sz="1550" dirty="0"/>
          </a:p>
        </p:txBody>
      </p:sp>
      <p:sp>
        <p:nvSpPr>
          <p:cNvPr id="29" name="Text 22"/>
          <p:cNvSpPr txBox="1"/>
          <p:nvPr/>
        </p:nvSpPr>
        <p:spPr>
          <a:xfrm>
            <a:off x="4572000" y="5029200"/>
            <a:ext cx="3017520" cy="86868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Ask: “What if you didn’t provide all the context?” Then test it.</a:t>
            </a:r>
            <a:endParaRPr lang="en-US" sz="1250" dirty="0"/>
          </a:p>
        </p:txBody>
      </p:sp>
      <p:sp>
        <p:nvSpPr>
          <p:cNvPr id="30" name="Shape 23"/>
          <p:cNvSpPr/>
          <p:nvPr/>
        </p:nvSpPr>
        <p:spPr>
          <a:xfrm>
            <a:off x="8046720" y="4114800"/>
            <a:ext cx="3520440" cy="1828800"/>
          </a:xfrm>
          <a:prstGeom prst="roundRect">
            <a:avLst>
              <a:gd name="adj" fmla="val 4000"/>
            </a:avLst>
          </a:prstGeom>
          <a:solidFill>
            <a:srgbClr val="EFE5CB"/>
          </a:solidFill>
          <a:ln w="12700">
            <a:solidFill>
              <a:srgbClr val="EFE5CB"/>
            </a:solidFill>
            <a:prstDash val="solid"/>
          </a:ln>
        </p:spPr>
      </p:sp>
      <p:sp>
        <p:nvSpPr>
          <p:cNvPr id="31" name="Shape 24"/>
          <p:cNvSpPr/>
          <p:nvPr/>
        </p:nvSpPr>
        <p:spPr>
          <a:xfrm>
            <a:off x="8321040" y="4389120"/>
            <a:ext cx="502920" cy="502920"/>
          </a:xfrm>
          <a:prstGeom prst="ellipse">
            <a:avLst/>
          </a:prstGeom>
          <a:solidFill>
            <a:srgbClr val="C0392B"/>
          </a:solidFill>
          <a:ln w="12700">
            <a:solidFill>
              <a:srgbClr val="C0392B"/>
            </a:solidFill>
            <a:prstDash val="solid"/>
          </a:ln>
        </p:spPr>
      </p:sp>
      <p:pic>
        <p:nvPicPr>
          <p:cNvPr id="32" name="Image 5" descr="preencoded.png">    </p:cNvPr>
          <p:cNvPicPr>
            <a:picLocks noChangeAspect="1"/>
          </p:cNvPicPr>
          <p:nvPr/>
        </p:nvPicPr>
        <p:blipFill>
          <a:blip r:embed="rId6"/>
          <a:stretch>
            <a:fillRect/>
          </a:stretch>
        </p:blipFill>
        <p:spPr>
          <a:xfrm>
            <a:off x="8446770" y="4514850"/>
            <a:ext cx="251460" cy="251460"/>
          </a:xfrm>
          <a:prstGeom prst="rect">
            <a:avLst/>
          </a:prstGeom>
        </p:spPr>
      </p:pic>
      <p:sp>
        <p:nvSpPr>
          <p:cNvPr id="33" name="Text 25"/>
          <p:cNvSpPr txBox="1"/>
          <p:nvPr/>
        </p:nvSpPr>
        <p:spPr>
          <a:xfrm>
            <a:off x="9006840" y="4416552"/>
            <a:ext cx="2423160" cy="457200"/>
          </a:xfrm>
          <a:prstGeom prst="rect">
            <a:avLst/>
          </a:prstGeom>
          <a:noFill/>
          <a:ln/>
        </p:spPr>
        <p:txBody>
          <a:bodyPr wrap="square" lIns="0" tIns="0" rIns="0" bIns="0" rtlCol="0" anchor="ctr"/>
          <a:lstStyle/>
          <a:p>
            <a:pPr indent="0" marL="0">
              <a:buNone/>
            </a:pPr>
            <a:r>
              <a:rPr lang="en-US" sz="1550" b="1" dirty="0">
                <a:solidFill>
                  <a:srgbClr val="0E1A2D"/>
                </a:solidFill>
                <a:latin typeface="Calibri" pitchFamily="34" charset="0"/>
                <a:ea typeface="Calibri" pitchFamily="34" charset="-122"/>
                <a:cs typeface="Calibri" pitchFamily="34" charset="-120"/>
              </a:rPr>
              <a:t>Provide examples</a:t>
            </a:r>
            <a:endParaRPr lang="en-US" sz="1550" dirty="0"/>
          </a:p>
        </p:txBody>
      </p:sp>
      <p:sp>
        <p:nvSpPr>
          <p:cNvPr id="34" name="Text 26"/>
          <p:cNvSpPr txBox="1"/>
          <p:nvPr/>
        </p:nvSpPr>
        <p:spPr>
          <a:xfrm>
            <a:off x="8321040" y="5029200"/>
            <a:ext cx="3017520" cy="86868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A worked example says more than a paragraph of rules.</a:t>
            </a:r>
            <a:endParaRPr lang="en-US" sz="1250" dirty="0"/>
          </a:p>
        </p:txBody>
      </p:sp>
      <p:sp>
        <p:nvSpPr>
          <p:cNvPr id="35" name="Text 2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7F87"/>
                </a:solidFill>
                <a:latin typeface="Calibri" pitchFamily="34" charset="0"/>
                <a:ea typeface="Calibri" pitchFamily="34" charset="-122"/>
                <a:cs typeface="Calibri" pitchFamily="34" charset="-120"/>
              </a:rPr>
              <a:t>WKS10  ·  Building a Repeatable AI Pipeline</a:t>
            </a:r>
            <a:endParaRPr lang="en-US" sz="1000" dirty="0"/>
          </a:p>
        </p:txBody>
      </p:sp>
      <p:sp>
        <p:nvSpPr>
          <p:cNvPr id="36" name="Text 28"/>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7F87"/>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392B"/>
                </a:solidFill>
                <a:latin typeface="Calibri" pitchFamily="34" charset="0"/>
                <a:ea typeface="Calibri" pitchFamily="34" charset="-122"/>
                <a:cs typeface="Calibri" pitchFamily="34" charset="-120"/>
              </a:rPr>
              <a:t>FUNDAMENTALS</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0E1A2D"/>
                </a:solidFill>
                <a:latin typeface="Cambria" pitchFamily="34" charset="0"/>
                <a:ea typeface="Cambria" pitchFamily="34" charset="-122"/>
                <a:cs typeface="Cambria" pitchFamily="34" charset="-120"/>
              </a:rPr>
              <a:t>Pipelines and ETL</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4D4D4D"/>
                </a:solidFill>
                <a:latin typeface="Calibri" pitchFamily="34" charset="0"/>
                <a:ea typeface="Calibri" pitchFamily="34" charset="-122"/>
                <a:cs typeface="Calibri" pitchFamily="34" charset="-120"/>
              </a:rPr>
              <a:t>A pipeline is a sequence of small, defined steps from a source to a target.</a:t>
            </a:r>
            <a:endParaRPr lang="en-US" sz="1500" dirty="0"/>
          </a:p>
        </p:txBody>
      </p:sp>
      <p:sp>
        <p:nvSpPr>
          <p:cNvPr id="5" name="Shape 3"/>
          <p:cNvSpPr/>
          <p:nvPr/>
        </p:nvSpPr>
        <p:spPr>
          <a:xfrm>
            <a:off x="548640" y="2148840"/>
            <a:ext cx="3291840" cy="2286000"/>
          </a:xfrm>
          <a:prstGeom prst="roundRect">
            <a:avLst>
              <a:gd name="adj" fmla="val 3200"/>
            </a:avLst>
          </a:prstGeom>
          <a:solidFill>
            <a:srgbClr val="EFE5CB"/>
          </a:solidFill>
          <a:ln w="12700">
            <a:solidFill>
              <a:srgbClr val="EFE5CB"/>
            </a:solidFill>
            <a:prstDash val="solid"/>
          </a:ln>
        </p:spPr>
      </p:sp>
      <p:sp>
        <p:nvSpPr>
          <p:cNvPr id="6" name="Shape 4"/>
          <p:cNvSpPr/>
          <p:nvPr/>
        </p:nvSpPr>
        <p:spPr>
          <a:xfrm>
            <a:off x="822960" y="2377440"/>
            <a:ext cx="594360" cy="594360"/>
          </a:xfrm>
          <a:prstGeom prst="ellipse">
            <a:avLst/>
          </a:prstGeom>
          <a:solidFill>
            <a:srgbClr val="6E6E6E"/>
          </a:solidFill>
          <a:ln w="12700">
            <a:solidFill>
              <a:srgbClr val="6E6E6E"/>
            </a:solidFill>
            <a:prstDash val="solid"/>
          </a:ln>
        </p:spPr>
      </p:sp>
      <p:pic>
        <p:nvPicPr>
          <p:cNvPr id="7" name="Image 0" descr="preencoded.png">    </p:cNvPr>
          <p:cNvPicPr>
            <a:picLocks noChangeAspect="1"/>
          </p:cNvPicPr>
          <p:nvPr/>
        </p:nvPicPr>
        <p:blipFill>
          <a:blip r:embed="rId1"/>
          <a:stretch>
            <a:fillRect/>
          </a:stretch>
        </p:blipFill>
        <p:spPr>
          <a:xfrm>
            <a:off x="971550" y="2526030"/>
            <a:ext cx="297180" cy="297180"/>
          </a:xfrm>
          <a:prstGeom prst="rect">
            <a:avLst/>
          </a:prstGeom>
        </p:spPr>
      </p:pic>
      <p:sp>
        <p:nvSpPr>
          <p:cNvPr id="8" name="Text 5"/>
          <p:cNvSpPr txBox="1"/>
          <p:nvPr/>
        </p:nvSpPr>
        <p:spPr>
          <a:xfrm>
            <a:off x="1600200" y="2377440"/>
            <a:ext cx="2103120" cy="594360"/>
          </a:xfrm>
          <a:prstGeom prst="rect">
            <a:avLst/>
          </a:prstGeom>
          <a:noFill/>
          <a:ln/>
        </p:spPr>
        <p:txBody>
          <a:bodyPr wrap="square" lIns="0" tIns="0" rIns="0" bIns="0" rtlCol="0" anchor="ctr"/>
          <a:lstStyle/>
          <a:p>
            <a:pPr indent="0" marL="0">
              <a:buNone/>
            </a:pPr>
            <a:r>
              <a:rPr lang="en-US" sz="2200" b="1" dirty="0">
                <a:solidFill>
                  <a:srgbClr val="0E1A2D"/>
                </a:solidFill>
                <a:latin typeface="Cambria" pitchFamily="34" charset="0"/>
                <a:ea typeface="Cambria" pitchFamily="34" charset="-122"/>
                <a:cs typeface="Cambria" pitchFamily="34" charset="-120"/>
              </a:rPr>
              <a:t>Extract</a:t>
            </a:r>
            <a:endParaRPr lang="en-US" sz="2200" dirty="0"/>
          </a:p>
        </p:txBody>
      </p:sp>
      <p:sp>
        <p:nvSpPr>
          <p:cNvPr id="9" name="Text 6"/>
          <p:cNvSpPr txBox="1"/>
          <p:nvPr/>
        </p:nvSpPr>
        <p:spPr>
          <a:xfrm>
            <a:off x="822960" y="3154680"/>
            <a:ext cx="2788920" cy="1188720"/>
          </a:xfrm>
          <a:prstGeom prst="rect">
            <a:avLst/>
          </a:prstGeom>
          <a:noFill/>
          <a:ln/>
        </p:spPr>
        <p:txBody>
          <a:bodyPr wrap="square" lIns="0" tIns="0" rIns="0" bIns="0" rtlCol="0" anchor="t"/>
          <a:lstStyle/>
          <a:p>
            <a:pPr indent="0" marL="0">
              <a:buNone/>
            </a:pPr>
            <a:r>
              <a:rPr lang="en-US" sz="1350" dirty="0">
                <a:solidFill>
                  <a:srgbClr val="4D4D4D"/>
                </a:solidFill>
                <a:latin typeface="Calibri" pitchFamily="34" charset="0"/>
                <a:ea typeface="Calibri" pitchFamily="34" charset="-122"/>
                <a:cs typeface="Calibri" pitchFamily="34" charset="-120"/>
              </a:rPr>
              <a:t>Pull data from its source (a CMS export, a CSV, a database) in its verbatim form.</a:t>
            </a:r>
            <a:endParaRPr lang="en-US" sz="1350" dirty="0"/>
          </a:p>
        </p:txBody>
      </p:sp>
      <p:pic>
        <p:nvPicPr>
          <p:cNvPr id="10" name="Image 1" descr="preencoded.png">    </p:cNvPr>
          <p:cNvPicPr>
            <a:picLocks noChangeAspect="1"/>
          </p:cNvPicPr>
          <p:nvPr/>
        </p:nvPicPr>
        <p:blipFill>
          <a:blip r:embed="rId2"/>
          <a:stretch>
            <a:fillRect/>
          </a:stretch>
        </p:blipFill>
        <p:spPr>
          <a:xfrm>
            <a:off x="3913632" y="3063240"/>
            <a:ext cx="310896" cy="310896"/>
          </a:xfrm>
          <a:prstGeom prst="rect">
            <a:avLst/>
          </a:prstGeom>
        </p:spPr>
      </p:pic>
      <p:sp>
        <p:nvSpPr>
          <p:cNvPr id="11" name="Shape 7"/>
          <p:cNvSpPr/>
          <p:nvPr/>
        </p:nvSpPr>
        <p:spPr>
          <a:xfrm>
            <a:off x="4297680" y="2148840"/>
            <a:ext cx="3291840" cy="2286000"/>
          </a:xfrm>
          <a:prstGeom prst="roundRect">
            <a:avLst>
              <a:gd name="adj" fmla="val 3200"/>
            </a:avLst>
          </a:prstGeom>
          <a:solidFill>
            <a:srgbClr val="EFE5CB"/>
          </a:solidFill>
          <a:ln w="12700">
            <a:solidFill>
              <a:srgbClr val="EFE5CB"/>
            </a:solidFill>
            <a:prstDash val="solid"/>
          </a:ln>
        </p:spPr>
      </p:sp>
      <p:sp>
        <p:nvSpPr>
          <p:cNvPr id="12" name="Shape 8"/>
          <p:cNvSpPr/>
          <p:nvPr/>
        </p:nvSpPr>
        <p:spPr>
          <a:xfrm>
            <a:off x="4572000" y="2377440"/>
            <a:ext cx="594360" cy="594360"/>
          </a:xfrm>
          <a:prstGeom prst="ellipse">
            <a:avLst/>
          </a:prstGeom>
          <a:solidFill>
            <a:srgbClr val="5B7089"/>
          </a:solidFill>
          <a:ln w="12700">
            <a:solidFill>
              <a:srgbClr val="5B7089"/>
            </a:solidFill>
            <a:prstDash val="solid"/>
          </a:ln>
        </p:spPr>
      </p:sp>
      <p:pic>
        <p:nvPicPr>
          <p:cNvPr id="13" name="Image 2" descr="preencoded.png">    </p:cNvPr>
          <p:cNvPicPr>
            <a:picLocks noChangeAspect="1"/>
          </p:cNvPicPr>
          <p:nvPr/>
        </p:nvPicPr>
        <p:blipFill>
          <a:blip r:embed="rId3"/>
          <a:stretch>
            <a:fillRect/>
          </a:stretch>
        </p:blipFill>
        <p:spPr>
          <a:xfrm>
            <a:off x="4720590" y="2526030"/>
            <a:ext cx="297180" cy="297180"/>
          </a:xfrm>
          <a:prstGeom prst="rect">
            <a:avLst/>
          </a:prstGeom>
        </p:spPr>
      </p:pic>
      <p:sp>
        <p:nvSpPr>
          <p:cNvPr id="14" name="Text 9"/>
          <p:cNvSpPr txBox="1"/>
          <p:nvPr/>
        </p:nvSpPr>
        <p:spPr>
          <a:xfrm>
            <a:off x="5349240" y="2377440"/>
            <a:ext cx="2103120" cy="594360"/>
          </a:xfrm>
          <a:prstGeom prst="rect">
            <a:avLst/>
          </a:prstGeom>
          <a:noFill/>
          <a:ln/>
        </p:spPr>
        <p:txBody>
          <a:bodyPr wrap="square" lIns="0" tIns="0" rIns="0" bIns="0" rtlCol="0" anchor="ctr"/>
          <a:lstStyle/>
          <a:p>
            <a:pPr indent="0" marL="0">
              <a:buNone/>
            </a:pPr>
            <a:r>
              <a:rPr lang="en-US" sz="2200" b="1" dirty="0">
                <a:solidFill>
                  <a:srgbClr val="0E1A2D"/>
                </a:solidFill>
                <a:latin typeface="Cambria" pitchFamily="34" charset="0"/>
                <a:ea typeface="Cambria" pitchFamily="34" charset="-122"/>
                <a:cs typeface="Cambria" pitchFamily="34" charset="-120"/>
              </a:rPr>
              <a:t>Transform</a:t>
            </a:r>
            <a:endParaRPr lang="en-US" sz="2200" dirty="0"/>
          </a:p>
        </p:txBody>
      </p:sp>
      <p:sp>
        <p:nvSpPr>
          <p:cNvPr id="15" name="Text 10"/>
          <p:cNvSpPr txBox="1"/>
          <p:nvPr/>
        </p:nvSpPr>
        <p:spPr>
          <a:xfrm>
            <a:off x="4572000" y="3154680"/>
            <a:ext cx="2788920" cy="1188720"/>
          </a:xfrm>
          <a:prstGeom prst="rect">
            <a:avLst/>
          </a:prstGeom>
          <a:noFill/>
          <a:ln/>
        </p:spPr>
        <p:txBody>
          <a:bodyPr wrap="square" lIns="0" tIns="0" rIns="0" bIns="0" rtlCol="0" anchor="t"/>
          <a:lstStyle/>
          <a:p>
            <a:pPr indent="0" marL="0">
              <a:buNone/>
            </a:pPr>
            <a:r>
              <a:rPr lang="en-US" sz="1350" dirty="0">
                <a:solidFill>
                  <a:srgbClr val="4D4D4D"/>
                </a:solidFill>
                <a:latin typeface="Calibri" pitchFamily="34" charset="0"/>
                <a:ea typeface="Calibri" pitchFamily="34" charset="-122"/>
                <a:cs typeface="Calibri" pitchFamily="34" charset="-120"/>
              </a:rPr>
              <a:t>Clean, split, categorize, translate, reconcile and restructure to match the target model.</a:t>
            </a:r>
            <a:endParaRPr lang="en-US" sz="1350" dirty="0"/>
          </a:p>
        </p:txBody>
      </p:sp>
      <p:pic>
        <p:nvPicPr>
          <p:cNvPr id="16" name="Image 3" descr="preencoded.png">    </p:cNvPr>
          <p:cNvPicPr>
            <a:picLocks noChangeAspect="1"/>
          </p:cNvPicPr>
          <p:nvPr/>
        </p:nvPicPr>
        <p:blipFill>
          <a:blip r:embed="rId4"/>
          <a:stretch>
            <a:fillRect/>
          </a:stretch>
        </p:blipFill>
        <p:spPr>
          <a:xfrm>
            <a:off x="7662672" y="3063240"/>
            <a:ext cx="310896" cy="310896"/>
          </a:xfrm>
          <a:prstGeom prst="rect">
            <a:avLst/>
          </a:prstGeom>
        </p:spPr>
      </p:pic>
      <p:sp>
        <p:nvSpPr>
          <p:cNvPr id="17" name="Shape 11"/>
          <p:cNvSpPr/>
          <p:nvPr/>
        </p:nvSpPr>
        <p:spPr>
          <a:xfrm>
            <a:off x="8046720" y="2148840"/>
            <a:ext cx="3291840" cy="2286000"/>
          </a:xfrm>
          <a:prstGeom prst="roundRect">
            <a:avLst>
              <a:gd name="adj" fmla="val 3200"/>
            </a:avLst>
          </a:prstGeom>
          <a:solidFill>
            <a:srgbClr val="EFE5CB"/>
          </a:solidFill>
          <a:ln w="12700">
            <a:solidFill>
              <a:srgbClr val="EFE5CB"/>
            </a:solidFill>
            <a:prstDash val="solid"/>
          </a:ln>
        </p:spPr>
      </p:sp>
      <p:sp>
        <p:nvSpPr>
          <p:cNvPr id="18" name="Shape 12"/>
          <p:cNvSpPr/>
          <p:nvPr/>
        </p:nvSpPr>
        <p:spPr>
          <a:xfrm>
            <a:off x="8321040" y="2377440"/>
            <a:ext cx="594360" cy="594360"/>
          </a:xfrm>
          <a:prstGeom prst="ellipse">
            <a:avLst/>
          </a:prstGeom>
          <a:solidFill>
            <a:srgbClr val="C0392B"/>
          </a:solidFill>
          <a:ln w="12700">
            <a:solidFill>
              <a:srgbClr val="C0392B"/>
            </a:solidFill>
            <a:prstDash val="solid"/>
          </a:ln>
        </p:spPr>
      </p:sp>
      <p:pic>
        <p:nvPicPr>
          <p:cNvPr id="19" name="Image 4" descr="preencoded.png">    </p:cNvPr>
          <p:cNvPicPr>
            <a:picLocks noChangeAspect="1"/>
          </p:cNvPicPr>
          <p:nvPr/>
        </p:nvPicPr>
        <p:blipFill>
          <a:blip r:embed="rId5"/>
          <a:stretch>
            <a:fillRect/>
          </a:stretch>
        </p:blipFill>
        <p:spPr>
          <a:xfrm>
            <a:off x="8469630" y="2526030"/>
            <a:ext cx="297180" cy="297180"/>
          </a:xfrm>
          <a:prstGeom prst="rect">
            <a:avLst/>
          </a:prstGeom>
        </p:spPr>
      </p:pic>
      <p:sp>
        <p:nvSpPr>
          <p:cNvPr id="20" name="Text 13"/>
          <p:cNvSpPr txBox="1"/>
          <p:nvPr/>
        </p:nvSpPr>
        <p:spPr>
          <a:xfrm>
            <a:off x="9098280" y="2377440"/>
            <a:ext cx="2103120" cy="594360"/>
          </a:xfrm>
          <a:prstGeom prst="rect">
            <a:avLst/>
          </a:prstGeom>
          <a:noFill/>
          <a:ln/>
        </p:spPr>
        <p:txBody>
          <a:bodyPr wrap="square" lIns="0" tIns="0" rIns="0" bIns="0" rtlCol="0" anchor="ctr"/>
          <a:lstStyle/>
          <a:p>
            <a:pPr indent="0" marL="0">
              <a:buNone/>
            </a:pPr>
            <a:r>
              <a:rPr lang="en-US" sz="2200" b="1" dirty="0">
                <a:solidFill>
                  <a:srgbClr val="0E1A2D"/>
                </a:solidFill>
                <a:latin typeface="Cambria" pitchFamily="34" charset="0"/>
                <a:ea typeface="Cambria" pitchFamily="34" charset="-122"/>
                <a:cs typeface="Cambria" pitchFamily="34" charset="-120"/>
              </a:rPr>
              <a:t>Load</a:t>
            </a:r>
            <a:endParaRPr lang="en-US" sz="2200" dirty="0"/>
          </a:p>
        </p:txBody>
      </p:sp>
      <p:sp>
        <p:nvSpPr>
          <p:cNvPr id="21" name="Text 14"/>
          <p:cNvSpPr txBox="1"/>
          <p:nvPr/>
        </p:nvSpPr>
        <p:spPr>
          <a:xfrm>
            <a:off x="8321040" y="3154680"/>
            <a:ext cx="2788920" cy="1188720"/>
          </a:xfrm>
          <a:prstGeom prst="rect">
            <a:avLst/>
          </a:prstGeom>
          <a:noFill/>
          <a:ln/>
        </p:spPr>
        <p:txBody>
          <a:bodyPr wrap="square" lIns="0" tIns="0" rIns="0" bIns="0" rtlCol="0" anchor="t"/>
          <a:lstStyle/>
          <a:p>
            <a:pPr indent="0" marL="0">
              <a:buNone/>
            </a:pPr>
            <a:r>
              <a:rPr lang="en-US" sz="1350" dirty="0">
                <a:solidFill>
                  <a:srgbClr val="4D4D4D"/>
                </a:solidFill>
                <a:latin typeface="Calibri" pitchFamily="34" charset="0"/>
                <a:ea typeface="Calibri" pitchFamily="34" charset="-122"/>
                <a:cs typeface="Calibri" pitchFamily="34" charset="-120"/>
              </a:rPr>
              <a:t>Write the transformed data to the target format or system.</a:t>
            </a:r>
            <a:endParaRPr lang="en-US" sz="1350" dirty="0"/>
          </a:p>
        </p:txBody>
      </p:sp>
      <p:sp>
        <p:nvSpPr>
          <p:cNvPr id="22" name="Text 15"/>
          <p:cNvSpPr txBox="1"/>
          <p:nvPr/>
        </p:nvSpPr>
        <p:spPr>
          <a:xfrm>
            <a:off x="548640" y="4754880"/>
            <a:ext cx="5486400" cy="274320"/>
          </a:xfrm>
          <a:prstGeom prst="rect">
            <a:avLst/>
          </a:prstGeom>
          <a:noFill/>
          <a:ln/>
        </p:spPr>
        <p:txBody>
          <a:bodyPr wrap="square" lIns="0" tIns="0" rIns="0" bIns="0" rtlCol="0" anchor="t"/>
          <a:lstStyle/>
          <a:p>
            <a:pPr indent="0" marL="0">
              <a:buNone/>
            </a:pPr>
            <a:r>
              <a:rPr lang="en-US" sz="1100" b="1" spc="100" kern="0" dirty="0">
                <a:solidFill>
                  <a:srgbClr val="C0392B"/>
                </a:solidFill>
                <a:latin typeface="Calibri" pitchFamily="34" charset="0"/>
                <a:ea typeface="Calibri" pitchFamily="34" charset="-122"/>
                <a:cs typeface="Calibri" pitchFamily="34" charset="-120"/>
              </a:rPr>
              <a:t>ORGANIZING A PIPELINE</a:t>
            </a:r>
            <a:endParaRPr lang="en-US" sz="1100" dirty="0"/>
          </a:p>
        </p:txBody>
      </p:sp>
      <p:sp>
        <p:nvSpPr>
          <p:cNvPr id="23" name="Text 16"/>
          <p:cNvSpPr txBox="1"/>
          <p:nvPr/>
        </p:nvSpPr>
        <p:spPr>
          <a:xfrm>
            <a:off x="548640" y="5120640"/>
            <a:ext cx="2651760" cy="822960"/>
          </a:xfrm>
          <a:prstGeom prst="rect">
            <a:avLst/>
          </a:prstGeom>
          <a:noFill/>
          <a:ln/>
        </p:spPr>
        <p:txBody>
          <a:bodyPr wrap="square" lIns="0" tIns="0" rIns="0" bIns="0" rtlCol="0" anchor="t"/>
          <a:lstStyle/>
          <a:p>
            <a:pPr indent="0" marL="0">
              <a:buNone/>
            </a:pPr>
            <a:r>
              <a:rPr lang="en-US" sz="1400" b="1" dirty="0">
                <a:solidFill>
                  <a:srgbClr val="0E1A2D"/>
                </a:solidFill>
                <a:latin typeface="Calibri" pitchFamily="34" charset="0"/>
                <a:ea typeface="Calibri" pitchFamily="34" charset="-122"/>
                <a:cs typeface="Calibri" pitchFamily="34" charset="-120"/>
              </a:rPr>
              <a:t>Discrete stages</a:t>
            </a:r>
            <a:endParaRPr lang="en-US" sz="1400" dirty="0"/>
          </a:p>
          <a:p>
            <a:pPr indent="0" marL="0">
              <a:buNone/>
            </a:pPr>
            <a:r>
              <a:rPr lang="en-US" sz="1400" dirty="0">
                <a:solidFill>
                  <a:srgbClr val="4D4D4D"/>
                </a:solidFill>
                <a:latin typeface="Calibri" pitchFamily="34" charset="0"/>
                <a:ea typeface="Calibri" pitchFamily="34" charset="-122"/>
                <a:cs typeface="Calibri" pitchFamily="34" charset="-120"/>
              </a:rPr>
              <a:t>with defined inputs and outputs</a:t>
            </a:r>
            <a:endParaRPr lang="en-US" sz="1400" dirty="0"/>
          </a:p>
        </p:txBody>
      </p:sp>
      <p:sp>
        <p:nvSpPr>
          <p:cNvPr id="24" name="Text 17"/>
          <p:cNvSpPr txBox="1"/>
          <p:nvPr/>
        </p:nvSpPr>
        <p:spPr>
          <a:xfrm>
            <a:off x="3364992" y="5120640"/>
            <a:ext cx="2651760" cy="822960"/>
          </a:xfrm>
          <a:prstGeom prst="rect">
            <a:avLst/>
          </a:prstGeom>
          <a:noFill/>
          <a:ln/>
        </p:spPr>
        <p:txBody>
          <a:bodyPr wrap="square" lIns="0" tIns="0" rIns="0" bIns="0" rtlCol="0" anchor="t"/>
          <a:lstStyle/>
          <a:p>
            <a:pPr indent="0" marL="0">
              <a:buNone/>
            </a:pPr>
            <a:r>
              <a:rPr lang="en-US" sz="1400" b="1" dirty="0">
                <a:solidFill>
                  <a:srgbClr val="0E1A2D"/>
                </a:solidFill>
                <a:latin typeface="Calibri" pitchFamily="34" charset="0"/>
                <a:ea typeface="Calibri" pitchFamily="34" charset="-122"/>
                <a:cs typeface="Calibri" pitchFamily="34" charset="-120"/>
              </a:rPr>
              <a:t>Config files</a:t>
            </a:r>
            <a:endParaRPr lang="en-US" sz="1400" dirty="0"/>
          </a:p>
          <a:p>
            <a:pPr indent="0" marL="0">
              <a:buNone/>
            </a:pPr>
            <a:r>
              <a:rPr lang="en-US" sz="1400" dirty="0">
                <a:solidFill>
                  <a:srgbClr val="4D4D4D"/>
                </a:solidFill>
                <a:latin typeface="Calibri" pitchFamily="34" charset="0"/>
                <a:ea typeface="Calibri" pitchFamily="34" charset="-122"/>
                <a:cs typeface="Calibri" pitchFamily="34" charset="-120"/>
              </a:rPr>
              <a:t>instead of hard-coded logic</a:t>
            </a:r>
            <a:endParaRPr lang="en-US" sz="1400" dirty="0"/>
          </a:p>
        </p:txBody>
      </p:sp>
      <p:sp>
        <p:nvSpPr>
          <p:cNvPr id="25" name="Text 18"/>
          <p:cNvSpPr txBox="1"/>
          <p:nvPr/>
        </p:nvSpPr>
        <p:spPr>
          <a:xfrm>
            <a:off x="6181344" y="5120640"/>
            <a:ext cx="2651760" cy="822960"/>
          </a:xfrm>
          <a:prstGeom prst="rect">
            <a:avLst/>
          </a:prstGeom>
          <a:noFill/>
          <a:ln/>
        </p:spPr>
        <p:txBody>
          <a:bodyPr wrap="square" lIns="0" tIns="0" rIns="0" bIns="0" rtlCol="0" anchor="t"/>
          <a:lstStyle/>
          <a:p>
            <a:pPr indent="0" marL="0">
              <a:buNone/>
            </a:pPr>
            <a:r>
              <a:rPr lang="en-US" sz="1400" b="1" dirty="0">
                <a:solidFill>
                  <a:srgbClr val="0E1A2D"/>
                </a:solidFill>
                <a:latin typeface="Calibri" pitchFamily="34" charset="0"/>
                <a:ea typeface="Calibri" pitchFamily="34" charset="-122"/>
                <a:cs typeface="Calibri" pitchFamily="34" charset="-120"/>
              </a:rPr>
              <a:t>Small scripts</a:t>
            </a:r>
            <a:endParaRPr lang="en-US" sz="1400" dirty="0"/>
          </a:p>
          <a:p>
            <a:pPr indent="0" marL="0">
              <a:buNone/>
            </a:pPr>
            <a:r>
              <a:rPr lang="en-US" sz="1400" dirty="0">
                <a:solidFill>
                  <a:srgbClr val="4D4D4D"/>
                </a:solidFill>
                <a:latin typeface="Calibri" pitchFamily="34" charset="0"/>
                <a:ea typeface="Calibri" pitchFamily="34" charset="-122"/>
                <a:cs typeface="Calibri" pitchFamily="34" charset="-120"/>
              </a:rPr>
              <a:t>that can be re-run at any time</a:t>
            </a:r>
            <a:endParaRPr lang="en-US" sz="1400" dirty="0"/>
          </a:p>
        </p:txBody>
      </p:sp>
      <p:sp>
        <p:nvSpPr>
          <p:cNvPr id="26" name="Text 19"/>
          <p:cNvSpPr txBox="1"/>
          <p:nvPr/>
        </p:nvSpPr>
        <p:spPr>
          <a:xfrm>
            <a:off x="8997696" y="5120640"/>
            <a:ext cx="2651760" cy="822960"/>
          </a:xfrm>
          <a:prstGeom prst="rect">
            <a:avLst/>
          </a:prstGeom>
          <a:noFill/>
          <a:ln/>
        </p:spPr>
        <p:txBody>
          <a:bodyPr wrap="square" lIns="0" tIns="0" rIns="0" bIns="0" rtlCol="0" anchor="t"/>
          <a:lstStyle/>
          <a:p>
            <a:pPr indent="0" marL="0">
              <a:buNone/>
            </a:pPr>
            <a:r>
              <a:rPr lang="en-US" sz="1400" b="1" dirty="0">
                <a:solidFill>
                  <a:srgbClr val="0E1A2D"/>
                </a:solidFill>
                <a:latin typeface="Calibri" pitchFamily="34" charset="0"/>
                <a:ea typeface="Calibri" pitchFamily="34" charset="-122"/>
                <a:cs typeface="Calibri" pitchFamily="34" charset="-120"/>
              </a:rPr>
              <a:t>A report</a:t>
            </a:r>
            <a:endParaRPr lang="en-US" sz="1400" dirty="0"/>
          </a:p>
          <a:p>
            <a:pPr indent="0" marL="0">
              <a:buNone/>
            </a:pPr>
            <a:r>
              <a:rPr lang="en-US" sz="1400" dirty="0">
                <a:solidFill>
                  <a:srgbClr val="4D4D4D"/>
                </a:solidFill>
                <a:latin typeface="Calibri" pitchFamily="34" charset="0"/>
                <a:ea typeface="Calibri" pitchFamily="34" charset="-122"/>
                <a:cs typeface="Calibri" pitchFamily="34" charset="-120"/>
              </a:rPr>
              <a:t>that defines what each output contains</a:t>
            </a:r>
            <a:endParaRPr lang="en-US" sz="1400" dirty="0"/>
          </a:p>
        </p:txBody>
      </p:sp>
      <p:sp>
        <p:nvSpPr>
          <p:cNvPr id="27" name="Text 2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7F87"/>
                </a:solidFill>
                <a:latin typeface="Calibri" pitchFamily="34" charset="0"/>
                <a:ea typeface="Calibri" pitchFamily="34" charset="-122"/>
                <a:cs typeface="Calibri" pitchFamily="34" charset="-120"/>
              </a:rPr>
              <a:t>WKS10  ·  Building a Repeatable AI Pipeline</a:t>
            </a:r>
            <a:endParaRPr lang="en-US" sz="1000" dirty="0"/>
          </a:p>
        </p:txBody>
      </p:sp>
      <p:sp>
        <p:nvSpPr>
          <p:cNvPr id="28" name="Text 2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7F87"/>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A2D"/>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Key points for pipeline work</a:t>
            </a:r>
            <a:endParaRPr lang="en-US" sz="3400" dirty="0"/>
          </a:p>
        </p:txBody>
      </p:sp>
      <p:sp>
        <p:nvSpPr>
          <p:cNvPr id="3" name="Shape 1"/>
          <p:cNvSpPr/>
          <p:nvPr/>
        </p:nvSpPr>
        <p:spPr>
          <a:xfrm>
            <a:off x="548640" y="1645920"/>
            <a:ext cx="5394960" cy="4069080"/>
          </a:xfrm>
          <a:prstGeom prst="roundRect">
            <a:avLst>
              <a:gd name="adj" fmla="val 1798"/>
            </a:avLst>
          </a:prstGeom>
          <a:solidFill>
            <a:srgbClr val="2C3E50"/>
          </a:solidFill>
          <a:ln w="12700">
            <a:solidFill>
              <a:srgbClr val="2C3E50"/>
            </a:solidFill>
            <a:prstDash val="solid"/>
          </a:ln>
        </p:spPr>
      </p:sp>
      <p:sp>
        <p:nvSpPr>
          <p:cNvPr id="4" name="Shape 2"/>
          <p:cNvSpPr/>
          <p:nvPr/>
        </p:nvSpPr>
        <p:spPr>
          <a:xfrm>
            <a:off x="6263640" y="1645920"/>
            <a:ext cx="5376672" cy="4069080"/>
          </a:xfrm>
          <a:prstGeom prst="roundRect">
            <a:avLst>
              <a:gd name="adj" fmla="val 1798"/>
            </a:avLst>
          </a:prstGeom>
          <a:solidFill>
            <a:srgbClr val="2C3E50"/>
          </a:solidFill>
          <a:ln w="12700">
            <a:solidFill>
              <a:srgbClr val="2C3E50"/>
            </a:solidFill>
            <a:prstDash val="solid"/>
          </a:ln>
        </p:spPr>
      </p:sp>
      <p:sp>
        <p:nvSpPr>
          <p:cNvPr id="5" name="Text 3"/>
          <p:cNvSpPr txBox="1"/>
          <p:nvPr/>
        </p:nvSpPr>
        <p:spPr>
          <a:xfrm>
            <a:off x="914400" y="1920240"/>
            <a:ext cx="4572000" cy="274320"/>
          </a:xfrm>
          <a:prstGeom prst="rect">
            <a:avLst/>
          </a:prstGeom>
          <a:noFill/>
          <a:ln/>
        </p:spPr>
        <p:txBody>
          <a:bodyPr wrap="square" lIns="0" tIns="0" rIns="0" bIns="0" rtlCol="0" anchor="t"/>
          <a:lstStyle/>
          <a:p>
            <a:pPr indent="0" marL="0">
              <a:buNone/>
            </a:pPr>
            <a:r>
              <a:rPr lang="en-US" sz="1100" b="1" spc="100" kern="0" dirty="0">
                <a:solidFill>
                  <a:srgbClr val="A9BCD0"/>
                </a:solidFill>
                <a:latin typeface="Calibri" pitchFamily="34" charset="0"/>
                <a:ea typeface="Calibri" pitchFamily="34" charset="-122"/>
                <a:cs typeface="Calibri" pitchFamily="34" charset="-120"/>
              </a:rPr>
              <a:t>DO</a:t>
            </a:r>
            <a:endParaRPr lang="en-US" sz="1100" dirty="0"/>
          </a:p>
        </p:txBody>
      </p:sp>
      <p:sp>
        <p:nvSpPr>
          <p:cNvPr id="6" name="Text 4"/>
          <p:cNvSpPr/>
          <p:nvPr/>
        </p:nvSpPr>
        <p:spPr>
          <a:xfrm>
            <a:off x="914400" y="2286000"/>
            <a:ext cx="4754880" cy="329184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E4DECF"/>
                </a:solidFill>
                <a:latin typeface="Calibri" pitchFamily="34" charset="0"/>
                <a:ea typeface="Calibri" pitchFamily="34" charset="-122"/>
                <a:cs typeface="Calibri" pitchFamily="34" charset="-120"/>
              </a:rPr>
              <a:t>Avoid runaway codebases</a:t>
            </a:r>
            <a:endParaRPr lang="en-US" sz="1450" dirty="0"/>
          </a:p>
          <a:p>
            <a:pPr marL="203200" indent="-203200">
              <a:spcAft>
                <a:spcPts val="800"/>
              </a:spcAft>
              <a:buSzPct val="100000"/>
              <a:buChar char="•"/>
            </a:pPr>
            <a:r>
              <a:rPr lang="en-US" sz="1450" dirty="0">
                <a:solidFill>
                  <a:srgbClr val="E4DECF"/>
                </a:solidFill>
                <a:latin typeface="Calibri" pitchFamily="34" charset="0"/>
                <a:ea typeface="Calibri" pitchFamily="34" charset="-122"/>
                <a:cs typeface="Calibri" pitchFamily="34" charset="-120"/>
              </a:rPr>
              <a:t>Make it repeatable: config files and scripts</a:t>
            </a:r>
            <a:endParaRPr lang="en-US" sz="1450" dirty="0"/>
          </a:p>
          <a:p>
            <a:pPr marL="203200" indent="-203200">
              <a:spcAft>
                <a:spcPts val="800"/>
              </a:spcAft>
              <a:buSzPct val="100000"/>
              <a:buChar char="•"/>
            </a:pPr>
            <a:r>
              <a:rPr lang="en-US" sz="1450" dirty="0">
                <a:solidFill>
                  <a:srgbClr val="E4DECF"/>
                </a:solidFill>
                <a:latin typeface="Calibri" pitchFamily="34" charset="0"/>
                <a:ea typeface="Calibri" pitchFamily="34" charset="-122"/>
                <a:cs typeface="Calibri" pitchFamily="34" charset="-120"/>
              </a:rPr>
              <a:t>Define metrics</a:t>
            </a:r>
            <a:endParaRPr lang="en-US" sz="1450" dirty="0"/>
          </a:p>
          <a:p>
            <a:pPr marL="203200" indent="-203200">
              <a:spcAft>
                <a:spcPts val="800"/>
              </a:spcAft>
              <a:buSzPct val="100000"/>
              <a:buChar char="•"/>
            </a:pPr>
            <a:r>
              <a:rPr lang="en-US" sz="1450" dirty="0">
                <a:solidFill>
                  <a:srgbClr val="E4DECF"/>
                </a:solidFill>
                <a:latin typeface="Calibri" pitchFamily="34" charset="0"/>
                <a:ea typeface="Calibri" pitchFamily="34" charset="-122"/>
                <a:cs typeface="Calibri" pitchFamily="34" charset="-120"/>
              </a:rPr>
              <a:t>Provide examples for context</a:t>
            </a:r>
            <a:endParaRPr lang="en-US" sz="1450" dirty="0"/>
          </a:p>
          <a:p>
            <a:pPr marL="203200" indent="-203200">
              <a:spcAft>
                <a:spcPts val="800"/>
              </a:spcAft>
              <a:buSzPct val="100000"/>
              <a:buChar char="•"/>
            </a:pPr>
            <a:r>
              <a:rPr lang="en-US" sz="1450" dirty="0">
                <a:solidFill>
                  <a:srgbClr val="E4DECF"/>
                </a:solidFill>
                <a:latin typeface="Calibri" pitchFamily="34" charset="0"/>
                <a:ea typeface="Calibri" pitchFamily="34" charset="-122"/>
                <a:cs typeface="Calibri" pitchFamily="34" charset="-120"/>
              </a:rPr>
              <a:t>Make a plan, then have Claude review it</a:t>
            </a:r>
            <a:endParaRPr lang="en-US" sz="1450" dirty="0"/>
          </a:p>
          <a:p>
            <a:pPr marL="203200" indent="-203200">
              <a:spcAft>
                <a:spcPts val="800"/>
              </a:spcAft>
              <a:buSzPct val="100000"/>
              <a:buChar char="•"/>
            </a:pPr>
            <a:r>
              <a:rPr lang="en-US" sz="1450" dirty="0">
                <a:solidFill>
                  <a:srgbClr val="E4DECF"/>
                </a:solidFill>
                <a:latin typeface="Calibri" pitchFamily="34" charset="0"/>
                <a:ea typeface="Calibri" pitchFamily="34" charset="-122"/>
                <a:cs typeface="Calibri" pitchFamily="34" charset="-120"/>
              </a:rPr>
              <a:t>Use a stepwise architecture</a:t>
            </a:r>
            <a:endParaRPr lang="en-US" sz="1450" dirty="0"/>
          </a:p>
          <a:p>
            <a:pPr marL="203200" indent="-203200">
              <a:spcAft>
                <a:spcPts val="800"/>
              </a:spcAft>
              <a:buSzPct val="100000"/>
              <a:buChar char="•"/>
            </a:pPr>
            <a:r>
              <a:rPr lang="en-US" sz="1450" dirty="0">
                <a:solidFill>
                  <a:srgbClr val="E4DECF"/>
                </a:solidFill>
                <a:latin typeface="Calibri" pitchFamily="34" charset="0"/>
                <a:ea typeface="Calibri" pitchFamily="34" charset="-122"/>
                <a:cs typeface="Calibri" pitchFamily="34" charset="-120"/>
              </a:rPr>
              <a:t>Generate a report at every stage</a:t>
            </a:r>
            <a:endParaRPr lang="en-US" sz="1450" dirty="0"/>
          </a:p>
          <a:p>
            <a:pPr marL="203200" indent="-203200">
              <a:spcAft>
                <a:spcPts val="800"/>
              </a:spcAft>
              <a:buSzPct val="100000"/>
              <a:buChar char="•"/>
            </a:pPr>
            <a:r>
              <a:rPr lang="en-US" sz="1450" dirty="0">
                <a:solidFill>
                  <a:srgbClr val="E4DECF"/>
                </a:solidFill>
                <a:latin typeface="Calibri" pitchFamily="34" charset="0"/>
                <a:ea typeface="Calibri" pitchFamily="34" charset="-122"/>
                <a:cs typeface="Calibri" pitchFamily="34" charset="-120"/>
              </a:rPr>
              <a:t>Preserve the source in its verbatim form</a:t>
            </a:r>
            <a:endParaRPr lang="en-US" sz="1450" dirty="0"/>
          </a:p>
        </p:txBody>
      </p:sp>
      <p:sp>
        <p:nvSpPr>
          <p:cNvPr id="7" name="Text 5"/>
          <p:cNvSpPr txBox="1"/>
          <p:nvPr/>
        </p:nvSpPr>
        <p:spPr>
          <a:xfrm>
            <a:off x="6629400" y="1920240"/>
            <a:ext cx="4754880" cy="274320"/>
          </a:xfrm>
          <a:prstGeom prst="rect">
            <a:avLst/>
          </a:prstGeom>
          <a:noFill/>
          <a:ln/>
        </p:spPr>
        <p:txBody>
          <a:bodyPr wrap="square" lIns="0" tIns="0" rIns="0" bIns="0" rtlCol="0" anchor="t"/>
          <a:lstStyle/>
          <a:p>
            <a:pPr indent="0" marL="0">
              <a:buNone/>
            </a:pPr>
            <a:r>
              <a:rPr lang="en-US" sz="1100" b="1" spc="100" kern="0" dirty="0">
                <a:solidFill>
                  <a:srgbClr val="E0584A"/>
                </a:solidFill>
                <a:latin typeface="Calibri" pitchFamily="34" charset="0"/>
                <a:ea typeface="Calibri" pitchFamily="34" charset="-122"/>
                <a:cs typeface="Calibri" pitchFamily="34" charset="-120"/>
              </a:rPr>
              <a:t>PROVENANCE: HOW DO WE TRACK AI USE?</a:t>
            </a:r>
            <a:endParaRPr lang="en-US" sz="1100" dirty="0"/>
          </a:p>
        </p:txBody>
      </p:sp>
      <p:sp>
        <p:nvSpPr>
          <p:cNvPr id="8" name="Text 6"/>
          <p:cNvSpPr/>
          <p:nvPr/>
        </p:nvSpPr>
        <p:spPr>
          <a:xfrm>
            <a:off x="6629400" y="2286000"/>
            <a:ext cx="4663440" cy="329184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E4DECF"/>
                </a:solidFill>
                <a:latin typeface="Calibri" pitchFamily="34" charset="0"/>
                <a:ea typeface="Calibri" pitchFamily="34" charset="-122"/>
                <a:cs typeface="Calibri" pitchFamily="34" charset="-120"/>
              </a:rPr>
              <a:t>Store everything in a standardized GitHub repository</a:t>
            </a:r>
            <a:endParaRPr lang="en-US" sz="1450" dirty="0"/>
          </a:p>
          <a:p>
            <a:pPr marL="203200" indent="-203200">
              <a:spcAft>
                <a:spcPts val="800"/>
              </a:spcAft>
              <a:buSzPct val="100000"/>
              <a:buChar char="•"/>
            </a:pPr>
            <a:r>
              <a:rPr lang="en-US" sz="1450" dirty="0">
                <a:solidFill>
                  <a:srgbClr val="E4DECF"/>
                </a:solidFill>
                <a:latin typeface="Calibri" pitchFamily="34" charset="0"/>
                <a:ea typeface="Calibri" pitchFamily="34" charset="-122"/>
                <a:cs typeface="Calibri" pitchFamily="34" charset="-120"/>
              </a:rPr>
              <a:t>Minimize reliance on AI for specific transformations: script the task so it runs without the model</a:t>
            </a:r>
            <a:endParaRPr lang="en-US" sz="1450" dirty="0"/>
          </a:p>
          <a:p>
            <a:pPr marL="203200" indent="-203200">
              <a:spcAft>
                <a:spcPts val="800"/>
              </a:spcAft>
              <a:buSzPct val="100000"/>
              <a:buChar char="•"/>
            </a:pPr>
            <a:r>
              <a:rPr lang="en-US" sz="1450" dirty="0">
                <a:solidFill>
                  <a:srgbClr val="E4DECF"/>
                </a:solidFill>
                <a:latin typeface="Calibri" pitchFamily="34" charset="0"/>
                <a:ea typeface="Calibri" pitchFamily="34" charset="-122"/>
                <a:cs typeface="Calibri" pitchFamily="34" charset="-120"/>
              </a:rPr>
              <a:t>Save AI decisions as mapping files that can be reviewed and re-applied</a:t>
            </a:r>
            <a:endParaRPr lang="en-US" sz="1450" dirty="0"/>
          </a:p>
          <a:p>
            <a:pPr marL="203200" indent="-203200">
              <a:spcAft>
                <a:spcPts val="800"/>
              </a:spcAft>
              <a:buSzPct val="100000"/>
              <a:buChar char="•"/>
            </a:pPr>
            <a:r>
              <a:rPr lang="en-US" sz="1450" dirty="0">
                <a:solidFill>
                  <a:srgbClr val="E4DECF"/>
                </a:solidFill>
                <a:latin typeface="Calibri" pitchFamily="34" charset="0"/>
                <a:ea typeface="Calibri" pitchFamily="34" charset="-122"/>
                <a:cs typeface="Calibri" pitchFamily="34" charset="-120"/>
              </a:rPr>
              <a:t>Generate reports</a:t>
            </a:r>
            <a:endParaRPr lang="en-US" sz="1450" dirty="0"/>
          </a:p>
        </p:txBody>
      </p:sp>
      <p:sp>
        <p:nvSpPr>
          <p:cNvPr id="9" name="Text 7"/>
          <p:cNvSpPr txBox="1"/>
          <p:nvPr/>
        </p:nvSpPr>
        <p:spPr>
          <a:xfrm>
            <a:off x="548640" y="5852160"/>
            <a:ext cx="10972800" cy="411480"/>
          </a:xfrm>
          <a:prstGeom prst="rect">
            <a:avLst/>
          </a:prstGeom>
          <a:noFill/>
          <a:ln/>
        </p:spPr>
        <p:txBody>
          <a:bodyPr wrap="square" lIns="0" tIns="0" rIns="0" bIns="0" rtlCol="0" anchor="ctr"/>
          <a:lstStyle/>
          <a:p>
            <a:pPr indent="0" marL="0">
              <a:buNone/>
            </a:pPr>
            <a:r>
              <a:rPr lang="en-US" sz="1800" i="1" dirty="0">
                <a:solidFill>
                  <a:srgbClr val="A9BCD0"/>
                </a:solidFill>
                <a:latin typeface="Cambria" pitchFamily="34" charset="0"/>
                <a:ea typeface="Cambria" pitchFamily="34" charset="-122"/>
                <a:cs typeface="Cambria" pitchFamily="34" charset="-120"/>
              </a:rPr>
              <a:t>Computers are still dumb. Plan for that.</a:t>
            </a:r>
            <a:endParaRPr lang="en-US" sz="1800" dirty="0"/>
          </a:p>
        </p:txBody>
      </p:sp>
      <p:sp>
        <p:nvSpPr>
          <p:cNvPr id="10"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A9B3BF"/>
                </a:solidFill>
                <a:latin typeface="Calibri" pitchFamily="34" charset="0"/>
                <a:ea typeface="Calibri" pitchFamily="34" charset="-122"/>
                <a:cs typeface="Calibri" pitchFamily="34" charset="-120"/>
              </a:rPr>
              <a:t>WKS10  ·  Building a Repeatable AI Pipeline</a:t>
            </a:r>
            <a:endParaRPr lang="en-US" sz="1000" dirty="0"/>
          </a:p>
        </p:txBody>
      </p:sp>
      <p:sp>
        <p:nvSpPr>
          <p:cNvPr id="11" name="Text 9"/>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A9B3BF"/>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392B"/>
                </a:solidFill>
                <a:latin typeface="Calibri" pitchFamily="34" charset="0"/>
                <a:ea typeface="Calibri" pitchFamily="34" charset="-122"/>
                <a:cs typeface="Calibri" pitchFamily="34" charset="-120"/>
              </a:rPr>
              <a:t>THE TOOL</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0E1A2D"/>
                </a:solidFill>
                <a:latin typeface="Cambria" pitchFamily="34" charset="0"/>
                <a:ea typeface="Cambria" pitchFamily="34" charset="-122"/>
                <a:cs typeface="Cambria" pitchFamily="34" charset="-120"/>
              </a:rPr>
              <a:t>What is Claude Code?</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4D4D4D"/>
                </a:solidFill>
                <a:latin typeface="Calibri" pitchFamily="34" charset="0"/>
                <a:ea typeface="Calibri" pitchFamily="34" charset="-122"/>
                <a:cs typeface="Calibri" pitchFamily="34" charset="-120"/>
              </a:rPr>
              <a:t>An AI assistant that works inside your project folder, not in a chat window.</a:t>
            </a:r>
            <a:endParaRPr lang="en-US" sz="1500" dirty="0"/>
          </a:p>
        </p:txBody>
      </p:sp>
      <p:sp>
        <p:nvSpPr>
          <p:cNvPr id="5" name="Shape 3"/>
          <p:cNvSpPr/>
          <p:nvPr/>
        </p:nvSpPr>
        <p:spPr>
          <a:xfrm>
            <a:off x="548640" y="2148840"/>
            <a:ext cx="5394960" cy="2606040"/>
          </a:xfrm>
          <a:prstGeom prst="roundRect">
            <a:avLst>
              <a:gd name="adj" fmla="val 2807"/>
            </a:avLst>
          </a:prstGeom>
          <a:solidFill>
            <a:srgbClr val="EFE5CB"/>
          </a:solidFill>
          <a:ln w="12700">
            <a:solidFill>
              <a:srgbClr val="EFE5CB"/>
            </a:solidFill>
            <a:prstDash val="solid"/>
          </a:ln>
        </p:spPr>
      </p:sp>
      <p:sp>
        <p:nvSpPr>
          <p:cNvPr id="6" name="Shape 4"/>
          <p:cNvSpPr/>
          <p:nvPr/>
        </p:nvSpPr>
        <p:spPr>
          <a:xfrm>
            <a:off x="6263640" y="2148840"/>
            <a:ext cx="5376672" cy="2606040"/>
          </a:xfrm>
          <a:prstGeom prst="roundRect">
            <a:avLst>
              <a:gd name="adj" fmla="val 2807"/>
            </a:avLst>
          </a:prstGeom>
          <a:solidFill>
            <a:srgbClr val="EFE5CB"/>
          </a:solidFill>
          <a:ln w="12700">
            <a:solidFill>
              <a:srgbClr val="EFE5CB"/>
            </a:solidFill>
            <a:prstDash val="solid"/>
          </a:ln>
        </p:spPr>
      </p:sp>
      <p:sp>
        <p:nvSpPr>
          <p:cNvPr id="7" name="Shape 5"/>
          <p:cNvSpPr/>
          <p:nvPr/>
        </p:nvSpPr>
        <p:spPr>
          <a:xfrm>
            <a:off x="548640" y="5029200"/>
            <a:ext cx="502920" cy="502920"/>
          </a:xfrm>
          <a:prstGeom prst="ellipse">
            <a:avLst/>
          </a:prstGeom>
          <a:solidFill>
            <a:srgbClr val="6E6E6E"/>
          </a:solidFill>
          <a:ln w="12700">
            <a:solidFill>
              <a:srgbClr val="6E6E6E"/>
            </a:solidFill>
            <a:prstDash val="solid"/>
          </a:ln>
        </p:spPr>
      </p:sp>
      <p:pic>
        <p:nvPicPr>
          <p:cNvPr id="8" name="Image 0" descr="preencoded.png">    </p:cNvPr>
          <p:cNvPicPr>
            <a:picLocks noChangeAspect="1"/>
          </p:cNvPicPr>
          <p:nvPr/>
        </p:nvPicPr>
        <p:blipFill>
          <a:blip r:embed="rId1"/>
          <a:stretch>
            <a:fillRect/>
          </a:stretch>
        </p:blipFill>
        <p:spPr>
          <a:xfrm>
            <a:off x="674370" y="5154930"/>
            <a:ext cx="251460" cy="251460"/>
          </a:xfrm>
          <a:prstGeom prst="rect">
            <a:avLst/>
          </a:prstGeom>
        </p:spPr>
      </p:pic>
      <p:sp>
        <p:nvSpPr>
          <p:cNvPr id="9" name="Text 6"/>
          <p:cNvSpPr txBox="1"/>
          <p:nvPr/>
        </p:nvSpPr>
        <p:spPr>
          <a:xfrm>
            <a:off x="1188720" y="5001768"/>
            <a:ext cx="2926080" cy="274320"/>
          </a:xfrm>
          <a:prstGeom prst="rect">
            <a:avLst/>
          </a:prstGeom>
          <a:noFill/>
          <a:ln/>
        </p:spPr>
        <p:txBody>
          <a:bodyPr wrap="square" lIns="0" tIns="0" rIns="0" bIns="0" rtlCol="0" anchor="t"/>
          <a:lstStyle/>
          <a:p>
            <a:pPr indent="0" marL="0">
              <a:buNone/>
            </a:pPr>
            <a:r>
              <a:rPr lang="en-US" sz="1400" b="1" dirty="0">
                <a:solidFill>
                  <a:srgbClr val="0E1A2D"/>
                </a:solidFill>
                <a:latin typeface="Calibri" pitchFamily="34" charset="0"/>
                <a:ea typeface="Calibri" pitchFamily="34" charset="-122"/>
                <a:cs typeface="Calibri" pitchFamily="34" charset="-120"/>
              </a:rPr>
              <a:t>Install</a:t>
            </a:r>
            <a:endParaRPr lang="en-US" sz="1400" dirty="0"/>
          </a:p>
        </p:txBody>
      </p:sp>
      <p:sp>
        <p:nvSpPr>
          <p:cNvPr id="10" name="Text 7"/>
          <p:cNvSpPr txBox="1"/>
          <p:nvPr/>
        </p:nvSpPr>
        <p:spPr>
          <a:xfrm>
            <a:off x="1188720" y="5285232"/>
            <a:ext cx="2926080" cy="27432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Desktop app, VS Code extension or terminal</a:t>
            </a:r>
            <a:endParaRPr lang="en-US" sz="1250" dirty="0"/>
          </a:p>
        </p:txBody>
      </p:sp>
      <p:sp>
        <p:nvSpPr>
          <p:cNvPr id="11" name="Shape 8"/>
          <p:cNvSpPr/>
          <p:nvPr/>
        </p:nvSpPr>
        <p:spPr>
          <a:xfrm>
            <a:off x="4297680" y="5029200"/>
            <a:ext cx="502920" cy="502920"/>
          </a:xfrm>
          <a:prstGeom prst="ellipse">
            <a:avLst/>
          </a:prstGeom>
          <a:solidFill>
            <a:srgbClr val="6E6E6E"/>
          </a:solidFill>
          <a:ln w="12700">
            <a:solidFill>
              <a:srgbClr val="6E6E6E"/>
            </a:solidFill>
            <a:prstDash val="solid"/>
          </a:ln>
        </p:spPr>
      </p:sp>
      <p:pic>
        <p:nvPicPr>
          <p:cNvPr id="12" name="Image 1" descr="preencoded.png">    </p:cNvPr>
          <p:cNvPicPr>
            <a:picLocks noChangeAspect="1"/>
          </p:cNvPicPr>
          <p:nvPr/>
        </p:nvPicPr>
        <p:blipFill>
          <a:blip r:embed="rId2"/>
          <a:stretch>
            <a:fillRect/>
          </a:stretch>
        </p:blipFill>
        <p:spPr>
          <a:xfrm>
            <a:off x="4423410" y="5154930"/>
            <a:ext cx="251460" cy="251460"/>
          </a:xfrm>
          <a:prstGeom prst="rect">
            <a:avLst/>
          </a:prstGeom>
        </p:spPr>
      </p:pic>
      <p:sp>
        <p:nvSpPr>
          <p:cNvPr id="13" name="Text 9"/>
          <p:cNvSpPr txBox="1"/>
          <p:nvPr/>
        </p:nvSpPr>
        <p:spPr>
          <a:xfrm>
            <a:off x="4937760" y="5001768"/>
            <a:ext cx="2926080" cy="274320"/>
          </a:xfrm>
          <a:prstGeom prst="rect">
            <a:avLst/>
          </a:prstGeom>
          <a:noFill/>
          <a:ln/>
        </p:spPr>
        <p:txBody>
          <a:bodyPr wrap="square" lIns="0" tIns="0" rIns="0" bIns="0" rtlCol="0" anchor="t"/>
          <a:lstStyle/>
          <a:p>
            <a:pPr indent="0" marL="0">
              <a:buNone/>
            </a:pPr>
            <a:r>
              <a:rPr lang="en-US" sz="1400" b="1" dirty="0">
                <a:solidFill>
                  <a:srgbClr val="0E1A2D"/>
                </a:solidFill>
                <a:latin typeface="Calibri" pitchFamily="34" charset="0"/>
                <a:ea typeface="Calibri" pitchFamily="34" charset="-122"/>
                <a:cs typeface="Calibri" pitchFamily="34" charset="-120"/>
              </a:rPr>
              <a:t>Sign in</a:t>
            </a:r>
            <a:endParaRPr lang="en-US" sz="1400" dirty="0"/>
          </a:p>
        </p:txBody>
      </p:sp>
      <p:sp>
        <p:nvSpPr>
          <p:cNvPr id="14" name="Text 10"/>
          <p:cNvSpPr txBox="1"/>
          <p:nvPr/>
        </p:nvSpPr>
        <p:spPr>
          <a:xfrm>
            <a:off x="4937760" y="5285232"/>
            <a:ext cx="2926080" cy="27432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Paid Claude plan or API account</a:t>
            </a:r>
            <a:endParaRPr lang="en-US" sz="1250" dirty="0"/>
          </a:p>
        </p:txBody>
      </p:sp>
      <p:sp>
        <p:nvSpPr>
          <p:cNvPr id="15" name="Shape 11"/>
          <p:cNvSpPr/>
          <p:nvPr/>
        </p:nvSpPr>
        <p:spPr>
          <a:xfrm>
            <a:off x="8046720" y="5029200"/>
            <a:ext cx="502920" cy="502920"/>
          </a:xfrm>
          <a:prstGeom prst="ellipse">
            <a:avLst/>
          </a:prstGeom>
          <a:solidFill>
            <a:srgbClr val="C0392B"/>
          </a:solidFill>
          <a:ln w="12700">
            <a:solidFill>
              <a:srgbClr val="C0392B"/>
            </a:solidFill>
            <a:prstDash val="solid"/>
          </a:ln>
        </p:spPr>
      </p:sp>
      <p:pic>
        <p:nvPicPr>
          <p:cNvPr id="16" name="Image 2" descr="preencoded.png">    </p:cNvPr>
          <p:cNvPicPr>
            <a:picLocks noChangeAspect="1"/>
          </p:cNvPicPr>
          <p:nvPr/>
        </p:nvPicPr>
        <p:blipFill>
          <a:blip r:embed="rId3"/>
          <a:stretch>
            <a:fillRect/>
          </a:stretch>
        </p:blipFill>
        <p:spPr>
          <a:xfrm>
            <a:off x="8172450" y="5154930"/>
            <a:ext cx="251460" cy="251460"/>
          </a:xfrm>
          <a:prstGeom prst="rect">
            <a:avLst/>
          </a:prstGeom>
        </p:spPr>
      </p:pic>
      <p:sp>
        <p:nvSpPr>
          <p:cNvPr id="17" name="Text 12"/>
          <p:cNvSpPr txBox="1"/>
          <p:nvPr/>
        </p:nvSpPr>
        <p:spPr>
          <a:xfrm>
            <a:off x="8686800" y="5001768"/>
            <a:ext cx="2926080" cy="274320"/>
          </a:xfrm>
          <a:prstGeom prst="rect">
            <a:avLst/>
          </a:prstGeom>
          <a:noFill/>
          <a:ln/>
        </p:spPr>
        <p:txBody>
          <a:bodyPr wrap="square" lIns="0" tIns="0" rIns="0" bIns="0" rtlCol="0" anchor="t"/>
          <a:lstStyle/>
          <a:p>
            <a:pPr indent="0" marL="0">
              <a:buNone/>
            </a:pPr>
            <a:r>
              <a:rPr lang="en-US" sz="1400" b="1" dirty="0">
                <a:solidFill>
                  <a:srgbClr val="0E1A2D"/>
                </a:solidFill>
                <a:latin typeface="Calibri" pitchFamily="34" charset="0"/>
                <a:ea typeface="Calibri" pitchFamily="34" charset="-122"/>
                <a:cs typeface="Calibri" pitchFamily="34" charset="-120"/>
              </a:rPr>
              <a:t>Open the repository</a:t>
            </a:r>
            <a:endParaRPr lang="en-US" sz="1400" dirty="0"/>
          </a:p>
        </p:txBody>
      </p:sp>
      <p:sp>
        <p:nvSpPr>
          <p:cNvPr id="18" name="Text 13"/>
          <p:cNvSpPr txBox="1"/>
          <p:nvPr/>
        </p:nvSpPr>
        <p:spPr>
          <a:xfrm>
            <a:off x="8686800" y="5285232"/>
            <a:ext cx="2926080" cy="27432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Claude reads CLAUDE.md and the docs</a:t>
            </a:r>
            <a:endParaRPr lang="en-US" sz="1250" dirty="0"/>
          </a:p>
        </p:txBody>
      </p:sp>
      <p:sp>
        <p:nvSpPr>
          <p:cNvPr id="19" name="Text 14"/>
          <p:cNvSpPr txBox="1"/>
          <p:nvPr/>
        </p:nvSpPr>
        <p:spPr>
          <a:xfrm>
            <a:off x="914400" y="2377440"/>
            <a:ext cx="4572000" cy="274320"/>
          </a:xfrm>
          <a:prstGeom prst="rect">
            <a:avLst/>
          </a:prstGeom>
          <a:noFill/>
          <a:ln/>
        </p:spPr>
        <p:txBody>
          <a:bodyPr wrap="square" lIns="0" tIns="0" rIns="0" bIns="0" rtlCol="0" anchor="t"/>
          <a:lstStyle/>
          <a:p>
            <a:pPr indent="0" marL="0">
              <a:buNone/>
            </a:pPr>
            <a:r>
              <a:rPr lang="en-US" sz="1100" b="1" spc="100" kern="0" dirty="0">
                <a:solidFill>
                  <a:srgbClr val="6E6E6E"/>
                </a:solidFill>
                <a:latin typeface="Calibri" pitchFamily="34" charset="0"/>
                <a:ea typeface="Calibri" pitchFamily="34" charset="-122"/>
                <a:cs typeface="Calibri" pitchFamily="34" charset="-120"/>
              </a:rPr>
              <a:t>A CHAT ASSISTANT</a:t>
            </a:r>
            <a:endParaRPr lang="en-US" sz="1100" dirty="0"/>
          </a:p>
        </p:txBody>
      </p:sp>
      <p:sp>
        <p:nvSpPr>
          <p:cNvPr id="20" name="Text 15"/>
          <p:cNvSpPr/>
          <p:nvPr/>
        </p:nvSpPr>
        <p:spPr>
          <a:xfrm>
            <a:off x="914400" y="2743200"/>
            <a:ext cx="475488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0E1A2D"/>
                </a:solidFill>
                <a:latin typeface="Calibri" pitchFamily="34" charset="0"/>
                <a:ea typeface="Calibri" pitchFamily="34" charset="-122"/>
                <a:cs typeface="Calibri" pitchFamily="34" charset="-120"/>
              </a:rPr>
              <a:t>You paste data in, and copy answers out</a:t>
            </a:r>
            <a:endParaRPr lang="en-US" sz="1500" dirty="0"/>
          </a:p>
          <a:p>
            <a:pPr marL="203200" indent="-203200">
              <a:spcAft>
                <a:spcPts val="800"/>
              </a:spcAft>
              <a:buSzPct val="100000"/>
              <a:buChar char="•"/>
            </a:pPr>
            <a:r>
              <a:rPr lang="en-US" sz="1500" dirty="0">
                <a:solidFill>
                  <a:srgbClr val="0E1A2D"/>
                </a:solidFill>
                <a:latin typeface="Calibri" pitchFamily="34" charset="0"/>
                <a:ea typeface="Calibri" pitchFamily="34" charset="-122"/>
                <a:cs typeface="Calibri" pitchFamily="34" charset="-120"/>
              </a:rPr>
              <a:t>Forgets the project between conversations</a:t>
            </a:r>
            <a:endParaRPr lang="en-US" sz="1500" dirty="0"/>
          </a:p>
          <a:p>
            <a:pPr marL="203200" indent="-203200">
              <a:spcAft>
                <a:spcPts val="800"/>
              </a:spcAft>
              <a:buSzPct val="100000"/>
              <a:buChar char="•"/>
            </a:pPr>
            <a:r>
              <a:rPr lang="en-US" sz="1500" dirty="0">
                <a:solidFill>
                  <a:srgbClr val="0E1A2D"/>
                </a:solidFill>
                <a:latin typeface="Calibri" pitchFamily="34" charset="0"/>
                <a:ea typeface="Calibri" pitchFamily="34" charset="-122"/>
                <a:cs typeface="Calibri" pitchFamily="34" charset="-120"/>
              </a:rPr>
              <a:t>Describes code, but you have to run it</a:t>
            </a:r>
            <a:endParaRPr lang="en-US" sz="1500" dirty="0"/>
          </a:p>
          <a:p>
            <a:pPr marL="203200" indent="-203200">
              <a:spcAft>
                <a:spcPts val="800"/>
              </a:spcAft>
              <a:buSzPct val="100000"/>
              <a:buChar char="•"/>
            </a:pPr>
            <a:r>
              <a:rPr lang="en-US" sz="1500" dirty="0">
                <a:solidFill>
                  <a:srgbClr val="0E1A2D"/>
                </a:solidFill>
                <a:latin typeface="Calibri" pitchFamily="34" charset="0"/>
                <a:ea typeface="Calibri" pitchFamily="34" charset="-122"/>
                <a:cs typeface="Calibri" pitchFamily="34" charset="-120"/>
              </a:rPr>
              <a:t>Results live in the chat history</a:t>
            </a:r>
            <a:endParaRPr lang="en-US" sz="1500" dirty="0"/>
          </a:p>
        </p:txBody>
      </p:sp>
      <p:sp>
        <p:nvSpPr>
          <p:cNvPr id="21" name="Text 16"/>
          <p:cNvSpPr txBox="1"/>
          <p:nvPr/>
        </p:nvSpPr>
        <p:spPr>
          <a:xfrm>
            <a:off x="6629400" y="2377440"/>
            <a:ext cx="4572000" cy="274320"/>
          </a:xfrm>
          <a:prstGeom prst="rect">
            <a:avLst/>
          </a:prstGeom>
          <a:noFill/>
          <a:ln/>
        </p:spPr>
        <p:txBody>
          <a:bodyPr wrap="square" lIns="0" tIns="0" rIns="0" bIns="0" rtlCol="0" anchor="t"/>
          <a:lstStyle/>
          <a:p>
            <a:pPr indent="0" marL="0">
              <a:buNone/>
            </a:pPr>
            <a:r>
              <a:rPr lang="en-US" sz="1100" b="1" spc="100" kern="0" dirty="0">
                <a:solidFill>
                  <a:srgbClr val="5B7089"/>
                </a:solidFill>
                <a:latin typeface="Calibri" pitchFamily="34" charset="0"/>
                <a:ea typeface="Calibri" pitchFamily="34" charset="-122"/>
                <a:cs typeface="Calibri" pitchFamily="34" charset="-120"/>
              </a:rPr>
              <a:t>CLAUDE CODE</a:t>
            </a:r>
            <a:endParaRPr lang="en-US" sz="1100" dirty="0"/>
          </a:p>
        </p:txBody>
      </p:sp>
      <p:sp>
        <p:nvSpPr>
          <p:cNvPr id="22" name="Text 17"/>
          <p:cNvSpPr/>
          <p:nvPr/>
        </p:nvSpPr>
        <p:spPr>
          <a:xfrm>
            <a:off x="6629400" y="2743200"/>
            <a:ext cx="475488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0E1A2D"/>
                </a:solidFill>
                <a:latin typeface="Calibri" pitchFamily="34" charset="0"/>
                <a:ea typeface="Calibri" pitchFamily="34" charset="-122"/>
                <a:cs typeface="Calibri" pitchFamily="34" charset="-120"/>
              </a:rPr>
              <a:t>Reads and writes the files in your repository</a:t>
            </a:r>
            <a:endParaRPr lang="en-US" sz="1500" dirty="0"/>
          </a:p>
          <a:p>
            <a:pPr marL="203200" indent="-203200">
              <a:spcAft>
                <a:spcPts val="800"/>
              </a:spcAft>
              <a:buSzPct val="100000"/>
              <a:buChar char="•"/>
            </a:pPr>
            <a:r>
              <a:rPr lang="en-US" sz="1500" dirty="0">
                <a:solidFill>
                  <a:srgbClr val="0E1A2D"/>
                </a:solidFill>
                <a:latin typeface="Calibri" pitchFamily="34" charset="0"/>
                <a:ea typeface="Calibri" pitchFamily="34" charset="-122"/>
                <a:cs typeface="Calibri" pitchFamily="34" charset="-120"/>
              </a:rPr>
              <a:t>Reads project rules from CLAUDE.md in every session</a:t>
            </a:r>
            <a:endParaRPr lang="en-US" sz="1500" dirty="0"/>
          </a:p>
          <a:p>
            <a:pPr marL="203200" indent="-203200">
              <a:spcAft>
                <a:spcPts val="800"/>
              </a:spcAft>
              <a:buSzPct val="100000"/>
              <a:buChar char="•"/>
            </a:pPr>
            <a:r>
              <a:rPr lang="en-US" sz="1500" dirty="0">
                <a:solidFill>
                  <a:srgbClr val="0E1A2D"/>
                </a:solidFill>
                <a:latin typeface="Calibri" pitchFamily="34" charset="0"/>
                <a:ea typeface="Calibri" pitchFamily="34" charset="-122"/>
                <a:cs typeface="Calibri" pitchFamily="34" charset="-120"/>
              </a:rPr>
              <a:t>Writes scripts, runs them, and reads the output</a:t>
            </a:r>
            <a:endParaRPr lang="en-US" sz="1500" dirty="0"/>
          </a:p>
          <a:p>
            <a:pPr marL="203200" indent="-203200">
              <a:spcAft>
                <a:spcPts val="800"/>
              </a:spcAft>
              <a:buSzPct val="100000"/>
              <a:buChar char="•"/>
            </a:pPr>
            <a:r>
              <a:rPr lang="en-US" sz="1500" dirty="0">
                <a:solidFill>
                  <a:srgbClr val="0E1A2D"/>
                </a:solidFill>
                <a:latin typeface="Calibri" pitchFamily="34" charset="0"/>
                <a:ea typeface="Calibri" pitchFamily="34" charset="-122"/>
                <a:cs typeface="Calibri" pitchFamily="34" charset="-120"/>
              </a:rPr>
              <a:t>Asks before it edits files or runs commands</a:t>
            </a:r>
            <a:endParaRPr lang="en-US" sz="1500" dirty="0"/>
          </a:p>
          <a:p>
            <a:pPr marL="203200" indent="-203200">
              <a:spcAft>
                <a:spcPts val="800"/>
              </a:spcAft>
              <a:buSzPct val="100000"/>
              <a:buChar char="•"/>
            </a:pPr>
            <a:r>
              <a:rPr lang="en-US" sz="1500" dirty="0">
                <a:solidFill>
                  <a:srgbClr val="0E1A2D"/>
                </a:solidFill>
                <a:latin typeface="Calibri" pitchFamily="34" charset="0"/>
                <a:ea typeface="Calibri" pitchFamily="34" charset="-122"/>
                <a:cs typeface="Calibri" pitchFamily="34" charset="-120"/>
              </a:rPr>
              <a:t>Results are files: stages, scripts, reports</a:t>
            </a:r>
            <a:endParaRPr lang="en-US" sz="1500" dirty="0"/>
          </a:p>
        </p:txBody>
      </p:sp>
      <p:sp>
        <p:nvSpPr>
          <p:cNvPr id="23" name="Text 1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7F87"/>
                </a:solidFill>
                <a:latin typeface="Calibri" pitchFamily="34" charset="0"/>
                <a:ea typeface="Calibri" pitchFamily="34" charset="-122"/>
                <a:cs typeface="Calibri" pitchFamily="34" charset="-120"/>
              </a:rPr>
              <a:t>WKS10  ·  Building a Repeatable AI Pipeline</a:t>
            </a:r>
            <a:endParaRPr lang="en-US" sz="1000" dirty="0"/>
          </a:p>
        </p:txBody>
      </p:sp>
      <p:sp>
        <p:nvSpPr>
          <p:cNvPr id="24" name="Text 19"/>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7F87"/>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392B"/>
                </a:solidFill>
                <a:latin typeface="Calibri" pitchFamily="34" charset="0"/>
                <a:ea typeface="Calibri" pitchFamily="34" charset="-122"/>
                <a:cs typeface="Calibri" pitchFamily="34" charset="-120"/>
              </a:rPr>
              <a:t>SOURCE AND TARGET</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0E1A2D"/>
                </a:solidFill>
                <a:latin typeface="Cambria" pitchFamily="34" charset="0"/>
                <a:ea typeface="Cambria" pitchFamily="34" charset="-122"/>
                <a:cs typeface="Cambria" pitchFamily="34" charset="-120"/>
              </a:rPr>
              <a:t>The workshop repository</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4D4D4D"/>
                </a:solidFill>
                <a:latin typeface="Calibri" pitchFamily="34" charset="0"/>
                <a:ea typeface="Calibri" pitchFamily="34" charset="-122"/>
                <a:cs typeface="Calibri" pitchFamily="34" charset="-120"/>
              </a:rPr>
              <a:t>The source is never changed. Every step writes a new numbered file and a report.</a:t>
            </a:r>
            <a:endParaRPr lang="en-US" sz="1500" dirty="0"/>
          </a:p>
        </p:txBody>
      </p:sp>
      <p:sp>
        <p:nvSpPr>
          <p:cNvPr id="5" name="Shape 3"/>
          <p:cNvSpPr/>
          <p:nvPr/>
        </p:nvSpPr>
        <p:spPr>
          <a:xfrm>
            <a:off x="548640" y="2286000"/>
            <a:ext cx="3429000" cy="1737360"/>
          </a:xfrm>
          <a:prstGeom prst="roundRect">
            <a:avLst>
              <a:gd name="adj" fmla="val 4211"/>
            </a:avLst>
          </a:prstGeom>
          <a:solidFill>
            <a:srgbClr val="EFE5CB"/>
          </a:solidFill>
          <a:ln w="12700">
            <a:solidFill>
              <a:srgbClr val="EFE5CB"/>
            </a:solidFill>
            <a:prstDash val="solid"/>
          </a:ln>
        </p:spPr>
      </p:sp>
      <p:sp>
        <p:nvSpPr>
          <p:cNvPr id="6" name="Shape 4"/>
          <p:cNvSpPr/>
          <p:nvPr/>
        </p:nvSpPr>
        <p:spPr>
          <a:xfrm>
            <a:off x="822960" y="2514600"/>
            <a:ext cx="502920" cy="502920"/>
          </a:xfrm>
          <a:prstGeom prst="ellipse">
            <a:avLst/>
          </a:prstGeom>
          <a:solidFill>
            <a:srgbClr val="6E6E6E"/>
          </a:solidFill>
          <a:ln w="12700">
            <a:solidFill>
              <a:srgbClr val="6E6E6E"/>
            </a:solidFill>
            <a:prstDash val="solid"/>
          </a:ln>
        </p:spPr>
      </p:sp>
      <p:pic>
        <p:nvPicPr>
          <p:cNvPr id="7" name="Image 0" descr="preencoded.png">    </p:cNvPr>
          <p:cNvPicPr>
            <a:picLocks noChangeAspect="1"/>
          </p:cNvPicPr>
          <p:nvPr/>
        </p:nvPicPr>
        <p:blipFill>
          <a:blip r:embed="rId1"/>
          <a:stretch>
            <a:fillRect/>
          </a:stretch>
        </p:blipFill>
        <p:spPr>
          <a:xfrm>
            <a:off x="948690" y="2640330"/>
            <a:ext cx="251460" cy="251460"/>
          </a:xfrm>
          <a:prstGeom prst="rect">
            <a:avLst/>
          </a:prstGeom>
        </p:spPr>
      </p:pic>
      <p:sp>
        <p:nvSpPr>
          <p:cNvPr id="8" name="Text 5"/>
          <p:cNvSpPr txBox="1"/>
          <p:nvPr/>
        </p:nvSpPr>
        <p:spPr>
          <a:xfrm>
            <a:off x="1463040" y="2514600"/>
            <a:ext cx="2468880" cy="502920"/>
          </a:xfrm>
          <a:prstGeom prst="rect">
            <a:avLst/>
          </a:prstGeom>
          <a:noFill/>
          <a:ln/>
        </p:spPr>
        <p:txBody>
          <a:bodyPr wrap="square" lIns="0" tIns="0" rIns="0" bIns="0" rtlCol="0" anchor="ctr"/>
          <a:lstStyle/>
          <a:p>
            <a:pPr indent="0" marL="0">
              <a:buNone/>
            </a:pPr>
            <a:r>
              <a:rPr lang="en-US" sz="1300" b="1" dirty="0">
                <a:solidFill>
                  <a:srgbClr val="0E1A2D"/>
                </a:solidFill>
                <a:latin typeface="Courier New" pitchFamily="34" charset="0"/>
                <a:ea typeface="Courier New" pitchFamily="34" charset="-122"/>
                <a:cs typeface="Courier New" pitchFamily="34" charset="-120"/>
              </a:rPr>
              <a:t>data/input/</a:t>
            </a:r>
            <a:endParaRPr lang="en-US" sz="1300" dirty="0"/>
          </a:p>
        </p:txBody>
      </p:sp>
      <p:sp>
        <p:nvSpPr>
          <p:cNvPr id="9" name="Text 6"/>
          <p:cNvSpPr txBox="1"/>
          <p:nvPr/>
        </p:nvSpPr>
        <p:spPr>
          <a:xfrm>
            <a:off x="822960" y="3200400"/>
            <a:ext cx="3017520" cy="731520"/>
          </a:xfrm>
          <a:prstGeom prst="rect">
            <a:avLst/>
          </a:prstGeom>
          <a:noFill/>
          <a:ln/>
        </p:spPr>
        <p:txBody>
          <a:bodyPr wrap="square" lIns="0" tIns="0" rIns="0" bIns="0" rtlCol="0" anchor="t"/>
          <a:lstStyle/>
          <a:p>
            <a:pPr indent="0" marL="0">
              <a:buNone/>
            </a:pPr>
            <a:r>
              <a:rPr lang="en-US" sz="1350" dirty="0">
                <a:solidFill>
                  <a:srgbClr val="4D4D4D"/>
                </a:solidFill>
                <a:latin typeface="Calibri" pitchFamily="34" charset="0"/>
                <a:ea typeface="Calibri" pitchFamily="34" charset="-122"/>
                <a:cs typeface="Calibri" pitchFamily="34" charset="-120"/>
              </a:rPr>
              <a:t>Verbatim source files</a:t>
            </a:r>
            <a:endParaRPr lang="en-US" sz="1350" dirty="0"/>
          </a:p>
        </p:txBody>
      </p:sp>
      <p:pic>
        <p:nvPicPr>
          <p:cNvPr id="10" name="Image 1" descr="preencoded.png">    </p:cNvPr>
          <p:cNvPicPr>
            <a:picLocks noChangeAspect="1"/>
          </p:cNvPicPr>
          <p:nvPr/>
        </p:nvPicPr>
        <p:blipFill>
          <a:blip r:embed="rId2"/>
          <a:stretch>
            <a:fillRect/>
          </a:stretch>
        </p:blipFill>
        <p:spPr>
          <a:xfrm>
            <a:off x="4059936" y="2971800"/>
            <a:ext cx="292608" cy="292608"/>
          </a:xfrm>
          <a:prstGeom prst="rect">
            <a:avLst/>
          </a:prstGeom>
        </p:spPr>
      </p:pic>
      <p:sp>
        <p:nvSpPr>
          <p:cNvPr id="11" name="Shape 7"/>
          <p:cNvSpPr/>
          <p:nvPr/>
        </p:nvSpPr>
        <p:spPr>
          <a:xfrm>
            <a:off x="4434840" y="2286000"/>
            <a:ext cx="3429000" cy="1737360"/>
          </a:xfrm>
          <a:prstGeom prst="roundRect">
            <a:avLst>
              <a:gd name="adj" fmla="val 4211"/>
            </a:avLst>
          </a:prstGeom>
          <a:solidFill>
            <a:srgbClr val="EFE5CB"/>
          </a:solidFill>
          <a:ln w="12700">
            <a:solidFill>
              <a:srgbClr val="EFE5CB"/>
            </a:solidFill>
            <a:prstDash val="solid"/>
          </a:ln>
        </p:spPr>
      </p:sp>
      <p:sp>
        <p:nvSpPr>
          <p:cNvPr id="12" name="Shape 8"/>
          <p:cNvSpPr/>
          <p:nvPr/>
        </p:nvSpPr>
        <p:spPr>
          <a:xfrm>
            <a:off x="4709160" y="2514600"/>
            <a:ext cx="502920" cy="502920"/>
          </a:xfrm>
          <a:prstGeom prst="ellipse">
            <a:avLst/>
          </a:prstGeom>
          <a:solidFill>
            <a:srgbClr val="5B7089"/>
          </a:solidFill>
          <a:ln w="12700">
            <a:solidFill>
              <a:srgbClr val="5B7089"/>
            </a:solidFill>
            <a:prstDash val="solid"/>
          </a:ln>
        </p:spPr>
      </p:sp>
      <p:pic>
        <p:nvPicPr>
          <p:cNvPr id="13" name="Image 2" descr="preencoded.png">    </p:cNvPr>
          <p:cNvPicPr>
            <a:picLocks noChangeAspect="1"/>
          </p:cNvPicPr>
          <p:nvPr/>
        </p:nvPicPr>
        <p:blipFill>
          <a:blip r:embed="rId3"/>
          <a:stretch>
            <a:fillRect/>
          </a:stretch>
        </p:blipFill>
        <p:spPr>
          <a:xfrm>
            <a:off x="4834890" y="2640330"/>
            <a:ext cx="251460" cy="251460"/>
          </a:xfrm>
          <a:prstGeom prst="rect">
            <a:avLst/>
          </a:prstGeom>
        </p:spPr>
      </p:pic>
      <p:sp>
        <p:nvSpPr>
          <p:cNvPr id="14" name="Text 9"/>
          <p:cNvSpPr txBox="1"/>
          <p:nvPr/>
        </p:nvSpPr>
        <p:spPr>
          <a:xfrm>
            <a:off x="5349240" y="2514600"/>
            <a:ext cx="2468880" cy="502920"/>
          </a:xfrm>
          <a:prstGeom prst="rect">
            <a:avLst/>
          </a:prstGeom>
          <a:noFill/>
          <a:ln/>
        </p:spPr>
        <p:txBody>
          <a:bodyPr wrap="square" lIns="0" tIns="0" rIns="0" bIns="0" rtlCol="0" anchor="ctr"/>
          <a:lstStyle/>
          <a:p>
            <a:pPr indent="0" marL="0">
              <a:buNone/>
            </a:pPr>
            <a:r>
              <a:rPr lang="en-US" sz="1300" b="1" dirty="0">
                <a:solidFill>
                  <a:srgbClr val="0E1A2D"/>
                </a:solidFill>
                <a:latin typeface="Courier New" pitchFamily="34" charset="0"/>
                <a:ea typeface="Courier New" pitchFamily="34" charset="-122"/>
                <a:cs typeface="Courier New" pitchFamily="34" charset="-120"/>
              </a:rPr>
              <a:t>data/output/&lt;dataset&gt;/</a:t>
            </a:r>
            <a:endParaRPr lang="en-US" sz="1300" dirty="0"/>
          </a:p>
        </p:txBody>
      </p:sp>
      <p:sp>
        <p:nvSpPr>
          <p:cNvPr id="15" name="Text 10"/>
          <p:cNvSpPr txBox="1"/>
          <p:nvPr/>
        </p:nvSpPr>
        <p:spPr>
          <a:xfrm>
            <a:off x="4709160" y="3200400"/>
            <a:ext cx="3017520" cy="731520"/>
          </a:xfrm>
          <a:prstGeom prst="rect">
            <a:avLst/>
          </a:prstGeom>
          <a:noFill/>
          <a:ln/>
        </p:spPr>
        <p:txBody>
          <a:bodyPr wrap="square" lIns="0" tIns="0" rIns="0" bIns="0" rtlCol="0" anchor="t"/>
          <a:lstStyle/>
          <a:p>
            <a:pPr indent="0" marL="0">
              <a:buNone/>
            </a:pPr>
            <a:r>
              <a:rPr lang="en-US" sz="1350" dirty="0">
                <a:solidFill>
                  <a:srgbClr val="4D4D4D"/>
                </a:solidFill>
                <a:latin typeface="Calibri" pitchFamily="34" charset="0"/>
                <a:ea typeface="Calibri" pitchFamily="34" charset="-122"/>
                <a:cs typeface="Calibri" pitchFamily="34" charset="-120"/>
              </a:rPr>
              <a:t>_00 → _01 → _02 → _03</a:t>
            </a:r>
            <a:endParaRPr lang="en-US" sz="1350" dirty="0"/>
          </a:p>
          <a:p>
            <a:pPr indent="0" marL="0">
              <a:buNone/>
            </a:pPr>
            <a:r>
              <a:rPr lang="en-US" sz="1350" dirty="0">
                <a:solidFill>
                  <a:srgbClr val="4D4D4D"/>
                </a:solidFill>
                <a:latin typeface="Calibri" pitchFamily="34" charset="0"/>
                <a:ea typeface="Calibri" pitchFamily="34" charset="-122"/>
                <a:cs typeface="Calibri" pitchFamily="34" charset="-120"/>
              </a:rPr>
              <a:t>plus a report for each step</a:t>
            </a:r>
            <a:endParaRPr lang="en-US" sz="1350" dirty="0"/>
          </a:p>
        </p:txBody>
      </p:sp>
      <p:pic>
        <p:nvPicPr>
          <p:cNvPr id="16" name="Image 3" descr="preencoded.png">    </p:cNvPr>
          <p:cNvPicPr>
            <a:picLocks noChangeAspect="1"/>
          </p:cNvPicPr>
          <p:nvPr/>
        </p:nvPicPr>
        <p:blipFill>
          <a:blip r:embed="rId4"/>
          <a:stretch>
            <a:fillRect/>
          </a:stretch>
        </p:blipFill>
        <p:spPr>
          <a:xfrm>
            <a:off x="7946136" y="2971800"/>
            <a:ext cx="292608" cy="292608"/>
          </a:xfrm>
          <a:prstGeom prst="rect">
            <a:avLst/>
          </a:prstGeom>
        </p:spPr>
      </p:pic>
      <p:sp>
        <p:nvSpPr>
          <p:cNvPr id="17" name="Shape 11"/>
          <p:cNvSpPr/>
          <p:nvPr/>
        </p:nvSpPr>
        <p:spPr>
          <a:xfrm>
            <a:off x="8321040" y="2286000"/>
            <a:ext cx="3429000" cy="1737360"/>
          </a:xfrm>
          <a:prstGeom prst="roundRect">
            <a:avLst>
              <a:gd name="adj" fmla="val 4211"/>
            </a:avLst>
          </a:prstGeom>
          <a:solidFill>
            <a:srgbClr val="EFE5CB"/>
          </a:solidFill>
          <a:ln w="12700">
            <a:solidFill>
              <a:srgbClr val="EFE5CB"/>
            </a:solidFill>
            <a:prstDash val="solid"/>
          </a:ln>
        </p:spPr>
      </p:sp>
      <p:sp>
        <p:nvSpPr>
          <p:cNvPr id="18" name="Shape 12"/>
          <p:cNvSpPr/>
          <p:nvPr/>
        </p:nvSpPr>
        <p:spPr>
          <a:xfrm>
            <a:off x="8595360" y="2514600"/>
            <a:ext cx="502920" cy="502920"/>
          </a:xfrm>
          <a:prstGeom prst="ellipse">
            <a:avLst/>
          </a:prstGeom>
          <a:solidFill>
            <a:srgbClr val="C0392B"/>
          </a:solidFill>
          <a:ln w="12700">
            <a:solidFill>
              <a:srgbClr val="C0392B"/>
            </a:solidFill>
            <a:prstDash val="solid"/>
          </a:ln>
        </p:spPr>
      </p:sp>
      <p:pic>
        <p:nvPicPr>
          <p:cNvPr id="19" name="Image 4" descr="preencoded.png">    </p:cNvPr>
          <p:cNvPicPr>
            <a:picLocks noChangeAspect="1"/>
          </p:cNvPicPr>
          <p:nvPr/>
        </p:nvPicPr>
        <p:blipFill>
          <a:blip r:embed="rId5"/>
          <a:stretch>
            <a:fillRect/>
          </a:stretch>
        </p:blipFill>
        <p:spPr>
          <a:xfrm>
            <a:off x="8721090" y="2640330"/>
            <a:ext cx="251460" cy="251460"/>
          </a:xfrm>
          <a:prstGeom prst="rect">
            <a:avLst/>
          </a:prstGeom>
        </p:spPr>
      </p:pic>
      <p:sp>
        <p:nvSpPr>
          <p:cNvPr id="20" name="Text 13"/>
          <p:cNvSpPr txBox="1"/>
          <p:nvPr/>
        </p:nvSpPr>
        <p:spPr>
          <a:xfrm>
            <a:off x="9235440" y="2514600"/>
            <a:ext cx="2468880" cy="502920"/>
          </a:xfrm>
          <a:prstGeom prst="rect">
            <a:avLst/>
          </a:prstGeom>
          <a:noFill/>
          <a:ln/>
        </p:spPr>
        <p:txBody>
          <a:bodyPr wrap="square" lIns="0" tIns="0" rIns="0" bIns="0" rtlCol="0" anchor="ctr"/>
          <a:lstStyle/>
          <a:p>
            <a:pPr indent="0" marL="0">
              <a:buNone/>
            </a:pPr>
            <a:r>
              <a:rPr lang="en-US" sz="1300" b="1" dirty="0">
                <a:solidFill>
                  <a:srgbClr val="0E1A2D"/>
                </a:solidFill>
                <a:latin typeface="Courier New" pitchFamily="34" charset="0"/>
                <a:ea typeface="Courier New" pitchFamily="34" charset="-122"/>
                <a:cs typeface="Courier New" pitchFamily="34" charset="-120"/>
              </a:rPr>
              <a:t>data/dist/&lt;dataset&gt;/</a:t>
            </a:r>
            <a:endParaRPr lang="en-US" sz="1300" dirty="0"/>
          </a:p>
        </p:txBody>
      </p:sp>
      <p:sp>
        <p:nvSpPr>
          <p:cNvPr id="21" name="Text 14"/>
          <p:cNvSpPr txBox="1"/>
          <p:nvPr/>
        </p:nvSpPr>
        <p:spPr>
          <a:xfrm>
            <a:off x="8595360" y="3200400"/>
            <a:ext cx="3017520" cy="731520"/>
          </a:xfrm>
          <a:prstGeom prst="rect">
            <a:avLst/>
          </a:prstGeom>
          <a:noFill/>
          <a:ln/>
        </p:spPr>
        <p:txBody>
          <a:bodyPr wrap="square" lIns="0" tIns="0" rIns="0" bIns="0" rtlCol="0" anchor="t"/>
          <a:lstStyle/>
          <a:p>
            <a:pPr indent="0" marL="0">
              <a:buNone/>
            </a:pPr>
            <a:r>
              <a:rPr lang="en-US" sz="1350" dirty="0">
                <a:solidFill>
                  <a:srgbClr val="4D4D4D"/>
                </a:solidFill>
                <a:latin typeface="Calibri" pitchFamily="34" charset="0"/>
                <a:ea typeface="Calibri" pitchFamily="34" charset="-122"/>
                <a:cs typeface="Calibri" pitchFamily="34" charset="-120"/>
              </a:rPr>
              <a:t>Result, unresolved values,</a:t>
            </a:r>
            <a:endParaRPr lang="en-US" sz="1350" dirty="0"/>
          </a:p>
          <a:p>
            <a:pPr indent="0" marL="0">
              <a:buNone/>
            </a:pPr>
            <a:r>
              <a:rPr lang="en-US" sz="1350" dirty="0">
                <a:solidFill>
                  <a:srgbClr val="4D4D4D"/>
                </a:solidFill>
                <a:latin typeface="Calibri" pitchFamily="34" charset="0"/>
                <a:ea typeface="Calibri" pitchFamily="34" charset="-122"/>
                <a:cs typeface="Calibri" pitchFamily="34" charset="-120"/>
              </a:rPr>
              <a:t>summary report</a:t>
            </a:r>
            <a:endParaRPr lang="en-US" sz="1350" dirty="0"/>
          </a:p>
        </p:txBody>
      </p:sp>
      <p:sp>
        <p:nvSpPr>
          <p:cNvPr id="22" name="Text 15"/>
          <p:cNvSpPr txBox="1"/>
          <p:nvPr/>
        </p:nvSpPr>
        <p:spPr>
          <a:xfrm>
            <a:off x="548640" y="4434840"/>
            <a:ext cx="2194560" cy="365760"/>
          </a:xfrm>
          <a:prstGeom prst="rect">
            <a:avLst/>
          </a:prstGeom>
          <a:noFill/>
          <a:ln/>
        </p:spPr>
        <p:txBody>
          <a:bodyPr wrap="square" lIns="0" tIns="0" rIns="0" bIns="0" rtlCol="0" anchor="ctr"/>
          <a:lstStyle/>
          <a:p>
            <a:pPr indent="0" marL="0">
              <a:buNone/>
            </a:pPr>
            <a:r>
              <a:rPr lang="en-US" sz="1250" b="1" dirty="0">
                <a:solidFill>
                  <a:srgbClr val="5B7089"/>
                </a:solidFill>
                <a:latin typeface="Courier New" pitchFamily="34" charset="0"/>
                <a:ea typeface="Courier New" pitchFamily="34" charset="-122"/>
                <a:cs typeface="Courier New" pitchFamily="34" charset="-120"/>
              </a:rPr>
              <a:t>data/authorities/</a:t>
            </a:r>
            <a:endParaRPr lang="en-US" sz="1250" dirty="0"/>
          </a:p>
        </p:txBody>
      </p:sp>
      <p:sp>
        <p:nvSpPr>
          <p:cNvPr id="23" name="Text 16"/>
          <p:cNvSpPr txBox="1"/>
          <p:nvPr/>
        </p:nvSpPr>
        <p:spPr>
          <a:xfrm>
            <a:off x="2788920" y="4434840"/>
            <a:ext cx="3291840" cy="73152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Mineral names, varieties, geopolitical divisions. Used as context or for validation</a:t>
            </a:r>
            <a:endParaRPr lang="en-US" sz="1250" dirty="0"/>
          </a:p>
        </p:txBody>
      </p:sp>
      <p:sp>
        <p:nvSpPr>
          <p:cNvPr id="24" name="Text 17"/>
          <p:cNvSpPr txBox="1"/>
          <p:nvPr/>
        </p:nvSpPr>
        <p:spPr>
          <a:xfrm>
            <a:off x="6263640" y="4434840"/>
            <a:ext cx="2194560" cy="365760"/>
          </a:xfrm>
          <a:prstGeom prst="rect">
            <a:avLst/>
          </a:prstGeom>
          <a:noFill/>
          <a:ln/>
        </p:spPr>
        <p:txBody>
          <a:bodyPr wrap="square" lIns="0" tIns="0" rIns="0" bIns="0" rtlCol="0" anchor="ctr"/>
          <a:lstStyle/>
          <a:p>
            <a:pPr indent="0" marL="0">
              <a:buNone/>
            </a:pPr>
            <a:r>
              <a:rPr lang="en-US" sz="1250" b="1" dirty="0">
                <a:solidFill>
                  <a:srgbClr val="5B7089"/>
                </a:solidFill>
                <a:latin typeface="Courier New" pitchFamily="34" charset="0"/>
                <a:ea typeface="Courier New" pitchFamily="34" charset="-122"/>
                <a:cs typeface="Courier New" pitchFamily="34" charset="-120"/>
              </a:rPr>
              <a:t>docs/</a:t>
            </a:r>
            <a:endParaRPr lang="en-US" sz="1250" dirty="0"/>
          </a:p>
        </p:txBody>
      </p:sp>
      <p:sp>
        <p:nvSpPr>
          <p:cNvPr id="25" name="Text 18"/>
          <p:cNvSpPr txBox="1"/>
          <p:nvPr/>
        </p:nvSpPr>
        <p:spPr>
          <a:xfrm>
            <a:off x="8503920" y="4434840"/>
            <a:ext cx="3291840" cy="73152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Workshop notes, dataset profiles, transformation specs and your plans</a:t>
            </a:r>
            <a:endParaRPr lang="en-US" sz="1250" dirty="0"/>
          </a:p>
        </p:txBody>
      </p:sp>
      <p:sp>
        <p:nvSpPr>
          <p:cNvPr id="26" name="Text 19"/>
          <p:cNvSpPr txBox="1"/>
          <p:nvPr/>
        </p:nvSpPr>
        <p:spPr>
          <a:xfrm>
            <a:off x="548640" y="5303520"/>
            <a:ext cx="2194560" cy="365760"/>
          </a:xfrm>
          <a:prstGeom prst="rect">
            <a:avLst/>
          </a:prstGeom>
          <a:noFill/>
          <a:ln/>
        </p:spPr>
        <p:txBody>
          <a:bodyPr wrap="square" lIns="0" tIns="0" rIns="0" bIns="0" rtlCol="0" anchor="ctr"/>
          <a:lstStyle/>
          <a:p>
            <a:pPr indent="0" marL="0">
              <a:buNone/>
            </a:pPr>
            <a:r>
              <a:rPr lang="en-US" sz="1250" b="1" dirty="0">
                <a:solidFill>
                  <a:srgbClr val="5B7089"/>
                </a:solidFill>
                <a:latin typeface="Courier New" pitchFamily="34" charset="0"/>
                <a:ea typeface="Courier New" pitchFamily="34" charset="-122"/>
                <a:cs typeface="Courier New" pitchFamily="34" charset="-120"/>
              </a:rPr>
              <a:t>schemas/</a:t>
            </a:r>
            <a:endParaRPr lang="en-US" sz="1250" dirty="0"/>
          </a:p>
        </p:txBody>
      </p:sp>
      <p:sp>
        <p:nvSpPr>
          <p:cNvPr id="27" name="Text 20"/>
          <p:cNvSpPr txBox="1"/>
          <p:nvPr/>
        </p:nvSpPr>
        <p:spPr>
          <a:xfrm>
            <a:off x="2788920" y="5303520"/>
            <a:ext cx="3291840" cy="73152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Import template and data dictionary for the compound specimen model</a:t>
            </a:r>
            <a:endParaRPr lang="en-US" sz="1250" dirty="0"/>
          </a:p>
        </p:txBody>
      </p:sp>
      <p:sp>
        <p:nvSpPr>
          <p:cNvPr id="28" name="Text 21"/>
          <p:cNvSpPr txBox="1"/>
          <p:nvPr/>
        </p:nvSpPr>
        <p:spPr>
          <a:xfrm>
            <a:off x="6263640" y="5303520"/>
            <a:ext cx="2194560" cy="365760"/>
          </a:xfrm>
          <a:prstGeom prst="rect">
            <a:avLst/>
          </a:prstGeom>
          <a:noFill/>
          <a:ln/>
        </p:spPr>
        <p:txBody>
          <a:bodyPr wrap="square" lIns="0" tIns="0" rIns="0" bIns="0" rtlCol="0" anchor="ctr"/>
          <a:lstStyle/>
          <a:p>
            <a:pPr indent="0" marL="0">
              <a:buNone/>
            </a:pPr>
            <a:r>
              <a:rPr lang="en-US" sz="1250" b="1" dirty="0">
                <a:solidFill>
                  <a:srgbClr val="5B7089"/>
                </a:solidFill>
                <a:latin typeface="Courier New" pitchFamily="34" charset="0"/>
                <a:ea typeface="Courier New" pitchFamily="34" charset="-122"/>
                <a:cs typeface="Courier New" pitchFamily="34" charset="-120"/>
              </a:rPr>
              <a:t>src/transform/</a:t>
            </a:r>
            <a:endParaRPr lang="en-US" sz="1250" dirty="0"/>
          </a:p>
        </p:txBody>
      </p:sp>
      <p:sp>
        <p:nvSpPr>
          <p:cNvPr id="29" name="Text 22"/>
          <p:cNvSpPr txBox="1"/>
          <p:nvPr/>
        </p:nvSpPr>
        <p:spPr>
          <a:xfrm>
            <a:off x="8503920" y="5303520"/>
            <a:ext cx="3291840" cy="73152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One small script per step: &lt;dataset&gt;_&lt;from&gt;_to_&lt;to&gt;.py</a:t>
            </a:r>
            <a:endParaRPr lang="en-US" sz="1250" dirty="0"/>
          </a:p>
        </p:txBody>
      </p:sp>
      <p:sp>
        <p:nvSpPr>
          <p:cNvPr id="30" name="Text 2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7F87"/>
                </a:solidFill>
                <a:latin typeface="Calibri" pitchFamily="34" charset="0"/>
                <a:ea typeface="Calibri" pitchFamily="34" charset="-122"/>
                <a:cs typeface="Calibri" pitchFamily="34" charset="-120"/>
              </a:rPr>
              <a:t>WKS10  ·  Building a Repeatable AI Pipeline</a:t>
            </a:r>
            <a:endParaRPr lang="en-US" sz="1000" dirty="0"/>
          </a:p>
        </p:txBody>
      </p:sp>
      <p:sp>
        <p:nvSpPr>
          <p:cNvPr id="31" name="Text 24"/>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7F87"/>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392B"/>
                </a:solidFill>
                <a:latin typeface="Calibri" pitchFamily="34" charset="0"/>
                <a:ea typeface="Calibri" pitchFamily="34" charset="-122"/>
                <a:cs typeface="Calibri" pitchFamily="34" charset="-120"/>
              </a:rPr>
              <a:t>SOURCE AND TARGET</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0E1A2D"/>
                </a:solidFill>
                <a:latin typeface="Cambria" pitchFamily="34" charset="0"/>
                <a:ea typeface="Cambria" pitchFamily="34" charset="-122"/>
                <a:cs typeface="Cambria" pitchFamily="34" charset="-120"/>
              </a:rPr>
              <a:t>Four source datasets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4D4D4D"/>
                </a:solidFill>
                <a:latin typeface="Calibri" pitchFamily="34" charset="0"/>
                <a:ea typeface="Calibri" pitchFamily="34" charset="-122"/>
                <a:cs typeface="Calibri" pitchFamily="34" charset="-120"/>
              </a:rPr>
              <a:t>Real exports, with the problems real exports have.</a:t>
            </a:r>
            <a:endParaRPr lang="en-US" sz="1500" dirty="0"/>
          </a:p>
        </p:txBody>
      </p:sp>
      <p:sp>
        <p:nvSpPr>
          <p:cNvPr id="5" name="Shape 3"/>
          <p:cNvSpPr/>
          <p:nvPr/>
        </p:nvSpPr>
        <p:spPr>
          <a:xfrm>
            <a:off x="548640" y="2148840"/>
            <a:ext cx="2651760" cy="3931920"/>
          </a:xfrm>
          <a:prstGeom prst="roundRect">
            <a:avLst>
              <a:gd name="adj" fmla="val 2759"/>
            </a:avLst>
          </a:prstGeom>
          <a:solidFill>
            <a:srgbClr val="EFE5CB"/>
          </a:solidFill>
          <a:ln w="12700">
            <a:solidFill>
              <a:srgbClr val="EFE5CB"/>
            </a:solidFill>
            <a:prstDash val="solid"/>
          </a:ln>
        </p:spPr>
      </p:sp>
      <p:sp>
        <p:nvSpPr>
          <p:cNvPr id="6" name="Text 4"/>
          <p:cNvSpPr txBox="1"/>
          <p:nvPr/>
        </p:nvSpPr>
        <p:spPr>
          <a:xfrm>
            <a:off x="822960" y="2377440"/>
            <a:ext cx="2194560" cy="274320"/>
          </a:xfrm>
          <a:prstGeom prst="rect">
            <a:avLst/>
          </a:prstGeom>
          <a:noFill/>
          <a:ln/>
        </p:spPr>
        <p:txBody>
          <a:bodyPr wrap="square" lIns="0" tIns="0" rIns="0" bIns="0" rtlCol="0" anchor="t"/>
          <a:lstStyle/>
          <a:p>
            <a:pPr indent="0" marL="0">
              <a:buNone/>
            </a:pPr>
            <a:r>
              <a:rPr lang="en-US" sz="1100" b="1" spc="100" kern="0" dirty="0">
                <a:solidFill>
                  <a:srgbClr val="C0392B"/>
                </a:solidFill>
                <a:latin typeface="Calibri" pitchFamily="34" charset="0"/>
                <a:ea typeface="Calibri" pitchFamily="34" charset="-122"/>
                <a:cs typeface="Calibri" pitchFamily="34" charset="-120"/>
              </a:rPr>
              <a:t>PART A</a:t>
            </a:r>
            <a:endParaRPr lang="en-US" sz="1100" dirty="0"/>
          </a:p>
        </p:txBody>
      </p:sp>
      <p:sp>
        <p:nvSpPr>
          <p:cNvPr id="7" name="Text 5"/>
          <p:cNvSpPr txBox="1"/>
          <p:nvPr/>
        </p:nvSpPr>
        <p:spPr>
          <a:xfrm>
            <a:off x="822960" y="2651760"/>
            <a:ext cx="2194560" cy="640080"/>
          </a:xfrm>
          <a:prstGeom prst="rect">
            <a:avLst/>
          </a:prstGeom>
          <a:noFill/>
          <a:ln/>
        </p:spPr>
        <p:txBody>
          <a:bodyPr wrap="square" lIns="0" tIns="0" rIns="0" bIns="0" rtlCol="0" anchor="t"/>
          <a:lstStyle/>
          <a:p>
            <a:pPr indent="0" marL="0">
              <a:buNone/>
            </a:pPr>
            <a:r>
              <a:rPr lang="en-US" sz="1600" b="1" dirty="0">
                <a:solidFill>
                  <a:srgbClr val="0E1A2D"/>
                </a:solidFill>
                <a:latin typeface="Calibri" pitchFamily="34" charset="0"/>
                <a:ea typeface="Calibri" pitchFamily="34" charset="-122"/>
                <a:cs typeface="Calibri" pitchFamily="34" charset="-120"/>
              </a:rPr>
              <a:t>German mineral names</a:t>
            </a:r>
            <a:endParaRPr lang="en-US" sz="1600" dirty="0"/>
          </a:p>
        </p:txBody>
      </p:sp>
      <p:sp>
        <p:nvSpPr>
          <p:cNvPr id="8" name="Text 6"/>
          <p:cNvSpPr txBox="1"/>
          <p:nvPr/>
        </p:nvSpPr>
        <p:spPr>
          <a:xfrm>
            <a:off x="822960" y="3291840"/>
            <a:ext cx="2194560" cy="731520"/>
          </a:xfrm>
          <a:prstGeom prst="rect">
            <a:avLst/>
          </a:prstGeom>
          <a:noFill/>
          <a:ln/>
        </p:spPr>
        <p:txBody>
          <a:bodyPr wrap="square" lIns="0" tIns="0" rIns="0" bIns="0" rtlCol="0" anchor="ctr"/>
          <a:lstStyle/>
          <a:p>
            <a:pPr indent="0" marL="0">
              <a:buNone/>
            </a:pPr>
            <a:r>
              <a:rPr lang="en-US" sz="3800" b="1" dirty="0">
                <a:solidFill>
                  <a:srgbClr val="5B7089"/>
                </a:solidFill>
                <a:latin typeface="Cambria" pitchFamily="34" charset="0"/>
                <a:ea typeface="Cambria" pitchFamily="34" charset="-122"/>
                <a:cs typeface="Cambria" pitchFamily="34" charset="-120"/>
              </a:rPr>
              <a:t>2,191</a:t>
            </a:r>
            <a:endParaRPr lang="en-US" sz="3800" dirty="0"/>
          </a:p>
        </p:txBody>
      </p:sp>
      <p:sp>
        <p:nvSpPr>
          <p:cNvPr id="9" name="Text 7"/>
          <p:cNvSpPr txBox="1"/>
          <p:nvPr/>
        </p:nvSpPr>
        <p:spPr>
          <a:xfrm>
            <a:off x="822960" y="4069080"/>
            <a:ext cx="2194560" cy="59436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unique names; 1,748 end in -it</a:t>
            </a:r>
            <a:endParaRPr lang="en-US" sz="1300" dirty="0"/>
          </a:p>
        </p:txBody>
      </p:sp>
      <p:sp>
        <p:nvSpPr>
          <p:cNvPr id="10" name="Text 8"/>
          <p:cNvSpPr txBox="1"/>
          <p:nvPr/>
        </p:nvSpPr>
        <p:spPr>
          <a:xfrm>
            <a:off x="822960" y="4754880"/>
            <a:ext cx="2194560" cy="1097280"/>
          </a:xfrm>
          <a:prstGeom prst="rect">
            <a:avLst/>
          </a:prstGeom>
          <a:noFill/>
          <a:ln/>
        </p:spPr>
        <p:txBody>
          <a:bodyPr wrap="square" lIns="0" tIns="0" rIns="0" bIns="0" rtlCol="0" anchor="t"/>
          <a:lstStyle/>
          <a:p>
            <a:pPr indent="0" marL="0">
              <a:buNone/>
            </a:pPr>
            <a:r>
              <a:rPr lang="en-US" sz="1250" dirty="0">
                <a:solidFill>
                  <a:srgbClr val="7A7F87"/>
                </a:solidFill>
                <a:latin typeface="Calibri" pitchFamily="34" charset="0"/>
                <a:ea typeface="Calibri" pitchFamily="34" charset="-122"/>
                <a:cs typeface="Calibri" pitchFamily="34" charset="-120"/>
              </a:rPr>
              <a:t>e.g. </a:t>
            </a:r>
            <a:pPr indent="0" marL="0">
              <a:buNone/>
            </a:pPr>
            <a:r>
              <a:rPr lang="en-US" sz="1250" i="1" dirty="0">
                <a:solidFill>
                  <a:srgbClr val="0E1A2D"/>
                </a:solidFill>
                <a:latin typeface="Calibri" pitchFamily="34" charset="0"/>
                <a:ea typeface="Calibri" pitchFamily="34" charset="-122"/>
                <a:cs typeface="Calibri" pitchFamily="34" charset="-120"/>
              </a:rPr>
              <a:t>Quarz, Schwefel, Rotgültigerz, unbestimmt</a:t>
            </a:r>
            <a:endParaRPr lang="en-US" sz="1250" dirty="0"/>
          </a:p>
        </p:txBody>
      </p:sp>
      <p:sp>
        <p:nvSpPr>
          <p:cNvPr id="11" name="Shape 9"/>
          <p:cNvSpPr/>
          <p:nvPr/>
        </p:nvSpPr>
        <p:spPr>
          <a:xfrm>
            <a:off x="3364992" y="2148840"/>
            <a:ext cx="2651760" cy="3931920"/>
          </a:xfrm>
          <a:prstGeom prst="roundRect">
            <a:avLst>
              <a:gd name="adj" fmla="val 2759"/>
            </a:avLst>
          </a:prstGeom>
          <a:solidFill>
            <a:srgbClr val="EFE5CB"/>
          </a:solidFill>
          <a:ln w="12700">
            <a:solidFill>
              <a:srgbClr val="EFE5CB"/>
            </a:solidFill>
            <a:prstDash val="solid"/>
          </a:ln>
        </p:spPr>
      </p:sp>
      <p:sp>
        <p:nvSpPr>
          <p:cNvPr id="12" name="Text 10"/>
          <p:cNvSpPr txBox="1"/>
          <p:nvPr/>
        </p:nvSpPr>
        <p:spPr>
          <a:xfrm>
            <a:off x="3639312" y="2377440"/>
            <a:ext cx="2194560" cy="274320"/>
          </a:xfrm>
          <a:prstGeom prst="rect">
            <a:avLst/>
          </a:prstGeom>
          <a:noFill/>
          <a:ln/>
        </p:spPr>
        <p:txBody>
          <a:bodyPr wrap="square" lIns="0" tIns="0" rIns="0" bIns="0" rtlCol="0" anchor="t"/>
          <a:lstStyle/>
          <a:p>
            <a:pPr indent="0" marL="0">
              <a:buNone/>
            </a:pPr>
            <a:r>
              <a:rPr lang="en-US" sz="1100" b="1" spc="100" kern="0" dirty="0">
                <a:solidFill>
                  <a:srgbClr val="C0392B"/>
                </a:solidFill>
                <a:latin typeface="Calibri" pitchFamily="34" charset="0"/>
                <a:ea typeface="Calibri" pitchFamily="34" charset="-122"/>
                <a:cs typeface="Calibri" pitchFamily="34" charset="-120"/>
              </a:rPr>
              <a:t>PART B</a:t>
            </a:r>
            <a:endParaRPr lang="en-US" sz="1100" dirty="0"/>
          </a:p>
        </p:txBody>
      </p:sp>
      <p:sp>
        <p:nvSpPr>
          <p:cNvPr id="13" name="Text 11"/>
          <p:cNvSpPr txBox="1"/>
          <p:nvPr/>
        </p:nvSpPr>
        <p:spPr>
          <a:xfrm>
            <a:off x="3639312" y="2651760"/>
            <a:ext cx="2194560" cy="640080"/>
          </a:xfrm>
          <a:prstGeom prst="rect">
            <a:avLst/>
          </a:prstGeom>
          <a:noFill/>
          <a:ln/>
        </p:spPr>
        <p:txBody>
          <a:bodyPr wrap="square" lIns="0" tIns="0" rIns="0" bIns="0" rtlCol="0" anchor="t"/>
          <a:lstStyle/>
          <a:p>
            <a:pPr indent="0" marL="0">
              <a:buNone/>
            </a:pPr>
            <a:r>
              <a:rPr lang="en-US" sz="1600" b="1" dirty="0">
                <a:solidFill>
                  <a:srgbClr val="0E1A2D"/>
                </a:solidFill>
                <a:latin typeface="Calibri" pitchFamily="34" charset="0"/>
                <a:ea typeface="Calibri" pitchFamily="34" charset="-122"/>
                <a:cs typeface="Calibri" pitchFamily="34" charset="-120"/>
              </a:rPr>
              <a:t>French mineral names</a:t>
            </a:r>
            <a:endParaRPr lang="en-US" sz="1600" dirty="0"/>
          </a:p>
        </p:txBody>
      </p:sp>
      <p:sp>
        <p:nvSpPr>
          <p:cNvPr id="14" name="Text 12"/>
          <p:cNvSpPr txBox="1"/>
          <p:nvPr/>
        </p:nvSpPr>
        <p:spPr>
          <a:xfrm>
            <a:off x="3639312" y="3291840"/>
            <a:ext cx="2194560" cy="731520"/>
          </a:xfrm>
          <a:prstGeom prst="rect">
            <a:avLst/>
          </a:prstGeom>
          <a:noFill/>
          <a:ln/>
        </p:spPr>
        <p:txBody>
          <a:bodyPr wrap="square" lIns="0" tIns="0" rIns="0" bIns="0" rtlCol="0" anchor="ctr"/>
          <a:lstStyle/>
          <a:p>
            <a:pPr indent="0" marL="0">
              <a:buNone/>
            </a:pPr>
            <a:r>
              <a:rPr lang="en-US" sz="3800" b="1" dirty="0">
                <a:solidFill>
                  <a:srgbClr val="5B7089"/>
                </a:solidFill>
                <a:latin typeface="Cambria" pitchFamily="34" charset="0"/>
                <a:ea typeface="Cambria" pitchFamily="34" charset="-122"/>
                <a:cs typeface="Cambria" pitchFamily="34" charset="-120"/>
              </a:rPr>
              <a:t>21,460</a:t>
            </a:r>
            <a:endParaRPr lang="en-US" sz="3800" dirty="0"/>
          </a:p>
        </p:txBody>
      </p:sp>
      <p:sp>
        <p:nvSpPr>
          <p:cNvPr id="15" name="Text 13"/>
          <p:cNvSpPr txBox="1"/>
          <p:nvPr/>
        </p:nvSpPr>
        <p:spPr>
          <a:xfrm>
            <a:off x="3639312" y="4069080"/>
            <a:ext cx="2194560" cy="59436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specimen rows; 3,663 distinct names</a:t>
            </a:r>
            <a:endParaRPr lang="en-US" sz="1300" dirty="0"/>
          </a:p>
        </p:txBody>
      </p:sp>
      <p:sp>
        <p:nvSpPr>
          <p:cNvPr id="16" name="Text 14"/>
          <p:cNvSpPr txBox="1"/>
          <p:nvPr/>
        </p:nvSpPr>
        <p:spPr>
          <a:xfrm>
            <a:off x="3639312" y="4754880"/>
            <a:ext cx="2194560" cy="1097280"/>
          </a:xfrm>
          <a:prstGeom prst="rect">
            <a:avLst/>
          </a:prstGeom>
          <a:noFill/>
          <a:ln/>
        </p:spPr>
        <p:txBody>
          <a:bodyPr wrap="square" lIns="0" tIns="0" rIns="0" bIns="0" rtlCol="0" anchor="t"/>
          <a:lstStyle/>
          <a:p>
            <a:pPr indent="0" marL="0">
              <a:buNone/>
            </a:pPr>
            <a:r>
              <a:rPr lang="en-US" sz="1250" dirty="0">
                <a:solidFill>
                  <a:srgbClr val="7A7F87"/>
                </a:solidFill>
                <a:latin typeface="Calibri" pitchFamily="34" charset="0"/>
                <a:ea typeface="Calibri" pitchFamily="34" charset="-122"/>
                <a:cs typeface="Calibri" pitchFamily="34" charset="-120"/>
              </a:rPr>
              <a:t>e.g. </a:t>
            </a:r>
            <a:pPr indent="0" marL="0">
              <a:buNone/>
            </a:pPr>
            <a:r>
              <a:rPr lang="en-US" sz="1250" i="1" dirty="0">
                <a:solidFill>
                  <a:srgbClr val="0E1A2D"/>
                </a:solidFill>
                <a:latin typeface="Calibri" pitchFamily="34" charset="0"/>
                <a:ea typeface="Calibri" pitchFamily="34" charset="-122"/>
                <a:cs typeface="Calibri" pitchFamily="34" charset="-120"/>
              </a:rPr>
              <a:t>Allevardite = Rectorite, Adulaire/titanite, à identifier</a:t>
            </a:r>
            <a:endParaRPr lang="en-US" sz="1250" dirty="0"/>
          </a:p>
        </p:txBody>
      </p:sp>
      <p:sp>
        <p:nvSpPr>
          <p:cNvPr id="17" name="Shape 15"/>
          <p:cNvSpPr/>
          <p:nvPr/>
        </p:nvSpPr>
        <p:spPr>
          <a:xfrm>
            <a:off x="6181344" y="2148840"/>
            <a:ext cx="2651760" cy="3931920"/>
          </a:xfrm>
          <a:prstGeom prst="roundRect">
            <a:avLst>
              <a:gd name="adj" fmla="val 2759"/>
            </a:avLst>
          </a:prstGeom>
          <a:solidFill>
            <a:srgbClr val="EFE5CB"/>
          </a:solidFill>
          <a:ln w="12700">
            <a:solidFill>
              <a:srgbClr val="EFE5CB"/>
            </a:solidFill>
            <a:prstDash val="solid"/>
          </a:ln>
        </p:spPr>
      </p:sp>
      <p:sp>
        <p:nvSpPr>
          <p:cNvPr id="18" name="Text 16"/>
          <p:cNvSpPr txBox="1"/>
          <p:nvPr/>
        </p:nvSpPr>
        <p:spPr>
          <a:xfrm>
            <a:off x="6455664" y="2377440"/>
            <a:ext cx="2194560" cy="274320"/>
          </a:xfrm>
          <a:prstGeom prst="rect">
            <a:avLst/>
          </a:prstGeom>
          <a:noFill/>
          <a:ln/>
        </p:spPr>
        <p:txBody>
          <a:bodyPr wrap="square" lIns="0" tIns="0" rIns="0" bIns="0" rtlCol="0" anchor="t"/>
          <a:lstStyle/>
          <a:p>
            <a:pPr indent="0" marL="0">
              <a:buNone/>
            </a:pPr>
            <a:r>
              <a:rPr lang="en-US" sz="1100" b="1" spc="100" kern="0" dirty="0">
                <a:solidFill>
                  <a:srgbClr val="C0392B"/>
                </a:solidFill>
                <a:latin typeface="Calibri" pitchFamily="34" charset="0"/>
                <a:ea typeface="Calibri" pitchFamily="34" charset="-122"/>
                <a:cs typeface="Calibri" pitchFamily="34" charset="-120"/>
              </a:rPr>
              <a:t>PART C</a:t>
            </a:r>
            <a:endParaRPr lang="en-US" sz="1100" dirty="0"/>
          </a:p>
        </p:txBody>
      </p:sp>
      <p:sp>
        <p:nvSpPr>
          <p:cNvPr id="19" name="Text 17"/>
          <p:cNvSpPr txBox="1"/>
          <p:nvPr/>
        </p:nvSpPr>
        <p:spPr>
          <a:xfrm>
            <a:off x="6455664" y="2651760"/>
            <a:ext cx="2194560" cy="640080"/>
          </a:xfrm>
          <a:prstGeom prst="rect">
            <a:avLst/>
          </a:prstGeom>
          <a:noFill/>
          <a:ln/>
        </p:spPr>
        <p:txBody>
          <a:bodyPr wrap="square" lIns="0" tIns="0" rIns="0" bIns="0" rtlCol="0" anchor="t"/>
          <a:lstStyle/>
          <a:p>
            <a:pPr indent="0" marL="0">
              <a:buNone/>
            </a:pPr>
            <a:r>
              <a:rPr lang="en-US" sz="1600" b="1" dirty="0">
                <a:solidFill>
                  <a:srgbClr val="0E1A2D"/>
                </a:solidFill>
                <a:latin typeface="Calibri" pitchFamily="34" charset="0"/>
                <a:ea typeface="Calibri" pitchFamily="34" charset="-122"/>
                <a:cs typeface="Calibri" pitchFamily="34" charset="-120"/>
              </a:rPr>
              <a:t>German localities</a:t>
            </a:r>
            <a:endParaRPr lang="en-US" sz="1600" dirty="0"/>
          </a:p>
        </p:txBody>
      </p:sp>
      <p:sp>
        <p:nvSpPr>
          <p:cNvPr id="20" name="Text 18"/>
          <p:cNvSpPr txBox="1"/>
          <p:nvPr/>
        </p:nvSpPr>
        <p:spPr>
          <a:xfrm>
            <a:off x="6455664" y="3291840"/>
            <a:ext cx="2194560" cy="731520"/>
          </a:xfrm>
          <a:prstGeom prst="rect">
            <a:avLst/>
          </a:prstGeom>
          <a:noFill/>
          <a:ln/>
        </p:spPr>
        <p:txBody>
          <a:bodyPr wrap="square" lIns="0" tIns="0" rIns="0" bIns="0" rtlCol="0" anchor="ctr"/>
          <a:lstStyle/>
          <a:p>
            <a:pPr indent="0" marL="0">
              <a:buNone/>
            </a:pPr>
            <a:r>
              <a:rPr lang="en-US" sz="3800" b="1" dirty="0">
                <a:solidFill>
                  <a:srgbClr val="5B7089"/>
                </a:solidFill>
                <a:latin typeface="Cambria" pitchFamily="34" charset="0"/>
                <a:ea typeface="Cambria" pitchFamily="34" charset="-122"/>
                <a:cs typeface="Cambria" pitchFamily="34" charset="-120"/>
              </a:rPr>
              <a:t>14,092</a:t>
            </a:r>
            <a:endParaRPr lang="en-US" sz="3800" dirty="0"/>
          </a:p>
        </p:txBody>
      </p:sp>
      <p:sp>
        <p:nvSpPr>
          <p:cNvPr id="21" name="Text 19"/>
          <p:cNvSpPr txBox="1"/>
          <p:nvPr/>
        </p:nvSpPr>
        <p:spPr>
          <a:xfrm>
            <a:off x="6455664" y="4069080"/>
            <a:ext cx="2194560" cy="59436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locality strings with 1–9 values each</a:t>
            </a:r>
            <a:endParaRPr lang="en-US" sz="1300" dirty="0"/>
          </a:p>
        </p:txBody>
      </p:sp>
      <p:sp>
        <p:nvSpPr>
          <p:cNvPr id="22" name="Text 20"/>
          <p:cNvSpPr txBox="1"/>
          <p:nvPr/>
        </p:nvSpPr>
        <p:spPr>
          <a:xfrm>
            <a:off x="6455664" y="4754880"/>
            <a:ext cx="2194560" cy="1097280"/>
          </a:xfrm>
          <a:prstGeom prst="rect">
            <a:avLst/>
          </a:prstGeom>
          <a:noFill/>
          <a:ln/>
        </p:spPr>
        <p:txBody>
          <a:bodyPr wrap="square" lIns="0" tIns="0" rIns="0" bIns="0" rtlCol="0" anchor="t"/>
          <a:lstStyle/>
          <a:p>
            <a:pPr indent="0" marL="0">
              <a:buNone/>
            </a:pPr>
            <a:r>
              <a:rPr lang="en-US" sz="1250" dirty="0">
                <a:solidFill>
                  <a:srgbClr val="7A7F87"/>
                </a:solidFill>
                <a:latin typeface="Calibri" pitchFamily="34" charset="0"/>
                <a:ea typeface="Calibri" pitchFamily="34" charset="-122"/>
                <a:cs typeface="Calibri" pitchFamily="34" charset="-120"/>
              </a:rPr>
              <a:t>e.g. </a:t>
            </a:r>
            <a:pPr indent="0" marL="0">
              <a:buNone/>
            </a:pPr>
            <a:r>
              <a:rPr lang="en-US" sz="1250" i="1" dirty="0">
                <a:solidFill>
                  <a:srgbClr val="0E1A2D"/>
                </a:solidFill>
                <a:latin typeface="Calibri" pitchFamily="34" charset="0"/>
                <a:ea typeface="Calibri" pitchFamily="34" charset="-122"/>
                <a:cs typeface="Calibri" pitchFamily="34" charset="-120"/>
              </a:rPr>
              <a:t>zw. Paphos und Limasol, Czechoslovakia, bei, ?</a:t>
            </a:r>
            <a:endParaRPr lang="en-US" sz="1250" dirty="0"/>
          </a:p>
        </p:txBody>
      </p:sp>
      <p:sp>
        <p:nvSpPr>
          <p:cNvPr id="23" name="Shape 21"/>
          <p:cNvSpPr/>
          <p:nvPr/>
        </p:nvSpPr>
        <p:spPr>
          <a:xfrm>
            <a:off x="8997696" y="2148840"/>
            <a:ext cx="2651760" cy="3931920"/>
          </a:xfrm>
          <a:prstGeom prst="roundRect">
            <a:avLst>
              <a:gd name="adj" fmla="val 2759"/>
            </a:avLst>
          </a:prstGeom>
          <a:solidFill>
            <a:srgbClr val="EFE5CB"/>
          </a:solidFill>
          <a:ln w="12700">
            <a:solidFill>
              <a:srgbClr val="EFE5CB"/>
            </a:solidFill>
            <a:prstDash val="solid"/>
          </a:ln>
        </p:spPr>
      </p:sp>
      <p:sp>
        <p:nvSpPr>
          <p:cNvPr id="24" name="Text 22"/>
          <p:cNvSpPr txBox="1"/>
          <p:nvPr/>
        </p:nvSpPr>
        <p:spPr>
          <a:xfrm>
            <a:off x="9272016" y="2377440"/>
            <a:ext cx="2194560" cy="274320"/>
          </a:xfrm>
          <a:prstGeom prst="rect">
            <a:avLst/>
          </a:prstGeom>
          <a:noFill/>
          <a:ln/>
        </p:spPr>
        <p:txBody>
          <a:bodyPr wrap="square" lIns="0" tIns="0" rIns="0" bIns="0" rtlCol="0" anchor="t"/>
          <a:lstStyle/>
          <a:p>
            <a:pPr indent="0" marL="0">
              <a:buNone/>
            </a:pPr>
            <a:r>
              <a:rPr lang="en-US" sz="1100" b="1" spc="100" kern="0" dirty="0">
                <a:solidFill>
                  <a:srgbClr val="C0392B"/>
                </a:solidFill>
                <a:latin typeface="Calibri" pitchFamily="34" charset="0"/>
                <a:ea typeface="Calibri" pitchFamily="34" charset="-122"/>
                <a:cs typeface="Calibri" pitchFamily="34" charset="-120"/>
              </a:rPr>
              <a:t>PART D</a:t>
            </a:r>
            <a:endParaRPr lang="en-US" sz="1100" dirty="0"/>
          </a:p>
        </p:txBody>
      </p:sp>
      <p:sp>
        <p:nvSpPr>
          <p:cNvPr id="25" name="Text 23"/>
          <p:cNvSpPr txBox="1"/>
          <p:nvPr/>
        </p:nvSpPr>
        <p:spPr>
          <a:xfrm>
            <a:off x="9272016" y="2651760"/>
            <a:ext cx="2194560" cy="640080"/>
          </a:xfrm>
          <a:prstGeom prst="rect">
            <a:avLst/>
          </a:prstGeom>
          <a:noFill/>
          <a:ln/>
        </p:spPr>
        <p:txBody>
          <a:bodyPr wrap="square" lIns="0" tIns="0" rIns="0" bIns="0" rtlCol="0" anchor="t"/>
          <a:lstStyle/>
          <a:p>
            <a:pPr indent="0" marL="0">
              <a:buNone/>
            </a:pPr>
            <a:r>
              <a:rPr lang="en-US" sz="1600" b="1" dirty="0">
                <a:solidFill>
                  <a:srgbClr val="0E1A2D"/>
                </a:solidFill>
                <a:latin typeface="Calibri" pitchFamily="34" charset="0"/>
                <a:ea typeface="Calibri" pitchFamily="34" charset="-122"/>
                <a:cs typeface="Calibri" pitchFamily="34" charset="-120"/>
              </a:rPr>
              <a:t>Peabody mineral samples</a:t>
            </a:r>
            <a:endParaRPr lang="en-US" sz="1600" dirty="0"/>
          </a:p>
        </p:txBody>
      </p:sp>
      <p:sp>
        <p:nvSpPr>
          <p:cNvPr id="26" name="Text 24"/>
          <p:cNvSpPr txBox="1"/>
          <p:nvPr/>
        </p:nvSpPr>
        <p:spPr>
          <a:xfrm>
            <a:off x="9272016" y="3291840"/>
            <a:ext cx="2194560" cy="731520"/>
          </a:xfrm>
          <a:prstGeom prst="rect">
            <a:avLst/>
          </a:prstGeom>
          <a:noFill/>
          <a:ln/>
        </p:spPr>
        <p:txBody>
          <a:bodyPr wrap="square" lIns="0" tIns="0" rIns="0" bIns="0" rtlCol="0" anchor="ctr"/>
          <a:lstStyle/>
          <a:p>
            <a:pPr indent="0" marL="0">
              <a:buNone/>
            </a:pPr>
            <a:r>
              <a:rPr lang="en-US" sz="3800" b="1" dirty="0">
                <a:solidFill>
                  <a:srgbClr val="5B7089"/>
                </a:solidFill>
                <a:latin typeface="Cambria" pitchFamily="34" charset="0"/>
                <a:ea typeface="Cambria" pitchFamily="34" charset="-122"/>
                <a:cs typeface="Cambria" pitchFamily="34" charset="-120"/>
              </a:rPr>
              <a:t>67</a:t>
            </a:r>
            <a:endParaRPr lang="en-US" sz="3800" dirty="0"/>
          </a:p>
        </p:txBody>
      </p:sp>
      <p:sp>
        <p:nvSpPr>
          <p:cNvPr id="27" name="Text 25"/>
          <p:cNvSpPr txBox="1"/>
          <p:nvPr/>
        </p:nvSpPr>
        <p:spPr>
          <a:xfrm>
            <a:off x="9272016" y="4069080"/>
            <a:ext cx="2194560" cy="59436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specimens made of 245 mineral parts</a:t>
            </a:r>
            <a:endParaRPr lang="en-US" sz="1300" dirty="0"/>
          </a:p>
        </p:txBody>
      </p:sp>
      <p:sp>
        <p:nvSpPr>
          <p:cNvPr id="28" name="Text 26"/>
          <p:cNvSpPr txBox="1"/>
          <p:nvPr/>
        </p:nvSpPr>
        <p:spPr>
          <a:xfrm>
            <a:off x="9272016" y="4754880"/>
            <a:ext cx="2194560" cy="1097280"/>
          </a:xfrm>
          <a:prstGeom prst="rect">
            <a:avLst/>
          </a:prstGeom>
          <a:noFill/>
          <a:ln/>
        </p:spPr>
        <p:txBody>
          <a:bodyPr wrap="square" lIns="0" tIns="0" rIns="0" bIns="0" rtlCol="0" anchor="t"/>
          <a:lstStyle/>
          <a:p>
            <a:pPr indent="0" marL="0">
              <a:buNone/>
            </a:pPr>
            <a:r>
              <a:rPr lang="en-US" sz="1250" dirty="0">
                <a:solidFill>
                  <a:srgbClr val="7A7F87"/>
                </a:solidFill>
                <a:latin typeface="Calibri" pitchFamily="34" charset="0"/>
                <a:ea typeface="Calibri" pitchFamily="34" charset="-122"/>
                <a:cs typeface="Calibri" pitchFamily="34" charset="-120"/>
              </a:rPr>
              <a:t>e.g. </a:t>
            </a:r>
            <a:pPr indent="0" marL="0">
              <a:buNone/>
            </a:pPr>
            <a:r>
              <a:rPr lang="en-US" sz="1250" i="1" dirty="0">
                <a:solidFill>
                  <a:srgbClr val="0E1A2D"/>
                </a:solidFill>
                <a:latin typeface="Calibri" pitchFamily="34" charset="0"/>
                <a:ea typeface="Calibri" pitchFamily="34" charset="-122"/>
                <a:cs typeface="Calibri" pitchFamily="34" charset="-120"/>
              </a:rPr>
              <a:t>Corundum var. ruby, Garnet, Mica</a:t>
            </a:r>
            <a:endParaRPr lang="en-US" sz="1250" dirty="0"/>
          </a:p>
        </p:txBody>
      </p:sp>
      <p:sp>
        <p:nvSpPr>
          <p:cNvPr id="29" name="Text 2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7F87"/>
                </a:solidFill>
                <a:latin typeface="Calibri" pitchFamily="34" charset="0"/>
                <a:ea typeface="Calibri" pitchFamily="34" charset="-122"/>
                <a:cs typeface="Calibri" pitchFamily="34" charset="-120"/>
              </a:rPr>
              <a:t>WKS10  ·  Building a Repeatable AI Pipeline</a:t>
            </a:r>
            <a:endParaRPr lang="en-US" sz="1000" dirty="0"/>
          </a:p>
        </p:txBody>
      </p:sp>
      <p:sp>
        <p:nvSpPr>
          <p:cNvPr id="30" name="Text 28"/>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7F87"/>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392B"/>
                </a:solidFill>
                <a:latin typeface="Calibri" pitchFamily="34" charset="0"/>
                <a:ea typeface="Calibri" pitchFamily="34" charset="-122"/>
                <a:cs typeface="Calibri" pitchFamily="34" charset="-120"/>
              </a:rPr>
              <a:t>SOURCE AND TARGET</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0E1A2D"/>
                </a:solidFill>
                <a:latin typeface="Cambria" pitchFamily="34" charset="0"/>
                <a:ea typeface="Cambria" pitchFamily="34" charset="-122"/>
                <a:cs typeface="Cambria" pitchFamily="34" charset="-120"/>
              </a:rPr>
              <a:t>Target: the compound specimen model</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4D4D4D"/>
                </a:solidFill>
                <a:latin typeface="Calibri" pitchFamily="34" charset="0"/>
                <a:ea typeface="Calibri" pitchFamily="34" charset="-122"/>
                <a:cs typeface="Calibri" pitchFamily="34" charset="-120"/>
              </a:rPr>
              <a:t>One physical specimen, several identifiable parts, each linked to its parent.</a:t>
            </a:r>
            <a:endParaRPr lang="en-US" sz="1500" dirty="0"/>
          </a:p>
        </p:txBody>
      </p:sp>
      <p:sp>
        <p:nvSpPr>
          <p:cNvPr id="5" name="Text 3"/>
          <p:cNvSpPr txBox="1"/>
          <p:nvPr/>
        </p:nvSpPr>
        <p:spPr>
          <a:xfrm>
            <a:off x="548640" y="2103120"/>
            <a:ext cx="5486400" cy="274320"/>
          </a:xfrm>
          <a:prstGeom prst="rect">
            <a:avLst/>
          </a:prstGeom>
          <a:noFill/>
          <a:ln/>
        </p:spPr>
        <p:txBody>
          <a:bodyPr wrap="square" lIns="0" tIns="0" rIns="0" bIns="0" rtlCol="0" anchor="t"/>
          <a:lstStyle/>
          <a:p>
            <a:pPr indent="0" marL="0">
              <a:buNone/>
            </a:pPr>
            <a:r>
              <a:rPr lang="en-US" sz="1100" b="1" spc="100" kern="0" dirty="0">
                <a:solidFill>
                  <a:srgbClr val="C0392B"/>
                </a:solidFill>
                <a:latin typeface="Calibri" pitchFamily="34" charset="0"/>
                <a:ea typeface="Calibri" pitchFamily="34" charset="-122"/>
                <a:cs typeface="Calibri" pitchFamily="34" charset="-120"/>
              </a:rPr>
              <a:t>SOURCE (ONE ROW)</a:t>
            </a:r>
            <a:endParaRPr lang="en-US" sz="1100" dirty="0"/>
          </a:p>
        </p:txBody>
      </p:sp>
      <p:sp>
        <p:nvSpPr>
          <p:cNvPr id="6" name="Text 4"/>
          <p:cNvSpPr txBox="1"/>
          <p:nvPr/>
        </p:nvSpPr>
        <p:spPr>
          <a:xfrm>
            <a:off x="548640" y="2423160"/>
            <a:ext cx="5669280" cy="777240"/>
          </a:xfrm>
          <a:prstGeom prst="rect">
            <a:avLst/>
          </a:prstGeom>
          <a:solidFill>
            <a:srgbClr val="EFE5CB"/>
          </a:solidFill>
          <a:ln/>
        </p:spPr>
        <p:txBody>
          <a:bodyPr wrap="square" lIns="1905" tIns="1905" rIns="1905" bIns="1905" rtlCol="0" anchor="ctr"/>
          <a:lstStyle/>
          <a:p>
            <a:pPr indent="0" marL="0">
              <a:buNone/>
            </a:pPr>
            <a:r>
              <a:rPr lang="en-US" sz="1300" dirty="0">
                <a:solidFill>
                  <a:srgbClr val="0E1A2D"/>
                </a:solidFill>
                <a:latin typeface="Courier New" pitchFamily="34" charset="0"/>
                <a:ea typeface="Courier New" pitchFamily="34" charset="-122"/>
                <a:cs typeface="Courier New" pitchFamily="34" charset="-120"/>
              </a:rPr>
              <a:t>MIN.058343: Beryl, Tourmaline, Muscovite, Quartz</a:t>
            </a:r>
            <a:endParaRPr lang="en-US" sz="1300" dirty="0"/>
          </a:p>
          <a:p>
            <a:pPr indent="0" marL="0">
              <a:buNone/>
            </a:pPr>
            <a:r>
              <a:rPr lang="en-US" sz="1300" dirty="0">
                <a:solidFill>
                  <a:srgbClr val="0E1A2D"/>
                </a:solidFill>
                <a:latin typeface="Courier New" pitchFamily="34" charset="0"/>
                <a:ea typeface="Courier New" pitchFamily="34" charset="-122"/>
                <a:cs typeface="Courier New" pitchFamily="34" charset="-120"/>
              </a:rPr>
              <a:t>USA. Connecticut. Middlesex County.</a:t>
            </a:r>
            <a:endParaRPr lang="en-US" sz="1300" dirty="0"/>
          </a:p>
        </p:txBody>
      </p:sp>
      <p:sp>
        <p:nvSpPr>
          <p:cNvPr id="7" name="Shape 5"/>
          <p:cNvSpPr/>
          <p:nvPr/>
        </p:nvSpPr>
        <p:spPr>
          <a:xfrm>
            <a:off x="3017520" y="3611880"/>
            <a:ext cx="3017520" cy="731520"/>
          </a:xfrm>
          <a:prstGeom prst="roundRect">
            <a:avLst>
              <a:gd name="adj" fmla="val 10000"/>
            </a:avLst>
          </a:prstGeom>
          <a:solidFill>
            <a:srgbClr val="5B7089"/>
          </a:solidFill>
          <a:ln w="12700">
            <a:solidFill>
              <a:srgbClr val="5B7089"/>
            </a:solidFill>
            <a:prstDash val="solid"/>
          </a:ln>
        </p:spPr>
      </p:sp>
      <p:sp>
        <p:nvSpPr>
          <p:cNvPr id="8" name="Text 6"/>
          <p:cNvSpPr txBox="1"/>
          <p:nvPr/>
        </p:nvSpPr>
        <p:spPr>
          <a:xfrm>
            <a:off x="3017520" y="3611880"/>
            <a:ext cx="3017520" cy="7315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MIN.058343</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parent · cataloged_name: Beryl</a:t>
            </a:r>
            <a:endParaRPr lang="en-US" sz="1250" dirty="0"/>
          </a:p>
        </p:txBody>
      </p:sp>
      <p:sp>
        <p:nvSpPr>
          <p:cNvPr id="9" name="Shape 7"/>
          <p:cNvSpPr/>
          <p:nvPr/>
        </p:nvSpPr>
        <p:spPr>
          <a:xfrm flipH="1">
            <a:off x="1463040" y="4343400"/>
            <a:ext cx="3063240" cy="685800"/>
          </a:xfrm>
          <a:prstGeom prst="line">
            <a:avLst/>
          </a:prstGeom>
          <a:noFill/>
          <a:ln w="12700">
            <a:solidFill>
              <a:srgbClr val="7A7F87"/>
            </a:solidFill>
            <a:prstDash val="solid"/>
          </a:ln>
        </p:spPr>
      </p:sp>
      <p:sp>
        <p:nvSpPr>
          <p:cNvPr id="10" name="Shape 8"/>
          <p:cNvSpPr/>
          <p:nvPr/>
        </p:nvSpPr>
        <p:spPr>
          <a:xfrm>
            <a:off x="548640" y="5029200"/>
            <a:ext cx="1828800" cy="777240"/>
          </a:xfrm>
          <a:prstGeom prst="roundRect">
            <a:avLst>
              <a:gd name="adj" fmla="val 9412"/>
            </a:avLst>
          </a:prstGeom>
          <a:solidFill>
            <a:srgbClr val="EFE5CB"/>
          </a:solidFill>
          <a:ln w="12700">
            <a:solidFill>
              <a:srgbClr val="EFE5CB"/>
            </a:solidFill>
            <a:prstDash val="solid"/>
          </a:ln>
        </p:spPr>
      </p:sp>
      <p:sp>
        <p:nvSpPr>
          <p:cNvPr id="11" name="Text 9"/>
          <p:cNvSpPr txBox="1"/>
          <p:nvPr/>
        </p:nvSpPr>
        <p:spPr>
          <a:xfrm>
            <a:off x="548640" y="5029200"/>
            <a:ext cx="1828800" cy="777240"/>
          </a:xfrm>
          <a:prstGeom prst="rect">
            <a:avLst/>
          </a:prstGeom>
          <a:noFill/>
          <a:ln/>
        </p:spPr>
        <p:txBody>
          <a:bodyPr wrap="square" lIns="0" tIns="0" rIns="0" bIns="0" rtlCol="0" anchor="ctr"/>
          <a:lstStyle/>
          <a:p>
            <a:pPr algn="ctr" indent="0" marL="0">
              <a:buNone/>
            </a:pPr>
            <a:r>
              <a:rPr lang="en-US" sz="1300" b="1" dirty="0">
                <a:solidFill>
                  <a:srgbClr val="0E1A2D"/>
                </a:solidFill>
                <a:latin typeface="Calibri" pitchFamily="34" charset="0"/>
                <a:ea typeface="Calibri" pitchFamily="34" charset="-122"/>
                <a:cs typeface="Calibri" pitchFamily="34" charset="-120"/>
              </a:rPr>
              <a:t>Beryl</a:t>
            </a:r>
            <a:endParaRPr lang="en-US" sz="1300" dirty="0"/>
          </a:p>
          <a:p>
            <a:pPr algn="ctr" indent="0" marL="0">
              <a:buNone/>
            </a:pPr>
            <a:r>
              <a:rPr lang="en-US" sz="1000" dirty="0">
                <a:solidFill>
                  <a:srgbClr val="4D4D4D"/>
                </a:solidFill>
                <a:latin typeface="Calibri" pitchFamily="34" charset="0"/>
                <a:ea typeface="Calibri" pitchFamily="34" charset="-122"/>
                <a:cs typeface="Calibri" pitchFamily="34" charset="-120"/>
              </a:rPr>
              <a:t>is_part_of: MIN.058343</a:t>
            </a:r>
            <a:endParaRPr lang="en-US" sz="1300" dirty="0"/>
          </a:p>
        </p:txBody>
      </p:sp>
      <p:sp>
        <p:nvSpPr>
          <p:cNvPr id="12" name="Shape 10"/>
          <p:cNvSpPr/>
          <p:nvPr/>
        </p:nvSpPr>
        <p:spPr>
          <a:xfrm flipH="1">
            <a:off x="3611880" y="4343400"/>
            <a:ext cx="914400" cy="685800"/>
          </a:xfrm>
          <a:prstGeom prst="line">
            <a:avLst/>
          </a:prstGeom>
          <a:noFill/>
          <a:ln w="12700">
            <a:solidFill>
              <a:srgbClr val="7A7F87"/>
            </a:solidFill>
            <a:prstDash val="solid"/>
          </a:ln>
        </p:spPr>
      </p:sp>
      <p:sp>
        <p:nvSpPr>
          <p:cNvPr id="13" name="Shape 11"/>
          <p:cNvSpPr/>
          <p:nvPr/>
        </p:nvSpPr>
        <p:spPr>
          <a:xfrm>
            <a:off x="2697480" y="5029200"/>
            <a:ext cx="1828800" cy="777240"/>
          </a:xfrm>
          <a:prstGeom prst="roundRect">
            <a:avLst>
              <a:gd name="adj" fmla="val 9412"/>
            </a:avLst>
          </a:prstGeom>
          <a:solidFill>
            <a:srgbClr val="EFE5CB"/>
          </a:solidFill>
          <a:ln w="12700">
            <a:solidFill>
              <a:srgbClr val="EFE5CB"/>
            </a:solidFill>
            <a:prstDash val="solid"/>
          </a:ln>
        </p:spPr>
      </p:sp>
      <p:sp>
        <p:nvSpPr>
          <p:cNvPr id="14" name="Text 12"/>
          <p:cNvSpPr txBox="1"/>
          <p:nvPr/>
        </p:nvSpPr>
        <p:spPr>
          <a:xfrm>
            <a:off x="2697480" y="5029200"/>
            <a:ext cx="1828800" cy="777240"/>
          </a:xfrm>
          <a:prstGeom prst="rect">
            <a:avLst/>
          </a:prstGeom>
          <a:noFill/>
          <a:ln/>
        </p:spPr>
        <p:txBody>
          <a:bodyPr wrap="square" lIns="0" tIns="0" rIns="0" bIns="0" rtlCol="0" anchor="ctr"/>
          <a:lstStyle/>
          <a:p>
            <a:pPr algn="ctr" indent="0" marL="0">
              <a:buNone/>
            </a:pPr>
            <a:r>
              <a:rPr lang="en-US" sz="1300" b="1" dirty="0">
                <a:solidFill>
                  <a:srgbClr val="0E1A2D"/>
                </a:solidFill>
                <a:latin typeface="Calibri" pitchFamily="34" charset="0"/>
                <a:ea typeface="Calibri" pitchFamily="34" charset="-122"/>
                <a:cs typeface="Calibri" pitchFamily="34" charset="-120"/>
              </a:rPr>
              <a:t>Tourmaline</a:t>
            </a:r>
            <a:endParaRPr lang="en-US" sz="1300" dirty="0"/>
          </a:p>
          <a:p>
            <a:pPr algn="ctr" indent="0" marL="0">
              <a:buNone/>
            </a:pPr>
            <a:r>
              <a:rPr lang="en-US" sz="1000" dirty="0">
                <a:solidFill>
                  <a:srgbClr val="4D4D4D"/>
                </a:solidFill>
                <a:latin typeface="Calibri" pitchFamily="34" charset="0"/>
                <a:ea typeface="Calibri" pitchFamily="34" charset="-122"/>
                <a:cs typeface="Calibri" pitchFamily="34" charset="-120"/>
              </a:rPr>
              <a:t>is_part_of: MIN.058343</a:t>
            </a:r>
            <a:endParaRPr lang="en-US" sz="1300" dirty="0"/>
          </a:p>
        </p:txBody>
      </p:sp>
      <p:sp>
        <p:nvSpPr>
          <p:cNvPr id="15" name="Shape 13"/>
          <p:cNvSpPr/>
          <p:nvPr/>
        </p:nvSpPr>
        <p:spPr>
          <a:xfrm>
            <a:off x="4526280" y="4343400"/>
            <a:ext cx="1234440" cy="685800"/>
          </a:xfrm>
          <a:prstGeom prst="line">
            <a:avLst/>
          </a:prstGeom>
          <a:noFill/>
          <a:ln w="12700">
            <a:solidFill>
              <a:srgbClr val="7A7F87"/>
            </a:solidFill>
            <a:prstDash val="solid"/>
          </a:ln>
        </p:spPr>
      </p:sp>
      <p:sp>
        <p:nvSpPr>
          <p:cNvPr id="16" name="Shape 14"/>
          <p:cNvSpPr/>
          <p:nvPr/>
        </p:nvSpPr>
        <p:spPr>
          <a:xfrm>
            <a:off x="4846320" y="5029200"/>
            <a:ext cx="1828800" cy="777240"/>
          </a:xfrm>
          <a:prstGeom prst="roundRect">
            <a:avLst>
              <a:gd name="adj" fmla="val 9412"/>
            </a:avLst>
          </a:prstGeom>
          <a:solidFill>
            <a:srgbClr val="EFE5CB"/>
          </a:solidFill>
          <a:ln w="12700">
            <a:solidFill>
              <a:srgbClr val="EFE5CB"/>
            </a:solidFill>
            <a:prstDash val="solid"/>
          </a:ln>
        </p:spPr>
      </p:sp>
      <p:sp>
        <p:nvSpPr>
          <p:cNvPr id="17" name="Text 15"/>
          <p:cNvSpPr txBox="1"/>
          <p:nvPr/>
        </p:nvSpPr>
        <p:spPr>
          <a:xfrm>
            <a:off x="4846320" y="5029200"/>
            <a:ext cx="1828800" cy="777240"/>
          </a:xfrm>
          <a:prstGeom prst="rect">
            <a:avLst/>
          </a:prstGeom>
          <a:noFill/>
          <a:ln/>
        </p:spPr>
        <p:txBody>
          <a:bodyPr wrap="square" lIns="0" tIns="0" rIns="0" bIns="0" rtlCol="0" anchor="ctr"/>
          <a:lstStyle/>
          <a:p>
            <a:pPr algn="ctr" indent="0" marL="0">
              <a:buNone/>
            </a:pPr>
            <a:r>
              <a:rPr lang="en-US" sz="1300" b="1" dirty="0">
                <a:solidFill>
                  <a:srgbClr val="0E1A2D"/>
                </a:solidFill>
                <a:latin typeface="Calibri" pitchFamily="34" charset="0"/>
                <a:ea typeface="Calibri" pitchFamily="34" charset="-122"/>
                <a:cs typeface="Calibri" pitchFamily="34" charset="-120"/>
              </a:rPr>
              <a:t>Muscovite</a:t>
            </a:r>
            <a:endParaRPr lang="en-US" sz="1300" dirty="0"/>
          </a:p>
          <a:p>
            <a:pPr algn="ctr" indent="0" marL="0">
              <a:buNone/>
            </a:pPr>
            <a:r>
              <a:rPr lang="en-US" sz="1000" dirty="0">
                <a:solidFill>
                  <a:srgbClr val="4D4D4D"/>
                </a:solidFill>
                <a:latin typeface="Calibri" pitchFamily="34" charset="0"/>
                <a:ea typeface="Calibri" pitchFamily="34" charset="-122"/>
                <a:cs typeface="Calibri" pitchFamily="34" charset="-120"/>
              </a:rPr>
              <a:t>is_part_of: MIN.058343</a:t>
            </a:r>
            <a:endParaRPr lang="en-US" sz="1300" dirty="0"/>
          </a:p>
        </p:txBody>
      </p:sp>
      <p:sp>
        <p:nvSpPr>
          <p:cNvPr id="18" name="Shape 16"/>
          <p:cNvSpPr/>
          <p:nvPr/>
        </p:nvSpPr>
        <p:spPr>
          <a:xfrm>
            <a:off x="4526280" y="4343400"/>
            <a:ext cx="3383280" cy="685800"/>
          </a:xfrm>
          <a:prstGeom prst="line">
            <a:avLst/>
          </a:prstGeom>
          <a:noFill/>
          <a:ln w="12700">
            <a:solidFill>
              <a:srgbClr val="7A7F87"/>
            </a:solidFill>
            <a:prstDash val="solid"/>
          </a:ln>
        </p:spPr>
      </p:sp>
      <p:sp>
        <p:nvSpPr>
          <p:cNvPr id="19" name="Shape 17"/>
          <p:cNvSpPr/>
          <p:nvPr/>
        </p:nvSpPr>
        <p:spPr>
          <a:xfrm>
            <a:off x="6995160" y="5029200"/>
            <a:ext cx="1828800" cy="777240"/>
          </a:xfrm>
          <a:prstGeom prst="roundRect">
            <a:avLst>
              <a:gd name="adj" fmla="val 9412"/>
            </a:avLst>
          </a:prstGeom>
          <a:solidFill>
            <a:srgbClr val="EFE5CB"/>
          </a:solidFill>
          <a:ln w="12700">
            <a:solidFill>
              <a:srgbClr val="EFE5CB"/>
            </a:solidFill>
            <a:prstDash val="solid"/>
          </a:ln>
        </p:spPr>
      </p:sp>
      <p:sp>
        <p:nvSpPr>
          <p:cNvPr id="20" name="Text 18"/>
          <p:cNvSpPr txBox="1"/>
          <p:nvPr/>
        </p:nvSpPr>
        <p:spPr>
          <a:xfrm>
            <a:off x="6995160" y="5029200"/>
            <a:ext cx="1828800" cy="777240"/>
          </a:xfrm>
          <a:prstGeom prst="rect">
            <a:avLst/>
          </a:prstGeom>
          <a:noFill/>
          <a:ln/>
        </p:spPr>
        <p:txBody>
          <a:bodyPr wrap="square" lIns="0" tIns="0" rIns="0" bIns="0" rtlCol="0" anchor="ctr"/>
          <a:lstStyle/>
          <a:p>
            <a:pPr algn="ctr" indent="0" marL="0">
              <a:buNone/>
            </a:pPr>
            <a:r>
              <a:rPr lang="en-US" sz="1300" b="1" dirty="0">
                <a:solidFill>
                  <a:srgbClr val="0E1A2D"/>
                </a:solidFill>
                <a:latin typeface="Calibri" pitchFamily="34" charset="0"/>
                <a:ea typeface="Calibri" pitchFamily="34" charset="-122"/>
                <a:cs typeface="Calibri" pitchFamily="34" charset="-120"/>
              </a:rPr>
              <a:t>Quartz</a:t>
            </a:r>
            <a:endParaRPr lang="en-US" sz="1300" dirty="0"/>
          </a:p>
          <a:p>
            <a:pPr algn="ctr" indent="0" marL="0">
              <a:buNone/>
            </a:pPr>
            <a:r>
              <a:rPr lang="en-US" sz="1000" dirty="0">
                <a:solidFill>
                  <a:srgbClr val="4D4D4D"/>
                </a:solidFill>
                <a:latin typeface="Calibri" pitchFamily="34" charset="0"/>
                <a:ea typeface="Calibri" pitchFamily="34" charset="-122"/>
                <a:cs typeface="Calibri" pitchFamily="34" charset="-120"/>
              </a:rPr>
              <a:t>is_part_of: MIN.058343</a:t>
            </a:r>
            <a:endParaRPr lang="en-US" sz="1300" dirty="0"/>
          </a:p>
        </p:txBody>
      </p:sp>
      <p:sp>
        <p:nvSpPr>
          <p:cNvPr id="21" name="Shape 19"/>
          <p:cNvSpPr/>
          <p:nvPr/>
        </p:nvSpPr>
        <p:spPr>
          <a:xfrm>
            <a:off x="8869680" y="2103120"/>
            <a:ext cx="2770632" cy="3977640"/>
          </a:xfrm>
          <a:prstGeom prst="roundRect">
            <a:avLst>
              <a:gd name="adj" fmla="val 2640"/>
            </a:avLst>
          </a:prstGeom>
          <a:solidFill>
            <a:srgbClr val="E4DECF"/>
          </a:solidFill>
          <a:ln w="12700">
            <a:solidFill>
              <a:srgbClr val="E4DECF"/>
            </a:solidFill>
            <a:prstDash val="solid"/>
          </a:ln>
        </p:spPr>
      </p:sp>
      <p:sp>
        <p:nvSpPr>
          <p:cNvPr id="22" name="Text 20"/>
          <p:cNvSpPr txBox="1"/>
          <p:nvPr/>
        </p:nvSpPr>
        <p:spPr>
          <a:xfrm>
            <a:off x="9098280" y="2286000"/>
            <a:ext cx="2377440" cy="274320"/>
          </a:xfrm>
          <a:prstGeom prst="rect">
            <a:avLst/>
          </a:prstGeom>
          <a:noFill/>
          <a:ln/>
        </p:spPr>
        <p:txBody>
          <a:bodyPr wrap="square" lIns="0" tIns="0" rIns="0" bIns="0" rtlCol="0" anchor="t"/>
          <a:lstStyle/>
          <a:p>
            <a:pPr indent="0" marL="0">
              <a:buNone/>
            </a:pPr>
            <a:r>
              <a:rPr lang="en-US" sz="1100" b="1" spc="100" kern="0" dirty="0">
                <a:solidFill>
                  <a:srgbClr val="8F7A4C"/>
                </a:solidFill>
                <a:latin typeface="Calibri" pitchFamily="34" charset="0"/>
                <a:ea typeface="Calibri" pitchFamily="34" charset="-122"/>
                <a:cs typeface="Calibri" pitchFamily="34" charset="-120"/>
              </a:rPr>
              <a:t>PROCEDURE</a:t>
            </a:r>
            <a:endParaRPr lang="en-US" sz="1100" dirty="0"/>
          </a:p>
        </p:txBody>
      </p:sp>
      <p:sp>
        <p:nvSpPr>
          <p:cNvPr id="23" name="Text 21"/>
          <p:cNvSpPr/>
          <p:nvPr/>
        </p:nvSpPr>
        <p:spPr>
          <a:xfrm>
            <a:off x="9098280" y="2651760"/>
            <a:ext cx="2377440" cy="329184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00" dirty="0">
                <a:solidFill>
                  <a:srgbClr val="0E1A2D"/>
                </a:solidFill>
                <a:latin typeface="Calibri" pitchFamily="34" charset="0"/>
                <a:ea typeface="Calibri" pitchFamily="34" charset="-122"/>
                <a:cs typeface="Calibri" pitchFamily="34" charset="-120"/>
              </a:rPr>
              <a:t>Find the fields holding part names</a:t>
            </a:r>
            <a:endParaRPr lang="en-US" sz="1300" dirty="0"/>
          </a:p>
          <a:p>
            <a:pPr marL="342900" indent="-342900">
              <a:spcAft>
                <a:spcPts val="600"/>
              </a:spcAft>
              <a:buSzPct val="100000"/>
              <a:buFont typeface="+mj-lt"/>
              <a:buAutoNum type="arabicPeriod" startAt="1"/>
            </a:pPr>
            <a:r>
              <a:rPr lang="en-US" sz="1300" dirty="0">
                <a:solidFill>
                  <a:srgbClr val="0E1A2D"/>
                </a:solidFill>
                <a:latin typeface="Calibri" pitchFamily="34" charset="0"/>
                <a:ea typeface="Calibri" pitchFamily="34" charset="-122"/>
                <a:cs typeface="Calibri" pitchFamily="34" charset="-120"/>
              </a:rPr>
              <a:t>Define material category criteria</a:t>
            </a:r>
            <a:endParaRPr lang="en-US" sz="1300" dirty="0"/>
          </a:p>
          <a:p>
            <a:pPr marL="342900" indent="-342900">
              <a:spcAft>
                <a:spcPts val="600"/>
              </a:spcAft>
              <a:buSzPct val="100000"/>
              <a:buFont typeface="+mj-lt"/>
              <a:buAutoNum type="arabicPeriod" startAt="1"/>
            </a:pPr>
            <a:r>
              <a:rPr lang="en-US" sz="1300" dirty="0">
                <a:solidFill>
                  <a:srgbClr val="0E1A2D"/>
                </a:solidFill>
                <a:latin typeface="Calibri" pitchFamily="34" charset="0"/>
                <a:ea typeface="Calibri" pitchFamily="34" charset="-122"/>
                <a:cs typeface="Calibri" pitchFamily="34" charset="-120"/>
              </a:rPr>
              <a:t>List the changes to transpose repeating columns</a:t>
            </a:r>
            <a:endParaRPr lang="en-US" sz="1300" dirty="0"/>
          </a:p>
          <a:p>
            <a:pPr marL="342900" indent="-342900">
              <a:spcAft>
                <a:spcPts val="600"/>
              </a:spcAft>
              <a:buSzPct val="100000"/>
              <a:buFont typeface="+mj-lt"/>
              <a:buAutoNum type="arabicPeriod" startAt="1"/>
            </a:pPr>
            <a:r>
              <a:rPr lang="en-US" sz="1300" dirty="0">
                <a:solidFill>
                  <a:srgbClr val="0E1A2D"/>
                </a:solidFill>
                <a:latin typeface="Calibri" pitchFamily="34" charset="0"/>
                <a:ea typeface="Calibri" pitchFamily="34" charset="-122"/>
                <a:cs typeface="Calibri" pitchFamily="34" charset="-120"/>
              </a:rPr>
              <a:t>Create the join: is_part_of</a:t>
            </a:r>
            <a:endParaRPr lang="en-US" sz="1300" dirty="0"/>
          </a:p>
          <a:p>
            <a:pPr marL="342900" indent="-342900">
              <a:spcAft>
                <a:spcPts val="600"/>
              </a:spcAft>
              <a:buSzPct val="100000"/>
              <a:buFont typeface="+mj-lt"/>
              <a:buAutoNum type="arabicPeriod" startAt="1"/>
            </a:pPr>
            <a:r>
              <a:rPr lang="en-US" sz="1300" dirty="0">
                <a:solidFill>
                  <a:srgbClr val="0E1A2D"/>
                </a:solidFill>
                <a:latin typeface="Calibri" pitchFamily="34" charset="0"/>
                <a:ea typeface="Calibri" pitchFamily="34" charset="-122"/>
                <a:cs typeface="Calibri" pitchFamily="34" charset="-120"/>
              </a:rPr>
              <a:t>Stack the dataset</a:t>
            </a:r>
            <a:endParaRPr lang="en-US" sz="1300" dirty="0"/>
          </a:p>
        </p:txBody>
      </p:sp>
      <p:sp>
        <p:nvSpPr>
          <p:cNvPr id="24" name="Text 2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7F87"/>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2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7F87"/>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A2D"/>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A9BCD0"/>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Standard Process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A9B3BF"/>
                </a:solidFill>
                <a:latin typeface="Calibri" pitchFamily="34" charset="0"/>
                <a:ea typeface="Calibri" pitchFamily="34" charset="-122"/>
                <a:cs typeface="Calibri" pitchFamily="34" charset="-120"/>
              </a:rPr>
              <a:t>The core ETL procedure used for every dataset today. Each step becomes one prompt.</a:t>
            </a:r>
            <a:endParaRPr lang="en-US" sz="1500" dirty="0"/>
          </a:p>
        </p:txBody>
      </p:sp>
      <p:sp>
        <p:nvSpPr>
          <p:cNvPr id="5" name="Shape 3"/>
          <p:cNvSpPr/>
          <p:nvPr/>
        </p:nvSpPr>
        <p:spPr>
          <a:xfrm>
            <a:off x="548640" y="2103120"/>
            <a:ext cx="2651760" cy="1783080"/>
          </a:xfrm>
          <a:prstGeom prst="roundRect">
            <a:avLst>
              <a:gd name="adj" fmla="val 4103"/>
            </a:avLst>
          </a:prstGeom>
          <a:solidFill>
            <a:srgbClr val="2C3E50"/>
          </a:solidFill>
          <a:ln w="12700">
            <a:solidFill>
              <a:srgbClr val="2C3E50"/>
            </a:solidFill>
            <a:prstDash val="solid"/>
          </a:ln>
        </p:spPr>
      </p:sp>
      <p:sp>
        <p:nvSpPr>
          <p:cNvPr id="6" name="Text 4"/>
          <p:cNvSpPr txBox="1"/>
          <p:nvPr/>
        </p:nvSpPr>
        <p:spPr>
          <a:xfrm>
            <a:off x="777240" y="2240280"/>
            <a:ext cx="731520" cy="640080"/>
          </a:xfrm>
          <a:prstGeom prst="rect">
            <a:avLst/>
          </a:prstGeom>
          <a:noFill/>
          <a:ln/>
        </p:spPr>
        <p:txBody>
          <a:bodyPr wrap="square" lIns="0" tIns="0" rIns="0" bIns="0" rtlCol="0" anchor="ctr"/>
          <a:lstStyle/>
          <a:p>
            <a:pPr indent="0" marL="0">
              <a:buNone/>
            </a:pPr>
            <a:r>
              <a:rPr lang="en-US" sz="3200" b="1" dirty="0">
                <a:solidFill>
                  <a:srgbClr val="A9BCD0"/>
                </a:solidFill>
                <a:latin typeface="Cambria" pitchFamily="34" charset="0"/>
                <a:ea typeface="Cambria" pitchFamily="34" charset="-122"/>
                <a:cs typeface="Cambria" pitchFamily="34" charset="-120"/>
              </a:rPr>
              <a:t>1</a:t>
            </a:r>
            <a:endParaRPr lang="en-US" sz="3200" dirty="0"/>
          </a:p>
        </p:txBody>
      </p:sp>
      <p:sp>
        <p:nvSpPr>
          <p:cNvPr id="7" name="Text 5"/>
          <p:cNvSpPr txBox="1"/>
          <p:nvPr/>
        </p:nvSpPr>
        <p:spPr>
          <a:xfrm>
            <a:off x="777240" y="2880360"/>
            <a:ext cx="22860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Profile</a:t>
            </a:r>
            <a:endParaRPr lang="en-US" sz="1500" dirty="0"/>
          </a:p>
        </p:txBody>
      </p:sp>
      <p:sp>
        <p:nvSpPr>
          <p:cNvPr id="8" name="Text 6"/>
          <p:cNvSpPr txBox="1"/>
          <p:nvPr/>
        </p:nvSpPr>
        <p:spPr>
          <a:xfrm>
            <a:off x="777240" y="3200400"/>
            <a:ext cx="2286000" cy="640080"/>
          </a:xfrm>
          <a:prstGeom prst="rect">
            <a:avLst/>
          </a:prstGeom>
          <a:noFill/>
          <a:ln/>
        </p:spPr>
        <p:txBody>
          <a:bodyPr wrap="square" lIns="0" tIns="0" rIns="0" bIns="0" rtlCol="0" anchor="t"/>
          <a:lstStyle/>
          <a:p>
            <a:pPr indent="0" marL="0">
              <a:buNone/>
            </a:pPr>
            <a:r>
              <a:rPr lang="en-US" sz="1200" dirty="0">
                <a:solidFill>
                  <a:srgbClr val="A9B3BF"/>
                </a:solidFill>
                <a:latin typeface="Calibri" pitchFamily="34" charset="0"/>
                <a:ea typeface="Calibri" pitchFamily="34" charset="-122"/>
                <a:cs typeface="Calibri" pitchFamily="34" charset="-120"/>
              </a:rPr>
              <a:t>Columns, languages, delimiters, unique values, qualifiers, vocabularies</a:t>
            </a:r>
            <a:endParaRPr lang="en-US" sz="1200" dirty="0"/>
          </a:p>
        </p:txBody>
      </p:sp>
      <p:sp>
        <p:nvSpPr>
          <p:cNvPr id="9" name="Shape 7"/>
          <p:cNvSpPr/>
          <p:nvPr/>
        </p:nvSpPr>
        <p:spPr>
          <a:xfrm>
            <a:off x="3364992" y="2103120"/>
            <a:ext cx="2651760" cy="1783080"/>
          </a:xfrm>
          <a:prstGeom prst="roundRect">
            <a:avLst>
              <a:gd name="adj" fmla="val 4103"/>
            </a:avLst>
          </a:prstGeom>
          <a:solidFill>
            <a:srgbClr val="2C3E50"/>
          </a:solidFill>
          <a:ln w="12700">
            <a:solidFill>
              <a:srgbClr val="2C3E50"/>
            </a:solidFill>
            <a:prstDash val="solid"/>
          </a:ln>
        </p:spPr>
      </p:sp>
      <p:sp>
        <p:nvSpPr>
          <p:cNvPr id="10" name="Text 8"/>
          <p:cNvSpPr txBox="1"/>
          <p:nvPr/>
        </p:nvSpPr>
        <p:spPr>
          <a:xfrm>
            <a:off x="3593592" y="2240280"/>
            <a:ext cx="731520" cy="640080"/>
          </a:xfrm>
          <a:prstGeom prst="rect">
            <a:avLst/>
          </a:prstGeom>
          <a:noFill/>
          <a:ln/>
        </p:spPr>
        <p:txBody>
          <a:bodyPr wrap="square" lIns="0" tIns="0" rIns="0" bIns="0" rtlCol="0" anchor="ctr"/>
          <a:lstStyle/>
          <a:p>
            <a:pPr indent="0" marL="0">
              <a:buNone/>
            </a:pPr>
            <a:r>
              <a:rPr lang="en-US" sz="3200" b="1" dirty="0">
                <a:solidFill>
                  <a:srgbClr val="A9BCD0"/>
                </a:solidFill>
                <a:latin typeface="Cambria" pitchFamily="34" charset="0"/>
                <a:ea typeface="Cambria" pitchFamily="34" charset="-122"/>
                <a:cs typeface="Cambria" pitchFamily="34" charset="-120"/>
              </a:rPr>
              <a:t>2</a:t>
            </a:r>
            <a:endParaRPr lang="en-US" sz="3200" dirty="0"/>
          </a:p>
        </p:txBody>
      </p:sp>
      <p:sp>
        <p:nvSpPr>
          <p:cNvPr id="11" name="Text 9"/>
          <p:cNvSpPr txBox="1"/>
          <p:nvPr/>
        </p:nvSpPr>
        <p:spPr>
          <a:xfrm>
            <a:off x="3593592" y="2880360"/>
            <a:ext cx="22860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Define the target</a:t>
            </a:r>
            <a:endParaRPr lang="en-US" sz="1500" dirty="0"/>
          </a:p>
        </p:txBody>
      </p:sp>
      <p:sp>
        <p:nvSpPr>
          <p:cNvPr id="12" name="Text 10"/>
          <p:cNvSpPr txBox="1"/>
          <p:nvPr/>
        </p:nvSpPr>
        <p:spPr>
          <a:xfrm>
            <a:off x="3593592" y="3200400"/>
            <a:ext cx="2286000" cy="640080"/>
          </a:xfrm>
          <a:prstGeom prst="rect">
            <a:avLst/>
          </a:prstGeom>
          <a:noFill/>
          <a:ln/>
        </p:spPr>
        <p:txBody>
          <a:bodyPr wrap="square" lIns="0" tIns="0" rIns="0" bIns="0" rtlCol="0" anchor="t"/>
          <a:lstStyle/>
          <a:p>
            <a:pPr indent="0" marL="0">
              <a:buNone/>
            </a:pPr>
            <a:r>
              <a:rPr lang="en-US" sz="1200" dirty="0">
                <a:solidFill>
                  <a:srgbClr val="A9B3BF"/>
                </a:solidFill>
                <a:latin typeface="Calibri" pitchFamily="34" charset="0"/>
                <a:ea typeface="Calibri" pitchFamily="34" charset="-122"/>
                <a:cs typeface="Calibri" pitchFamily="34" charset="-120"/>
              </a:rPr>
              <a:t>What should the end result look like?</a:t>
            </a:r>
            <a:endParaRPr lang="en-US" sz="1200" dirty="0"/>
          </a:p>
        </p:txBody>
      </p:sp>
      <p:sp>
        <p:nvSpPr>
          <p:cNvPr id="13" name="Shape 11"/>
          <p:cNvSpPr/>
          <p:nvPr/>
        </p:nvSpPr>
        <p:spPr>
          <a:xfrm>
            <a:off x="6181344" y="2103120"/>
            <a:ext cx="2651760" cy="1783080"/>
          </a:xfrm>
          <a:prstGeom prst="roundRect">
            <a:avLst>
              <a:gd name="adj" fmla="val 4103"/>
            </a:avLst>
          </a:prstGeom>
          <a:solidFill>
            <a:srgbClr val="2C3E50"/>
          </a:solidFill>
          <a:ln w="12700">
            <a:solidFill>
              <a:srgbClr val="2C3E50"/>
            </a:solidFill>
            <a:prstDash val="solid"/>
          </a:ln>
        </p:spPr>
      </p:sp>
      <p:sp>
        <p:nvSpPr>
          <p:cNvPr id="14" name="Text 12"/>
          <p:cNvSpPr txBox="1"/>
          <p:nvPr/>
        </p:nvSpPr>
        <p:spPr>
          <a:xfrm>
            <a:off x="6409944" y="2240280"/>
            <a:ext cx="731520" cy="640080"/>
          </a:xfrm>
          <a:prstGeom prst="rect">
            <a:avLst/>
          </a:prstGeom>
          <a:noFill/>
          <a:ln/>
        </p:spPr>
        <p:txBody>
          <a:bodyPr wrap="square" lIns="0" tIns="0" rIns="0" bIns="0" rtlCol="0" anchor="ctr"/>
          <a:lstStyle/>
          <a:p>
            <a:pPr indent="0" marL="0">
              <a:buNone/>
            </a:pPr>
            <a:r>
              <a:rPr lang="en-US" sz="3200" b="1" dirty="0">
                <a:solidFill>
                  <a:srgbClr val="A9BCD0"/>
                </a:solidFill>
                <a:latin typeface="Cambria" pitchFamily="34" charset="0"/>
                <a:ea typeface="Cambria" pitchFamily="34" charset="-122"/>
                <a:cs typeface="Cambria" pitchFamily="34" charset="-120"/>
              </a:rPr>
              <a:t>3</a:t>
            </a:r>
            <a:endParaRPr lang="en-US" sz="3200" dirty="0"/>
          </a:p>
        </p:txBody>
      </p:sp>
      <p:sp>
        <p:nvSpPr>
          <p:cNvPr id="15" name="Text 13"/>
          <p:cNvSpPr txBox="1"/>
          <p:nvPr/>
        </p:nvSpPr>
        <p:spPr>
          <a:xfrm>
            <a:off x="6409944" y="2880360"/>
            <a:ext cx="22860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List the changes</a:t>
            </a:r>
            <a:endParaRPr lang="en-US" sz="1500" dirty="0"/>
          </a:p>
        </p:txBody>
      </p:sp>
      <p:sp>
        <p:nvSpPr>
          <p:cNvPr id="16" name="Text 14"/>
          <p:cNvSpPr txBox="1"/>
          <p:nvPr/>
        </p:nvSpPr>
        <p:spPr>
          <a:xfrm>
            <a:off x="6409944" y="3200400"/>
            <a:ext cx="2286000" cy="640080"/>
          </a:xfrm>
          <a:prstGeom prst="rect">
            <a:avLst/>
          </a:prstGeom>
          <a:noFill/>
          <a:ln/>
        </p:spPr>
        <p:txBody>
          <a:bodyPr wrap="square" lIns="0" tIns="0" rIns="0" bIns="0" rtlCol="0" anchor="t"/>
          <a:lstStyle/>
          <a:p>
            <a:pPr indent="0" marL="0">
              <a:buNone/>
            </a:pPr>
            <a:r>
              <a:rPr lang="en-US" sz="1200" dirty="0">
                <a:solidFill>
                  <a:srgbClr val="A9B3BF"/>
                </a:solidFill>
                <a:latin typeface="Calibri" pitchFamily="34" charset="0"/>
                <a:ea typeface="Calibri" pitchFamily="34" charset="-122"/>
                <a:cs typeface="Calibri" pitchFamily="34" charset="-120"/>
              </a:rPr>
              <a:t>Every transformation from source to target</a:t>
            </a:r>
            <a:endParaRPr lang="en-US" sz="1200" dirty="0"/>
          </a:p>
        </p:txBody>
      </p:sp>
      <p:sp>
        <p:nvSpPr>
          <p:cNvPr id="17" name="Shape 15"/>
          <p:cNvSpPr/>
          <p:nvPr/>
        </p:nvSpPr>
        <p:spPr>
          <a:xfrm>
            <a:off x="8997696" y="2103120"/>
            <a:ext cx="2651760" cy="1783080"/>
          </a:xfrm>
          <a:prstGeom prst="roundRect">
            <a:avLst>
              <a:gd name="adj" fmla="val 4103"/>
            </a:avLst>
          </a:prstGeom>
          <a:solidFill>
            <a:srgbClr val="2C3E50"/>
          </a:solidFill>
          <a:ln w="12700">
            <a:solidFill>
              <a:srgbClr val="2C3E50"/>
            </a:solidFill>
            <a:prstDash val="solid"/>
          </a:ln>
        </p:spPr>
      </p:sp>
      <p:sp>
        <p:nvSpPr>
          <p:cNvPr id="18" name="Text 16"/>
          <p:cNvSpPr txBox="1"/>
          <p:nvPr/>
        </p:nvSpPr>
        <p:spPr>
          <a:xfrm>
            <a:off x="9226296" y="2240280"/>
            <a:ext cx="731520" cy="640080"/>
          </a:xfrm>
          <a:prstGeom prst="rect">
            <a:avLst/>
          </a:prstGeom>
          <a:noFill/>
          <a:ln/>
        </p:spPr>
        <p:txBody>
          <a:bodyPr wrap="square" lIns="0" tIns="0" rIns="0" bIns="0" rtlCol="0" anchor="ctr"/>
          <a:lstStyle/>
          <a:p>
            <a:pPr indent="0" marL="0">
              <a:buNone/>
            </a:pPr>
            <a:r>
              <a:rPr lang="en-US" sz="3200" b="1" dirty="0">
                <a:solidFill>
                  <a:srgbClr val="A9BCD0"/>
                </a:solidFill>
                <a:latin typeface="Cambria" pitchFamily="34" charset="0"/>
                <a:ea typeface="Cambria" pitchFamily="34" charset="-122"/>
                <a:cs typeface="Cambria" pitchFamily="34" charset="-120"/>
              </a:rPr>
              <a:t>4</a:t>
            </a:r>
            <a:endParaRPr lang="en-US" sz="3200" dirty="0"/>
          </a:p>
        </p:txBody>
      </p:sp>
      <p:sp>
        <p:nvSpPr>
          <p:cNvPr id="19" name="Text 17"/>
          <p:cNvSpPr txBox="1"/>
          <p:nvPr/>
        </p:nvSpPr>
        <p:spPr>
          <a:xfrm>
            <a:off x="9226296" y="2880360"/>
            <a:ext cx="22860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Provide resources</a:t>
            </a:r>
            <a:endParaRPr lang="en-US" sz="1500" dirty="0"/>
          </a:p>
        </p:txBody>
      </p:sp>
      <p:sp>
        <p:nvSpPr>
          <p:cNvPr id="20" name="Text 18"/>
          <p:cNvSpPr txBox="1"/>
          <p:nvPr/>
        </p:nvSpPr>
        <p:spPr>
          <a:xfrm>
            <a:off x="9226296" y="3200400"/>
            <a:ext cx="2286000" cy="640080"/>
          </a:xfrm>
          <a:prstGeom prst="rect">
            <a:avLst/>
          </a:prstGeom>
          <a:noFill/>
          <a:ln/>
        </p:spPr>
        <p:txBody>
          <a:bodyPr wrap="square" lIns="0" tIns="0" rIns="0" bIns="0" rtlCol="0" anchor="t"/>
          <a:lstStyle/>
          <a:p>
            <a:pPr indent="0" marL="0">
              <a:buNone/>
            </a:pPr>
            <a:r>
              <a:rPr lang="en-US" sz="1200" dirty="0">
                <a:solidFill>
                  <a:srgbClr val="A9B3BF"/>
                </a:solidFill>
                <a:latin typeface="Calibri" pitchFamily="34" charset="0"/>
                <a:ea typeface="Calibri" pitchFamily="34" charset="-122"/>
                <a:cs typeface="Calibri" pitchFamily="34" charset="-120"/>
              </a:rPr>
              <a:t>Documentation, authorities (GADM), definitions</a:t>
            </a:r>
            <a:endParaRPr lang="en-US" sz="1200" dirty="0"/>
          </a:p>
        </p:txBody>
      </p:sp>
      <p:sp>
        <p:nvSpPr>
          <p:cNvPr id="21" name="Shape 19"/>
          <p:cNvSpPr/>
          <p:nvPr/>
        </p:nvSpPr>
        <p:spPr>
          <a:xfrm>
            <a:off x="548640" y="4069080"/>
            <a:ext cx="2651760" cy="1783080"/>
          </a:xfrm>
          <a:prstGeom prst="roundRect">
            <a:avLst>
              <a:gd name="adj" fmla="val 4103"/>
            </a:avLst>
          </a:prstGeom>
          <a:solidFill>
            <a:srgbClr val="2C3E50"/>
          </a:solidFill>
          <a:ln w="12700">
            <a:solidFill>
              <a:srgbClr val="2C3E50"/>
            </a:solidFill>
            <a:prstDash val="solid"/>
          </a:ln>
        </p:spPr>
      </p:sp>
      <p:sp>
        <p:nvSpPr>
          <p:cNvPr id="22" name="Text 20"/>
          <p:cNvSpPr txBox="1"/>
          <p:nvPr/>
        </p:nvSpPr>
        <p:spPr>
          <a:xfrm>
            <a:off x="777240" y="4206240"/>
            <a:ext cx="731520" cy="640080"/>
          </a:xfrm>
          <a:prstGeom prst="rect">
            <a:avLst/>
          </a:prstGeom>
          <a:noFill/>
          <a:ln/>
        </p:spPr>
        <p:txBody>
          <a:bodyPr wrap="square" lIns="0" tIns="0" rIns="0" bIns="0" rtlCol="0" anchor="ctr"/>
          <a:lstStyle/>
          <a:p>
            <a:pPr indent="0" marL="0">
              <a:buNone/>
            </a:pPr>
            <a:r>
              <a:rPr lang="en-US" sz="3200" b="1" dirty="0">
                <a:solidFill>
                  <a:srgbClr val="E0584A"/>
                </a:solidFill>
                <a:latin typeface="Cambria" pitchFamily="34" charset="0"/>
                <a:ea typeface="Cambria" pitchFamily="34" charset="-122"/>
                <a:cs typeface="Cambria" pitchFamily="34" charset="-120"/>
              </a:rPr>
              <a:t>5</a:t>
            </a:r>
            <a:endParaRPr lang="en-US" sz="3200" dirty="0"/>
          </a:p>
        </p:txBody>
      </p:sp>
      <p:sp>
        <p:nvSpPr>
          <p:cNvPr id="23" name="Text 21"/>
          <p:cNvSpPr txBox="1"/>
          <p:nvPr/>
        </p:nvSpPr>
        <p:spPr>
          <a:xfrm>
            <a:off x="777240" y="4846320"/>
            <a:ext cx="22860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Write a plan</a:t>
            </a:r>
            <a:endParaRPr lang="en-US" sz="1500" dirty="0"/>
          </a:p>
        </p:txBody>
      </p:sp>
      <p:sp>
        <p:nvSpPr>
          <p:cNvPr id="24" name="Text 22"/>
          <p:cNvSpPr txBox="1"/>
          <p:nvPr/>
        </p:nvSpPr>
        <p:spPr>
          <a:xfrm>
            <a:off x="777240" y="5166360"/>
            <a:ext cx="2286000" cy="640080"/>
          </a:xfrm>
          <a:prstGeom prst="rect">
            <a:avLst/>
          </a:prstGeom>
          <a:noFill/>
          <a:ln/>
        </p:spPr>
        <p:txBody>
          <a:bodyPr wrap="square" lIns="0" tIns="0" rIns="0" bIns="0" rtlCol="0" anchor="t"/>
          <a:lstStyle/>
          <a:p>
            <a:pPr indent="0" marL="0">
              <a:buNone/>
            </a:pPr>
            <a:r>
              <a:rPr lang="en-US" sz="1200" dirty="0">
                <a:solidFill>
                  <a:srgbClr val="A9B3BF"/>
                </a:solidFill>
                <a:latin typeface="Calibri" pitchFamily="34" charset="0"/>
                <a:ea typeface="Calibri" pitchFamily="34" charset="-122"/>
                <a:cs typeface="Calibri" pitchFamily="34" charset="-120"/>
              </a:rPr>
              <a:t>Stages and reports. Then have Claude review it</a:t>
            </a:r>
            <a:endParaRPr lang="en-US" sz="1200" dirty="0"/>
          </a:p>
        </p:txBody>
      </p:sp>
      <p:sp>
        <p:nvSpPr>
          <p:cNvPr id="25" name="Shape 23"/>
          <p:cNvSpPr/>
          <p:nvPr/>
        </p:nvSpPr>
        <p:spPr>
          <a:xfrm>
            <a:off x="3364992" y="4069080"/>
            <a:ext cx="2651760" cy="1783080"/>
          </a:xfrm>
          <a:prstGeom prst="roundRect">
            <a:avLst>
              <a:gd name="adj" fmla="val 4103"/>
            </a:avLst>
          </a:prstGeom>
          <a:solidFill>
            <a:srgbClr val="2C3E50"/>
          </a:solidFill>
          <a:ln w="12700">
            <a:solidFill>
              <a:srgbClr val="2C3E50"/>
            </a:solidFill>
            <a:prstDash val="solid"/>
          </a:ln>
        </p:spPr>
      </p:sp>
      <p:sp>
        <p:nvSpPr>
          <p:cNvPr id="26" name="Text 24"/>
          <p:cNvSpPr txBox="1"/>
          <p:nvPr/>
        </p:nvSpPr>
        <p:spPr>
          <a:xfrm>
            <a:off x="3593592" y="4206240"/>
            <a:ext cx="731520" cy="640080"/>
          </a:xfrm>
          <a:prstGeom prst="rect">
            <a:avLst/>
          </a:prstGeom>
          <a:noFill/>
          <a:ln/>
        </p:spPr>
        <p:txBody>
          <a:bodyPr wrap="square" lIns="0" tIns="0" rIns="0" bIns="0" rtlCol="0" anchor="ctr"/>
          <a:lstStyle/>
          <a:p>
            <a:pPr indent="0" marL="0">
              <a:buNone/>
            </a:pPr>
            <a:r>
              <a:rPr lang="en-US" sz="3200" b="1" dirty="0">
                <a:solidFill>
                  <a:srgbClr val="A9BCD0"/>
                </a:solidFill>
                <a:latin typeface="Cambria" pitchFamily="34" charset="0"/>
                <a:ea typeface="Cambria" pitchFamily="34" charset="-122"/>
                <a:cs typeface="Cambria" pitchFamily="34" charset="-120"/>
              </a:rPr>
              <a:t>6</a:t>
            </a:r>
            <a:endParaRPr lang="en-US" sz="3200" dirty="0"/>
          </a:p>
        </p:txBody>
      </p:sp>
      <p:sp>
        <p:nvSpPr>
          <p:cNvPr id="27" name="Text 25"/>
          <p:cNvSpPr txBox="1"/>
          <p:nvPr/>
        </p:nvSpPr>
        <p:spPr>
          <a:xfrm>
            <a:off x="3593592" y="4846320"/>
            <a:ext cx="22860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Generate the script</a:t>
            </a:r>
            <a:endParaRPr lang="en-US" sz="1500" dirty="0"/>
          </a:p>
        </p:txBody>
      </p:sp>
      <p:sp>
        <p:nvSpPr>
          <p:cNvPr id="28" name="Text 26"/>
          <p:cNvSpPr txBox="1"/>
          <p:nvPr/>
        </p:nvSpPr>
        <p:spPr>
          <a:xfrm>
            <a:off x="3593592" y="5166360"/>
            <a:ext cx="2286000" cy="640080"/>
          </a:xfrm>
          <a:prstGeom prst="rect">
            <a:avLst/>
          </a:prstGeom>
          <a:noFill/>
          <a:ln/>
        </p:spPr>
        <p:txBody>
          <a:bodyPr wrap="square" lIns="0" tIns="0" rIns="0" bIns="0" rtlCol="0" anchor="t"/>
          <a:lstStyle/>
          <a:p>
            <a:pPr indent="0" marL="0">
              <a:buNone/>
            </a:pPr>
            <a:r>
              <a:rPr lang="en-US" sz="1200" dirty="0">
                <a:solidFill>
                  <a:srgbClr val="A9B3BF"/>
                </a:solidFill>
                <a:latin typeface="Calibri" pitchFamily="34" charset="0"/>
                <a:ea typeface="Calibri" pitchFamily="34" charset="-122"/>
                <a:cs typeface="Calibri" pitchFamily="34" charset="-120"/>
              </a:rPr>
              <a:t>One small script per stage</a:t>
            </a:r>
            <a:endParaRPr lang="en-US" sz="1200" dirty="0"/>
          </a:p>
        </p:txBody>
      </p:sp>
      <p:sp>
        <p:nvSpPr>
          <p:cNvPr id="29" name="Shape 27"/>
          <p:cNvSpPr/>
          <p:nvPr/>
        </p:nvSpPr>
        <p:spPr>
          <a:xfrm>
            <a:off x="6181344" y="4069080"/>
            <a:ext cx="2651760" cy="1783080"/>
          </a:xfrm>
          <a:prstGeom prst="roundRect">
            <a:avLst>
              <a:gd name="adj" fmla="val 4103"/>
            </a:avLst>
          </a:prstGeom>
          <a:solidFill>
            <a:srgbClr val="2C3E50"/>
          </a:solidFill>
          <a:ln w="12700">
            <a:solidFill>
              <a:srgbClr val="2C3E50"/>
            </a:solidFill>
            <a:prstDash val="solid"/>
          </a:ln>
        </p:spPr>
      </p:sp>
      <p:sp>
        <p:nvSpPr>
          <p:cNvPr id="30" name="Text 28"/>
          <p:cNvSpPr txBox="1"/>
          <p:nvPr/>
        </p:nvSpPr>
        <p:spPr>
          <a:xfrm>
            <a:off x="6409944" y="4206240"/>
            <a:ext cx="731520" cy="640080"/>
          </a:xfrm>
          <a:prstGeom prst="rect">
            <a:avLst/>
          </a:prstGeom>
          <a:noFill/>
          <a:ln/>
        </p:spPr>
        <p:txBody>
          <a:bodyPr wrap="square" lIns="0" tIns="0" rIns="0" bIns="0" rtlCol="0" anchor="ctr"/>
          <a:lstStyle/>
          <a:p>
            <a:pPr indent="0" marL="0">
              <a:buNone/>
            </a:pPr>
            <a:r>
              <a:rPr lang="en-US" sz="3200" b="1" dirty="0">
                <a:solidFill>
                  <a:srgbClr val="A9BCD0"/>
                </a:solidFill>
                <a:latin typeface="Cambria" pitchFamily="34" charset="0"/>
                <a:ea typeface="Cambria" pitchFamily="34" charset="-122"/>
                <a:cs typeface="Cambria" pitchFamily="34" charset="-120"/>
              </a:rPr>
              <a:t>7</a:t>
            </a:r>
            <a:endParaRPr lang="en-US" sz="3200" dirty="0"/>
          </a:p>
        </p:txBody>
      </p:sp>
      <p:sp>
        <p:nvSpPr>
          <p:cNvPr id="31" name="Text 29"/>
          <p:cNvSpPr txBox="1"/>
          <p:nvPr/>
        </p:nvSpPr>
        <p:spPr>
          <a:xfrm>
            <a:off x="6409944" y="4846320"/>
            <a:ext cx="22860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Run the process</a:t>
            </a:r>
            <a:endParaRPr lang="en-US" sz="1500" dirty="0"/>
          </a:p>
        </p:txBody>
      </p:sp>
      <p:sp>
        <p:nvSpPr>
          <p:cNvPr id="32" name="Text 30"/>
          <p:cNvSpPr txBox="1"/>
          <p:nvPr/>
        </p:nvSpPr>
        <p:spPr>
          <a:xfrm>
            <a:off x="6409944" y="5166360"/>
            <a:ext cx="2286000" cy="640080"/>
          </a:xfrm>
          <a:prstGeom prst="rect">
            <a:avLst/>
          </a:prstGeom>
          <a:noFill/>
          <a:ln/>
        </p:spPr>
        <p:txBody>
          <a:bodyPr wrap="square" lIns="0" tIns="0" rIns="0" bIns="0" rtlCol="0" anchor="t"/>
          <a:lstStyle/>
          <a:p>
            <a:pPr indent="0" marL="0">
              <a:buNone/>
            </a:pPr>
            <a:r>
              <a:rPr lang="en-US" sz="1200" dirty="0">
                <a:solidFill>
                  <a:srgbClr val="A9B3BF"/>
                </a:solidFill>
                <a:latin typeface="Calibri" pitchFamily="34" charset="0"/>
                <a:ea typeface="Calibri" pitchFamily="34" charset="-122"/>
                <a:cs typeface="Calibri" pitchFamily="34" charset="-120"/>
              </a:rPr>
              <a:t>Numbered outputs, never overwritten</a:t>
            </a:r>
            <a:endParaRPr lang="en-US" sz="1200" dirty="0"/>
          </a:p>
        </p:txBody>
      </p:sp>
      <p:sp>
        <p:nvSpPr>
          <p:cNvPr id="33" name="Shape 31"/>
          <p:cNvSpPr/>
          <p:nvPr/>
        </p:nvSpPr>
        <p:spPr>
          <a:xfrm>
            <a:off x="8997696" y="4069080"/>
            <a:ext cx="2651760" cy="1783080"/>
          </a:xfrm>
          <a:prstGeom prst="roundRect">
            <a:avLst>
              <a:gd name="adj" fmla="val 4103"/>
            </a:avLst>
          </a:prstGeom>
          <a:solidFill>
            <a:srgbClr val="2C3E50"/>
          </a:solidFill>
          <a:ln w="12700">
            <a:solidFill>
              <a:srgbClr val="2C3E50"/>
            </a:solidFill>
            <a:prstDash val="solid"/>
          </a:ln>
        </p:spPr>
      </p:sp>
      <p:sp>
        <p:nvSpPr>
          <p:cNvPr id="34" name="Text 32"/>
          <p:cNvSpPr txBox="1"/>
          <p:nvPr/>
        </p:nvSpPr>
        <p:spPr>
          <a:xfrm>
            <a:off x="9226296" y="4206240"/>
            <a:ext cx="731520" cy="640080"/>
          </a:xfrm>
          <a:prstGeom prst="rect">
            <a:avLst/>
          </a:prstGeom>
          <a:noFill/>
          <a:ln/>
        </p:spPr>
        <p:txBody>
          <a:bodyPr wrap="square" lIns="0" tIns="0" rIns="0" bIns="0" rtlCol="0" anchor="ctr"/>
          <a:lstStyle/>
          <a:p>
            <a:pPr indent="0" marL="0">
              <a:buNone/>
            </a:pPr>
            <a:r>
              <a:rPr lang="en-US" sz="3200" b="1" dirty="0">
                <a:solidFill>
                  <a:srgbClr val="A9BCD0"/>
                </a:solidFill>
                <a:latin typeface="Cambria" pitchFamily="34" charset="0"/>
                <a:ea typeface="Cambria" pitchFamily="34" charset="-122"/>
                <a:cs typeface="Cambria" pitchFamily="34" charset="-120"/>
              </a:rPr>
              <a:t>8</a:t>
            </a:r>
            <a:endParaRPr lang="en-US" sz="3200" dirty="0"/>
          </a:p>
        </p:txBody>
      </p:sp>
      <p:sp>
        <p:nvSpPr>
          <p:cNvPr id="35" name="Text 33"/>
          <p:cNvSpPr txBox="1"/>
          <p:nvPr/>
        </p:nvSpPr>
        <p:spPr>
          <a:xfrm>
            <a:off x="9226296" y="4846320"/>
            <a:ext cx="22860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Review the results</a:t>
            </a:r>
            <a:endParaRPr lang="en-US" sz="1500" dirty="0"/>
          </a:p>
        </p:txBody>
      </p:sp>
      <p:sp>
        <p:nvSpPr>
          <p:cNvPr id="36" name="Text 34"/>
          <p:cNvSpPr txBox="1"/>
          <p:nvPr/>
        </p:nvSpPr>
        <p:spPr>
          <a:xfrm>
            <a:off x="9226296" y="5166360"/>
            <a:ext cx="2286000" cy="640080"/>
          </a:xfrm>
          <a:prstGeom prst="rect">
            <a:avLst/>
          </a:prstGeom>
          <a:noFill/>
          <a:ln/>
        </p:spPr>
        <p:txBody>
          <a:bodyPr wrap="square" lIns="0" tIns="0" rIns="0" bIns="0" rtlCol="0" anchor="t"/>
          <a:lstStyle/>
          <a:p>
            <a:pPr indent="0" marL="0">
              <a:buNone/>
            </a:pPr>
            <a:r>
              <a:rPr lang="en-US" sz="1200" dirty="0">
                <a:solidFill>
                  <a:srgbClr val="A9B3BF"/>
                </a:solidFill>
                <a:latin typeface="Calibri" pitchFamily="34" charset="0"/>
                <a:ea typeface="Calibri" pitchFamily="34" charset="-122"/>
                <a:cs typeface="Calibri" pitchFamily="34" charset="-120"/>
              </a:rPr>
              <a:t>Always generate a report</a:t>
            </a:r>
            <a:endParaRPr lang="en-US" sz="1200" dirty="0"/>
          </a:p>
        </p:txBody>
      </p:sp>
      <p:sp>
        <p:nvSpPr>
          <p:cNvPr id="37" name="Text 3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A9B3BF"/>
                </a:solidFill>
                <a:latin typeface="Calibri" pitchFamily="34" charset="0"/>
                <a:ea typeface="Calibri" pitchFamily="34" charset="-122"/>
                <a:cs typeface="Calibri" pitchFamily="34" charset="-120"/>
              </a:rPr>
              <a:t>WKS10  ·  Building a Repeatable AI Pipeline</a:t>
            </a:r>
            <a:endParaRPr lang="en-US" sz="1000" dirty="0"/>
          </a:p>
        </p:txBody>
      </p:sp>
      <p:sp>
        <p:nvSpPr>
          <p:cNvPr id="38" name="Text 3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A9B3BF"/>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392B"/>
                </a:solidFill>
                <a:latin typeface="Calibri" pitchFamily="34" charset="0"/>
                <a:ea typeface="Calibri" pitchFamily="34" charset="-122"/>
                <a:cs typeface="Calibri" pitchFamily="34" charset="-120"/>
              </a:rPr>
              <a:t>THE KEY TECHNIQUE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0E1A2D"/>
                </a:solidFill>
                <a:latin typeface="Cambria" pitchFamily="34" charset="0"/>
                <a:ea typeface="Cambria" pitchFamily="34" charset="-122"/>
                <a:cs typeface="Cambria" pitchFamily="34" charset="-120"/>
              </a:rPr>
              <a:t>AI translates. Authorities validate.</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4D4D4D"/>
                </a:solidFill>
                <a:latin typeface="Calibri" pitchFamily="34" charset="0"/>
                <a:ea typeface="Calibri" pitchFamily="34" charset="-122"/>
                <a:cs typeface="Calibri" pitchFamily="34" charset="-120"/>
              </a:rPr>
              <a:t>Every name the model produces is checked against a trusted list before it is accepted.</a:t>
            </a:r>
            <a:endParaRPr lang="en-US" sz="1500" dirty="0"/>
          </a:p>
        </p:txBody>
      </p:sp>
      <p:sp>
        <p:nvSpPr>
          <p:cNvPr id="5" name="Shape 3"/>
          <p:cNvSpPr/>
          <p:nvPr/>
        </p:nvSpPr>
        <p:spPr>
          <a:xfrm>
            <a:off x="548640" y="2240280"/>
            <a:ext cx="2240280" cy="1417320"/>
          </a:xfrm>
          <a:prstGeom prst="roundRect">
            <a:avLst>
              <a:gd name="adj" fmla="val 5161"/>
            </a:avLst>
          </a:prstGeom>
          <a:solidFill>
            <a:srgbClr val="EFE5CB"/>
          </a:solidFill>
          <a:ln w="12700">
            <a:solidFill>
              <a:srgbClr val="EFE5CB"/>
            </a:solidFill>
            <a:prstDash val="solid"/>
          </a:ln>
        </p:spPr>
      </p:sp>
      <p:sp>
        <p:nvSpPr>
          <p:cNvPr id="6" name="Text 4"/>
          <p:cNvSpPr txBox="1"/>
          <p:nvPr/>
        </p:nvSpPr>
        <p:spPr>
          <a:xfrm>
            <a:off x="777240" y="2423160"/>
            <a:ext cx="1828800" cy="320040"/>
          </a:xfrm>
          <a:prstGeom prst="rect">
            <a:avLst/>
          </a:prstGeom>
          <a:noFill/>
          <a:ln/>
        </p:spPr>
        <p:txBody>
          <a:bodyPr wrap="square" lIns="0" tIns="0" rIns="0" bIns="0" rtlCol="0" anchor="t"/>
          <a:lstStyle/>
          <a:p>
            <a:pPr indent="0" marL="0">
              <a:buNone/>
            </a:pPr>
            <a:r>
              <a:rPr lang="en-US" sz="1500" b="1" dirty="0">
                <a:solidFill>
                  <a:srgbClr val="6E6E6E"/>
                </a:solidFill>
                <a:latin typeface="Calibri" pitchFamily="34" charset="0"/>
                <a:ea typeface="Calibri" pitchFamily="34" charset="-122"/>
                <a:cs typeface="Calibri" pitchFamily="34" charset="-120"/>
              </a:rPr>
              <a:t>Rule</a:t>
            </a:r>
            <a:endParaRPr lang="en-US" sz="1500" dirty="0"/>
          </a:p>
        </p:txBody>
      </p:sp>
      <p:sp>
        <p:nvSpPr>
          <p:cNvPr id="7" name="Text 5"/>
          <p:cNvSpPr txBox="1"/>
          <p:nvPr/>
        </p:nvSpPr>
        <p:spPr>
          <a:xfrm>
            <a:off x="777240" y="2788920"/>
            <a:ext cx="1828800" cy="77724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Hämatit → Hematite</a:t>
            </a:r>
            <a:endParaRPr lang="en-US" sz="1250" dirty="0"/>
          </a:p>
        </p:txBody>
      </p:sp>
      <p:pic>
        <p:nvPicPr>
          <p:cNvPr id="8" name="Image 0" descr="preencoded.png">    </p:cNvPr>
          <p:cNvPicPr>
            <a:picLocks noChangeAspect="1"/>
          </p:cNvPicPr>
          <p:nvPr/>
        </p:nvPicPr>
        <p:blipFill>
          <a:blip r:embed="rId1"/>
          <a:stretch>
            <a:fillRect/>
          </a:stretch>
        </p:blipFill>
        <p:spPr>
          <a:xfrm>
            <a:off x="2825496" y="2788920"/>
            <a:ext cx="219456" cy="219456"/>
          </a:xfrm>
          <a:prstGeom prst="rect">
            <a:avLst/>
          </a:prstGeom>
        </p:spPr>
      </p:pic>
      <p:sp>
        <p:nvSpPr>
          <p:cNvPr id="9" name="Shape 6"/>
          <p:cNvSpPr/>
          <p:nvPr/>
        </p:nvSpPr>
        <p:spPr>
          <a:xfrm>
            <a:off x="3063240" y="2240280"/>
            <a:ext cx="2240280" cy="1417320"/>
          </a:xfrm>
          <a:prstGeom prst="roundRect">
            <a:avLst>
              <a:gd name="adj" fmla="val 5161"/>
            </a:avLst>
          </a:prstGeom>
          <a:solidFill>
            <a:srgbClr val="EFE5CB"/>
          </a:solidFill>
          <a:ln w="12700">
            <a:solidFill>
              <a:srgbClr val="EFE5CB"/>
            </a:solidFill>
            <a:prstDash val="solid"/>
          </a:ln>
        </p:spPr>
      </p:sp>
      <p:sp>
        <p:nvSpPr>
          <p:cNvPr id="10" name="Text 7"/>
          <p:cNvSpPr txBox="1"/>
          <p:nvPr/>
        </p:nvSpPr>
        <p:spPr>
          <a:xfrm>
            <a:off x="3291840" y="2423160"/>
            <a:ext cx="1828800" cy="320040"/>
          </a:xfrm>
          <a:prstGeom prst="rect">
            <a:avLst/>
          </a:prstGeom>
          <a:noFill/>
          <a:ln/>
        </p:spPr>
        <p:txBody>
          <a:bodyPr wrap="square" lIns="0" tIns="0" rIns="0" bIns="0" rtlCol="0" anchor="t"/>
          <a:lstStyle/>
          <a:p>
            <a:pPr indent="0" marL="0">
              <a:buNone/>
            </a:pPr>
            <a:r>
              <a:rPr lang="en-US" sz="1500" b="1" dirty="0">
                <a:solidFill>
                  <a:srgbClr val="8F7A4C"/>
                </a:solidFill>
                <a:latin typeface="Calibri" pitchFamily="34" charset="0"/>
                <a:ea typeface="Calibri" pitchFamily="34" charset="-122"/>
                <a:cs typeface="Calibri" pitchFamily="34" charset="-120"/>
              </a:rPr>
              <a:t>Model</a:t>
            </a:r>
            <a:endParaRPr lang="en-US" sz="1500" dirty="0"/>
          </a:p>
        </p:txBody>
      </p:sp>
      <p:sp>
        <p:nvSpPr>
          <p:cNvPr id="11" name="Text 8"/>
          <p:cNvSpPr txBox="1"/>
          <p:nvPr/>
        </p:nvSpPr>
        <p:spPr>
          <a:xfrm>
            <a:off x="3291840" y="2788920"/>
            <a:ext cx="1828800" cy="77724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Quarz → Quartz</a:t>
            </a:r>
            <a:endParaRPr lang="en-US" sz="1250" dirty="0"/>
          </a:p>
        </p:txBody>
      </p:sp>
      <p:pic>
        <p:nvPicPr>
          <p:cNvPr id="12" name="Image 1" descr="preencoded.png">    </p:cNvPr>
          <p:cNvPicPr>
            <a:picLocks noChangeAspect="1"/>
          </p:cNvPicPr>
          <p:nvPr/>
        </p:nvPicPr>
        <p:blipFill>
          <a:blip r:embed="rId2"/>
          <a:stretch>
            <a:fillRect/>
          </a:stretch>
        </p:blipFill>
        <p:spPr>
          <a:xfrm>
            <a:off x="5340096" y="2788920"/>
            <a:ext cx="219456" cy="219456"/>
          </a:xfrm>
          <a:prstGeom prst="rect">
            <a:avLst/>
          </a:prstGeom>
        </p:spPr>
      </p:pic>
      <p:sp>
        <p:nvSpPr>
          <p:cNvPr id="13" name="Shape 9"/>
          <p:cNvSpPr/>
          <p:nvPr/>
        </p:nvSpPr>
        <p:spPr>
          <a:xfrm>
            <a:off x="5577840" y="2240280"/>
            <a:ext cx="2240280" cy="1417320"/>
          </a:xfrm>
          <a:prstGeom prst="roundRect">
            <a:avLst>
              <a:gd name="adj" fmla="val 5161"/>
            </a:avLst>
          </a:prstGeom>
          <a:solidFill>
            <a:srgbClr val="EFE5CB"/>
          </a:solidFill>
          <a:ln w="12700">
            <a:solidFill>
              <a:srgbClr val="EFE5CB"/>
            </a:solidFill>
            <a:prstDash val="solid"/>
          </a:ln>
        </p:spPr>
      </p:sp>
      <p:sp>
        <p:nvSpPr>
          <p:cNvPr id="14" name="Text 10"/>
          <p:cNvSpPr txBox="1"/>
          <p:nvPr/>
        </p:nvSpPr>
        <p:spPr>
          <a:xfrm>
            <a:off x="5806440" y="2423160"/>
            <a:ext cx="1828800" cy="320040"/>
          </a:xfrm>
          <a:prstGeom prst="rect">
            <a:avLst/>
          </a:prstGeom>
          <a:noFill/>
          <a:ln/>
        </p:spPr>
        <p:txBody>
          <a:bodyPr wrap="square" lIns="0" tIns="0" rIns="0" bIns="0" rtlCol="0" anchor="t"/>
          <a:lstStyle/>
          <a:p>
            <a:pPr indent="0" marL="0">
              <a:buNone/>
            </a:pPr>
            <a:r>
              <a:rPr lang="en-US" sz="1500" b="1" dirty="0">
                <a:solidFill>
                  <a:srgbClr val="5B7089"/>
                </a:solidFill>
                <a:latin typeface="Calibri" pitchFamily="34" charset="0"/>
                <a:ea typeface="Calibri" pitchFamily="34" charset="-122"/>
                <a:cs typeface="Calibri" pitchFamily="34" charset="-120"/>
              </a:rPr>
              <a:t>Authority check</a:t>
            </a:r>
            <a:endParaRPr lang="en-US" sz="1500" dirty="0"/>
          </a:p>
        </p:txBody>
      </p:sp>
      <p:sp>
        <p:nvSpPr>
          <p:cNvPr id="15" name="Text 11"/>
          <p:cNvSpPr txBox="1"/>
          <p:nvPr/>
        </p:nvSpPr>
        <p:spPr>
          <a:xfrm>
            <a:off x="5806440" y="2788920"/>
            <a:ext cx="1828800" cy="777240"/>
          </a:xfrm>
          <a:prstGeom prst="rect">
            <a:avLst/>
          </a:prstGeom>
          <a:noFill/>
          <a:ln/>
        </p:spPr>
        <p:txBody>
          <a:bodyPr wrap="square" lIns="0" tIns="0" rIns="0" bIns="0" rtlCol="0" anchor="t"/>
          <a:lstStyle/>
          <a:p>
            <a:pPr indent="0" marL="0">
              <a:buNone/>
            </a:pPr>
            <a:r>
              <a:rPr lang="en-US" sz="1250" dirty="0">
                <a:solidFill>
                  <a:srgbClr val="4D4D4D"/>
                </a:solidFill>
                <a:latin typeface="Calibri" pitchFamily="34" charset="0"/>
                <a:ea typeface="Calibri" pitchFamily="34" charset="-122"/>
                <a:cs typeface="Calibri" pitchFamily="34" charset="-120"/>
              </a:rPr>
              <a:t>mineral_names_en.tsv, varieties_en.csv</a:t>
            </a:r>
            <a:endParaRPr lang="en-US" sz="1250" dirty="0"/>
          </a:p>
        </p:txBody>
      </p:sp>
      <p:pic>
        <p:nvPicPr>
          <p:cNvPr id="16" name="Image 2" descr="preencoded.png">    </p:cNvPr>
          <p:cNvPicPr>
            <a:picLocks noChangeAspect="1"/>
          </p:cNvPicPr>
          <p:nvPr/>
        </p:nvPicPr>
        <p:blipFill>
          <a:blip r:embed="rId3"/>
          <a:stretch>
            <a:fillRect/>
          </a:stretch>
        </p:blipFill>
        <p:spPr>
          <a:xfrm>
            <a:off x="7854696" y="2788920"/>
            <a:ext cx="219456" cy="219456"/>
          </a:xfrm>
          <a:prstGeom prst="rect">
            <a:avLst/>
          </a:prstGeom>
        </p:spPr>
      </p:pic>
      <p:sp>
        <p:nvSpPr>
          <p:cNvPr id="17" name="Shape 12"/>
          <p:cNvSpPr/>
          <p:nvPr/>
        </p:nvSpPr>
        <p:spPr>
          <a:xfrm>
            <a:off x="8092440" y="2240280"/>
            <a:ext cx="3547872" cy="640080"/>
          </a:xfrm>
          <a:prstGeom prst="roundRect">
            <a:avLst>
              <a:gd name="adj" fmla="val 11429"/>
            </a:avLst>
          </a:prstGeom>
          <a:solidFill>
            <a:srgbClr val="5B7089"/>
          </a:solidFill>
          <a:ln w="12700">
            <a:solidFill>
              <a:srgbClr val="5B7089"/>
            </a:solidFill>
            <a:prstDash val="solid"/>
          </a:ln>
        </p:spPr>
      </p:sp>
      <p:sp>
        <p:nvSpPr>
          <p:cNvPr id="18" name="Text 13"/>
          <p:cNvSpPr txBox="1"/>
          <p:nvPr/>
        </p:nvSpPr>
        <p:spPr>
          <a:xfrm>
            <a:off x="8275320" y="2240280"/>
            <a:ext cx="3291840" cy="6400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Found → dictionary in data/dist</a:t>
            </a:r>
            <a:endParaRPr lang="en-US" sz="1350" dirty="0"/>
          </a:p>
        </p:txBody>
      </p:sp>
      <p:sp>
        <p:nvSpPr>
          <p:cNvPr id="19" name="Shape 14"/>
          <p:cNvSpPr/>
          <p:nvPr/>
        </p:nvSpPr>
        <p:spPr>
          <a:xfrm>
            <a:off x="8092440" y="3017520"/>
            <a:ext cx="3547872" cy="640080"/>
          </a:xfrm>
          <a:prstGeom prst="roundRect">
            <a:avLst>
              <a:gd name="adj" fmla="val 11429"/>
            </a:avLst>
          </a:prstGeom>
          <a:solidFill>
            <a:srgbClr val="C0392B"/>
          </a:solidFill>
          <a:ln w="12700">
            <a:solidFill>
              <a:srgbClr val="C0392B"/>
            </a:solidFill>
            <a:prstDash val="solid"/>
          </a:ln>
        </p:spPr>
      </p:sp>
      <p:sp>
        <p:nvSpPr>
          <p:cNvPr id="20" name="Text 15"/>
          <p:cNvSpPr txBox="1"/>
          <p:nvPr/>
        </p:nvSpPr>
        <p:spPr>
          <a:xfrm>
            <a:off x="8275320" y="3017520"/>
            <a:ext cx="3291840" cy="6400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Not found → unresolved, for review</a:t>
            </a:r>
            <a:endParaRPr lang="en-US" sz="1350" dirty="0"/>
          </a:p>
        </p:txBody>
      </p:sp>
      <p:sp>
        <p:nvSpPr>
          <p:cNvPr id="21" name="Text 16"/>
          <p:cNvSpPr txBox="1"/>
          <p:nvPr/>
        </p:nvSpPr>
        <p:spPr>
          <a:xfrm>
            <a:off x="548640" y="4114800"/>
            <a:ext cx="3520440" cy="777240"/>
          </a:xfrm>
          <a:prstGeom prst="rect">
            <a:avLst/>
          </a:prstGeom>
          <a:noFill/>
          <a:ln/>
        </p:spPr>
        <p:txBody>
          <a:bodyPr wrap="square" lIns="0" tIns="0" rIns="0" bIns="0" rtlCol="0" anchor="ctr"/>
          <a:lstStyle/>
          <a:p>
            <a:pPr indent="0" marL="0">
              <a:buNone/>
            </a:pPr>
            <a:r>
              <a:rPr lang="en-US" sz="4000" b="1" dirty="0">
                <a:solidFill>
                  <a:srgbClr val="C0392B"/>
                </a:solidFill>
                <a:latin typeface="Cambria" pitchFamily="34" charset="0"/>
                <a:ea typeface="Cambria" pitchFamily="34" charset="-122"/>
                <a:cs typeface="Cambria" pitchFamily="34" charset="-120"/>
              </a:rPr>
              <a:t>~2/3</a:t>
            </a:r>
            <a:endParaRPr lang="en-US" sz="4000" dirty="0"/>
          </a:p>
        </p:txBody>
      </p:sp>
      <p:sp>
        <p:nvSpPr>
          <p:cNvPr id="22" name="Text 17"/>
          <p:cNvSpPr txBox="1"/>
          <p:nvPr/>
        </p:nvSpPr>
        <p:spPr>
          <a:xfrm>
            <a:off x="548640" y="4937760"/>
            <a:ext cx="3474720" cy="100584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of the German list validates with a simple -it → -ite rule. The model is only needed for the rest.</a:t>
            </a:r>
            <a:endParaRPr lang="en-US" sz="1300" dirty="0"/>
          </a:p>
        </p:txBody>
      </p:sp>
      <p:sp>
        <p:nvSpPr>
          <p:cNvPr id="23" name="Text 18"/>
          <p:cNvSpPr txBox="1"/>
          <p:nvPr/>
        </p:nvSpPr>
        <p:spPr>
          <a:xfrm>
            <a:off x="4297680" y="4114800"/>
            <a:ext cx="3520440" cy="777240"/>
          </a:xfrm>
          <a:prstGeom prst="rect">
            <a:avLst/>
          </a:prstGeom>
          <a:noFill/>
          <a:ln/>
        </p:spPr>
        <p:txBody>
          <a:bodyPr wrap="square" lIns="0" tIns="0" rIns="0" bIns="0" rtlCol="0" anchor="ctr"/>
          <a:lstStyle/>
          <a:p>
            <a:pPr indent="0" marL="0">
              <a:buNone/>
            </a:pPr>
            <a:r>
              <a:rPr lang="en-US" sz="4000" b="1" dirty="0">
                <a:solidFill>
                  <a:srgbClr val="C0392B"/>
                </a:solidFill>
                <a:latin typeface="Cambria" pitchFamily="34" charset="0"/>
                <a:ea typeface="Cambria" pitchFamily="34" charset="-122"/>
                <a:cs typeface="Cambria" pitchFamily="34" charset="-120"/>
              </a:rPr>
              <a:t>12 → 1,756</a:t>
            </a:r>
            <a:endParaRPr lang="en-US" sz="4000" dirty="0"/>
          </a:p>
        </p:txBody>
      </p:sp>
      <p:sp>
        <p:nvSpPr>
          <p:cNvPr id="24" name="Text 19"/>
          <p:cNvSpPr txBox="1"/>
          <p:nvPr/>
        </p:nvSpPr>
        <p:spPr>
          <a:xfrm>
            <a:off x="4297680" y="4937760"/>
            <a:ext cx="3474720" cy="100584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French names whose Strunz number agrees with the authority, before and after removing one leading zero.</a:t>
            </a:r>
            <a:endParaRPr lang="en-US" sz="1300" dirty="0"/>
          </a:p>
        </p:txBody>
      </p:sp>
      <p:sp>
        <p:nvSpPr>
          <p:cNvPr id="25" name="Text 20"/>
          <p:cNvSpPr txBox="1"/>
          <p:nvPr/>
        </p:nvSpPr>
        <p:spPr>
          <a:xfrm>
            <a:off x="8046720" y="4114800"/>
            <a:ext cx="3520440" cy="777240"/>
          </a:xfrm>
          <a:prstGeom prst="rect">
            <a:avLst/>
          </a:prstGeom>
          <a:noFill/>
          <a:ln/>
        </p:spPr>
        <p:txBody>
          <a:bodyPr wrap="square" lIns="0" tIns="0" rIns="0" bIns="0" rtlCol="0" anchor="ctr"/>
          <a:lstStyle/>
          <a:p>
            <a:pPr indent="0" marL="0">
              <a:buNone/>
            </a:pPr>
            <a:r>
              <a:rPr lang="en-US" sz="4000" b="1" dirty="0">
                <a:solidFill>
                  <a:srgbClr val="C0392B"/>
                </a:solidFill>
                <a:latin typeface="Cambria" pitchFamily="34" charset="0"/>
                <a:ea typeface="Cambria" pitchFamily="34" charset="-122"/>
                <a:cs typeface="Cambria" pitchFamily="34" charset="-120"/>
              </a:rPr>
              <a:t>16 of 367</a:t>
            </a:r>
            <a:endParaRPr lang="en-US" sz="4000" dirty="0"/>
          </a:p>
        </p:txBody>
      </p:sp>
      <p:sp>
        <p:nvSpPr>
          <p:cNvPr id="26" name="Text 21"/>
          <p:cNvSpPr txBox="1"/>
          <p:nvPr/>
        </p:nvSpPr>
        <p:spPr>
          <a:xfrm>
            <a:off x="8046720" y="4937760"/>
            <a:ext cx="3474720" cy="100584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Austrian locality terms match the geopolitical authority exactly. So there it is used as context, not as a pass/fail check.</a:t>
            </a:r>
            <a:endParaRPr lang="en-US" sz="1300" dirty="0"/>
          </a:p>
        </p:txBody>
      </p:sp>
      <p:sp>
        <p:nvSpPr>
          <p:cNvPr id="27" name="Text 2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7F87"/>
                </a:solidFill>
                <a:latin typeface="Calibri" pitchFamily="34" charset="0"/>
                <a:ea typeface="Calibri" pitchFamily="34" charset="-122"/>
                <a:cs typeface="Calibri" pitchFamily="34" charset="-120"/>
              </a:rPr>
              <a:t>WKS10  ·  Building a Repeatable AI Pipeline</a:t>
            </a:r>
            <a:endParaRPr lang="en-US" sz="1000" dirty="0"/>
          </a:p>
        </p:txBody>
      </p:sp>
      <p:sp>
        <p:nvSpPr>
          <p:cNvPr id="28" name="Text 2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7F87"/>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A2D"/>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A9BCD0"/>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Hands-on: your turn</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A9B3BF"/>
                </a:solidFill>
                <a:latin typeface="Calibri" pitchFamily="34" charset="0"/>
                <a:ea typeface="Calibri" pitchFamily="34" charset="-122"/>
                <a:cs typeface="Calibri" pitchFamily="34" charset="-120"/>
              </a:rPr>
              <a:t>Open the Exercise Guide. Every prompt is written out for you to copy.</a:t>
            </a:r>
            <a:endParaRPr lang="en-US" sz="1500" dirty="0"/>
          </a:p>
        </p:txBody>
      </p:sp>
      <p:sp>
        <p:nvSpPr>
          <p:cNvPr id="5" name="Shape 3"/>
          <p:cNvSpPr/>
          <p:nvPr/>
        </p:nvSpPr>
        <p:spPr>
          <a:xfrm>
            <a:off x="548640" y="2057400"/>
            <a:ext cx="11091672" cy="603504"/>
          </a:xfrm>
          <a:prstGeom prst="roundRect">
            <a:avLst>
              <a:gd name="adj" fmla="val 12121"/>
            </a:avLst>
          </a:prstGeom>
          <a:solidFill>
            <a:srgbClr val="2C3E50"/>
          </a:solidFill>
          <a:ln w="12700">
            <a:solidFill>
              <a:srgbClr val="2C3E50"/>
            </a:solidFill>
            <a:prstDash val="solid"/>
          </a:ln>
        </p:spPr>
      </p:sp>
      <p:sp>
        <p:nvSpPr>
          <p:cNvPr id="6" name="Text 4"/>
          <p:cNvSpPr txBox="1"/>
          <p:nvPr/>
        </p:nvSpPr>
        <p:spPr>
          <a:xfrm>
            <a:off x="822960" y="2057400"/>
            <a:ext cx="146304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Setup</a:t>
            </a:r>
            <a:endParaRPr lang="en-US" sz="1600" dirty="0"/>
          </a:p>
        </p:txBody>
      </p:sp>
      <p:sp>
        <p:nvSpPr>
          <p:cNvPr id="7" name="Text 5"/>
          <p:cNvSpPr txBox="1"/>
          <p:nvPr/>
        </p:nvSpPr>
        <p:spPr>
          <a:xfrm>
            <a:off x="2286000" y="2057400"/>
            <a:ext cx="1097280" cy="603504"/>
          </a:xfrm>
          <a:prstGeom prst="rect">
            <a:avLst/>
          </a:prstGeom>
          <a:noFill/>
          <a:ln/>
        </p:spPr>
        <p:txBody>
          <a:bodyPr wrap="square" lIns="0" tIns="0" rIns="0" bIns="0" rtlCol="0" anchor="ctr"/>
          <a:lstStyle/>
          <a:p>
            <a:pPr indent="0" marL="0">
              <a:buNone/>
            </a:pPr>
            <a:r>
              <a:rPr lang="en-US" sz="1400" b="1" dirty="0">
                <a:solidFill>
                  <a:srgbClr val="E0584A"/>
                </a:solidFill>
                <a:latin typeface="Calibri" pitchFamily="34" charset="0"/>
                <a:ea typeface="Calibri" pitchFamily="34" charset="-122"/>
                <a:cs typeface="Calibri" pitchFamily="34" charset="-120"/>
              </a:rPr>
              <a:t>5 min</a:t>
            </a:r>
            <a:endParaRPr lang="en-US" sz="1400" dirty="0"/>
          </a:p>
        </p:txBody>
      </p:sp>
      <p:sp>
        <p:nvSpPr>
          <p:cNvPr id="8" name="Text 6"/>
          <p:cNvSpPr txBox="1"/>
          <p:nvPr/>
        </p:nvSpPr>
        <p:spPr>
          <a:xfrm>
            <a:off x="3383280" y="2057400"/>
            <a:ext cx="8046720" cy="603504"/>
          </a:xfrm>
          <a:prstGeom prst="rect">
            <a:avLst/>
          </a:prstGeom>
          <a:noFill/>
          <a:ln/>
        </p:spPr>
        <p:txBody>
          <a:bodyPr wrap="square" lIns="0" tIns="0" rIns="0" bIns="0" rtlCol="0" anchor="ctr"/>
          <a:lstStyle/>
          <a:p>
            <a:pPr indent="0" marL="0">
              <a:buNone/>
            </a:pPr>
            <a:r>
              <a:rPr lang="en-US" sz="1400" dirty="0">
                <a:solidFill>
                  <a:srgbClr val="E4DECF"/>
                </a:solidFill>
                <a:latin typeface="Calibri" pitchFamily="34" charset="0"/>
                <a:ea typeface="Calibri" pitchFamily="34" charset="-122"/>
                <a:cs typeface="Calibri" pitchFamily="34" charset="-120"/>
              </a:rPr>
              <a:t>Clone the repository, open it in Claude Code, run Prompt 0 to create CLAUDE.md</a:t>
            </a:r>
            <a:endParaRPr lang="en-US" sz="1400" dirty="0"/>
          </a:p>
        </p:txBody>
      </p:sp>
      <p:sp>
        <p:nvSpPr>
          <p:cNvPr id="9" name="Shape 7"/>
          <p:cNvSpPr/>
          <p:nvPr/>
        </p:nvSpPr>
        <p:spPr>
          <a:xfrm>
            <a:off x="548640" y="2788920"/>
            <a:ext cx="11091672" cy="603504"/>
          </a:xfrm>
          <a:prstGeom prst="roundRect">
            <a:avLst>
              <a:gd name="adj" fmla="val 12121"/>
            </a:avLst>
          </a:prstGeom>
          <a:solidFill>
            <a:srgbClr val="2C3E50"/>
          </a:solidFill>
          <a:ln w="12700">
            <a:solidFill>
              <a:srgbClr val="2C3E50"/>
            </a:solidFill>
            <a:prstDash val="solid"/>
          </a:ln>
        </p:spPr>
      </p:sp>
      <p:sp>
        <p:nvSpPr>
          <p:cNvPr id="10" name="Text 8"/>
          <p:cNvSpPr txBox="1"/>
          <p:nvPr/>
        </p:nvSpPr>
        <p:spPr>
          <a:xfrm>
            <a:off x="822960" y="2788920"/>
            <a:ext cx="146304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Part A</a:t>
            </a:r>
            <a:endParaRPr lang="en-US" sz="1600" dirty="0"/>
          </a:p>
        </p:txBody>
      </p:sp>
      <p:sp>
        <p:nvSpPr>
          <p:cNvPr id="11" name="Text 9"/>
          <p:cNvSpPr txBox="1"/>
          <p:nvPr/>
        </p:nvSpPr>
        <p:spPr>
          <a:xfrm>
            <a:off x="2286000" y="2788920"/>
            <a:ext cx="1097280" cy="603504"/>
          </a:xfrm>
          <a:prstGeom prst="rect">
            <a:avLst/>
          </a:prstGeom>
          <a:noFill/>
          <a:ln/>
        </p:spPr>
        <p:txBody>
          <a:bodyPr wrap="square" lIns="0" tIns="0" rIns="0" bIns="0" rtlCol="0" anchor="ctr"/>
          <a:lstStyle/>
          <a:p>
            <a:pPr indent="0" marL="0">
              <a:buNone/>
            </a:pPr>
            <a:r>
              <a:rPr lang="en-US" sz="1400" b="1" dirty="0">
                <a:solidFill>
                  <a:srgbClr val="E0584A"/>
                </a:solidFill>
                <a:latin typeface="Calibri" pitchFamily="34" charset="0"/>
                <a:ea typeface="Calibri" pitchFamily="34" charset="-122"/>
                <a:cs typeface="Calibri" pitchFamily="34" charset="-120"/>
              </a:rPr>
              <a:t>15 min</a:t>
            </a:r>
            <a:endParaRPr lang="en-US" sz="1400" dirty="0"/>
          </a:p>
        </p:txBody>
      </p:sp>
      <p:sp>
        <p:nvSpPr>
          <p:cNvPr id="12" name="Text 10"/>
          <p:cNvSpPr txBox="1"/>
          <p:nvPr/>
        </p:nvSpPr>
        <p:spPr>
          <a:xfrm>
            <a:off x="3383280" y="2788920"/>
            <a:ext cx="8046720" cy="603504"/>
          </a:xfrm>
          <a:prstGeom prst="rect">
            <a:avLst/>
          </a:prstGeom>
          <a:noFill/>
          <a:ln/>
        </p:spPr>
        <p:txBody>
          <a:bodyPr wrap="square" lIns="0" tIns="0" rIns="0" bIns="0" rtlCol="0" anchor="ctr"/>
          <a:lstStyle/>
          <a:p>
            <a:pPr indent="0" marL="0">
              <a:buNone/>
            </a:pPr>
            <a:r>
              <a:rPr lang="en-US" sz="1400" dirty="0">
                <a:solidFill>
                  <a:srgbClr val="E4DECF"/>
                </a:solidFill>
                <a:latin typeface="Calibri" pitchFamily="34" charset="0"/>
                <a:ea typeface="Calibri" pitchFamily="34" charset="-122"/>
                <a:cs typeface="Calibri" pitchFamily="34" charset="-120"/>
              </a:rPr>
              <a:t>German mineral names, together: profile, plan, review, build, validate, review unresolved</a:t>
            </a:r>
            <a:endParaRPr lang="en-US" sz="1400" dirty="0"/>
          </a:p>
        </p:txBody>
      </p:sp>
      <p:sp>
        <p:nvSpPr>
          <p:cNvPr id="13" name="Shape 11"/>
          <p:cNvSpPr/>
          <p:nvPr/>
        </p:nvSpPr>
        <p:spPr>
          <a:xfrm>
            <a:off x="548640" y="3520440"/>
            <a:ext cx="11091672" cy="603504"/>
          </a:xfrm>
          <a:prstGeom prst="roundRect">
            <a:avLst>
              <a:gd name="adj" fmla="val 12121"/>
            </a:avLst>
          </a:prstGeom>
          <a:solidFill>
            <a:srgbClr val="2C3E50"/>
          </a:solidFill>
          <a:ln w="12700">
            <a:solidFill>
              <a:srgbClr val="2C3E50"/>
            </a:solidFill>
            <a:prstDash val="solid"/>
          </a:ln>
        </p:spPr>
      </p:sp>
      <p:sp>
        <p:nvSpPr>
          <p:cNvPr id="14" name="Text 12"/>
          <p:cNvSpPr txBox="1"/>
          <p:nvPr/>
        </p:nvSpPr>
        <p:spPr>
          <a:xfrm>
            <a:off x="822960" y="3520440"/>
            <a:ext cx="146304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Part B</a:t>
            </a:r>
            <a:endParaRPr lang="en-US" sz="1600" dirty="0"/>
          </a:p>
        </p:txBody>
      </p:sp>
      <p:sp>
        <p:nvSpPr>
          <p:cNvPr id="15" name="Text 13"/>
          <p:cNvSpPr txBox="1"/>
          <p:nvPr/>
        </p:nvSpPr>
        <p:spPr>
          <a:xfrm>
            <a:off x="2286000" y="3520440"/>
            <a:ext cx="1097280" cy="603504"/>
          </a:xfrm>
          <a:prstGeom prst="rect">
            <a:avLst/>
          </a:prstGeom>
          <a:noFill/>
          <a:ln/>
        </p:spPr>
        <p:txBody>
          <a:bodyPr wrap="square" lIns="0" tIns="0" rIns="0" bIns="0" rtlCol="0" anchor="ctr"/>
          <a:lstStyle/>
          <a:p>
            <a:pPr indent="0" marL="0">
              <a:buNone/>
            </a:pPr>
            <a:r>
              <a:rPr lang="en-US" sz="1400" b="1" dirty="0">
                <a:solidFill>
                  <a:srgbClr val="E0584A"/>
                </a:solidFill>
                <a:latin typeface="Calibri" pitchFamily="34" charset="0"/>
                <a:ea typeface="Calibri" pitchFamily="34" charset="-122"/>
                <a:cs typeface="Calibri" pitchFamily="34" charset="-120"/>
              </a:rPr>
              <a:t>12 min</a:t>
            </a:r>
            <a:endParaRPr lang="en-US" sz="1400" dirty="0"/>
          </a:p>
        </p:txBody>
      </p:sp>
      <p:sp>
        <p:nvSpPr>
          <p:cNvPr id="16" name="Text 14"/>
          <p:cNvSpPr txBox="1"/>
          <p:nvPr/>
        </p:nvSpPr>
        <p:spPr>
          <a:xfrm>
            <a:off x="3383280" y="3520440"/>
            <a:ext cx="8046720" cy="603504"/>
          </a:xfrm>
          <a:prstGeom prst="rect">
            <a:avLst/>
          </a:prstGeom>
          <a:noFill/>
          <a:ln/>
        </p:spPr>
        <p:txBody>
          <a:bodyPr wrap="square" lIns="0" tIns="0" rIns="0" bIns="0" rtlCol="0" anchor="ctr"/>
          <a:lstStyle/>
          <a:p>
            <a:pPr indent="0" marL="0">
              <a:buNone/>
            </a:pPr>
            <a:r>
              <a:rPr lang="en-US" sz="1400" dirty="0">
                <a:solidFill>
                  <a:srgbClr val="E4DECF"/>
                </a:solidFill>
                <a:latin typeface="Calibri" pitchFamily="34" charset="0"/>
                <a:ea typeface="Calibri" pitchFamily="34" charset="-122"/>
                <a:cs typeface="Calibri" pitchFamily="34" charset="-120"/>
              </a:rPr>
              <a:t>French mineral names: distinct values, synonyms, Strunz check</a:t>
            </a:r>
            <a:endParaRPr lang="en-US" sz="1400" dirty="0"/>
          </a:p>
        </p:txBody>
      </p:sp>
      <p:sp>
        <p:nvSpPr>
          <p:cNvPr id="17" name="Shape 15"/>
          <p:cNvSpPr/>
          <p:nvPr/>
        </p:nvSpPr>
        <p:spPr>
          <a:xfrm>
            <a:off x="548640" y="4251960"/>
            <a:ext cx="11091672" cy="603504"/>
          </a:xfrm>
          <a:prstGeom prst="roundRect">
            <a:avLst>
              <a:gd name="adj" fmla="val 12121"/>
            </a:avLst>
          </a:prstGeom>
          <a:solidFill>
            <a:srgbClr val="2C3E50"/>
          </a:solidFill>
          <a:ln w="12700">
            <a:solidFill>
              <a:srgbClr val="2C3E50"/>
            </a:solidFill>
            <a:prstDash val="solid"/>
          </a:ln>
        </p:spPr>
      </p:sp>
      <p:sp>
        <p:nvSpPr>
          <p:cNvPr id="18" name="Text 16"/>
          <p:cNvSpPr txBox="1"/>
          <p:nvPr/>
        </p:nvSpPr>
        <p:spPr>
          <a:xfrm>
            <a:off x="822960" y="4251960"/>
            <a:ext cx="146304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Part C</a:t>
            </a:r>
            <a:endParaRPr lang="en-US" sz="1600" dirty="0"/>
          </a:p>
        </p:txBody>
      </p:sp>
      <p:sp>
        <p:nvSpPr>
          <p:cNvPr id="19" name="Text 17"/>
          <p:cNvSpPr txBox="1"/>
          <p:nvPr/>
        </p:nvSpPr>
        <p:spPr>
          <a:xfrm>
            <a:off x="2286000" y="4251960"/>
            <a:ext cx="1097280" cy="603504"/>
          </a:xfrm>
          <a:prstGeom prst="rect">
            <a:avLst/>
          </a:prstGeom>
          <a:noFill/>
          <a:ln/>
        </p:spPr>
        <p:txBody>
          <a:bodyPr wrap="square" lIns="0" tIns="0" rIns="0" bIns="0" rtlCol="0" anchor="ctr"/>
          <a:lstStyle/>
          <a:p>
            <a:pPr indent="0" marL="0">
              <a:buNone/>
            </a:pPr>
            <a:r>
              <a:rPr lang="en-US" sz="1400" b="1" dirty="0">
                <a:solidFill>
                  <a:srgbClr val="E0584A"/>
                </a:solidFill>
                <a:latin typeface="Calibri" pitchFamily="34" charset="0"/>
                <a:ea typeface="Calibri" pitchFamily="34" charset="-122"/>
                <a:cs typeface="Calibri" pitchFamily="34" charset="-120"/>
              </a:rPr>
              <a:t>13 min</a:t>
            </a:r>
            <a:endParaRPr lang="en-US" sz="1400" dirty="0"/>
          </a:p>
        </p:txBody>
      </p:sp>
      <p:sp>
        <p:nvSpPr>
          <p:cNvPr id="20" name="Text 18"/>
          <p:cNvSpPr txBox="1"/>
          <p:nvPr/>
        </p:nvSpPr>
        <p:spPr>
          <a:xfrm>
            <a:off x="3383280" y="4251960"/>
            <a:ext cx="8046720" cy="603504"/>
          </a:xfrm>
          <a:prstGeom prst="rect">
            <a:avLst/>
          </a:prstGeom>
          <a:noFill/>
          <a:ln/>
        </p:spPr>
        <p:txBody>
          <a:bodyPr wrap="square" lIns="0" tIns="0" rIns="0" bIns="0" rtlCol="0" anchor="ctr"/>
          <a:lstStyle/>
          <a:p>
            <a:pPr indent="0" marL="0">
              <a:buNone/>
            </a:pPr>
            <a:r>
              <a:rPr lang="en-US" sz="1400" dirty="0">
                <a:solidFill>
                  <a:srgbClr val="E4DECF"/>
                </a:solidFill>
                <a:latin typeface="Calibri" pitchFamily="34" charset="0"/>
                <a:ea typeface="Calibri" pitchFamily="34" charset="-122"/>
                <a:cs typeface="Calibri" pitchFamily="34" charset="-120"/>
              </a:rPr>
              <a:t>German localities: split, rank, translate (model pass on Austria)</a:t>
            </a:r>
            <a:endParaRPr lang="en-US" sz="1400" dirty="0"/>
          </a:p>
        </p:txBody>
      </p:sp>
      <p:sp>
        <p:nvSpPr>
          <p:cNvPr id="21" name="Shape 19"/>
          <p:cNvSpPr/>
          <p:nvPr/>
        </p:nvSpPr>
        <p:spPr>
          <a:xfrm>
            <a:off x="548640" y="4983480"/>
            <a:ext cx="11091672" cy="603504"/>
          </a:xfrm>
          <a:prstGeom prst="roundRect">
            <a:avLst>
              <a:gd name="adj" fmla="val 12121"/>
            </a:avLst>
          </a:prstGeom>
          <a:solidFill>
            <a:srgbClr val="2C3E50"/>
          </a:solidFill>
          <a:ln w="12700">
            <a:solidFill>
              <a:srgbClr val="2C3E50"/>
            </a:solidFill>
            <a:prstDash val="solid"/>
          </a:ln>
        </p:spPr>
      </p:sp>
      <p:sp>
        <p:nvSpPr>
          <p:cNvPr id="22" name="Text 20"/>
          <p:cNvSpPr txBox="1"/>
          <p:nvPr/>
        </p:nvSpPr>
        <p:spPr>
          <a:xfrm>
            <a:off x="822960" y="4983480"/>
            <a:ext cx="146304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Part D</a:t>
            </a:r>
            <a:endParaRPr lang="en-US" sz="1600" dirty="0"/>
          </a:p>
        </p:txBody>
      </p:sp>
      <p:sp>
        <p:nvSpPr>
          <p:cNvPr id="23" name="Text 21"/>
          <p:cNvSpPr txBox="1"/>
          <p:nvPr/>
        </p:nvSpPr>
        <p:spPr>
          <a:xfrm>
            <a:off x="2286000" y="4983480"/>
            <a:ext cx="1097280" cy="603504"/>
          </a:xfrm>
          <a:prstGeom prst="rect">
            <a:avLst/>
          </a:prstGeom>
          <a:noFill/>
          <a:ln/>
        </p:spPr>
        <p:txBody>
          <a:bodyPr wrap="square" lIns="0" tIns="0" rIns="0" bIns="0" rtlCol="0" anchor="ctr"/>
          <a:lstStyle/>
          <a:p>
            <a:pPr indent="0" marL="0">
              <a:buNone/>
            </a:pPr>
            <a:r>
              <a:rPr lang="en-US" sz="1400" b="1" dirty="0">
                <a:solidFill>
                  <a:srgbClr val="E0584A"/>
                </a:solidFill>
                <a:latin typeface="Calibri" pitchFamily="34" charset="0"/>
                <a:ea typeface="Calibri" pitchFamily="34" charset="-122"/>
                <a:cs typeface="Calibri" pitchFamily="34" charset="-120"/>
              </a:rPr>
              <a:t>10 min</a:t>
            </a:r>
            <a:endParaRPr lang="en-US" sz="1400" dirty="0"/>
          </a:p>
        </p:txBody>
      </p:sp>
      <p:sp>
        <p:nvSpPr>
          <p:cNvPr id="24" name="Text 22"/>
          <p:cNvSpPr txBox="1"/>
          <p:nvPr/>
        </p:nvSpPr>
        <p:spPr>
          <a:xfrm>
            <a:off x="3383280" y="4983480"/>
            <a:ext cx="8046720" cy="603504"/>
          </a:xfrm>
          <a:prstGeom prst="rect">
            <a:avLst/>
          </a:prstGeom>
          <a:noFill/>
          <a:ln/>
        </p:spPr>
        <p:txBody>
          <a:bodyPr wrap="square" lIns="0" tIns="0" rIns="0" bIns="0" rtlCol="0" anchor="ctr"/>
          <a:lstStyle/>
          <a:p>
            <a:pPr indent="0" marL="0">
              <a:buNone/>
            </a:pPr>
            <a:r>
              <a:rPr lang="en-US" sz="1400" dirty="0">
                <a:solidFill>
                  <a:srgbClr val="E4DECF"/>
                </a:solidFill>
                <a:latin typeface="Calibri" pitchFamily="34" charset="0"/>
                <a:ea typeface="Calibri" pitchFamily="34" charset="-122"/>
                <a:cs typeface="Calibri" pitchFamily="34" charset="-120"/>
              </a:rPr>
              <a:t>Peabody samples: spec → script → compound specimen model</a:t>
            </a:r>
            <a:endParaRPr lang="en-US" sz="1400" dirty="0"/>
          </a:p>
        </p:txBody>
      </p:sp>
      <p:sp>
        <p:nvSpPr>
          <p:cNvPr id="25" name="Text 23"/>
          <p:cNvSpPr txBox="1"/>
          <p:nvPr/>
        </p:nvSpPr>
        <p:spPr>
          <a:xfrm>
            <a:off x="548640" y="6035040"/>
            <a:ext cx="7315200" cy="320040"/>
          </a:xfrm>
          <a:prstGeom prst="rect">
            <a:avLst/>
          </a:prstGeom>
          <a:noFill/>
          <a:ln/>
        </p:spPr>
        <p:txBody>
          <a:bodyPr wrap="square" lIns="0" tIns="0" rIns="0" bIns="0" rtlCol="0" anchor="ctr"/>
          <a:lstStyle/>
          <a:p>
            <a:pPr indent="0" marL="0">
              <a:buNone/>
            </a:pPr>
            <a:r>
              <a:rPr lang="en-US" sz="1400" b="1" dirty="0">
                <a:solidFill>
                  <a:srgbClr val="A9BCD0"/>
                </a:solidFill>
                <a:latin typeface="Courier New" pitchFamily="34" charset="0"/>
                <a:ea typeface="Courier New" pitchFamily="34" charset="-122"/>
                <a:cs typeface="Courier New" pitchFamily="34" charset="-120"/>
              </a:rPr>
              <a:t>github.com/ben-norton/tdwg2026-wks10</a:t>
            </a:r>
            <a:endParaRPr lang="en-US" sz="1400" dirty="0"/>
          </a:p>
        </p:txBody>
      </p:sp>
      <p:sp>
        <p:nvSpPr>
          <p:cNvPr id="26" name="Text 2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A9B3BF"/>
                </a:solidFill>
                <a:latin typeface="Calibri" pitchFamily="34" charset="0"/>
                <a:ea typeface="Calibri" pitchFamily="34" charset="-122"/>
                <a:cs typeface="Calibri" pitchFamily="34" charset="-120"/>
              </a:rPr>
              <a:t>WKS10  ·  Building a Repeatable AI Pipeline</a:t>
            </a:r>
            <a:endParaRPr lang="en-US" sz="1000" dirty="0"/>
          </a:p>
        </p:txBody>
      </p:sp>
      <p:sp>
        <p:nvSpPr>
          <p:cNvPr id="27" name="Text 2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A9B3BF"/>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392B"/>
                </a:solidFill>
                <a:latin typeface="Calibri" pitchFamily="34" charset="0"/>
                <a:ea typeface="Calibri" pitchFamily="34" charset="-122"/>
                <a:cs typeface="Calibri" pitchFamily="34" charset="-120"/>
              </a:rPr>
              <a:t>REVIEW</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0E1A2D"/>
                </a:solidFill>
                <a:latin typeface="Cambria" pitchFamily="34" charset="0"/>
                <a:ea typeface="Cambria" pitchFamily="34" charset="-122"/>
                <a:cs typeface="Cambria" pitchFamily="34" charset="-120"/>
              </a:rPr>
              <a:t>How do we know it’s accurate?</a:t>
            </a:r>
            <a:endParaRPr lang="en-US" sz="3400" dirty="0"/>
          </a:p>
        </p:txBody>
      </p:sp>
      <p:sp>
        <p:nvSpPr>
          <p:cNvPr id="4" name="Shape 2"/>
          <p:cNvSpPr/>
          <p:nvPr/>
        </p:nvSpPr>
        <p:spPr>
          <a:xfrm>
            <a:off x="548640" y="1691640"/>
            <a:ext cx="5394960" cy="1965960"/>
          </a:xfrm>
          <a:prstGeom prst="roundRect">
            <a:avLst>
              <a:gd name="adj" fmla="val 3721"/>
            </a:avLst>
          </a:prstGeom>
          <a:solidFill>
            <a:srgbClr val="EFE5CB"/>
          </a:solidFill>
          <a:ln w="12700">
            <a:solidFill>
              <a:srgbClr val="EFE5CB"/>
            </a:solidFill>
            <a:prstDash val="solid"/>
          </a:ln>
        </p:spPr>
      </p:sp>
      <p:sp>
        <p:nvSpPr>
          <p:cNvPr id="5" name="Shape 3"/>
          <p:cNvSpPr/>
          <p:nvPr/>
        </p:nvSpPr>
        <p:spPr>
          <a:xfrm>
            <a:off x="868680" y="2011680"/>
            <a:ext cx="594360" cy="594360"/>
          </a:xfrm>
          <a:prstGeom prst="ellipse">
            <a:avLst/>
          </a:prstGeom>
          <a:solidFill>
            <a:srgbClr val="5B7089"/>
          </a:solidFill>
          <a:ln w="12700">
            <a:solidFill>
              <a:srgbClr val="5B7089"/>
            </a:solidFill>
            <a:prstDash val="solid"/>
          </a:ln>
        </p:spPr>
      </p:sp>
      <p:pic>
        <p:nvPicPr>
          <p:cNvPr id="6" name="Image 0" descr="preencoded.png">    </p:cNvPr>
          <p:cNvPicPr>
            <a:picLocks noChangeAspect="1"/>
          </p:cNvPicPr>
          <p:nvPr/>
        </p:nvPicPr>
        <p:blipFill>
          <a:blip r:embed="rId1"/>
          <a:stretch>
            <a:fillRect/>
          </a:stretch>
        </p:blipFill>
        <p:spPr>
          <a:xfrm>
            <a:off x="1017270" y="2160270"/>
            <a:ext cx="297180" cy="297180"/>
          </a:xfrm>
          <a:prstGeom prst="rect">
            <a:avLst/>
          </a:prstGeom>
        </p:spPr>
      </p:pic>
      <p:sp>
        <p:nvSpPr>
          <p:cNvPr id="7" name="Text 4"/>
          <p:cNvSpPr txBox="1"/>
          <p:nvPr/>
        </p:nvSpPr>
        <p:spPr>
          <a:xfrm>
            <a:off x="1691640" y="2011680"/>
            <a:ext cx="4023360" cy="594360"/>
          </a:xfrm>
          <a:prstGeom prst="rect">
            <a:avLst/>
          </a:prstGeom>
          <a:noFill/>
          <a:ln/>
        </p:spPr>
        <p:txBody>
          <a:bodyPr wrap="square" lIns="0" tIns="0" rIns="0" bIns="0" rtlCol="0" anchor="ctr"/>
          <a:lstStyle/>
          <a:p>
            <a:pPr indent="0" marL="0">
              <a:buNone/>
            </a:pPr>
            <a:r>
              <a:rPr lang="en-US" sz="1700" b="1" dirty="0">
                <a:solidFill>
                  <a:srgbClr val="0E1A2D"/>
                </a:solidFill>
                <a:latin typeface="Calibri" pitchFamily="34" charset="0"/>
                <a:ea typeface="Calibri" pitchFamily="34" charset="-122"/>
                <a:cs typeface="Calibri" pitchFamily="34" charset="-120"/>
              </a:rPr>
              <a:t>Compare with human error</a:t>
            </a:r>
            <a:endParaRPr lang="en-US" sz="1700" dirty="0"/>
          </a:p>
        </p:txBody>
      </p:sp>
      <p:sp>
        <p:nvSpPr>
          <p:cNvPr id="8" name="Text 5"/>
          <p:cNvSpPr txBox="1"/>
          <p:nvPr/>
        </p:nvSpPr>
        <p:spPr>
          <a:xfrm>
            <a:off x="1691640" y="2651760"/>
            <a:ext cx="4023360" cy="914400"/>
          </a:xfrm>
          <a:prstGeom prst="rect">
            <a:avLst/>
          </a:prstGeom>
          <a:noFill/>
          <a:ln/>
        </p:spPr>
        <p:txBody>
          <a:bodyPr wrap="square" lIns="0" tIns="0" rIns="0" bIns="0" rtlCol="0" anchor="t"/>
          <a:lstStyle/>
          <a:p>
            <a:pPr indent="0" marL="0">
              <a:buNone/>
            </a:pPr>
            <a:r>
              <a:rPr lang="en-US" sz="1350" dirty="0">
                <a:solidFill>
                  <a:srgbClr val="4D4D4D"/>
                </a:solidFill>
                <a:latin typeface="Calibri" pitchFamily="34" charset="0"/>
                <a:ea typeface="Calibri" pitchFamily="34" charset="-122"/>
                <a:cs typeface="Calibri" pitchFamily="34" charset="-120"/>
              </a:rPr>
              <a:t>Manual digitization is not error-free either. What error rate would you accept from a new colleague?</a:t>
            </a:r>
            <a:endParaRPr lang="en-US" sz="1350" dirty="0"/>
          </a:p>
        </p:txBody>
      </p:sp>
      <p:sp>
        <p:nvSpPr>
          <p:cNvPr id="9" name="Shape 6"/>
          <p:cNvSpPr/>
          <p:nvPr/>
        </p:nvSpPr>
        <p:spPr>
          <a:xfrm>
            <a:off x="6263640" y="1691640"/>
            <a:ext cx="5394960" cy="1965960"/>
          </a:xfrm>
          <a:prstGeom prst="roundRect">
            <a:avLst>
              <a:gd name="adj" fmla="val 3721"/>
            </a:avLst>
          </a:prstGeom>
          <a:solidFill>
            <a:srgbClr val="EFE5CB"/>
          </a:solidFill>
          <a:ln w="12700">
            <a:solidFill>
              <a:srgbClr val="EFE5CB"/>
            </a:solidFill>
            <a:prstDash val="solid"/>
          </a:ln>
        </p:spPr>
      </p:sp>
      <p:sp>
        <p:nvSpPr>
          <p:cNvPr id="10" name="Shape 7"/>
          <p:cNvSpPr/>
          <p:nvPr/>
        </p:nvSpPr>
        <p:spPr>
          <a:xfrm>
            <a:off x="6583680" y="2011680"/>
            <a:ext cx="594360" cy="594360"/>
          </a:xfrm>
          <a:prstGeom prst="ellipse">
            <a:avLst/>
          </a:prstGeom>
          <a:solidFill>
            <a:srgbClr val="C0392B"/>
          </a:solidFill>
          <a:ln w="12700">
            <a:solidFill>
              <a:srgbClr val="C0392B"/>
            </a:solidFill>
            <a:prstDash val="solid"/>
          </a:ln>
        </p:spPr>
      </p:sp>
      <p:pic>
        <p:nvPicPr>
          <p:cNvPr id="11" name="Image 1" descr="preencoded.png">    </p:cNvPr>
          <p:cNvPicPr>
            <a:picLocks noChangeAspect="1"/>
          </p:cNvPicPr>
          <p:nvPr/>
        </p:nvPicPr>
        <p:blipFill>
          <a:blip r:embed="rId2"/>
          <a:stretch>
            <a:fillRect/>
          </a:stretch>
        </p:blipFill>
        <p:spPr>
          <a:xfrm>
            <a:off x="6732270" y="2160270"/>
            <a:ext cx="297180" cy="297180"/>
          </a:xfrm>
          <a:prstGeom prst="rect">
            <a:avLst/>
          </a:prstGeom>
        </p:spPr>
      </p:pic>
      <p:sp>
        <p:nvSpPr>
          <p:cNvPr id="12" name="Text 8"/>
          <p:cNvSpPr txBox="1"/>
          <p:nvPr/>
        </p:nvSpPr>
        <p:spPr>
          <a:xfrm>
            <a:off x="7406640" y="2011680"/>
            <a:ext cx="4023360" cy="594360"/>
          </a:xfrm>
          <a:prstGeom prst="rect">
            <a:avLst/>
          </a:prstGeom>
          <a:noFill/>
          <a:ln/>
        </p:spPr>
        <p:txBody>
          <a:bodyPr wrap="square" lIns="0" tIns="0" rIns="0" bIns="0" rtlCol="0" anchor="ctr"/>
          <a:lstStyle/>
          <a:p>
            <a:pPr indent="0" marL="0">
              <a:buNone/>
            </a:pPr>
            <a:r>
              <a:rPr lang="en-US" sz="1700" b="1" dirty="0">
                <a:solidFill>
                  <a:srgbClr val="0E1A2D"/>
                </a:solidFill>
                <a:latin typeface="Calibri" pitchFamily="34" charset="0"/>
                <a:ea typeface="Calibri" pitchFamily="34" charset="-122"/>
                <a:cs typeface="Calibri" pitchFamily="34" charset="-120"/>
              </a:rPr>
              <a:t>Use the latest models</a:t>
            </a:r>
            <a:endParaRPr lang="en-US" sz="1700" dirty="0"/>
          </a:p>
        </p:txBody>
      </p:sp>
      <p:sp>
        <p:nvSpPr>
          <p:cNvPr id="13" name="Text 9"/>
          <p:cNvSpPr txBox="1"/>
          <p:nvPr/>
        </p:nvSpPr>
        <p:spPr>
          <a:xfrm>
            <a:off x="7406640" y="2651760"/>
            <a:ext cx="4023360" cy="914400"/>
          </a:xfrm>
          <a:prstGeom prst="rect">
            <a:avLst/>
          </a:prstGeom>
          <a:noFill/>
          <a:ln/>
        </p:spPr>
        <p:txBody>
          <a:bodyPr wrap="square" lIns="0" tIns="0" rIns="0" bIns="0" rtlCol="0" anchor="t"/>
          <a:lstStyle/>
          <a:p>
            <a:pPr indent="0" marL="0">
              <a:buNone/>
            </a:pPr>
            <a:r>
              <a:rPr lang="en-US" sz="1350" dirty="0">
                <a:solidFill>
                  <a:srgbClr val="4D4D4D"/>
                </a:solidFill>
                <a:latin typeface="Calibri" pitchFamily="34" charset="0"/>
                <a:ea typeface="Calibri" pitchFamily="34" charset="-122"/>
                <a:cs typeface="Calibri" pitchFamily="34" charset="-120"/>
              </a:rPr>
              <a:t>Reliability improves quickly from one generation to the next.</a:t>
            </a:r>
            <a:endParaRPr lang="en-US" sz="1350" dirty="0"/>
          </a:p>
        </p:txBody>
      </p:sp>
      <p:sp>
        <p:nvSpPr>
          <p:cNvPr id="14" name="Shape 10"/>
          <p:cNvSpPr/>
          <p:nvPr/>
        </p:nvSpPr>
        <p:spPr>
          <a:xfrm>
            <a:off x="548640" y="3886200"/>
            <a:ext cx="5394960" cy="1965960"/>
          </a:xfrm>
          <a:prstGeom prst="roundRect">
            <a:avLst>
              <a:gd name="adj" fmla="val 3721"/>
            </a:avLst>
          </a:prstGeom>
          <a:solidFill>
            <a:srgbClr val="EFE5CB"/>
          </a:solidFill>
          <a:ln w="12700">
            <a:solidFill>
              <a:srgbClr val="EFE5CB"/>
            </a:solidFill>
            <a:prstDash val="solid"/>
          </a:ln>
        </p:spPr>
      </p:sp>
      <p:sp>
        <p:nvSpPr>
          <p:cNvPr id="15" name="Shape 11"/>
          <p:cNvSpPr/>
          <p:nvPr/>
        </p:nvSpPr>
        <p:spPr>
          <a:xfrm>
            <a:off x="868680" y="4206240"/>
            <a:ext cx="594360" cy="594360"/>
          </a:xfrm>
          <a:prstGeom prst="ellipse">
            <a:avLst/>
          </a:prstGeom>
          <a:solidFill>
            <a:srgbClr val="5B7089"/>
          </a:solidFill>
          <a:ln w="12700">
            <a:solidFill>
              <a:srgbClr val="5B7089"/>
            </a:solidFill>
            <a:prstDash val="solid"/>
          </a:ln>
        </p:spPr>
      </p:sp>
      <p:pic>
        <p:nvPicPr>
          <p:cNvPr id="16" name="Image 2" descr="preencoded.png">    </p:cNvPr>
          <p:cNvPicPr>
            <a:picLocks noChangeAspect="1"/>
          </p:cNvPicPr>
          <p:nvPr/>
        </p:nvPicPr>
        <p:blipFill>
          <a:blip r:embed="rId3"/>
          <a:stretch>
            <a:fillRect/>
          </a:stretch>
        </p:blipFill>
        <p:spPr>
          <a:xfrm>
            <a:off x="1017270" y="4354830"/>
            <a:ext cx="297180" cy="297180"/>
          </a:xfrm>
          <a:prstGeom prst="rect">
            <a:avLst/>
          </a:prstGeom>
        </p:spPr>
      </p:pic>
      <p:sp>
        <p:nvSpPr>
          <p:cNvPr id="17" name="Text 12"/>
          <p:cNvSpPr txBox="1"/>
          <p:nvPr/>
        </p:nvSpPr>
        <p:spPr>
          <a:xfrm>
            <a:off x="1691640" y="4206240"/>
            <a:ext cx="4023360" cy="594360"/>
          </a:xfrm>
          <a:prstGeom prst="rect">
            <a:avLst/>
          </a:prstGeom>
          <a:noFill/>
          <a:ln/>
        </p:spPr>
        <p:txBody>
          <a:bodyPr wrap="square" lIns="0" tIns="0" rIns="0" bIns="0" rtlCol="0" anchor="ctr"/>
          <a:lstStyle/>
          <a:p>
            <a:pPr indent="0" marL="0">
              <a:buNone/>
            </a:pPr>
            <a:r>
              <a:rPr lang="en-US" sz="1700" b="1" dirty="0">
                <a:solidFill>
                  <a:srgbClr val="0E1A2D"/>
                </a:solidFill>
                <a:latin typeface="Calibri" pitchFamily="34" charset="0"/>
                <a:ea typeface="Calibri" pitchFamily="34" charset="-122"/>
                <a:cs typeface="Calibri" pitchFamily="34" charset="-120"/>
              </a:rPr>
              <a:t>Build in verification</a:t>
            </a:r>
            <a:endParaRPr lang="en-US" sz="1700" dirty="0"/>
          </a:p>
        </p:txBody>
      </p:sp>
      <p:sp>
        <p:nvSpPr>
          <p:cNvPr id="18" name="Text 13"/>
          <p:cNvSpPr txBox="1"/>
          <p:nvPr/>
        </p:nvSpPr>
        <p:spPr>
          <a:xfrm>
            <a:off x="1691640" y="4846320"/>
            <a:ext cx="4023360" cy="914400"/>
          </a:xfrm>
          <a:prstGeom prst="rect">
            <a:avLst/>
          </a:prstGeom>
          <a:noFill/>
          <a:ln/>
        </p:spPr>
        <p:txBody>
          <a:bodyPr wrap="square" lIns="0" tIns="0" rIns="0" bIns="0" rtlCol="0" anchor="t"/>
          <a:lstStyle/>
          <a:p>
            <a:pPr indent="0" marL="0">
              <a:buNone/>
            </a:pPr>
            <a:r>
              <a:rPr lang="en-US" sz="1350" dirty="0">
                <a:solidFill>
                  <a:srgbClr val="4D4D4D"/>
                </a:solidFill>
                <a:latin typeface="Calibri" pitchFamily="34" charset="0"/>
                <a:ea typeface="Calibri" pitchFamily="34" charset="-122"/>
                <a:cs typeface="Calibri" pitchFamily="34" charset="-120"/>
              </a:rPr>
              <a:t>Authority checks, row counts in every report, and a reviewed unresolved list.</a:t>
            </a:r>
            <a:endParaRPr lang="en-US" sz="1350" dirty="0"/>
          </a:p>
        </p:txBody>
      </p:sp>
      <p:sp>
        <p:nvSpPr>
          <p:cNvPr id="19" name="Shape 14"/>
          <p:cNvSpPr/>
          <p:nvPr/>
        </p:nvSpPr>
        <p:spPr>
          <a:xfrm>
            <a:off x="6263640" y="3886200"/>
            <a:ext cx="5394960" cy="1965960"/>
          </a:xfrm>
          <a:prstGeom prst="roundRect">
            <a:avLst>
              <a:gd name="adj" fmla="val 3721"/>
            </a:avLst>
          </a:prstGeom>
          <a:solidFill>
            <a:srgbClr val="EFE5CB"/>
          </a:solidFill>
          <a:ln w="12700">
            <a:solidFill>
              <a:srgbClr val="EFE5CB"/>
            </a:solidFill>
            <a:prstDash val="solid"/>
          </a:ln>
        </p:spPr>
      </p:sp>
      <p:sp>
        <p:nvSpPr>
          <p:cNvPr id="20" name="Shape 15"/>
          <p:cNvSpPr/>
          <p:nvPr/>
        </p:nvSpPr>
        <p:spPr>
          <a:xfrm>
            <a:off x="6583680" y="4206240"/>
            <a:ext cx="594360" cy="594360"/>
          </a:xfrm>
          <a:prstGeom prst="ellipse">
            <a:avLst/>
          </a:prstGeom>
          <a:solidFill>
            <a:srgbClr val="C0392B"/>
          </a:solidFill>
          <a:ln w="12700">
            <a:solidFill>
              <a:srgbClr val="C0392B"/>
            </a:solidFill>
            <a:prstDash val="solid"/>
          </a:ln>
        </p:spPr>
      </p:sp>
      <p:pic>
        <p:nvPicPr>
          <p:cNvPr id="21" name="Image 3" descr="preencoded.png">    </p:cNvPr>
          <p:cNvPicPr>
            <a:picLocks noChangeAspect="1"/>
          </p:cNvPicPr>
          <p:nvPr/>
        </p:nvPicPr>
        <p:blipFill>
          <a:blip r:embed="rId4"/>
          <a:stretch>
            <a:fillRect/>
          </a:stretch>
        </p:blipFill>
        <p:spPr>
          <a:xfrm>
            <a:off x="6732270" y="4354830"/>
            <a:ext cx="297180" cy="297180"/>
          </a:xfrm>
          <a:prstGeom prst="rect">
            <a:avLst/>
          </a:prstGeom>
        </p:spPr>
      </p:pic>
      <p:sp>
        <p:nvSpPr>
          <p:cNvPr id="22" name="Text 16"/>
          <p:cNvSpPr txBox="1"/>
          <p:nvPr/>
        </p:nvSpPr>
        <p:spPr>
          <a:xfrm>
            <a:off x="7406640" y="4206240"/>
            <a:ext cx="4023360" cy="594360"/>
          </a:xfrm>
          <a:prstGeom prst="rect">
            <a:avLst/>
          </a:prstGeom>
          <a:noFill/>
          <a:ln/>
        </p:spPr>
        <p:txBody>
          <a:bodyPr wrap="square" lIns="0" tIns="0" rIns="0" bIns="0" rtlCol="0" anchor="ctr"/>
          <a:lstStyle/>
          <a:p>
            <a:pPr indent="0" marL="0">
              <a:buNone/>
            </a:pPr>
            <a:r>
              <a:rPr lang="en-US" sz="1700" b="1" dirty="0">
                <a:solidFill>
                  <a:srgbClr val="0E1A2D"/>
                </a:solidFill>
                <a:latin typeface="Calibri" pitchFamily="34" charset="0"/>
                <a:ea typeface="Calibri" pitchFamily="34" charset="-122"/>
                <a:cs typeface="Calibri" pitchFamily="34" charset="-120"/>
              </a:rPr>
              <a:t>Compare runs</a:t>
            </a:r>
            <a:endParaRPr lang="en-US" sz="1700" dirty="0"/>
          </a:p>
        </p:txBody>
      </p:sp>
      <p:sp>
        <p:nvSpPr>
          <p:cNvPr id="23" name="Text 17"/>
          <p:cNvSpPr txBox="1"/>
          <p:nvPr/>
        </p:nvSpPr>
        <p:spPr>
          <a:xfrm>
            <a:off x="7406640" y="4846320"/>
            <a:ext cx="4023360" cy="914400"/>
          </a:xfrm>
          <a:prstGeom prst="rect">
            <a:avLst/>
          </a:prstGeom>
          <a:noFill/>
          <a:ln/>
        </p:spPr>
        <p:txBody>
          <a:bodyPr wrap="square" lIns="0" tIns="0" rIns="0" bIns="0" rtlCol="0" anchor="t"/>
          <a:lstStyle/>
          <a:p>
            <a:pPr indent="0" marL="0">
              <a:buNone/>
            </a:pPr>
            <a:r>
              <a:rPr lang="en-US" sz="1350" dirty="0">
                <a:solidFill>
                  <a:srgbClr val="4D4D4D"/>
                </a:solidFill>
                <a:latin typeface="Calibri" pitchFamily="34" charset="0"/>
                <a:ea typeface="Calibri" pitchFamily="34" charset="-122"/>
                <a:cs typeface="Calibri" pitchFamily="34" charset="-120"/>
              </a:rPr>
              <a:t>Run the same task with different levels of context and instruction, and compare.</a:t>
            </a:r>
            <a:endParaRPr lang="en-US" sz="1350" dirty="0"/>
          </a:p>
        </p:txBody>
      </p:sp>
      <p:sp>
        <p:nvSpPr>
          <p:cNvPr id="24" name="Text 1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7F87"/>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19"/>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7F87"/>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A2D"/>
        </a:solidFill>
      </p:bgPr>
    </p:bg>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t"/>
          <a:lstStyle/>
          <a:p>
            <a:pPr indent="0" marL="0">
              <a:buNone/>
            </a:pPr>
            <a:r>
              <a:rPr lang="en-US" sz="1200" b="1" spc="100" kern="0" dirty="0">
                <a:solidFill>
                  <a:srgbClr val="E0584A"/>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822960"/>
            <a:ext cx="109728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Back to your questions</a:t>
            </a:r>
            <a:endParaRPr lang="en-US" sz="3600" dirty="0"/>
          </a:p>
        </p:txBody>
      </p:sp>
      <p:sp>
        <p:nvSpPr>
          <p:cNvPr id="4" name="Shape 2"/>
          <p:cNvSpPr/>
          <p:nvPr/>
        </p:nvSpPr>
        <p:spPr>
          <a:xfrm>
            <a:off x="548640" y="1828800"/>
            <a:ext cx="5394960" cy="3291840"/>
          </a:xfrm>
          <a:prstGeom prst="roundRect">
            <a:avLst>
              <a:gd name="adj" fmla="val 2222"/>
            </a:avLst>
          </a:prstGeom>
          <a:solidFill>
            <a:srgbClr val="2C3E50"/>
          </a:solidFill>
          <a:ln w="12700">
            <a:solidFill>
              <a:srgbClr val="2C3E50"/>
            </a:solidFill>
            <a:prstDash val="solid"/>
          </a:ln>
        </p:spPr>
      </p:sp>
      <p:sp>
        <p:nvSpPr>
          <p:cNvPr id="5" name="Shape 3"/>
          <p:cNvSpPr/>
          <p:nvPr/>
        </p:nvSpPr>
        <p:spPr>
          <a:xfrm>
            <a:off x="6263640" y="1828800"/>
            <a:ext cx="5376672" cy="3291840"/>
          </a:xfrm>
          <a:prstGeom prst="roundRect">
            <a:avLst>
              <a:gd name="adj" fmla="val 2222"/>
            </a:avLst>
          </a:prstGeom>
          <a:solidFill>
            <a:srgbClr val="2C3E50"/>
          </a:solidFill>
          <a:ln w="12700">
            <a:solidFill>
              <a:srgbClr val="2C3E50"/>
            </a:solidFill>
            <a:prstDash val="solid"/>
          </a:ln>
        </p:spPr>
      </p:sp>
      <p:sp>
        <p:nvSpPr>
          <p:cNvPr id="6" name="Text 4"/>
          <p:cNvSpPr txBox="1"/>
          <p:nvPr/>
        </p:nvSpPr>
        <p:spPr>
          <a:xfrm>
            <a:off x="914400" y="2103120"/>
            <a:ext cx="4572000" cy="274320"/>
          </a:xfrm>
          <a:prstGeom prst="rect">
            <a:avLst/>
          </a:prstGeom>
          <a:noFill/>
          <a:ln/>
        </p:spPr>
        <p:txBody>
          <a:bodyPr wrap="square" lIns="0" tIns="0" rIns="0" bIns="0" rtlCol="0" anchor="t"/>
          <a:lstStyle/>
          <a:p>
            <a:pPr indent="0" marL="0">
              <a:buNone/>
            </a:pPr>
            <a:r>
              <a:rPr lang="en-US" sz="1100" b="1" spc="100" kern="0" dirty="0">
                <a:solidFill>
                  <a:srgbClr val="A9BCD0"/>
                </a:solidFill>
                <a:latin typeface="Calibri" pitchFamily="34" charset="0"/>
                <a:ea typeface="Calibri" pitchFamily="34" charset="-122"/>
                <a:cs typeface="Calibri" pitchFamily="34" charset="-120"/>
              </a:rPr>
              <a:t>WHAT YOU TAKE HOME</a:t>
            </a:r>
            <a:endParaRPr lang="en-US" sz="1100" dirty="0"/>
          </a:p>
        </p:txBody>
      </p:sp>
      <p:sp>
        <p:nvSpPr>
          <p:cNvPr id="7" name="Text 5"/>
          <p:cNvSpPr/>
          <p:nvPr/>
        </p:nvSpPr>
        <p:spPr>
          <a:xfrm>
            <a:off x="914400" y="2468880"/>
            <a:ext cx="4754880" cy="31089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E4DECF"/>
                </a:solidFill>
                <a:latin typeface="Calibri" pitchFamily="34" charset="0"/>
                <a:ea typeface="Calibri" pitchFamily="34" charset="-122"/>
                <a:cs typeface="Calibri" pitchFamily="34" charset="-120"/>
              </a:rPr>
              <a:t>A repeatable pipeline, not a one-off result</a:t>
            </a:r>
            <a:endParaRPr lang="en-US" sz="1500" dirty="0"/>
          </a:p>
          <a:p>
            <a:pPr marL="203200" indent="-203200">
              <a:spcAft>
                <a:spcPts val="800"/>
              </a:spcAft>
              <a:buSzPct val="100000"/>
              <a:buChar char="•"/>
            </a:pPr>
            <a:r>
              <a:rPr lang="en-US" sz="1500" dirty="0">
                <a:solidFill>
                  <a:srgbClr val="E4DECF"/>
                </a:solidFill>
                <a:latin typeface="Calibri" pitchFamily="34" charset="0"/>
                <a:ea typeface="Calibri" pitchFamily="34" charset="-122"/>
                <a:cs typeface="Calibri" pitchFamily="34" charset="-120"/>
              </a:rPr>
              <a:t>The Standard Process, as eight prompts you can reuse</a:t>
            </a:r>
            <a:endParaRPr lang="en-US" sz="1500" dirty="0"/>
          </a:p>
          <a:p>
            <a:pPr marL="203200" indent="-203200">
              <a:spcAft>
                <a:spcPts val="800"/>
              </a:spcAft>
              <a:buSzPct val="100000"/>
              <a:buChar char="•"/>
            </a:pPr>
            <a:r>
              <a:rPr lang="en-US" sz="1500" dirty="0">
                <a:solidFill>
                  <a:srgbClr val="E4DECF"/>
                </a:solidFill>
                <a:latin typeface="Calibri" pitchFamily="34" charset="0"/>
                <a:ea typeface="Calibri" pitchFamily="34" charset="-122"/>
                <a:cs typeface="Calibri" pitchFamily="34" charset="-120"/>
              </a:rPr>
              <a:t>Mapping files and reports that record every AI decision</a:t>
            </a:r>
            <a:endParaRPr lang="en-US" sz="1500" dirty="0"/>
          </a:p>
          <a:p>
            <a:pPr marL="203200" indent="-203200">
              <a:spcAft>
                <a:spcPts val="800"/>
              </a:spcAft>
              <a:buSzPct val="100000"/>
              <a:buChar char="•"/>
            </a:pPr>
            <a:r>
              <a:rPr lang="en-US" sz="1500" dirty="0">
                <a:solidFill>
                  <a:srgbClr val="E4DECF"/>
                </a:solidFill>
                <a:latin typeface="Calibri" pitchFamily="34" charset="0"/>
                <a:ea typeface="Calibri" pitchFamily="34" charset="-122"/>
                <a:cs typeface="Calibri" pitchFamily="34" charset="-120"/>
              </a:rPr>
              <a:t>Unresolved lists that show where people are still needed</a:t>
            </a:r>
            <a:endParaRPr lang="en-US" sz="1500" dirty="0"/>
          </a:p>
        </p:txBody>
      </p:sp>
      <p:sp>
        <p:nvSpPr>
          <p:cNvPr id="8" name="Text 6"/>
          <p:cNvSpPr txBox="1"/>
          <p:nvPr/>
        </p:nvSpPr>
        <p:spPr>
          <a:xfrm>
            <a:off x="6629400" y="2103120"/>
            <a:ext cx="4572000" cy="274320"/>
          </a:xfrm>
          <a:prstGeom prst="rect">
            <a:avLst/>
          </a:prstGeom>
          <a:noFill/>
          <a:ln/>
        </p:spPr>
        <p:txBody>
          <a:bodyPr wrap="square" lIns="0" tIns="0" rIns="0" bIns="0" rtlCol="0" anchor="t"/>
          <a:lstStyle/>
          <a:p>
            <a:pPr indent="0" marL="0">
              <a:buNone/>
            </a:pPr>
            <a:r>
              <a:rPr lang="en-US" sz="1100" b="1" spc="100" kern="0" dirty="0">
                <a:solidFill>
                  <a:srgbClr val="E0584A"/>
                </a:solidFill>
                <a:latin typeface="Calibri" pitchFamily="34" charset="0"/>
                <a:ea typeface="Calibri" pitchFamily="34" charset="-122"/>
                <a:cs typeface="Calibri" pitchFamily="34" charset="-120"/>
              </a:rPr>
              <a:t>YOUR QUESTIONS FROM THE START</a:t>
            </a:r>
            <a:endParaRPr lang="en-US" sz="1100" dirty="0"/>
          </a:p>
        </p:txBody>
      </p:sp>
      <p:sp>
        <p:nvSpPr>
          <p:cNvPr id="9" name="Text 7"/>
          <p:cNvSpPr/>
          <p:nvPr/>
        </p:nvSpPr>
        <p:spPr>
          <a:xfrm>
            <a:off x="6629400" y="2468880"/>
            <a:ext cx="4663440" cy="20116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E4DECF"/>
                </a:solidFill>
                <a:latin typeface="Calibri" pitchFamily="34" charset="0"/>
                <a:ea typeface="Calibri" pitchFamily="34" charset="-122"/>
                <a:cs typeface="Calibri" pitchFamily="34" charset="-120"/>
              </a:rPr>
              <a:t>Which did today’s exercise answer?</a:t>
            </a:r>
            <a:endParaRPr lang="en-US" sz="1500" dirty="0"/>
          </a:p>
          <a:p>
            <a:pPr marL="203200" indent="-203200">
              <a:spcAft>
                <a:spcPts val="800"/>
              </a:spcAft>
              <a:buSzPct val="100000"/>
              <a:buChar char="•"/>
            </a:pPr>
            <a:r>
              <a:rPr lang="en-US" sz="1500" dirty="0">
                <a:solidFill>
                  <a:srgbClr val="E4DECF"/>
                </a:solidFill>
                <a:latin typeface="Calibri" pitchFamily="34" charset="0"/>
                <a:ea typeface="Calibri" pitchFamily="34" charset="-122"/>
                <a:cs typeface="Calibri" pitchFamily="34" charset="-120"/>
              </a:rPr>
              <a:t>Which need a different kind of test?</a:t>
            </a:r>
            <a:endParaRPr lang="en-US" sz="1500" dirty="0"/>
          </a:p>
          <a:p>
            <a:pPr marL="203200" indent="-203200">
              <a:spcAft>
                <a:spcPts val="800"/>
              </a:spcAft>
              <a:buSzPct val="100000"/>
              <a:buChar char="•"/>
            </a:pPr>
            <a:r>
              <a:rPr lang="en-US" sz="1500" dirty="0">
                <a:solidFill>
                  <a:srgbClr val="E4DECF"/>
                </a:solidFill>
                <a:latin typeface="Calibri" pitchFamily="34" charset="0"/>
                <a:ea typeface="Calibri" pitchFamily="34" charset="-122"/>
                <a:cs typeface="Calibri" pitchFamily="34" charset="-120"/>
              </a:rPr>
              <a:t>Which should the community explore together?</a:t>
            </a:r>
            <a:endParaRPr lang="en-US" sz="1500" dirty="0"/>
          </a:p>
        </p:txBody>
      </p:sp>
      <p:sp>
        <p:nvSpPr>
          <p:cNvPr id="10" name="Text 8"/>
          <p:cNvSpPr txBox="1"/>
          <p:nvPr/>
        </p:nvSpPr>
        <p:spPr>
          <a:xfrm>
            <a:off x="6629400" y="3977640"/>
            <a:ext cx="4663440" cy="914400"/>
          </a:xfrm>
          <a:prstGeom prst="rect">
            <a:avLst/>
          </a:prstGeom>
          <a:noFill/>
          <a:ln/>
        </p:spPr>
        <p:txBody>
          <a:bodyPr wrap="square" lIns="0" tIns="0" rIns="0" bIns="0" rtlCol="0" anchor="t"/>
          <a:lstStyle/>
          <a:p>
            <a:pPr indent="0" marL="0">
              <a:buNone/>
            </a:pPr>
            <a:r>
              <a:rPr lang="en-US" sz="1300" i="1" dirty="0">
                <a:solidFill>
                  <a:srgbClr val="A9B3BF"/>
                </a:solidFill>
                <a:latin typeface="Calibri" pitchFamily="34" charset="0"/>
                <a:ea typeface="Calibri" pitchFamily="34" charset="-122"/>
                <a:cs typeface="Calibri" pitchFamily="34" charset="-120"/>
              </a:rPr>
              <a:t>The Mineralogy Extension is heading for ratification: your feedback on the compound specimen model is welcome.</a:t>
            </a:r>
            <a:endParaRPr lang="en-US" sz="1300" dirty="0"/>
          </a:p>
        </p:txBody>
      </p:sp>
      <p:sp>
        <p:nvSpPr>
          <p:cNvPr id="11" name="Text 9"/>
          <p:cNvSpPr txBox="1"/>
          <p:nvPr/>
        </p:nvSpPr>
        <p:spPr>
          <a:xfrm>
            <a:off x="548640" y="5440680"/>
            <a:ext cx="10972800" cy="457200"/>
          </a:xfrm>
          <a:prstGeom prst="rect">
            <a:avLst/>
          </a:prstGeom>
          <a:noFill/>
          <a:ln/>
        </p:spPr>
        <p:txBody>
          <a:bodyPr wrap="square" lIns="0" tIns="0" rIns="0" bIns="0" rtlCol="0" anchor="ctr"/>
          <a:lstStyle/>
          <a:p>
            <a:pPr indent="0" marL="0">
              <a:buNone/>
            </a:pPr>
            <a:r>
              <a:rPr lang="en-US" sz="2000" i="1" dirty="0">
                <a:solidFill>
                  <a:srgbClr val="FAF3E0"/>
                </a:solidFill>
                <a:latin typeface="Cambria" pitchFamily="34" charset="0"/>
                <a:ea typeface="Cambria" pitchFamily="34" charset="-122"/>
                <a:cs typeface="Cambria" pitchFamily="34" charset="-120"/>
              </a:rPr>
              <a:t>Thank you for flipping the script with me.</a:t>
            </a:r>
            <a:endParaRPr lang="en-US" sz="2000" dirty="0"/>
          </a:p>
        </p:txBody>
      </p:sp>
      <p:sp>
        <p:nvSpPr>
          <p:cNvPr id="12"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A9B3BF"/>
                </a:solidFill>
                <a:latin typeface="Calibri" pitchFamily="34" charset="0"/>
                <a:ea typeface="Calibri" pitchFamily="34" charset="-122"/>
                <a:cs typeface="Calibri" pitchFamily="34" charset="-120"/>
              </a:rPr>
              <a:t>WKS10  ·  Building a Repeatable AI Pipeline</a:t>
            </a:r>
            <a:endParaRPr lang="en-US" sz="1000" dirty="0"/>
          </a:p>
        </p:txBody>
      </p:sp>
      <p:sp>
        <p:nvSpPr>
          <p:cNvPr id="13" name="Text 1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A9B3BF"/>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A2D"/>
        </a:solidFill>
      </p:bgPr>
    </p:bg>
    <p:spTree>
      <p:nvGrpSpPr>
        <p:cNvPr id="1" name=""/>
        <p:cNvGrpSpPr/>
        <p:nvPr/>
      </p:nvGrpSpPr>
      <p:grpSpPr>
        <a:xfrm>
          <a:off x="0" y="0"/>
          <a:ext cx="0" cy="0"/>
          <a:chOff x="0" y="0"/>
          <a:chExt cx="0" cy="0"/>
        </a:xfrm>
      </p:grpSpPr>
      <p:pic>
        <p:nvPicPr>
          <p:cNvPr id="2" name="Image 0" descr="/home/claude/oslo_logo.png">    </p:cNvPr>
          <p:cNvPicPr>
            <a:picLocks noChangeAspect="1"/>
          </p:cNvPicPr>
          <p:nvPr/>
        </p:nvPicPr>
        <p:blipFill>
          <a:blip r:embed="rId1"/>
          <a:stretch>
            <a:fillRect/>
          </a:stretch>
        </p:blipFill>
        <p:spPr>
          <a:xfrm>
            <a:off x="10500055" y="365760"/>
            <a:ext cx="1143000" cy="1143000"/>
          </a:xfrm>
          <a:prstGeom prst="rect">
            <a:avLst/>
          </a:prstGeom>
        </p:spPr>
      </p:pic>
      <p:sp>
        <p:nvSpPr>
          <p:cNvPr id="3" name="Text 0"/>
          <p:cNvSpPr txBox="1"/>
          <p:nvPr/>
        </p:nvSpPr>
        <p:spPr>
          <a:xfrm>
            <a:off x="548640" y="1188720"/>
            <a:ext cx="91440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4" name="Text 1"/>
          <p:cNvSpPr txBox="1"/>
          <p:nvPr/>
        </p:nvSpPr>
        <p:spPr>
          <a:xfrm>
            <a:off x="548640" y="2103120"/>
            <a:ext cx="9144000" cy="640080"/>
          </a:xfrm>
          <a:prstGeom prst="rect">
            <a:avLst/>
          </a:prstGeom>
          <a:noFill/>
          <a:ln/>
        </p:spPr>
        <p:txBody>
          <a:bodyPr wrap="square" lIns="0" tIns="0" rIns="0" bIns="0" rtlCol="0" anchor="ctr"/>
          <a:lstStyle/>
          <a:p>
            <a:pPr indent="0" marL="0">
              <a:buNone/>
            </a:pPr>
            <a:r>
              <a:rPr lang="en-US" sz="2600" b="1" dirty="0">
                <a:solidFill>
                  <a:srgbClr val="FAF3E0"/>
                </a:solidFill>
                <a:latin typeface="Cambria" pitchFamily="34" charset="0"/>
                <a:ea typeface="Cambria" pitchFamily="34" charset="-122"/>
                <a:cs typeface="Cambria" pitchFamily="34" charset="-120"/>
              </a:rPr>
              <a:t>Keep going with the repository after today.</a:t>
            </a:r>
            <a:endParaRPr lang="en-US" sz="2600" dirty="0"/>
          </a:p>
        </p:txBody>
      </p:sp>
      <p:sp>
        <p:nvSpPr>
          <p:cNvPr id="5" name="Shape 2"/>
          <p:cNvSpPr/>
          <p:nvPr/>
        </p:nvSpPr>
        <p:spPr>
          <a:xfrm>
            <a:off x="548640" y="3154680"/>
            <a:ext cx="548640" cy="548640"/>
          </a:xfrm>
          <a:prstGeom prst="ellipse">
            <a:avLst/>
          </a:prstGeom>
          <a:solidFill>
            <a:srgbClr val="5B7089"/>
          </a:solidFill>
          <a:ln w="12700">
            <a:solidFill>
              <a:srgbClr val="5B7089"/>
            </a:solidFill>
            <a:prstDash val="solid"/>
          </a:ln>
        </p:spPr>
      </p:sp>
      <p:pic>
        <p:nvPicPr>
          <p:cNvPr id="6" name="Image 1" descr="preencoded.png">    </p:cNvPr>
          <p:cNvPicPr>
            <a:picLocks noChangeAspect="1"/>
          </p:cNvPicPr>
          <p:nvPr/>
        </p:nvPicPr>
        <p:blipFill>
          <a:blip r:embed="rId2"/>
          <a:stretch>
            <a:fillRect/>
          </a:stretch>
        </p:blipFill>
        <p:spPr>
          <a:xfrm>
            <a:off x="685800" y="3291840"/>
            <a:ext cx="274320" cy="274320"/>
          </a:xfrm>
          <a:prstGeom prst="rect">
            <a:avLst/>
          </a:prstGeom>
        </p:spPr>
      </p:pic>
      <p:sp>
        <p:nvSpPr>
          <p:cNvPr id="7" name="Text 3"/>
          <p:cNvSpPr txBox="1"/>
          <p:nvPr/>
        </p:nvSpPr>
        <p:spPr>
          <a:xfrm>
            <a:off x="1325880" y="3136392"/>
            <a:ext cx="5486400" cy="292608"/>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Workshop repository</a:t>
            </a:r>
            <a:endParaRPr lang="en-US" sz="1400" dirty="0"/>
          </a:p>
        </p:txBody>
      </p:sp>
      <p:sp>
        <p:nvSpPr>
          <p:cNvPr id="8" name="Text 4"/>
          <p:cNvSpPr txBox="1"/>
          <p:nvPr/>
        </p:nvSpPr>
        <p:spPr>
          <a:xfrm>
            <a:off x="1325880" y="3429000"/>
            <a:ext cx="7315200" cy="292608"/>
          </a:xfrm>
          <a:prstGeom prst="rect">
            <a:avLst/>
          </a:prstGeom>
          <a:noFill/>
          <a:ln/>
        </p:spPr>
        <p:txBody>
          <a:bodyPr wrap="square" lIns="0" tIns="0" rIns="0" bIns="0" rtlCol="0" anchor="t"/>
          <a:lstStyle/>
          <a:p>
            <a:pPr indent="0" marL="0">
              <a:buNone/>
            </a:pPr>
            <a:r>
              <a:rPr lang="en-US" sz="1400" dirty="0">
                <a:solidFill>
                  <a:srgbClr val="A9B3BF"/>
                </a:solidFill>
                <a:latin typeface="Calibri" pitchFamily="34" charset="0"/>
                <a:ea typeface="Calibri" pitchFamily="34" charset="-122"/>
                <a:cs typeface="Calibri" pitchFamily="34" charset="-120"/>
              </a:rPr>
              <a:t>github.com/ben-norton/tdwg2026-wks10</a:t>
            </a:r>
            <a:endParaRPr lang="en-US" sz="1400" dirty="0"/>
          </a:p>
        </p:txBody>
      </p:sp>
      <p:sp>
        <p:nvSpPr>
          <p:cNvPr id="9" name="Shape 5"/>
          <p:cNvSpPr/>
          <p:nvPr/>
        </p:nvSpPr>
        <p:spPr>
          <a:xfrm>
            <a:off x="548640" y="4023360"/>
            <a:ext cx="548640" cy="548640"/>
          </a:xfrm>
          <a:prstGeom prst="ellipse">
            <a:avLst/>
          </a:prstGeom>
          <a:solidFill>
            <a:srgbClr val="E0584A"/>
          </a:solidFill>
          <a:ln w="12700">
            <a:solidFill>
              <a:srgbClr val="E0584A"/>
            </a:solidFill>
            <a:prstDash val="solid"/>
          </a:ln>
        </p:spPr>
      </p:sp>
      <p:pic>
        <p:nvPicPr>
          <p:cNvPr id="10" name="Image 2" descr="preencoded.png">    </p:cNvPr>
          <p:cNvPicPr>
            <a:picLocks noChangeAspect="1"/>
          </p:cNvPicPr>
          <p:nvPr/>
        </p:nvPicPr>
        <p:blipFill>
          <a:blip r:embed="rId3"/>
          <a:stretch>
            <a:fillRect/>
          </a:stretch>
        </p:blipFill>
        <p:spPr>
          <a:xfrm>
            <a:off x="685800" y="4160520"/>
            <a:ext cx="274320" cy="274320"/>
          </a:xfrm>
          <a:prstGeom prst="rect">
            <a:avLst/>
          </a:prstGeom>
        </p:spPr>
      </p:pic>
      <p:sp>
        <p:nvSpPr>
          <p:cNvPr id="11" name="Text 6"/>
          <p:cNvSpPr txBox="1"/>
          <p:nvPr/>
        </p:nvSpPr>
        <p:spPr>
          <a:xfrm>
            <a:off x="1325880" y="4005072"/>
            <a:ext cx="5486400" cy="292608"/>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Exercise Guide</a:t>
            </a:r>
            <a:endParaRPr lang="en-US" sz="1400" dirty="0"/>
          </a:p>
        </p:txBody>
      </p:sp>
      <p:sp>
        <p:nvSpPr>
          <p:cNvPr id="12" name="Text 7"/>
          <p:cNvSpPr txBox="1"/>
          <p:nvPr/>
        </p:nvSpPr>
        <p:spPr>
          <a:xfrm>
            <a:off x="1325880" y="4297680"/>
            <a:ext cx="7315200" cy="292608"/>
          </a:xfrm>
          <a:prstGeom prst="rect">
            <a:avLst/>
          </a:prstGeom>
          <a:noFill/>
          <a:ln/>
        </p:spPr>
        <p:txBody>
          <a:bodyPr wrap="square" lIns="0" tIns="0" rIns="0" bIns="0" rtlCol="0" anchor="t"/>
          <a:lstStyle/>
          <a:p>
            <a:pPr indent="0" marL="0">
              <a:buNone/>
            </a:pPr>
            <a:r>
              <a:rPr lang="en-US" sz="1400" dirty="0">
                <a:solidFill>
                  <a:srgbClr val="A9B3BF"/>
                </a:solidFill>
                <a:latin typeface="Calibri" pitchFamily="34" charset="0"/>
                <a:ea typeface="Calibri" pitchFamily="34" charset="-122"/>
                <a:cs typeface="Calibri" pitchFamily="34" charset="-120"/>
              </a:rPr>
              <a:t>docs/WKS10_Exercise_Guide.docx</a:t>
            </a:r>
            <a:endParaRPr lang="en-US" sz="1400" dirty="0"/>
          </a:p>
        </p:txBody>
      </p:sp>
      <p:sp>
        <p:nvSpPr>
          <p:cNvPr id="13" name="Shape 8"/>
          <p:cNvSpPr/>
          <p:nvPr/>
        </p:nvSpPr>
        <p:spPr>
          <a:xfrm>
            <a:off x="548640" y="4892040"/>
            <a:ext cx="548640" cy="548640"/>
          </a:xfrm>
          <a:prstGeom prst="ellipse">
            <a:avLst/>
          </a:prstGeom>
          <a:solidFill>
            <a:srgbClr val="5B7089"/>
          </a:solidFill>
          <a:ln w="12700">
            <a:solidFill>
              <a:srgbClr val="5B7089"/>
            </a:solidFill>
            <a:prstDash val="solid"/>
          </a:ln>
        </p:spPr>
      </p:sp>
      <p:pic>
        <p:nvPicPr>
          <p:cNvPr id="14" name="Image 3" descr="preencoded.png">    </p:cNvPr>
          <p:cNvPicPr>
            <a:picLocks noChangeAspect="1"/>
          </p:cNvPicPr>
          <p:nvPr/>
        </p:nvPicPr>
        <p:blipFill>
          <a:blip r:embed="rId4"/>
          <a:stretch>
            <a:fillRect/>
          </a:stretch>
        </p:blipFill>
        <p:spPr>
          <a:xfrm>
            <a:off x="685800" y="5029200"/>
            <a:ext cx="274320" cy="274320"/>
          </a:xfrm>
          <a:prstGeom prst="rect">
            <a:avLst/>
          </a:prstGeom>
        </p:spPr>
      </p:pic>
      <p:sp>
        <p:nvSpPr>
          <p:cNvPr id="15" name="Text 9"/>
          <p:cNvSpPr txBox="1"/>
          <p:nvPr/>
        </p:nvSpPr>
        <p:spPr>
          <a:xfrm>
            <a:off x="1325880" y="4873752"/>
            <a:ext cx="5486400" cy="292608"/>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Contact</a:t>
            </a:r>
            <a:endParaRPr lang="en-US" sz="1400" dirty="0"/>
          </a:p>
        </p:txBody>
      </p:sp>
      <p:sp>
        <p:nvSpPr>
          <p:cNvPr id="16" name="Text 10"/>
          <p:cNvSpPr txBox="1"/>
          <p:nvPr/>
        </p:nvSpPr>
        <p:spPr>
          <a:xfrm>
            <a:off x="1325880" y="5166360"/>
            <a:ext cx="7315200" cy="292608"/>
          </a:xfrm>
          <a:prstGeom prst="rect">
            <a:avLst/>
          </a:prstGeom>
          <a:noFill/>
          <a:ln/>
        </p:spPr>
        <p:txBody>
          <a:bodyPr wrap="square" lIns="0" tIns="0" rIns="0" bIns="0" rtlCol="0" anchor="t"/>
          <a:lstStyle/>
          <a:p>
            <a:pPr indent="0" marL="0">
              <a:buNone/>
            </a:pPr>
            <a:r>
              <a:rPr lang="en-US" sz="1400" dirty="0">
                <a:solidFill>
                  <a:srgbClr val="A9B3BF"/>
                </a:solidFill>
                <a:latin typeface="Calibri" pitchFamily="34" charset="0"/>
                <a:ea typeface="Calibri" pitchFamily="34" charset="-122"/>
                <a:cs typeface="Calibri" pitchFamily="34" charset="-120"/>
              </a:rPr>
              <a:t>ben.norton@yale.edu</a:t>
            </a:r>
            <a:endParaRPr lang="en-US" sz="1400" dirty="0"/>
          </a:p>
        </p:txBody>
      </p:sp>
      <p:sp>
        <p:nvSpPr>
          <p:cNvPr id="17" name="Text 11"/>
          <p:cNvSpPr txBox="1"/>
          <p:nvPr/>
        </p:nvSpPr>
        <p:spPr>
          <a:xfrm>
            <a:off x="548640" y="6080760"/>
            <a:ext cx="8229600" cy="274320"/>
          </a:xfrm>
          <a:prstGeom prst="rect">
            <a:avLst/>
          </a:prstGeom>
          <a:noFill/>
          <a:ln/>
        </p:spPr>
        <p:txBody>
          <a:bodyPr wrap="square" lIns="0" tIns="0" rIns="0" bIns="0" rtlCol="0" anchor="t"/>
          <a:lstStyle/>
          <a:p>
            <a:pPr indent="0" marL="0">
              <a:buNone/>
            </a:pPr>
            <a:r>
              <a:rPr lang="en-US" sz="1100" dirty="0">
                <a:solidFill>
                  <a:srgbClr val="7A7F87"/>
                </a:solidFill>
                <a:latin typeface="Calibri" pitchFamily="34" charset="0"/>
                <a:ea typeface="Calibri" pitchFamily="34" charset="-122"/>
                <a:cs typeface="Calibri" pitchFamily="34" charset="-120"/>
              </a:rPr>
              <a:t>Ben Norton (Yale University)   |   TDWG 2026, Oslo   |   September 2026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392B"/>
                </a:solidFill>
                <a:latin typeface="Calibri" pitchFamily="34" charset="0"/>
                <a:ea typeface="Calibri" pitchFamily="34" charset="-122"/>
                <a:cs typeface="Calibri" pitchFamily="34" charset="-120"/>
              </a:rPr>
              <a:t>CREDITS</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0E1A2D"/>
                </a:solidFill>
                <a:latin typeface="Cambria" pitchFamily="34" charset="0"/>
                <a:ea typeface="Cambria" pitchFamily="34" charset="-122"/>
                <a:cs typeface="Cambria" pitchFamily="34" charset="-120"/>
              </a:rPr>
              <a:t>Attributions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4D4D4D"/>
                </a:solidFill>
                <a:latin typeface="Calibri" pitchFamily="34" charset="0"/>
                <a:ea typeface="Calibri" pitchFamily="34" charset="-122"/>
                <a:cs typeface="Calibri" pitchFamily="34" charset="-120"/>
              </a:rPr>
              <a:t>Graphical assets, typefaces and tools used in this presentation.</a:t>
            </a:r>
            <a:endParaRPr lang="en-US" sz="1500" dirty="0"/>
          </a:p>
        </p:txBody>
      </p:sp>
      <p:sp>
        <p:nvSpPr>
          <p:cNvPr id="5" name="Shape 3"/>
          <p:cNvSpPr/>
          <p:nvPr/>
        </p:nvSpPr>
        <p:spPr>
          <a:xfrm>
            <a:off x="548640" y="2103120"/>
            <a:ext cx="6720840" cy="3200400"/>
          </a:xfrm>
          <a:prstGeom prst="roundRect">
            <a:avLst>
              <a:gd name="adj" fmla="val 2286"/>
            </a:avLst>
          </a:prstGeom>
          <a:solidFill>
            <a:srgbClr val="EFE5CB"/>
          </a:solidFill>
          <a:ln w="12700">
            <a:solidFill>
              <a:srgbClr val="EFE5CB"/>
            </a:solidFill>
            <a:prstDash val="solid"/>
          </a:ln>
        </p:spPr>
      </p:sp>
      <p:sp>
        <p:nvSpPr>
          <p:cNvPr id="6" name="Text 4"/>
          <p:cNvSpPr txBox="1"/>
          <p:nvPr/>
        </p:nvSpPr>
        <p:spPr>
          <a:xfrm>
            <a:off x="548640" y="5532120"/>
            <a:ext cx="6720840" cy="548640"/>
          </a:xfrm>
          <a:prstGeom prst="rect">
            <a:avLst/>
          </a:prstGeom>
          <a:noFill/>
          <a:ln/>
        </p:spPr>
        <p:txBody>
          <a:bodyPr wrap="square" lIns="0" tIns="0" rIns="0" bIns="0" rtlCol="0" anchor="t"/>
          <a:lstStyle/>
          <a:p>
            <a:pPr indent="0" marL="0">
              <a:buNone/>
            </a:pPr>
            <a:r>
              <a:rPr lang="en-US" sz="1250" i="1" dirty="0">
                <a:solidFill>
                  <a:srgbClr val="4D4D4D"/>
                </a:solidFill>
                <a:latin typeface="Calibri" pitchFamily="34" charset="0"/>
                <a:ea typeface="Calibri" pitchFamily="34" charset="-122"/>
                <a:cs typeface="Calibri" pitchFamily="34" charset="-120"/>
              </a:rPr>
              <a:t>Icon and code licences permit reuse with attribution. Please keep this slide in any shared copy of the deck.</a:t>
            </a:r>
            <a:endParaRPr lang="en-US" sz="1250" dirty="0"/>
          </a:p>
        </p:txBody>
      </p:sp>
      <p:sp>
        <p:nvSpPr>
          <p:cNvPr id="7" name="Shape 5"/>
          <p:cNvSpPr/>
          <p:nvPr/>
        </p:nvSpPr>
        <p:spPr>
          <a:xfrm>
            <a:off x="822960" y="2331720"/>
            <a:ext cx="502920" cy="502920"/>
          </a:xfrm>
          <a:prstGeom prst="ellipse">
            <a:avLst/>
          </a:prstGeom>
          <a:solidFill>
            <a:srgbClr val="5B7089"/>
          </a:solidFill>
          <a:ln w="12700">
            <a:solidFill>
              <a:srgbClr val="5B7089"/>
            </a:solidFill>
            <a:prstDash val="solid"/>
          </a:ln>
        </p:spPr>
      </p:sp>
      <p:pic>
        <p:nvPicPr>
          <p:cNvPr id="8" name="Image 0" descr="preencoded.png">    </p:cNvPr>
          <p:cNvPicPr>
            <a:picLocks noChangeAspect="1"/>
          </p:cNvPicPr>
          <p:nvPr/>
        </p:nvPicPr>
        <p:blipFill>
          <a:blip r:embed="rId1"/>
          <a:stretch>
            <a:fillRect/>
          </a:stretch>
        </p:blipFill>
        <p:spPr>
          <a:xfrm>
            <a:off x="948690" y="2457450"/>
            <a:ext cx="251460" cy="251460"/>
          </a:xfrm>
          <a:prstGeom prst="rect">
            <a:avLst/>
          </a:prstGeom>
        </p:spPr>
      </p:pic>
      <p:sp>
        <p:nvSpPr>
          <p:cNvPr id="9" name="Text 6"/>
          <p:cNvSpPr txBox="1"/>
          <p:nvPr/>
        </p:nvSpPr>
        <p:spPr>
          <a:xfrm>
            <a:off x="1508760" y="2377440"/>
            <a:ext cx="5486400" cy="365760"/>
          </a:xfrm>
          <a:prstGeom prst="rect">
            <a:avLst/>
          </a:prstGeom>
          <a:noFill/>
          <a:ln/>
        </p:spPr>
        <p:txBody>
          <a:bodyPr wrap="square" lIns="0" tIns="0" rIns="0" bIns="0" rtlCol="0" anchor="ctr"/>
          <a:lstStyle/>
          <a:p>
            <a:pPr indent="0" marL="0">
              <a:buNone/>
            </a:pPr>
            <a:r>
              <a:rPr lang="en-US" sz="1700" b="1" dirty="0">
                <a:solidFill>
                  <a:srgbClr val="0E1A2D"/>
                </a:solidFill>
                <a:latin typeface="Calibri" pitchFamily="34" charset="0"/>
                <a:ea typeface="Calibri" pitchFamily="34" charset="-122"/>
                <a:cs typeface="Calibri" pitchFamily="34" charset="-120"/>
              </a:rPr>
              <a:t>Icons: Lucide</a:t>
            </a:r>
            <a:endParaRPr lang="en-US" sz="1700" dirty="0"/>
          </a:p>
        </p:txBody>
      </p:sp>
      <p:sp>
        <p:nvSpPr>
          <p:cNvPr id="10" name="Text 7"/>
          <p:cNvSpPr txBox="1"/>
          <p:nvPr/>
        </p:nvSpPr>
        <p:spPr>
          <a:xfrm>
            <a:off x="822960" y="3017520"/>
            <a:ext cx="6172200" cy="2194560"/>
          </a:xfrm>
          <a:prstGeom prst="rect">
            <a:avLst/>
          </a:prstGeom>
          <a:noFill/>
          <a:ln/>
        </p:spPr>
        <p:txBody>
          <a:bodyPr wrap="square" lIns="0" tIns="0" rIns="0" bIns="0" rtlCol="0" anchor="t"/>
          <a:lstStyle/>
          <a:p>
            <a:pPr indent="0" marL="0">
              <a:lnSpc>
                <a:spcPct val="110000"/>
              </a:lnSpc>
              <a:buNone/>
            </a:pPr>
            <a:r>
              <a:rPr lang="en-US" sz="1250" b="1" dirty="0">
                <a:solidFill>
                  <a:srgbClr val="0E1A2D"/>
                </a:solidFill>
                <a:latin typeface="Calibri" pitchFamily="34" charset="0"/>
                <a:ea typeface="Calibri" pitchFamily="34" charset="-122"/>
                <a:cs typeface="Calibri" pitchFamily="34" charset="-120"/>
              </a:rPr>
              <a:t>Lucide icon set, lucide.dev. </a:t>
            </a:r>
            <a:pPr indent="0" marL="0">
              <a:lnSpc>
                <a:spcPct val="110000"/>
              </a:lnSpc>
              <a:buNone/>
            </a:pPr>
            <a:r>
              <a:rPr lang="en-US" sz="1250" dirty="0">
                <a:solidFill>
                  <a:srgbClr val="4D4D4D"/>
                </a:solidFill>
                <a:latin typeface="Calibri" pitchFamily="34" charset="0"/>
                <a:ea typeface="Calibri" pitchFamily="34" charset="-122"/>
                <a:cs typeface="Calibri" pitchFamily="34" charset="-120"/>
              </a:rPr>
              <a:t>ISC License, © Lucide Contributors. Portions derived from Feather (MIT License, © Cole Bemis). Rendered through the react-icons package (v5.6.0, MIT License) and recoloured for this deck.</a:t>
            </a:r>
            <a:endParaRPr lang="en-US" sz="1250" dirty="0"/>
          </a:p>
          <a:p>
            <a:pPr indent="0" marL="0">
              <a:lnSpc>
                <a:spcPct val="110000"/>
              </a:lnSpc>
              <a:buNone/>
            </a:pPr>
            <a:r>
              <a:rPr lang="en-US" sz="600" dirty="0">
                <a:solidFill>
                  <a:srgbClr val="000000"/>
                </a:solidFill>
                <a:latin typeface="Calibri" pitchFamily="34" charset="0"/>
                <a:ea typeface="Calibri" pitchFamily="34" charset="-122"/>
                <a:cs typeface="Calibri" pitchFamily="34" charset="-120"/>
              </a:rPr>
              <a:t> </a:t>
            </a:r>
            <a:endParaRPr lang="en-US" sz="1250" dirty="0"/>
          </a:p>
          <a:p>
            <a:pPr indent="0" marL="0">
              <a:lnSpc>
                <a:spcPct val="110000"/>
              </a:lnSpc>
              <a:buNone/>
            </a:pPr>
            <a:r>
              <a:rPr lang="en-US" sz="1250" b="1" dirty="0">
                <a:solidFill>
                  <a:srgbClr val="0E1A2D"/>
                </a:solidFill>
                <a:latin typeface="Calibri" pitchFamily="34" charset="0"/>
                <a:ea typeface="Calibri" pitchFamily="34" charset="-122"/>
                <a:cs typeface="Calibri" pitchFamily="34" charset="-120"/>
              </a:rPr>
              <a:t>Icons used: </a:t>
            </a:r>
            <a:pPr indent="0" marL="0">
              <a:lnSpc>
                <a:spcPct val="110000"/>
              </a:lnSpc>
              <a:buNone/>
            </a:pPr>
            <a:r>
              <a:rPr lang="en-US" sz="1250" dirty="0">
                <a:solidFill>
                  <a:srgbClr val="4D4D4D"/>
                </a:solidFill>
                <a:latin typeface="Calibri" pitchFamily="34" charset="0"/>
                <a:ea typeface="Calibri" pitchFamily="34" charset="-122"/>
                <a:cs typeface="Calibri" pitchFamily="34" charset="-120"/>
              </a:rPr>
              <a:t>arrow-down, arrow-right, arrow-up-right, book-open, boxes, check, clock, code, coins, compass, download, eye, file-check, filter, folder-input, folder-open, gem, git-branch, graduation-cap, hand, handshake, image, key-round, languages, layers, list-checks, mail, map-pin, message-circle-question, messages-square, palette, package-check, pencil, puzzle, recycle, repeat, scale, search, shield-check, shuffle, sparkles, sprout, table, timer, type, trending-up, upload, user-check, users, wrench, x.</a:t>
            </a:r>
            <a:endParaRPr lang="en-US" sz="1250" dirty="0"/>
          </a:p>
        </p:txBody>
      </p:sp>
      <p:sp>
        <p:nvSpPr>
          <p:cNvPr id="11" name="Shape 8"/>
          <p:cNvSpPr/>
          <p:nvPr/>
        </p:nvSpPr>
        <p:spPr>
          <a:xfrm>
            <a:off x="7589520" y="2148840"/>
            <a:ext cx="457200" cy="457200"/>
          </a:xfrm>
          <a:prstGeom prst="ellipse">
            <a:avLst/>
          </a:prstGeom>
          <a:solidFill>
            <a:srgbClr val="C0392B"/>
          </a:solidFill>
          <a:ln w="12700">
            <a:solidFill>
              <a:srgbClr val="C0392B"/>
            </a:solidFill>
            <a:prstDash val="solid"/>
          </a:ln>
        </p:spPr>
      </p:sp>
      <p:pic>
        <p:nvPicPr>
          <p:cNvPr id="12" name="Image 1" descr="preencoded.png">    </p:cNvPr>
          <p:cNvPicPr>
            <a:picLocks noChangeAspect="1"/>
          </p:cNvPicPr>
          <p:nvPr/>
        </p:nvPicPr>
        <p:blipFill>
          <a:blip r:embed="rId2"/>
          <a:stretch>
            <a:fillRect/>
          </a:stretch>
        </p:blipFill>
        <p:spPr>
          <a:xfrm>
            <a:off x="7703820" y="2263140"/>
            <a:ext cx="228600" cy="228600"/>
          </a:xfrm>
          <a:prstGeom prst="rect">
            <a:avLst/>
          </a:prstGeom>
        </p:spPr>
      </p:pic>
      <p:sp>
        <p:nvSpPr>
          <p:cNvPr id="13" name="Text 9"/>
          <p:cNvSpPr txBox="1"/>
          <p:nvPr/>
        </p:nvSpPr>
        <p:spPr>
          <a:xfrm>
            <a:off x="8183880" y="2103120"/>
            <a:ext cx="3474720" cy="292608"/>
          </a:xfrm>
          <a:prstGeom prst="rect">
            <a:avLst/>
          </a:prstGeom>
          <a:noFill/>
          <a:ln/>
        </p:spPr>
        <p:txBody>
          <a:bodyPr wrap="square" lIns="0" tIns="0" rIns="0" bIns="0" rtlCol="0" anchor="t"/>
          <a:lstStyle/>
          <a:p>
            <a:pPr indent="0" marL="0">
              <a:buNone/>
            </a:pPr>
            <a:r>
              <a:rPr lang="en-US" sz="1400" b="1" dirty="0">
                <a:solidFill>
                  <a:srgbClr val="0E1A2D"/>
                </a:solidFill>
                <a:latin typeface="Calibri" pitchFamily="34" charset="0"/>
                <a:ea typeface="Calibri" pitchFamily="34" charset="-122"/>
                <a:cs typeface="Calibri" pitchFamily="34" charset="-120"/>
              </a:rPr>
              <a:t>TDWG 2026 Oslo logo</a:t>
            </a:r>
            <a:endParaRPr lang="en-US" sz="1400" dirty="0"/>
          </a:p>
        </p:txBody>
      </p:sp>
      <p:sp>
        <p:nvSpPr>
          <p:cNvPr id="14" name="Text 10"/>
          <p:cNvSpPr txBox="1"/>
          <p:nvPr/>
        </p:nvSpPr>
        <p:spPr>
          <a:xfrm>
            <a:off x="8183880" y="2404872"/>
            <a:ext cx="3474720" cy="685800"/>
          </a:xfrm>
          <a:prstGeom prst="rect">
            <a:avLst/>
          </a:prstGeom>
          <a:noFill/>
          <a:ln/>
        </p:spPr>
        <p:txBody>
          <a:bodyPr wrap="square" lIns="0" tIns="0" rIns="0" bIns="0" rtlCol="0" anchor="t"/>
          <a:lstStyle/>
          <a:p>
            <a:pPr indent="0" marL="0">
              <a:buNone/>
            </a:pPr>
            <a:r>
              <a:rPr lang="en-US" sz="1150" dirty="0">
                <a:solidFill>
                  <a:srgbClr val="4D4D4D"/>
                </a:solidFill>
                <a:latin typeface="Calibri" pitchFamily="34" charset="0"/>
                <a:ea typeface="Calibri" pitchFamily="34" charset="-122"/>
                <a:cs typeface="Calibri" pitchFamily="34" charset="-120"/>
              </a:rPr>
              <a:t>Conference logo of TDWG 2026 (Biodiversity Information Standards), used on the title and closing slides.</a:t>
            </a:r>
            <a:endParaRPr lang="en-US" sz="1150" dirty="0"/>
          </a:p>
        </p:txBody>
      </p:sp>
      <p:sp>
        <p:nvSpPr>
          <p:cNvPr id="15" name="Shape 11"/>
          <p:cNvSpPr/>
          <p:nvPr/>
        </p:nvSpPr>
        <p:spPr>
          <a:xfrm>
            <a:off x="7589520" y="3172968"/>
            <a:ext cx="457200" cy="457200"/>
          </a:xfrm>
          <a:prstGeom prst="ellipse">
            <a:avLst/>
          </a:prstGeom>
          <a:solidFill>
            <a:srgbClr val="6E6E6E"/>
          </a:solidFill>
          <a:ln w="12700">
            <a:solidFill>
              <a:srgbClr val="6E6E6E"/>
            </a:solidFill>
            <a:prstDash val="solid"/>
          </a:ln>
        </p:spPr>
      </p:sp>
      <p:pic>
        <p:nvPicPr>
          <p:cNvPr id="16" name="Image 2" descr="preencoded.png">    </p:cNvPr>
          <p:cNvPicPr>
            <a:picLocks noChangeAspect="1"/>
          </p:cNvPicPr>
          <p:nvPr/>
        </p:nvPicPr>
        <p:blipFill>
          <a:blip r:embed="rId3"/>
          <a:stretch>
            <a:fillRect/>
          </a:stretch>
        </p:blipFill>
        <p:spPr>
          <a:xfrm>
            <a:off x="7703820" y="3287268"/>
            <a:ext cx="228600" cy="228600"/>
          </a:xfrm>
          <a:prstGeom prst="rect">
            <a:avLst/>
          </a:prstGeom>
        </p:spPr>
      </p:pic>
      <p:sp>
        <p:nvSpPr>
          <p:cNvPr id="17" name="Text 12"/>
          <p:cNvSpPr txBox="1"/>
          <p:nvPr/>
        </p:nvSpPr>
        <p:spPr>
          <a:xfrm>
            <a:off x="8183880" y="3127248"/>
            <a:ext cx="3474720" cy="292608"/>
          </a:xfrm>
          <a:prstGeom prst="rect">
            <a:avLst/>
          </a:prstGeom>
          <a:noFill/>
          <a:ln/>
        </p:spPr>
        <p:txBody>
          <a:bodyPr wrap="square" lIns="0" tIns="0" rIns="0" bIns="0" rtlCol="0" anchor="t"/>
          <a:lstStyle/>
          <a:p>
            <a:pPr indent="0" marL="0">
              <a:buNone/>
            </a:pPr>
            <a:r>
              <a:rPr lang="en-US" sz="1400" b="1" dirty="0">
                <a:solidFill>
                  <a:srgbClr val="0E1A2D"/>
                </a:solidFill>
                <a:latin typeface="Calibri" pitchFamily="34" charset="0"/>
                <a:ea typeface="Calibri" pitchFamily="34" charset="-122"/>
                <a:cs typeface="Calibri" pitchFamily="34" charset="-120"/>
              </a:rPr>
              <a:t>Typefaces</a:t>
            </a:r>
            <a:endParaRPr lang="en-US" sz="1400" dirty="0"/>
          </a:p>
        </p:txBody>
      </p:sp>
      <p:sp>
        <p:nvSpPr>
          <p:cNvPr id="18" name="Text 13"/>
          <p:cNvSpPr txBox="1"/>
          <p:nvPr/>
        </p:nvSpPr>
        <p:spPr>
          <a:xfrm>
            <a:off x="8183880" y="3429000"/>
            <a:ext cx="3474720" cy="685800"/>
          </a:xfrm>
          <a:prstGeom prst="rect">
            <a:avLst/>
          </a:prstGeom>
          <a:noFill/>
          <a:ln/>
        </p:spPr>
        <p:txBody>
          <a:bodyPr wrap="square" lIns="0" tIns="0" rIns="0" bIns="0" rtlCol="0" anchor="t"/>
          <a:lstStyle/>
          <a:p>
            <a:pPr indent="0" marL="0">
              <a:buNone/>
            </a:pPr>
            <a:r>
              <a:rPr lang="en-US" sz="1150" dirty="0">
                <a:solidFill>
                  <a:srgbClr val="4D4D4D"/>
                </a:solidFill>
                <a:latin typeface="Calibri" pitchFamily="34" charset="0"/>
                <a:ea typeface="Calibri" pitchFamily="34" charset="-122"/>
                <a:cs typeface="Calibri" pitchFamily="34" charset="-120"/>
              </a:rPr>
              <a:t>Cambria and Calibri (Microsoft). Courier New for file paths.</a:t>
            </a:r>
            <a:endParaRPr lang="en-US" sz="1150" dirty="0"/>
          </a:p>
        </p:txBody>
      </p:sp>
      <p:sp>
        <p:nvSpPr>
          <p:cNvPr id="19" name="Shape 14"/>
          <p:cNvSpPr/>
          <p:nvPr/>
        </p:nvSpPr>
        <p:spPr>
          <a:xfrm>
            <a:off x="7589520" y="4197096"/>
            <a:ext cx="457200" cy="457200"/>
          </a:xfrm>
          <a:prstGeom prst="ellipse">
            <a:avLst/>
          </a:prstGeom>
          <a:solidFill>
            <a:srgbClr val="5B7089"/>
          </a:solidFill>
          <a:ln w="12700">
            <a:solidFill>
              <a:srgbClr val="5B7089"/>
            </a:solidFill>
            <a:prstDash val="solid"/>
          </a:ln>
        </p:spPr>
      </p:sp>
      <p:pic>
        <p:nvPicPr>
          <p:cNvPr id="20" name="Image 3" descr="preencoded.png">    </p:cNvPr>
          <p:cNvPicPr>
            <a:picLocks noChangeAspect="1"/>
          </p:cNvPicPr>
          <p:nvPr/>
        </p:nvPicPr>
        <p:blipFill>
          <a:blip r:embed="rId4"/>
          <a:stretch>
            <a:fillRect/>
          </a:stretch>
        </p:blipFill>
        <p:spPr>
          <a:xfrm>
            <a:off x="7703820" y="4311396"/>
            <a:ext cx="228600" cy="228600"/>
          </a:xfrm>
          <a:prstGeom prst="rect">
            <a:avLst/>
          </a:prstGeom>
        </p:spPr>
      </p:pic>
      <p:sp>
        <p:nvSpPr>
          <p:cNvPr id="21" name="Text 15"/>
          <p:cNvSpPr txBox="1"/>
          <p:nvPr/>
        </p:nvSpPr>
        <p:spPr>
          <a:xfrm>
            <a:off x="8183880" y="4151376"/>
            <a:ext cx="3474720" cy="292608"/>
          </a:xfrm>
          <a:prstGeom prst="rect">
            <a:avLst/>
          </a:prstGeom>
          <a:noFill/>
          <a:ln/>
        </p:spPr>
        <p:txBody>
          <a:bodyPr wrap="square" lIns="0" tIns="0" rIns="0" bIns="0" rtlCol="0" anchor="t"/>
          <a:lstStyle/>
          <a:p>
            <a:pPr indent="0" marL="0">
              <a:buNone/>
            </a:pPr>
            <a:r>
              <a:rPr lang="en-US" sz="1400" b="1" dirty="0">
                <a:solidFill>
                  <a:srgbClr val="0E1A2D"/>
                </a:solidFill>
                <a:latin typeface="Calibri" pitchFamily="34" charset="0"/>
                <a:ea typeface="Calibri" pitchFamily="34" charset="-122"/>
                <a:cs typeface="Calibri" pitchFamily="34" charset="-120"/>
              </a:rPr>
              <a:t>Design and diagrams</a:t>
            </a:r>
            <a:endParaRPr lang="en-US" sz="1400" dirty="0"/>
          </a:p>
        </p:txBody>
      </p:sp>
      <p:sp>
        <p:nvSpPr>
          <p:cNvPr id="22" name="Text 16"/>
          <p:cNvSpPr txBox="1"/>
          <p:nvPr/>
        </p:nvSpPr>
        <p:spPr>
          <a:xfrm>
            <a:off x="8183880" y="4453128"/>
            <a:ext cx="3474720" cy="685800"/>
          </a:xfrm>
          <a:prstGeom prst="rect">
            <a:avLst/>
          </a:prstGeom>
          <a:noFill/>
          <a:ln/>
        </p:spPr>
        <p:txBody>
          <a:bodyPr wrap="square" lIns="0" tIns="0" rIns="0" bIns="0" rtlCol="0" anchor="t"/>
          <a:lstStyle/>
          <a:p>
            <a:pPr indent="0" marL="0">
              <a:buNone/>
            </a:pPr>
            <a:r>
              <a:rPr lang="en-US" sz="1150" dirty="0">
                <a:solidFill>
                  <a:srgbClr val="4D4D4D"/>
                </a:solidFill>
                <a:latin typeface="Calibri" pitchFamily="34" charset="0"/>
                <a:ea typeface="Calibri" pitchFamily="34" charset="-122"/>
                <a:cs typeface="Calibri" pitchFamily="34" charset="-120"/>
              </a:rPr>
              <a:t>Colour palette and layout adapted from the SYM06 “Rocks, Minerals, and Metadata” deck. Diagrams and timelines are original to this presentation.</a:t>
            </a:r>
            <a:endParaRPr lang="en-US" sz="1150" dirty="0"/>
          </a:p>
        </p:txBody>
      </p:sp>
      <p:sp>
        <p:nvSpPr>
          <p:cNvPr id="23" name="Shape 17"/>
          <p:cNvSpPr/>
          <p:nvPr/>
        </p:nvSpPr>
        <p:spPr>
          <a:xfrm>
            <a:off x="7589520" y="5221224"/>
            <a:ext cx="457200" cy="457200"/>
          </a:xfrm>
          <a:prstGeom prst="ellipse">
            <a:avLst/>
          </a:prstGeom>
          <a:solidFill>
            <a:srgbClr val="6E6E6E"/>
          </a:solidFill>
          <a:ln w="12700">
            <a:solidFill>
              <a:srgbClr val="6E6E6E"/>
            </a:solidFill>
            <a:prstDash val="solid"/>
          </a:ln>
        </p:spPr>
      </p:sp>
      <p:pic>
        <p:nvPicPr>
          <p:cNvPr id="24" name="Image 4" descr="preencoded.png">    </p:cNvPr>
          <p:cNvPicPr>
            <a:picLocks noChangeAspect="1"/>
          </p:cNvPicPr>
          <p:nvPr/>
        </p:nvPicPr>
        <p:blipFill>
          <a:blip r:embed="rId5"/>
          <a:stretch>
            <a:fillRect/>
          </a:stretch>
        </p:blipFill>
        <p:spPr>
          <a:xfrm>
            <a:off x="7703820" y="5335524"/>
            <a:ext cx="228600" cy="228600"/>
          </a:xfrm>
          <a:prstGeom prst="rect">
            <a:avLst/>
          </a:prstGeom>
        </p:spPr>
      </p:pic>
      <p:sp>
        <p:nvSpPr>
          <p:cNvPr id="25" name="Text 18"/>
          <p:cNvSpPr txBox="1"/>
          <p:nvPr/>
        </p:nvSpPr>
        <p:spPr>
          <a:xfrm>
            <a:off x="8183880" y="5175504"/>
            <a:ext cx="3474720" cy="292608"/>
          </a:xfrm>
          <a:prstGeom prst="rect">
            <a:avLst/>
          </a:prstGeom>
          <a:noFill/>
          <a:ln/>
        </p:spPr>
        <p:txBody>
          <a:bodyPr wrap="square" lIns="0" tIns="0" rIns="0" bIns="0" rtlCol="0" anchor="t"/>
          <a:lstStyle/>
          <a:p>
            <a:pPr indent="0" marL="0">
              <a:buNone/>
            </a:pPr>
            <a:r>
              <a:rPr lang="en-US" sz="1400" b="1" dirty="0">
                <a:solidFill>
                  <a:srgbClr val="0E1A2D"/>
                </a:solidFill>
                <a:latin typeface="Calibri" pitchFamily="34" charset="0"/>
                <a:ea typeface="Calibri" pitchFamily="34" charset="-122"/>
                <a:cs typeface="Calibri" pitchFamily="34" charset="-120"/>
              </a:rPr>
              <a:t>Tools</a:t>
            </a:r>
            <a:endParaRPr lang="en-US" sz="1400" dirty="0"/>
          </a:p>
        </p:txBody>
      </p:sp>
      <p:sp>
        <p:nvSpPr>
          <p:cNvPr id="26" name="Text 19"/>
          <p:cNvSpPr txBox="1"/>
          <p:nvPr/>
        </p:nvSpPr>
        <p:spPr>
          <a:xfrm>
            <a:off x="8183880" y="5477256"/>
            <a:ext cx="3474720" cy="685800"/>
          </a:xfrm>
          <a:prstGeom prst="rect">
            <a:avLst/>
          </a:prstGeom>
          <a:noFill/>
          <a:ln/>
        </p:spPr>
        <p:txBody>
          <a:bodyPr wrap="square" lIns="0" tIns="0" rIns="0" bIns="0" rtlCol="0" anchor="t"/>
          <a:lstStyle/>
          <a:p>
            <a:pPr indent="0" marL="0">
              <a:buNone/>
            </a:pPr>
            <a:r>
              <a:rPr lang="en-US" sz="1150" dirty="0">
                <a:solidFill>
                  <a:srgbClr val="4D4D4D"/>
                </a:solidFill>
                <a:latin typeface="Calibri" pitchFamily="34" charset="0"/>
                <a:ea typeface="Calibri" pitchFamily="34" charset="-122"/>
                <a:cs typeface="Calibri" pitchFamily="34" charset="-120"/>
              </a:rPr>
              <a:t>Built with PptxGenJS (MIT License). Figures come from profiling the tdwg2026-wks10 datasets.</a:t>
            </a:r>
            <a:endParaRPr lang="en-US" sz="1150" dirty="0"/>
          </a:p>
        </p:txBody>
      </p:sp>
      <p:sp>
        <p:nvSpPr>
          <p:cNvPr id="27" name="Text 2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7F87"/>
                </a:solidFill>
                <a:latin typeface="Calibri" pitchFamily="34" charset="0"/>
                <a:ea typeface="Calibri" pitchFamily="34" charset="-122"/>
                <a:cs typeface="Calibri" pitchFamily="34" charset="-120"/>
              </a:rPr>
              <a:t>WKS10  ·  Building a Repeatable AI Pipeline</a:t>
            </a:r>
            <a:endParaRPr lang="en-US" sz="1000" dirty="0"/>
          </a:p>
        </p:txBody>
      </p:sp>
      <p:sp>
        <p:nvSpPr>
          <p:cNvPr id="28" name="Text 2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7F87"/>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WKS10: Building a Repeatable AI Pipeline</dc:title>
  <dc:subject>PptxGenJS Presentation</dc:subject>
  <dc:creator>Ben Norton</dc:creator>
  <cp:lastModifiedBy>Ben Norton</cp:lastModifiedBy>
  <cp:revision>1</cp:revision>
  <dcterms:created xsi:type="dcterms:W3CDTF">2026-09-24T05:58:27Z</dcterms:created>
  <dcterms:modified xsi:type="dcterms:W3CDTF">2026-09-24T05:58:27Z</dcterms:modified>
</cp:coreProperties>
</file>