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87" r:id="rId13"/>
    <p:sldId id="285" r:id="rId14"/>
    <p:sldId id="283" r:id="rId15"/>
    <p:sldId id="286" r:id="rId16"/>
    <p:sldId id="282" r:id="rId17"/>
    <p:sldId id="284" r:id="rId18"/>
    <p:sldId id="267" r:id="rId19"/>
    <p:sldId id="268" r:id="rId20"/>
    <p:sldId id="289" r:id="rId21"/>
    <p:sldId id="269" r:id="rId22"/>
    <p:sldId id="288" r:id="rId23"/>
    <p:sldId id="270" r:id="rId24"/>
    <p:sldId id="271" r:id="rId25"/>
    <p:sldId id="272" r:id="rId26"/>
    <p:sldId id="290" r:id="rId27"/>
    <p:sldId id="273" r:id="rId28"/>
    <p:sldId id="274" r:id="rId29"/>
    <p:sldId id="275" r:id="rId30"/>
    <p:sldId id="276" r:id="rId31"/>
    <p:sldId id="277" r:id="rId32"/>
    <p:sldId id="278" r:id="rId33"/>
    <p:sldId id="279" r:id="rId34"/>
    <p:sldId id="280"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3333" autoAdjust="0"/>
  </p:normalViewPr>
  <p:slideViewPr>
    <p:cSldViewPr snapToGrid="0" snapToObjects="1">
      <p:cViewPr varScale="1">
        <p:scale>
          <a:sx n="70" d="100"/>
          <a:sy n="70" d="100"/>
        </p:scale>
        <p:origin x="113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9180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hands-on workshop: about 25 minutes of presentation, then you will process four real collection datasets with Claude Code. The goal is not to show you what AI can do. It is to teach you techniques you can repeat on your own data next week.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The presentation sets up the method; the four parts apply it. Every part uses the same Standard Process, so by Part D you will be moving quickly. If you fall behind, skip to Part D, the shortest. Everything stays in the repository for you to finish later.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about six months I have been building ETL pipelines for several separate projects using Claude every step of the way: data transforms, testing, front-end UI, even custom database abstraction layers. The question I kept coming back to is how to use it effectively in a collections workflow, so the result is repeatable, reusable, and has provenance. AI is an entry-level programmer. I can’t hire one, so nothing is being lost.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often told about AI: told it can do cool things, shown a demo. I want to flip that. I have spent roughly six months working almost exclusively on how to use AI, in many types of projects, many languages and many contexts. I can show some cool stuff, but that is what these sessions always are. So instead: what areas are you interested in? What do you think should be explored further? What do you feel is not given enough time or focus?
Facilitation: take 3–4 minutes. Capture answers on a flip chart or shared doc. Keep them visible and come back to them in the wrap-up. Where an answer connects to one of the four datasets, say so, and point to it during the hands-on part.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theme at every TDWG I have attended: not enough time, not enough money, not enough people. It is highly unlikely that this will change. AI addresses the problem if it is used in an efficient and strategic manner. Three questions frame the rest of the talk: what problem does it solve, what role does it play, and how accurate is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Anecdote: I needed to turn a screenshot into a Figma mockup. I installed a plugin built for that task, which offered several models. I tried Opus, Sonnet, GPT, Flash and Flash Lite. All failed completely except Flash. The lesson: match the model to the task, and be ready to switch.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dates as recorded in the workshop notes: Claude 1 Mar 2023, Claude 3 family Mar 2024, Claude 4 family May 2025, Sonnet 4.5 Sep 2025, Opus 4.5 Nov 2025, Sonnet 5 Jun 2026, Opus 5 Jul 2026. Gemini Flash 2.0 Feb 2025, 2.5 Jun 2025, 3.5 May 2026, 3.6 Jul 2026, 3.7 Aug 2026, 3.8 Sep 2026. Verify these dates before presenting. The point is the pace: a judgment about what a model can do has a short shelf life.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Organizations are no longer bound to general-purpose software such as Excel. Building software keeps getting easier, and demand for custom solutions keeps rising. For collections people, the valuable skill is being able to describe exactly what you want and then check the result.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difficult task in any software development project is not technical. It is convincing people to change the way they do things every day. That requires a specific set of communication skills and a real time investment, and AI cannot do it for us. What AI does do is reduce labour requirements, both financial and temporal. The time saved can be reallocated: people can build new skills and accomplish more. Demand for software and other technical assets is higher than ever, so AI gives people the chance to focus on higher-level tasks.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problems. The biggest is for entry-level workers: the routine work AI takes over is the work people used to learn on, so we need to think about how new staff build experience. Bear in mind that we are social creatures and will always seek interpersonal interaction. At least for now, there will always be tasks that must be performed by humans, especially communication between people. Finally, pattern matching is at the heart of many AI models. That explains both their strength on repetitive transformations and why we validate everything they produce, which is the technique you will use in the exercise.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premise: most data is AI-ready with the right prompt. Success depends on three factors: the prompt, the amount of context, and the model. In the exercise you will control all three: the prompts are written for you, the repository provides the context, and you can switch models.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A real example of choosing the model. The Natural History Museum in London displays its minerals in cases like this one: specimens laid on hessian, a small printed card under each, and one card naming the species for the whole group. I photographed thirteen of them.</a:t>
            </a:r>
          </a:p>
          <a:p>
            <a:endParaRPr/>
          </a:p>
          <a:p>
            <a:r>
              <a:t>The goal sounds simple. Find every specimen, find every label, read each label, and work out which label belongs to which rock. A person does this at a glance. The question was which kind of model could do it.</a:t>
            </a:r>
          </a:p>
          <a:p>
            <a:endParaRPr/>
          </a:p>
          <a:p>
            <a:r>
              <a:t>I tried it twice. The first run used a purpose-built vision model. The second used a general multimodal model. Same photographs, same goal.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The first run used SAM 2.1, Meta's Segment Anything model, with PP-OCRv3 to read the cards. Nothing was trained; both models were used as they come.</a:t>
            </a:r>
          </a:p>
          <a:p>
            <a:endParaRPr/>
          </a:p>
          <a:p>
            <a:r>
              <a:t>The catch is that SAM only finds shapes. It has no idea what a specimen or a label is. So everything between the masks and the result had to be written as rules: tile the wide photograph into squares, model the hessian so it isn't taken for a rock, find the cards by the texture of their print, stitch the facet masks back into whole specimens, pair each card with the specimen above it, then straighten and read each card several ways and keep the best reading.</a:t>
            </a:r>
          </a:p>
          <a:p>
            <a:endParaRPr/>
          </a:p>
          <a:p>
            <a:r>
              <a:t>That is ten stages of hand-tuned logic. It runs free on a laptop, but every stage is a place to go wrong. On this case it looks convincing: 15 segments, 13 with text.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Here is the densest case, the azurite case. SAM is good at what it was built for: the outlines are clean, and it found 39 segments. But only 14 of those carry any text, and some of that text is not usable.</a:t>
            </a:r>
          </a:p>
          <a:p>
            <a:endParaRPr/>
          </a:p>
          <a:p>
            <a:r>
              <a:t>Across all thirteen photographs: 117 segments, 59 with a transcription, which is about half. The pipeline verified 114 cards but could pair only 77 of them with a specimen.</a:t>
            </a:r>
          </a:p>
          <a:p>
            <a:endParaRPr/>
          </a:p>
          <a:p>
            <a:r>
              <a:t>In other words, finding shapes was the easy part. Reading small, low-contrast italic cards, and knowing which card belongs to which rock, was not.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Four crops from the SAM output show where it broke down.</a:t>
            </a:r>
          </a:p>
          <a:p>
            <a:endParaRPr/>
          </a:p>
          <a:p>
            <a:r>
              <a:t>First, the group card. One card reading Azurite, with the formula and crystal system, names every specimen in the case. The pipeline pairs cards by distance, so it gave that card to a single specimen.</a:t>
            </a:r>
          </a:p>
          <a:p>
            <a:endParaRPr/>
          </a:p>
          <a:p>
            <a:r>
              <a:t>Second, specimens cut off by the edge of the photograph are segmented as if they were whole. Third, to be fair, the masks themselves are often very good. Fourth, a card clipped by the frame was read as 'ting on yellow, Kent' and still attached to a specimen.</a:t>
            </a:r>
          </a:p>
          <a:p>
            <a:endParaRPr/>
          </a:p>
          <a:p>
            <a:r>
              <a:t>And the OCR on the small italic cards produced strings like these. Each of these problems could be patched with another rule, and each rule is another threshold to tune for the next collection. That is when I changed the model instead.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The second run replaced the ten stages with a single Gemini call per photograph. The prompt asks for four things at once: a box for every specimen, a box for every label, a verbatim transcription with an English translation, and which label belongs to which specimen, with a confidence and a one-line reason.</a:t>
            </a:r>
          </a:p>
          <a:p>
            <a:endParaRPr/>
          </a:p>
          <a:p>
            <a:r>
              <a:t>Why one prompt rather than four? Because pairing depends on seeing the whole case. A separate pairing step would be handed boxes without pixels. So detection, reading and pairing share one look.</a:t>
            </a:r>
          </a:p>
          <a:p>
            <a:endParaRPr/>
          </a:p>
          <a:p>
            <a:r>
              <a:t>Look at the table. Everything SAM needed a hand-written stage for, Gemini does in the same prompt, and it does things SAM never attempted: it names the mineral and links it to Wikidata. It is also faster, and it costs a few cents a photograph.</a:t>
            </a:r>
          </a:p>
          <a:p>
            <a:endParaRPr/>
          </a:p>
          <a:p>
            <a:r>
              <a:t>This is the model landscape slide again, in practice: the specialised model was not the right tool for this task. The general one was.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The second run worked, and the numbers are small. The densest case, 21 specimens and 21 labels, took about 65 seconds and under five cents, and 15 objects cut off by the frame were set aside rather than catalogued. On one case, 22 of 23 terms matched in Wikidata; the one miss, the archaic spelling 'pyrrhotine', was reported as unmatched rather than guessed. A whole 17-photograph collection from Geneva cost eight cents.</a:t>
            </a:r>
          </a:p>
          <a:p>
            <a:endParaRPr/>
          </a:p>
          <a:p>
            <a:r>
              <a:t>But the reason I trust it is not the model. It is what surrounds it. The cataloguing rules are written in plain language in the prompt and then enforced in code after the model answers, each with its own test. The model never supplies a Wikidata identifier: it only chooses among candidates that Wikidata itself returned. The Darwin Core mapping is a fixed table, not a model decision. And every correction a reviewer makes is saved as a new version, so what the model said stays next to what a person decided.</a:t>
            </a:r>
          </a:p>
          <a:p>
            <a:endParaRPr/>
          </a:p>
          <a:p>
            <a:r>
              <a:t>It is not perfect. Handwritten notes read worse than printed cards, and the mineral name comes from the label, not the rock. That is why the review screen exists.</a:t>
            </a:r>
          </a:p>
          <a:p>
            <a:endParaRPr/>
          </a:p>
          <a:p>
            <a:r>
              <a:t>The lesson: match the model to the task, then build the checks around it.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their hand: the best results come from giving the model every task, note and guideline. Have the model review the instructions: it finds gaps and ambiguity. Wording matters: several times I have had mediocre results, and someone else phrased the same instructions differently and the task succeeded. Process the data ahead of time. Compare results using different levels of information. Provide examples.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ETL vocabulary: Extract pulls data from its source in its verbatim form. Transform cleans, splits, categorizes, translates, reconciles and restructures it. Load writes it to the target. Organize a pipeline as discrete stages with defined inputs and outputs, driven by config rather than hard-coded logic, with small repeatable scripts. Always generate a report that defines what the output contains.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8BC79-251C-7AD1-D9A8-DE40F7A4B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C1E6B-C062-CA5B-A4E2-88B6A57422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247FB6-CC42-B811-4094-5EB19872B43E}"/>
              </a:ext>
            </a:extLst>
          </p:cNvPr>
          <p:cNvSpPr>
            <a:spLocks noGrp="1"/>
          </p:cNvSpPr>
          <p:nvPr>
            <p:ph type="body" idx="1"/>
          </p:nvPr>
        </p:nvSpPr>
        <p:spPr/>
        <p:txBody>
          <a:bodyPr/>
          <a:lstStyle/>
          <a:p>
            <a:r>
              <a:t>This is what a staged pipeline looks like in practice, and it is the pattern every dataset follows today.</a:t>
            </a:r>
          </a:p>
          <a:p>
            <a:endParaRPr/>
          </a:p>
          <a:p>
            <a:r>
              <a:t>Start from the original, verbatim dataset. It is never edited. The first process makes a copy, which becomes the initial stage in data/input. The next process drops columns that are empty or hold a single value, and writes Stage 00. If the source is not in English, an optional translation step sits in between.</a:t>
            </a:r>
          </a:p>
          <a:p>
            <a:endParaRPr/>
          </a:p>
          <a:p>
            <a:r>
              <a:t>From Stage 00 we extract, rather than transform: generate the column lists, and optionally samples and unique value sets. These are what you and the model read to understand the data before planning any changes.</a:t>
            </a:r>
          </a:p>
          <a:p>
            <a:endParaRPr/>
          </a:p>
          <a:p>
            <a:r>
              <a:t>Then the transforms. Rename and drop columns to get Stage 01. Apply the planned sequence of transforms to get Stage 02. Then iterate on single transforms, one at a time, until Stage 03 is ready to load.</a:t>
            </a:r>
          </a:p>
          <a:p>
            <a:endParaRPr/>
          </a:p>
          <a:p>
            <a:r>
              <a:t>The point is that every process writes a new numbered file. Nothing is overwritten, so you can open any stage, compare it with the one before, and re-run a single step without starting again.</a:t>
            </a:r>
          </a:p>
        </p:txBody>
      </p:sp>
      <p:sp>
        <p:nvSpPr>
          <p:cNvPr id="4" name="Slide Number Placeholder 3">
            <a:extLst>
              <a:ext uri="{FF2B5EF4-FFF2-40B4-BE49-F238E27FC236}">
                <a16:creationId xmlns:a16="http://schemas.microsoft.com/office/drawing/2014/main" id="{6FE4CBC6-C3E0-1C66-E501-53073653DE41}"/>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4425016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 avoid runaway codebases; make things repeatable with config files and scripts; define metrics; give examples; make a plan and have Claude review it; use a stepwise architecture; report at every stage; keep the source verbatim. Provenance: store the work in a standardized repository, minimize reliance on AI to perform specific transformations by scripting the task, and generate reports. In today’s exercise, model translations are saved to mapping files for exactly this reason.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The idea is simple. Instead of writing a data transformation as code first, we write it in plain language, as numbered steps or at least a bulleted list. An AI model can read those instructions and apply them to a source dataset to produce the target result. For example, you might write out how to map a legacy collection spreadsheet to Darwin Core.</a:t>
            </a:r>
          </a:p>
          <a:p>
            <a:endParaRPr/>
          </a:p>
          <a:p>
            <a:r>
              <a:t>Why bother? First, transformations are usually programmatic and hard to read unless you have specific technical skills. That creates a black box: often only one or two people really understand how the data gets from A to B. That limits who can engage, and when those people move on, the knowledge goes with them. Plain-language instructions take the black box away.</a:t>
            </a:r>
          </a:p>
          <a:p>
            <a:endParaRPr/>
          </a:p>
          <a:p>
            <a:r>
              <a:t>Second, this lowers the bar for a task that has always been very technical. The curator who knows the data best can now read the transformation and say, "that's not right."</a:t>
            </a:r>
          </a:p>
          <a:p>
            <a:endParaRPr/>
          </a:p>
          <a:p>
            <a:r>
              <a:t>Third, the AI reviews the instructions as well as carrying them out, and it's very good at spotting missing steps and ambiguous wording. I think of these models as a pattern-recognition savant with the whole internet at its fingertips, but with a child's grasp of your context. It notices every gap, and it will fill any gap you leave with a guess. So the review process pushes you toward documentation that is both more concise and more complete.</a:t>
            </a:r>
          </a:p>
          <a:p>
            <a:endParaRPr/>
          </a:p>
          <a:p>
            <a:r>
              <a:t>Finally, the instructions double as a verification tool. Once a script exists, you can check it against the written procedure to confirm it does only what the instructions say. That's how you catch drift between what you meant and what the code actually does.</a:t>
            </a:r>
          </a:p>
          <a:p>
            <a:endParaRPr/>
          </a:p>
          <a:p>
            <a:r>
              <a:t>The challenge is knowing how to write for AI. Adults are good at interpreting how someone speaks: we read tone, intent and what was left unsaid. Children and AI models struggle with that. They take the words as written. Writing instructions an AI will follow correctly is a distinct skill, and it takes practice. The segmentation example you just saw is a case in point: its cataloguing rules are written in plain English, stated in the prompt, then enforced in code with one test per rule.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differs from a chat tool in one key way: it works on your files. It reads the documentation in the repository, writes scripts, runs them, and reads the results. A CLAUDE.md file gives it the project rules at the start of every session, which is the most efficient way to provide context. It asks permission before editing files or running commands. Setup: install, sign in, open the repository folder.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Repository layout. data/input holds the verbatim exports and is never edited. Each dataset has a folder in data/output starting at version 00; every step writes the next number plus a report. data/dist holds only reviewed, validated deliverables. Authorities, docs, schemas and scripts support the process. Participants: clone github.com/ben-norton/tdwg2026-wks10.</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datasets. A: 2,191 German mineral names from NM Bern; most end in -it, but some need knowledge (Quarz, Schwefel). B: 21,460 specimen rows from MHN Geneva with French names and Strunz numbers, including synonyms, uncertain identifications and notes. C: 14,092 locality strings from Basel, mixed English and German, with qualifiers and historical countries. D: 67 Yale Peabody specimens, each with 2–5 minerals, to be converted to the compound specimen model.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96426-BFAA-027F-0395-2A5A26209F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CFE6E-B086-F764-DB75-891FD7A580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7D52FC-84AD-BBB0-194E-0E3EF9D6CA82}"/>
              </a:ext>
            </a:extLst>
          </p:cNvPr>
          <p:cNvSpPr>
            <a:spLocks noGrp="1"/>
          </p:cNvSpPr>
          <p:nvPr>
            <p:ph type="body" idx="1"/>
          </p:nvPr>
        </p:nvSpPr>
        <p:spPr/>
        <p:txBody>
          <a:bodyPr/>
          <a:lstStyle/>
          <a:p>
            <a:r>
              <a:t>Before the Part D procedure, here is the target in its simplest form.</a:t>
            </a:r>
          </a:p>
          <a:p>
            <a:endParaRPr/>
          </a:p>
          <a:p>
            <a:r>
              <a:t>In Darwin Core, a compound specimen and each of its parts are all the same kind of record: dwc:Material. There is no separate table for parts. Instead the table points to itself. Every record has a materialEntityID, and a part carries its parent's ID in isPartOfMaterialEntityID.</a:t>
            </a:r>
          </a:p>
          <a:p>
            <a:endParaRPr/>
          </a:p>
          <a:p>
            <a:r>
              <a:t>Read the example. Record 1 is the compound specimen, an almandine schist: the physical object in the drawer. It has no parent. Record 2 is the garnet, a mineral, identified as almandine. Record 3 is the schist itself, a rock, identified as a garnet-mica schist. Both parts point back to record 1.</a:t>
            </a:r>
          </a:p>
          <a:p>
            <a:endParaRPr/>
          </a:p>
          <a:p>
            <a:r>
              <a:t>That one self-reference is all the structure the compound specimen model needs. On the next slide you will see the steps to get there from a source row that lists several minerals in one field.</a:t>
            </a:r>
          </a:p>
        </p:txBody>
      </p:sp>
      <p:sp>
        <p:nvSpPr>
          <p:cNvPr id="4" name="Slide Number Placeholder 3">
            <a:extLst>
              <a:ext uri="{FF2B5EF4-FFF2-40B4-BE49-F238E27FC236}">
                <a16:creationId xmlns:a16="http://schemas.microsoft.com/office/drawing/2014/main" id="{0985804F-3E7D-D521-2A1C-0D6F3AD34F2B}"/>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9024429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data model for Part D is the compound specimen model, aligned with the Mineralogy Extension. A physical specimen is a material entity that can contain component parts. Each part becomes its own record, linked to the parent by is_part_of. Procedure: find the fields that hold part names, define the criteria for material categories, list the changes needed to transpose the repeating columns, create the join ID, and stack the dataset.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Process: 1. analyze (profile) the dataset; 2. define the target; 3. list the changes; 4. provide helpful resources such as normative documentation, external authorities (GADM) and definitions; 5. write a stepwise plan including stages and reports, and have Claude review it; 6. generate the script; 7. run the process; 8. review the results, which must be described by a report. Step 5 is highlighted because it is where most problems are caught.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technique for Parts A and B: rules first, the model for what the rules cannot handle, and then a deterministic authority check on every result, whatever produced it. Matches go to the dictionary; everything else goes to an unresolved file for a person. Figures from profiling the workshop data: a suffix rule alone validates roughly two thirds of the German names. For the French data, only 12 name/Strunz pairs agree as written, but 1,756 agree once the leading zero is removed. That is “process the data ahead of time”. For localities, the authority names are English/ASCII, so it serves as context.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Exercise Guide. Run Part A together on screen: participants type the same prompts at the same time. Then let pairs work through B, C and D. Walk the room. If people fall behind, send them to Part D, then use the reference outputs for the rest.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it is accurate? Compare AI errors with human error; manual digitization is not error-free. Use the latest models. Build in verification: reports, metrics, and a review of unresolved values. Compare runs made with different levels of context. Ask tables to share their unresolved counts from Parts A and B.</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questions captured at the start. Which did the exercise answer, which need a different test, which should the community explore together? Take-home: a repeatable pipeline, the Standard Process as reusable prompts, mapping files and reports that record AI decisions, and unresolved lists that show where people are still needed. Invite feedback on the compound specimen model and the Mineralogy Extension.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participants. Point to the repository and the guide, and invite follow-up by email.</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Attribution slide. Lucide icons are ISC-licensed (portions from Feather, MIT); rendered via react-icons (MIT). The TDWG 2026 logo belongs to the conference. Leave this slide at the end of any shared copy of the deck.</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46.png"/><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60.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E36"/>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t"/>
          <a:lstStyle/>
          <a:p>
            <a:pPr marL="0" indent="0">
              <a:buNone/>
            </a:pPr>
            <a:r>
              <a:rPr lang="en-US" sz="1200" b="1" kern="0" spc="100" dirty="0">
                <a:solidFill>
                  <a:srgbClr val="DCC37A"/>
                </a:solidFill>
                <a:latin typeface="Calibri" pitchFamily="34" charset="0"/>
                <a:ea typeface="Calibri" pitchFamily="34" charset="-122"/>
                <a:cs typeface="Calibri" pitchFamily="34" charset="-120"/>
              </a:rPr>
              <a:t>TDWG 2026  ·  OSLO  ·  WORKSHOP WKS10</a:t>
            </a:r>
            <a:endParaRPr lang="en-US" sz="1200" dirty="0"/>
          </a:p>
        </p:txBody>
      </p:sp>
      <p:pic>
        <p:nvPicPr>
          <p:cNvPr id="3" name="Image 0" descr="/home/claude/oslo_logo.png"/>
          <p:cNvPicPr>
            <a:picLocks noChangeAspect="1"/>
          </p:cNvPicPr>
          <p:nvPr/>
        </p:nvPicPr>
        <p:blipFill>
          <a:blip r:embed="rId3"/>
          <a:stretch>
            <a:fillRect/>
          </a:stretch>
        </p:blipFill>
        <p:spPr>
          <a:xfrm>
            <a:off x="10500055" y="365760"/>
            <a:ext cx="1143000" cy="1143000"/>
          </a:xfrm>
          <a:prstGeom prst="rect">
            <a:avLst/>
          </a:prstGeom>
        </p:spPr>
      </p:pic>
      <p:sp>
        <p:nvSpPr>
          <p:cNvPr id="4" name="Text 1"/>
          <p:cNvSpPr txBox="1"/>
          <p:nvPr/>
        </p:nvSpPr>
        <p:spPr>
          <a:xfrm>
            <a:off x="548640" y="960120"/>
            <a:ext cx="9601200" cy="822960"/>
          </a:xfrm>
          <a:prstGeom prst="rect">
            <a:avLst/>
          </a:prstGeom>
          <a:noFill/>
          <a:ln/>
        </p:spPr>
        <p:txBody>
          <a:bodyPr wrap="square" lIns="0" tIns="0" rIns="0" bIns="0" rtlCol="0" anchor="ctr"/>
          <a:lstStyle/>
          <a:p>
            <a:pPr marL="0" indent="0">
              <a:buNone/>
            </a:pPr>
            <a:r>
              <a:rPr lang="en-US" sz="4400" b="1" dirty="0">
                <a:solidFill>
                  <a:srgbClr val="FFFFFF"/>
                </a:solidFill>
                <a:latin typeface="Raleway" pitchFamily="34" charset="0"/>
                <a:ea typeface="Raleway" pitchFamily="34" charset="-122"/>
                <a:cs typeface="Raleway" pitchFamily="34" charset="-120"/>
              </a:rPr>
              <a:t>Building a Repeatable AI Pipeline</a:t>
            </a:r>
            <a:endParaRPr lang="en-US" sz="4400" dirty="0"/>
          </a:p>
        </p:txBody>
      </p:sp>
      <p:sp>
        <p:nvSpPr>
          <p:cNvPr id="5" name="Text 2"/>
          <p:cNvSpPr txBox="1"/>
          <p:nvPr/>
        </p:nvSpPr>
        <p:spPr>
          <a:xfrm>
            <a:off x="548639" y="1783080"/>
            <a:ext cx="10559627" cy="685800"/>
          </a:xfrm>
          <a:prstGeom prst="rect">
            <a:avLst/>
          </a:prstGeom>
          <a:noFill/>
          <a:ln/>
        </p:spPr>
        <p:txBody>
          <a:bodyPr wrap="square" lIns="0" tIns="0" rIns="0" bIns="0" rtlCol="0" anchor="ctr"/>
          <a:lstStyle/>
          <a:p>
            <a:pPr marL="0" indent="0">
              <a:buNone/>
            </a:pPr>
            <a:r>
              <a:rPr lang="en-US" sz="3000" b="1" dirty="0">
                <a:solidFill>
                  <a:srgbClr val="9CBFD6"/>
                </a:solidFill>
                <a:latin typeface="Raleway" pitchFamily="34" charset="0"/>
                <a:ea typeface="Raleway" pitchFamily="34" charset="-122"/>
                <a:cs typeface="Raleway" pitchFamily="34" charset="-120"/>
              </a:rPr>
              <a:t>Hands-on AI data processing for geological collections</a:t>
            </a:r>
            <a:endParaRPr lang="en-US" sz="3000" dirty="0"/>
          </a:p>
        </p:txBody>
      </p:sp>
      <p:sp>
        <p:nvSpPr>
          <p:cNvPr id="6" name="Text 3"/>
          <p:cNvSpPr txBox="1"/>
          <p:nvPr/>
        </p:nvSpPr>
        <p:spPr>
          <a:xfrm>
            <a:off x="548640" y="2743200"/>
            <a:ext cx="7863840" cy="914400"/>
          </a:xfrm>
          <a:prstGeom prst="rect">
            <a:avLst/>
          </a:prstGeom>
          <a:noFill/>
          <a:ln/>
        </p:spPr>
        <p:txBody>
          <a:bodyPr wrap="square" lIns="0" tIns="0" rIns="0" bIns="0" rtlCol="0" anchor="t"/>
          <a:lstStyle/>
          <a:p>
            <a:pPr marL="0" indent="0">
              <a:lnSpc>
                <a:spcPct val="120000"/>
              </a:lnSpc>
              <a:buNone/>
            </a:pPr>
            <a:r>
              <a:rPr lang="en-US" sz="1600" dirty="0">
                <a:solidFill>
                  <a:srgbClr val="B3B8C2"/>
                </a:solidFill>
                <a:latin typeface="Calibri" pitchFamily="34" charset="0"/>
                <a:ea typeface="Calibri" pitchFamily="34" charset="-122"/>
                <a:cs typeface="Calibri" pitchFamily="34" charset="-120"/>
              </a:rPr>
              <a:t>Geological Collections with Darwin Core: Compound Specimen Model and Mineralogy Extension, Accelerated with AI. Four real collection datasets, one repository, and an AI assistant that works directly on your files.</a:t>
            </a:r>
            <a:endParaRPr lang="en-US" sz="1600" dirty="0"/>
          </a:p>
        </p:txBody>
      </p:sp>
      <p:sp>
        <p:nvSpPr>
          <p:cNvPr id="15" name="Text 12"/>
          <p:cNvSpPr txBox="1"/>
          <p:nvPr/>
        </p:nvSpPr>
        <p:spPr>
          <a:xfrm>
            <a:off x="548640" y="6080760"/>
            <a:ext cx="7315200" cy="274320"/>
          </a:xfrm>
          <a:prstGeom prst="rect">
            <a:avLst/>
          </a:prstGeom>
          <a:noFill/>
          <a:ln/>
        </p:spPr>
        <p:txBody>
          <a:bodyPr wrap="square" lIns="0" tIns="0" rIns="0" bIns="0" rtlCol="0" anchor="t"/>
          <a:lstStyle/>
          <a:p>
            <a:pPr marL="0" indent="0">
              <a:buNone/>
            </a:pPr>
            <a:r>
              <a:rPr lang="en-US" sz="1100" dirty="0">
                <a:solidFill>
                  <a:srgbClr val="8D939D"/>
                </a:solidFill>
                <a:latin typeface="Calibri" pitchFamily="34" charset="0"/>
                <a:ea typeface="Calibri" pitchFamily="34" charset="-122"/>
                <a:cs typeface="Calibri" pitchFamily="34" charset="-120"/>
              </a:rPr>
              <a:t>Ben Norton (Yale University)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marL="0" indent="0">
              <a:buNone/>
            </a:pPr>
            <a:r>
              <a:rPr lang="en-US" sz="3400" b="1" dirty="0">
                <a:solidFill>
                  <a:srgbClr val="2B2E36"/>
                </a:solidFill>
                <a:latin typeface="Raleway" pitchFamily="34" charset="0"/>
                <a:ea typeface="Raleway" pitchFamily="34" charset="-122"/>
                <a:cs typeface="Raleway" pitchFamily="34" charset="-120"/>
              </a:rPr>
              <a:t>Today’s 90 minutes</a:t>
            </a:r>
            <a:endParaRPr lang="en-US" sz="3400" dirty="0"/>
          </a:p>
        </p:txBody>
      </p:sp>
      <p:sp>
        <p:nvSpPr>
          <p:cNvPr id="3" name="Text 1"/>
          <p:cNvSpPr txBox="1"/>
          <p:nvPr/>
        </p:nvSpPr>
        <p:spPr>
          <a:xfrm>
            <a:off x="548640" y="1234440"/>
            <a:ext cx="11094415" cy="365760"/>
          </a:xfrm>
          <a:prstGeom prst="rect">
            <a:avLst/>
          </a:prstGeom>
          <a:noFill/>
          <a:ln/>
        </p:spPr>
        <p:txBody>
          <a:bodyPr wrap="square" lIns="0" tIns="0" rIns="0" bIns="0" rtlCol="0" anchor="ctr"/>
          <a:lstStyle/>
          <a:p>
            <a:pPr marL="0" indent="0">
              <a:buNone/>
            </a:pPr>
            <a:r>
              <a:rPr lang="en-US" sz="1500" dirty="0">
                <a:solidFill>
                  <a:srgbClr val="50555F"/>
                </a:solidFill>
                <a:latin typeface="Calibri" pitchFamily="34" charset="0"/>
                <a:ea typeface="Calibri" pitchFamily="34" charset="-122"/>
                <a:cs typeface="Calibri" pitchFamily="34" charset="-120"/>
              </a:rPr>
              <a:t>A short presentation, then four datasets processed hands-on with the same method.</a:t>
            </a:r>
            <a:endParaRPr lang="en-US" sz="1500" dirty="0"/>
          </a:p>
        </p:txBody>
      </p:sp>
      <p:sp>
        <p:nvSpPr>
          <p:cNvPr id="4" name="Shape 2"/>
          <p:cNvSpPr/>
          <p:nvPr/>
        </p:nvSpPr>
        <p:spPr>
          <a:xfrm>
            <a:off x="566928" y="2103120"/>
            <a:ext cx="3045206" cy="685800"/>
          </a:xfrm>
          <a:prstGeom prst="rect">
            <a:avLst/>
          </a:prstGeom>
          <a:solidFill>
            <a:srgbClr val="2E5C8F"/>
          </a:solidFill>
          <a:ln w="12700">
            <a:solidFill>
              <a:srgbClr val="2E5C8F"/>
            </a:solidFill>
            <a:prstDash val="solid"/>
          </a:ln>
        </p:spPr>
        <p:txBody>
          <a:bodyPr/>
          <a:lstStyle/>
          <a:p>
            <a:endParaRPr lang="en-US"/>
          </a:p>
        </p:txBody>
      </p:sp>
      <p:sp>
        <p:nvSpPr>
          <p:cNvPr id="5" name="Text 3"/>
          <p:cNvSpPr txBox="1"/>
          <p:nvPr/>
        </p:nvSpPr>
        <p:spPr>
          <a:xfrm>
            <a:off x="566928" y="2103120"/>
            <a:ext cx="3045206"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Presentation</a:t>
            </a:r>
            <a:endParaRPr lang="en-US" sz="1300" dirty="0"/>
          </a:p>
        </p:txBody>
      </p:sp>
      <p:sp>
        <p:nvSpPr>
          <p:cNvPr id="6" name="Text 4"/>
          <p:cNvSpPr txBox="1"/>
          <p:nvPr/>
        </p:nvSpPr>
        <p:spPr>
          <a:xfrm>
            <a:off x="548640" y="2852928"/>
            <a:ext cx="3081782" cy="274320"/>
          </a:xfrm>
          <a:prstGeom prst="rect">
            <a:avLst/>
          </a:prstGeom>
          <a:noFill/>
          <a:ln/>
        </p:spPr>
        <p:txBody>
          <a:bodyPr wrap="square" lIns="0" tIns="0" rIns="0" bIns="0" rtlCol="0" anchor="t"/>
          <a:lstStyle/>
          <a:p>
            <a:pPr marL="0" indent="0" algn="ctr">
              <a:buNone/>
            </a:pPr>
            <a:r>
              <a:rPr lang="en-US" sz="1100" dirty="0">
                <a:solidFill>
                  <a:srgbClr val="8D939D"/>
                </a:solidFill>
                <a:latin typeface="Calibri" pitchFamily="34" charset="0"/>
                <a:ea typeface="Calibri" pitchFamily="34" charset="-122"/>
                <a:cs typeface="Calibri" pitchFamily="34" charset="-120"/>
              </a:rPr>
              <a:t>25 min</a:t>
            </a:r>
            <a:endParaRPr lang="en-US" sz="1100" dirty="0"/>
          </a:p>
        </p:txBody>
      </p:sp>
      <p:sp>
        <p:nvSpPr>
          <p:cNvPr id="7" name="Shape 5"/>
          <p:cNvSpPr/>
          <p:nvPr/>
        </p:nvSpPr>
        <p:spPr>
          <a:xfrm>
            <a:off x="3648710" y="2103120"/>
            <a:ext cx="579780" cy="685800"/>
          </a:xfrm>
          <a:prstGeom prst="rect">
            <a:avLst/>
          </a:prstGeom>
          <a:solidFill>
            <a:srgbClr val="8D939D"/>
          </a:solidFill>
          <a:ln w="12700">
            <a:solidFill>
              <a:srgbClr val="8D939D"/>
            </a:solidFill>
            <a:prstDash val="solid"/>
          </a:ln>
        </p:spPr>
        <p:txBody>
          <a:bodyPr/>
          <a:lstStyle/>
          <a:p>
            <a:endParaRPr lang="en-US"/>
          </a:p>
        </p:txBody>
      </p:sp>
      <p:sp>
        <p:nvSpPr>
          <p:cNvPr id="8" name="Text 6"/>
          <p:cNvSpPr txBox="1"/>
          <p:nvPr/>
        </p:nvSpPr>
        <p:spPr>
          <a:xfrm>
            <a:off x="3648710" y="2103120"/>
            <a:ext cx="57978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Setup</a:t>
            </a:r>
            <a:endParaRPr lang="en-US" sz="1300" dirty="0"/>
          </a:p>
        </p:txBody>
      </p:sp>
      <p:sp>
        <p:nvSpPr>
          <p:cNvPr id="9" name="Text 7"/>
          <p:cNvSpPr txBox="1"/>
          <p:nvPr/>
        </p:nvSpPr>
        <p:spPr>
          <a:xfrm>
            <a:off x="3630422" y="2852928"/>
            <a:ext cx="616356" cy="274320"/>
          </a:xfrm>
          <a:prstGeom prst="rect">
            <a:avLst/>
          </a:prstGeom>
          <a:noFill/>
          <a:ln/>
        </p:spPr>
        <p:txBody>
          <a:bodyPr wrap="square" lIns="0" tIns="0" rIns="0" bIns="0" rtlCol="0" anchor="t"/>
          <a:lstStyle/>
          <a:p>
            <a:pPr marL="0" indent="0" algn="ctr">
              <a:buNone/>
            </a:pPr>
            <a:r>
              <a:rPr lang="en-US" sz="1100" dirty="0">
                <a:solidFill>
                  <a:srgbClr val="8D939D"/>
                </a:solidFill>
                <a:latin typeface="Calibri" pitchFamily="34" charset="0"/>
                <a:ea typeface="Calibri" pitchFamily="34" charset="-122"/>
                <a:cs typeface="Calibri" pitchFamily="34" charset="-120"/>
              </a:rPr>
              <a:t>5 min</a:t>
            </a:r>
            <a:endParaRPr lang="en-US" sz="1100" dirty="0"/>
          </a:p>
        </p:txBody>
      </p:sp>
      <p:sp>
        <p:nvSpPr>
          <p:cNvPr id="10" name="Shape 8"/>
          <p:cNvSpPr/>
          <p:nvPr/>
        </p:nvSpPr>
        <p:spPr>
          <a:xfrm>
            <a:off x="4265066" y="2103120"/>
            <a:ext cx="1812493" cy="685800"/>
          </a:xfrm>
          <a:prstGeom prst="rect">
            <a:avLst/>
          </a:prstGeom>
          <a:solidFill>
            <a:srgbClr val="5F8FAF"/>
          </a:solidFill>
          <a:ln w="12700">
            <a:solidFill>
              <a:srgbClr val="5F8FAF"/>
            </a:solidFill>
            <a:prstDash val="solid"/>
          </a:ln>
        </p:spPr>
        <p:txBody>
          <a:bodyPr/>
          <a:lstStyle/>
          <a:p>
            <a:endParaRPr lang="en-US"/>
          </a:p>
        </p:txBody>
      </p:sp>
      <p:sp>
        <p:nvSpPr>
          <p:cNvPr id="11" name="Text 9"/>
          <p:cNvSpPr txBox="1"/>
          <p:nvPr/>
        </p:nvSpPr>
        <p:spPr>
          <a:xfrm>
            <a:off x="4265066" y="2103120"/>
            <a:ext cx="1812493"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Part A</a:t>
            </a:r>
            <a:endParaRPr lang="en-US" sz="1300" dirty="0"/>
          </a:p>
        </p:txBody>
      </p:sp>
      <p:sp>
        <p:nvSpPr>
          <p:cNvPr id="12" name="Text 10"/>
          <p:cNvSpPr txBox="1"/>
          <p:nvPr/>
        </p:nvSpPr>
        <p:spPr>
          <a:xfrm>
            <a:off x="4246778" y="2852928"/>
            <a:ext cx="1849069" cy="274320"/>
          </a:xfrm>
          <a:prstGeom prst="rect">
            <a:avLst/>
          </a:prstGeom>
          <a:noFill/>
          <a:ln/>
        </p:spPr>
        <p:txBody>
          <a:bodyPr wrap="square" lIns="0" tIns="0" rIns="0" bIns="0" rtlCol="0" anchor="t"/>
          <a:lstStyle/>
          <a:p>
            <a:pPr marL="0" indent="0" algn="ctr">
              <a:buNone/>
            </a:pPr>
            <a:r>
              <a:rPr lang="en-US" sz="1100" dirty="0">
                <a:solidFill>
                  <a:srgbClr val="8D939D"/>
                </a:solidFill>
                <a:latin typeface="Calibri" pitchFamily="34" charset="0"/>
                <a:ea typeface="Calibri" pitchFamily="34" charset="-122"/>
                <a:cs typeface="Calibri" pitchFamily="34" charset="-120"/>
              </a:rPr>
              <a:t>15 min</a:t>
            </a:r>
            <a:endParaRPr lang="en-US" sz="1100" dirty="0"/>
          </a:p>
        </p:txBody>
      </p:sp>
      <p:sp>
        <p:nvSpPr>
          <p:cNvPr id="13" name="Shape 11"/>
          <p:cNvSpPr/>
          <p:nvPr/>
        </p:nvSpPr>
        <p:spPr>
          <a:xfrm>
            <a:off x="6114136" y="2103120"/>
            <a:ext cx="1442679" cy="685800"/>
          </a:xfrm>
          <a:prstGeom prst="rect">
            <a:avLst/>
          </a:prstGeom>
          <a:solidFill>
            <a:srgbClr val="5F8FAF"/>
          </a:solidFill>
          <a:ln w="12700">
            <a:solidFill>
              <a:srgbClr val="5F8FAF"/>
            </a:solidFill>
            <a:prstDash val="solid"/>
          </a:ln>
        </p:spPr>
        <p:txBody>
          <a:bodyPr/>
          <a:lstStyle/>
          <a:p>
            <a:endParaRPr lang="en-US"/>
          </a:p>
        </p:txBody>
      </p:sp>
      <p:sp>
        <p:nvSpPr>
          <p:cNvPr id="14" name="Text 12"/>
          <p:cNvSpPr txBox="1"/>
          <p:nvPr/>
        </p:nvSpPr>
        <p:spPr>
          <a:xfrm>
            <a:off x="6114136" y="2103120"/>
            <a:ext cx="1442679"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Part B</a:t>
            </a:r>
            <a:endParaRPr lang="en-US" sz="1300" dirty="0"/>
          </a:p>
        </p:txBody>
      </p:sp>
      <p:sp>
        <p:nvSpPr>
          <p:cNvPr id="15" name="Text 13"/>
          <p:cNvSpPr txBox="1"/>
          <p:nvPr/>
        </p:nvSpPr>
        <p:spPr>
          <a:xfrm>
            <a:off x="6095848" y="2852928"/>
            <a:ext cx="1479255" cy="274320"/>
          </a:xfrm>
          <a:prstGeom prst="rect">
            <a:avLst/>
          </a:prstGeom>
          <a:noFill/>
          <a:ln/>
        </p:spPr>
        <p:txBody>
          <a:bodyPr wrap="square" lIns="0" tIns="0" rIns="0" bIns="0" rtlCol="0" anchor="t"/>
          <a:lstStyle/>
          <a:p>
            <a:pPr marL="0" indent="0" algn="ctr">
              <a:buNone/>
            </a:pPr>
            <a:r>
              <a:rPr lang="en-US" sz="1100" dirty="0">
                <a:solidFill>
                  <a:srgbClr val="8D939D"/>
                </a:solidFill>
                <a:latin typeface="Calibri" pitchFamily="34" charset="0"/>
                <a:ea typeface="Calibri" pitchFamily="34" charset="-122"/>
                <a:cs typeface="Calibri" pitchFamily="34" charset="-120"/>
              </a:rPr>
              <a:t>12 min</a:t>
            </a:r>
            <a:endParaRPr lang="en-US" sz="1100" dirty="0"/>
          </a:p>
        </p:txBody>
      </p:sp>
      <p:sp>
        <p:nvSpPr>
          <p:cNvPr id="16" name="Shape 14"/>
          <p:cNvSpPr/>
          <p:nvPr/>
        </p:nvSpPr>
        <p:spPr>
          <a:xfrm>
            <a:off x="7593391" y="2103120"/>
            <a:ext cx="1565951" cy="685800"/>
          </a:xfrm>
          <a:prstGeom prst="rect">
            <a:avLst/>
          </a:prstGeom>
          <a:solidFill>
            <a:srgbClr val="5F8FAF"/>
          </a:solidFill>
          <a:ln w="12700">
            <a:solidFill>
              <a:srgbClr val="5F8FAF"/>
            </a:solidFill>
            <a:prstDash val="solid"/>
          </a:ln>
        </p:spPr>
        <p:txBody>
          <a:bodyPr/>
          <a:lstStyle/>
          <a:p>
            <a:endParaRPr lang="en-US"/>
          </a:p>
        </p:txBody>
      </p:sp>
      <p:sp>
        <p:nvSpPr>
          <p:cNvPr id="17" name="Text 15"/>
          <p:cNvSpPr txBox="1"/>
          <p:nvPr/>
        </p:nvSpPr>
        <p:spPr>
          <a:xfrm>
            <a:off x="7593391" y="2103120"/>
            <a:ext cx="1565951"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Part C</a:t>
            </a:r>
            <a:endParaRPr lang="en-US" sz="1300" dirty="0"/>
          </a:p>
        </p:txBody>
      </p:sp>
      <p:sp>
        <p:nvSpPr>
          <p:cNvPr id="18" name="Text 16"/>
          <p:cNvSpPr txBox="1"/>
          <p:nvPr/>
        </p:nvSpPr>
        <p:spPr>
          <a:xfrm>
            <a:off x="7575103" y="2852928"/>
            <a:ext cx="1602527" cy="274320"/>
          </a:xfrm>
          <a:prstGeom prst="rect">
            <a:avLst/>
          </a:prstGeom>
          <a:noFill/>
          <a:ln/>
        </p:spPr>
        <p:txBody>
          <a:bodyPr wrap="square" lIns="0" tIns="0" rIns="0" bIns="0" rtlCol="0" anchor="t"/>
          <a:lstStyle/>
          <a:p>
            <a:pPr marL="0" indent="0" algn="ctr">
              <a:buNone/>
            </a:pPr>
            <a:r>
              <a:rPr lang="en-US" sz="1100" dirty="0">
                <a:solidFill>
                  <a:srgbClr val="8D939D"/>
                </a:solidFill>
                <a:latin typeface="Calibri" pitchFamily="34" charset="0"/>
                <a:ea typeface="Calibri" pitchFamily="34" charset="-122"/>
                <a:cs typeface="Calibri" pitchFamily="34" charset="-120"/>
              </a:rPr>
              <a:t>13 min</a:t>
            </a:r>
            <a:endParaRPr lang="en-US" sz="1100" dirty="0"/>
          </a:p>
        </p:txBody>
      </p:sp>
      <p:sp>
        <p:nvSpPr>
          <p:cNvPr id="19" name="Shape 17"/>
          <p:cNvSpPr/>
          <p:nvPr/>
        </p:nvSpPr>
        <p:spPr>
          <a:xfrm>
            <a:off x="9195918" y="2103120"/>
            <a:ext cx="1196137" cy="685800"/>
          </a:xfrm>
          <a:prstGeom prst="rect">
            <a:avLst/>
          </a:prstGeom>
          <a:solidFill>
            <a:srgbClr val="5F8FAF"/>
          </a:solidFill>
          <a:ln w="12700">
            <a:solidFill>
              <a:srgbClr val="5F8FAF"/>
            </a:solidFill>
            <a:prstDash val="solid"/>
          </a:ln>
        </p:spPr>
        <p:txBody>
          <a:bodyPr/>
          <a:lstStyle/>
          <a:p>
            <a:endParaRPr lang="en-US"/>
          </a:p>
        </p:txBody>
      </p:sp>
      <p:sp>
        <p:nvSpPr>
          <p:cNvPr id="20" name="Text 18"/>
          <p:cNvSpPr txBox="1"/>
          <p:nvPr/>
        </p:nvSpPr>
        <p:spPr>
          <a:xfrm>
            <a:off x="9195918" y="2103120"/>
            <a:ext cx="1196137"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Part D</a:t>
            </a:r>
            <a:endParaRPr lang="en-US" sz="1300" dirty="0"/>
          </a:p>
        </p:txBody>
      </p:sp>
      <p:sp>
        <p:nvSpPr>
          <p:cNvPr id="21" name="Text 19"/>
          <p:cNvSpPr txBox="1"/>
          <p:nvPr/>
        </p:nvSpPr>
        <p:spPr>
          <a:xfrm>
            <a:off x="9177630" y="2852928"/>
            <a:ext cx="1232713" cy="274320"/>
          </a:xfrm>
          <a:prstGeom prst="rect">
            <a:avLst/>
          </a:prstGeom>
          <a:noFill/>
          <a:ln/>
        </p:spPr>
        <p:txBody>
          <a:bodyPr wrap="square" lIns="0" tIns="0" rIns="0" bIns="0" rtlCol="0" anchor="t"/>
          <a:lstStyle/>
          <a:p>
            <a:pPr marL="0" indent="0" algn="ctr">
              <a:buNone/>
            </a:pPr>
            <a:r>
              <a:rPr lang="en-US" sz="1100" dirty="0">
                <a:solidFill>
                  <a:srgbClr val="8D939D"/>
                </a:solidFill>
                <a:latin typeface="Calibri" pitchFamily="34" charset="0"/>
                <a:ea typeface="Calibri" pitchFamily="34" charset="-122"/>
                <a:cs typeface="Calibri" pitchFamily="34" charset="-120"/>
              </a:rPr>
              <a:t>10 min</a:t>
            </a:r>
            <a:endParaRPr lang="en-US" sz="1100" dirty="0"/>
          </a:p>
        </p:txBody>
      </p:sp>
      <p:sp>
        <p:nvSpPr>
          <p:cNvPr id="22" name="Shape 20"/>
          <p:cNvSpPr/>
          <p:nvPr/>
        </p:nvSpPr>
        <p:spPr>
          <a:xfrm>
            <a:off x="10428630" y="2103120"/>
            <a:ext cx="1196137" cy="685800"/>
          </a:xfrm>
          <a:prstGeom prst="rect">
            <a:avLst/>
          </a:prstGeom>
          <a:solidFill>
            <a:srgbClr val="A98B3C"/>
          </a:solidFill>
          <a:ln w="12700">
            <a:solidFill>
              <a:srgbClr val="A98B3C"/>
            </a:solidFill>
            <a:prstDash val="solid"/>
          </a:ln>
        </p:spPr>
        <p:txBody>
          <a:bodyPr/>
          <a:lstStyle/>
          <a:p>
            <a:endParaRPr lang="en-US"/>
          </a:p>
        </p:txBody>
      </p:sp>
      <p:sp>
        <p:nvSpPr>
          <p:cNvPr id="23" name="Text 21"/>
          <p:cNvSpPr txBox="1"/>
          <p:nvPr/>
        </p:nvSpPr>
        <p:spPr>
          <a:xfrm>
            <a:off x="10428630" y="2103120"/>
            <a:ext cx="1196137"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Review</a:t>
            </a:r>
            <a:endParaRPr lang="en-US" sz="1300" dirty="0"/>
          </a:p>
        </p:txBody>
      </p:sp>
      <p:sp>
        <p:nvSpPr>
          <p:cNvPr id="24" name="Text 22"/>
          <p:cNvSpPr txBox="1"/>
          <p:nvPr/>
        </p:nvSpPr>
        <p:spPr>
          <a:xfrm>
            <a:off x="10410342" y="2852928"/>
            <a:ext cx="1232713" cy="274320"/>
          </a:xfrm>
          <a:prstGeom prst="rect">
            <a:avLst/>
          </a:prstGeom>
          <a:noFill/>
          <a:ln/>
        </p:spPr>
        <p:txBody>
          <a:bodyPr wrap="square" lIns="0" tIns="0" rIns="0" bIns="0" rtlCol="0" anchor="t"/>
          <a:lstStyle/>
          <a:p>
            <a:pPr marL="0" indent="0" algn="ctr">
              <a:buNone/>
            </a:pPr>
            <a:r>
              <a:rPr lang="en-US" sz="1100" dirty="0">
                <a:solidFill>
                  <a:srgbClr val="8D939D"/>
                </a:solidFill>
                <a:latin typeface="Calibri" pitchFamily="34" charset="0"/>
                <a:ea typeface="Calibri" pitchFamily="34" charset="-122"/>
                <a:cs typeface="Calibri" pitchFamily="34" charset="-120"/>
              </a:rPr>
              <a:t>10 min</a:t>
            </a:r>
            <a:endParaRPr lang="en-US" sz="1100" dirty="0"/>
          </a:p>
        </p:txBody>
      </p:sp>
      <p:sp>
        <p:nvSpPr>
          <p:cNvPr id="25" name="Shape 23"/>
          <p:cNvSpPr/>
          <p:nvPr/>
        </p:nvSpPr>
        <p:spPr>
          <a:xfrm>
            <a:off x="548640" y="3566160"/>
            <a:ext cx="2651760" cy="2331720"/>
          </a:xfrm>
          <a:prstGeom prst="roundRect">
            <a:avLst>
              <a:gd name="adj" fmla="val 3137"/>
            </a:avLst>
          </a:prstGeom>
          <a:solidFill>
            <a:srgbClr val="EEF3F7"/>
          </a:solidFill>
          <a:ln w="12700">
            <a:solidFill>
              <a:srgbClr val="EEF3F7"/>
            </a:solidFill>
            <a:prstDash val="solid"/>
          </a:ln>
        </p:spPr>
        <p:txBody>
          <a:bodyPr/>
          <a:lstStyle/>
          <a:p>
            <a:endParaRPr lang="en-US"/>
          </a:p>
        </p:txBody>
      </p:sp>
      <p:sp>
        <p:nvSpPr>
          <p:cNvPr id="26" name="Shape 24"/>
          <p:cNvSpPr/>
          <p:nvPr/>
        </p:nvSpPr>
        <p:spPr>
          <a:xfrm>
            <a:off x="822960" y="3794760"/>
            <a:ext cx="566928" cy="566928"/>
          </a:xfrm>
          <a:prstGeom prst="ellipse">
            <a:avLst/>
          </a:prstGeom>
          <a:solidFill>
            <a:srgbClr val="5F8FAF"/>
          </a:solidFill>
          <a:ln w="12700">
            <a:solidFill>
              <a:srgbClr val="5F8FAF"/>
            </a:solidFill>
            <a:prstDash val="solid"/>
          </a:ln>
        </p:spPr>
        <p:txBody>
          <a:bodyPr/>
          <a:lstStyle/>
          <a:p>
            <a:endParaRPr lang="en-US"/>
          </a:p>
        </p:txBody>
      </p:sp>
      <p:pic>
        <p:nvPicPr>
          <p:cNvPr id="27" name="Image 0" descr="preencoded.png"/>
          <p:cNvPicPr>
            <a:picLocks noChangeAspect="1"/>
          </p:cNvPicPr>
          <p:nvPr/>
        </p:nvPicPr>
        <p:blipFill>
          <a:blip r:embed="rId3"/>
          <a:stretch>
            <a:fillRect/>
          </a:stretch>
        </p:blipFill>
        <p:spPr>
          <a:xfrm>
            <a:off x="964692" y="3936492"/>
            <a:ext cx="283464" cy="283464"/>
          </a:xfrm>
          <a:prstGeom prst="rect">
            <a:avLst/>
          </a:prstGeom>
        </p:spPr>
      </p:pic>
      <p:sp>
        <p:nvSpPr>
          <p:cNvPr id="28" name="Text 25"/>
          <p:cNvSpPr txBox="1"/>
          <p:nvPr/>
        </p:nvSpPr>
        <p:spPr>
          <a:xfrm>
            <a:off x="822960" y="4526280"/>
            <a:ext cx="2194560" cy="274320"/>
          </a:xfrm>
          <a:prstGeom prst="rect">
            <a:avLst/>
          </a:prstGeom>
          <a:noFill/>
          <a:ln/>
        </p:spPr>
        <p:txBody>
          <a:bodyPr wrap="square" lIns="0" tIns="0" rIns="0" bIns="0" rtlCol="0" anchor="t"/>
          <a:lstStyle/>
          <a:p>
            <a:pPr marL="0" indent="0">
              <a:buNone/>
            </a:pPr>
            <a:r>
              <a:rPr lang="en-US" sz="1100" b="1" kern="0" spc="100" dirty="0">
                <a:solidFill>
                  <a:srgbClr val="A98B3C"/>
                </a:solidFill>
                <a:latin typeface="Calibri" pitchFamily="34" charset="0"/>
                <a:ea typeface="Calibri" pitchFamily="34" charset="-122"/>
                <a:cs typeface="Calibri" pitchFamily="34" charset="-120"/>
              </a:rPr>
              <a:t>PART A</a:t>
            </a:r>
            <a:endParaRPr lang="en-US" sz="1100" dirty="0"/>
          </a:p>
        </p:txBody>
      </p:sp>
      <p:sp>
        <p:nvSpPr>
          <p:cNvPr id="29" name="Text 26"/>
          <p:cNvSpPr txBox="1"/>
          <p:nvPr/>
        </p:nvSpPr>
        <p:spPr>
          <a:xfrm>
            <a:off x="822960" y="4800600"/>
            <a:ext cx="2194560" cy="320040"/>
          </a:xfrm>
          <a:prstGeom prst="rect">
            <a:avLst/>
          </a:prstGeom>
          <a:noFill/>
          <a:ln/>
        </p:spPr>
        <p:txBody>
          <a:bodyPr wrap="square" lIns="0" tIns="0" rIns="0" bIns="0" rtlCol="0" anchor="t"/>
          <a:lstStyle/>
          <a:p>
            <a:pPr marL="0" indent="0">
              <a:buNone/>
            </a:pPr>
            <a:r>
              <a:rPr lang="en-US" sz="1600" b="1" dirty="0">
                <a:solidFill>
                  <a:srgbClr val="2B2E36"/>
                </a:solidFill>
                <a:latin typeface="Calibri" pitchFamily="34" charset="0"/>
                <a:ea typeface="Calibri" pitchFamily="34" charset="-122"/>
                <a:cs typeface="Calibri" pitchFamily="34" charset="-120"/>
              </a:rPr>
              <a:t>German mineral names</a:t>
            </a:r>
            <a:endParaRPr lang="en-US" sz="1600" dirty="0"/>
          </a:p>
        </p:txBody>
      </p:sp>
      <p:sp>
        <p:nvSpPr>
          <p:cNvPr id="30" name="Text 27"/>
          <p:cNvSpPr txBox="1"/>
          <p:nvPr/>
        </p:nvSpPr>
        <p:spPr>
          <a:xfrm>
            <a:off x="822960" y="5166360"/>
            <a:ext cx="2194560" cy="64008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Translate and validate against the mineral authority</a:t>
            </a:r>
            <a:endParaRPr lang="en-US" sz="1250" dirty="0"/>
          </a:p>
        </p:txBody>
      </p:sp>
      <p:sp>
        <p:nvSpPr>
          <p:cNvPr id="31" name="Shape 28"/>
          <p:cNvSpPr/>
          <p:nvPr/>
        </p:nvSpPr>
        <p:spPr>
          <a:xfrm>
            <a:off x="3364992" y="3566160"/>
            <a:ext cx="2651760" cy="2331720"/>
          </a:xfrm>
          <a:prstGeom prst="roundRect">
            <a:avLst>
              <a:gd name="adj" fmla="val 3137"/>
            </a:avLst>
          </a:prstGeom>
          <a:solidFill>
            <a:srgbClr val="EEF3F7"/>
          </a:solidFill>
          <a:ln w="12700">
            <a:solidFill>
              <a:srgbClr val="EEF3F7"/>
            </a:solidFill>
            <a:prstDash val="solid"/>
          </a:ln>
        </p:spPr>
        <p:txBody>
          <a:bodyPr/>
          <a:lstStyle/>
          <a:p>
            <a:endParaRPr lang="en-US"/>
          </a:p>
        </p:txBody>
      </p:sp>
      <p:sp>
        <p:nvSpPr>
          <p:cNvPr id="32" name="Shape 29"/>
          <p:cNvSpPr/>
          <p:nvPr/>
        </p:nvSpPr>
        <p:spPr>
          <a:xfrm>
            <a:off x="3639312" y="3794760"/>
            <a:ext cx="566928" cy="566928"/>
          </a:xfrm>
          <a:prstGeom prst="ellipse">
            <a:avLst/>
          </a:prstGeom>
          <a:solidFill>
            <a:srgbClr val="A98B3C"/>
          </a:solidFill>
          <a:ln w="12700">
            <a:solidFill>
              <a:srgbClr val="A98B3C"/>
            </a:solidFill>
            <a:prstDash val="solid"/>
          </a:ln>
        </p:spPr>
        <p:txBody>
          <a:bodyPr/>
          <a:lstStyle/>
          <a:p>
            <a:endParaRPr lang="en-US"/>
          </a:p>
        </p:txBody>
      </p:sp>
      <p:pic>
        <p:nvPicPr>
          <p:cNvPr id="33" name="Image 1" descr="preencoded.png"/>
          <p:cNvPicPr>
            <a:picLocks noChangeAspect="1"/>
          </p:cNvPicPr>
          <p:nvPr/>
        </p:nvPicPr>
        <p:blipFill>
          <a:blip r:embed="rId4"/>
          <a:stretch>
            <a:fillRect/>
          </a:stretch>
        </p:blipFill>
        <p:spPr>
          <a:xfrm>
            <a:off x="3781044" y="3936492"/>
            <a:ext cx="283464" cy="283464"/>
          </a:xfrm>
          <a:prstGeom prst="rect">
            <a:avLst/>
          </a:prstGeom>
        </p:spPr>
      </p:pic>
      <p:sp>
        <p:nvSpPr>
          <p:cNvPr id="34" name="Text 30"/>
          <p:cNvSpPr txBox="1"/>
          <p:nvPr/>
        </p:nvSpPr>
        <p:spPr>
          <a:xfrm>
            <a:off x="3639312" y="4526280"/>
            <a:ext cx="2194560" cy="274320"/>
          </a:xfrm>
          <a:prstGeom prst="rect">
            <a:avLst/>
          </a:prstGeom>
          <a:noFill/>
          <a:ln/>
        </p:spPr>
        <p:txBody>
          <a:bodyPr wrap="square" lIns="0" tIns="0" rIns="0" bIns="0" rtlCol="0" anchor="t"/>
          <a:lstStyle/>
          <a:p>
            <a:pPr marL="0" indent="0">
              <a:buNone/>
            </a:pPr>
            <a:r>
              <a:rPr lang="en-US" sz="1100" b="1" kern="0" spc="100" dirty="0">
                <a:solidFill>
                  <a:srgbClr val="A98B3C"/>
                </a:solidFill>
                <a:latin typeface="Calibri" pitchFamily="34" charset="0"/>
                <a:ea typeface="Calibri" pitchFamily="34" charset="-122"/>
                <a:cs typeface="Calibri" pitchFamily="34" charset="-120"/>
              </a:rPr>
              <a:t>PART B</a:t>
            </a:r>
            <a:endParaRPr lang="en-US" sz="1100" dirty="0"/>
          </a:p>
        </p:txBody>
      </p:sp>
      <p:sp>
        <p:nvSpPr>
          <p:cNvPr id="35" name="Text 31"/>
          <p:cNvSpPr txBox="1"/>
          <p:nvPr/>
        </p:nvSpPr>
        <p:spPr>
          <a:xfrm>
            <a:off x="3639312" y="4800600"/>
            <a:ext cx="2194560" cy="320040"/>
          </a:xfrm>
          <a:prstGeom prst="rect">
            <a:avLst/>
          </a:prstGeom>
          <a:noFill/>
          <a:ln/>
        </p:spPr>
        <p:txBody>
          <a:bodyPr wrap="square" lIns="0" tIns="0" rIns="0" bIns="0" rtlCol="0" anchor="t"/>
          <a:lstStyle/>
          <a:p>
            <a:pPr marL="0" indent="0">
              <a:buNone/>
            </a:pPr>
            <a:r>
              <a:rPr lang="en-US" sz="1600" b="1" dirty="0">
                <a:solidFill>
                  <a:srgbClr val="2B2E36"/>
                </a:solidFill>
                <a:latin typeface="Calibri" pitchFamily="34" charset="0"/>
                <a:ea typeface="Calibri" pitchFamily="34" charset="-122"/>
                <a:cs typeface="Calibri" pitchFamily="34" charset="-120"/>
              </a:rPr>
              <a:t>French mineral names</a:t>
            </a:r>
            <a:endParaRPr lang="en-US" sz="1600" dirty="0"/>
          </a:p>
        </p:txBody>
      </p:sp>
      <p:sp>
        <p:nvSpPr>
          <p:cNvPr id="36" name="Text 32"/>
          <p:cNvSpPr txBox="1"/>
          <p:nvPr/>
        </p:nvSpPr>
        <p:spPr>
          <a:xfrm>
            <a:off x="3639312" y="5166360"/>
            <a:ext cx="2194560" cy="64008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Translate, validate, and check Strunz numbers</a:t>
            </a:r>
            <a:endParaRPr lang="en-US" sz="1250" dirty="0"/>
          </a:p>
        </p:txBody>
      </p:sp>
      <p:sp>
        <p:nvSpPr>
          <p:cNvPr id="37" name="Shape 33"/>
          <p:cNvSpPr/>
          <p:nvPr/>
        </p:nvSpPr>
        <p:spPr>
          <a:xfrm>
            <a:off x="6181344" y="3566160"/>
            <a:ext cx="2651760" cy="2331720"/>
          </a:xfrm>
          <a:prstGeom prst="roundRect">
            <a:avLst>
              <a:gd name="adj" fmla="val 3137"/>
            </a:avLst>
          </a:prstGeom>
          <a:solidFill>
            <a:srgbClr val="EEF3F7"/>
          </a:solidFill>
          <a:ln w="12700">
            <a:solidFill>
              <a:srgbClr val="EEF3F7"/>
            </a:solidFill>
            <a:prstDash val="solid"/>
          </a:ln>
        </p:spPr>
        <p:txBody>
          <a:bodyPr/>
          <a:lstStyle/>
          <a:p>
            <a:endParaRPr lang="en-US"/>
          </a:p>
        </p:txBody>
      </p:sp>
      <p:sp>
        <p:nvSpPr>
          <p:cNvPr id="38" name="Shape 34"/>
          <p:cNvSpPr/>
          <p:nvPr/>
        </p:nvSpPr>
        <p:spPr>
          <a:xfrm>
            <a:off x="6455664" y="3794760"/>
            <a:ext cx="566928" cy="566928"/>
          </a:xfrm>
          <a:prstGeom prst="ellipse">
            <a:avLst/>
          </a:prstGeom>
          <a:solidFill>
            <a:srgbClr val="5F8FAF"/>
          </a:solidFill>
          <a:ln w="12700">
            <a:solidFill>
              <a:srgbClr val="5F8FAF"/>
            </a:solidFill>
            <a:prstDash val="solid"/>
          </a:ln>
        </p:spPr>
        <p:txBody>
          <a:bodyPr/>
          <a:lstStyle/>
          <a:p>
            <a:endParaRPr lang="en-US"/>
          </a:p>
        </p:txBody>
      </p:sp>
      <p:pic>
        <p:nvPicPr>
          <p:cNvPr id="39" name="Image 2" descr="preencoded.png"/>
          <p:cNvPicPr>
            <a:picLocks noChangeAspect="1"/>
          </p:cNvPicPr>
          <p:nvPr/>
        </p:nvPicPr>
        <p:blipFill>
          <a:blip r:embed="rId5"/>
          <a:stretch>
            <a:fillRect/>
          </a:stretch>
        </p:blipFill>
        <p:spPr>
          <a:xfrm>
            <a:off x="6597396" y="3936492"/>
            <a:ext cx="283464" cy="283464"/>
          </a:xfrm>
          <a:prstGeom prst="rect">
            <a:avLst/>
          </a:prstGeom>
        </p:spPr>
      </p:pic>
      <p:sp>
        <p:nvSpPr>
          <p:cNvPr id="40" name="Text 35"/>
          <p:cNvSpPr txBox="1"/>
          <p:nvPr/>
        </p:nvSpPr>
        <p:spPr>
          <a:xfrm>
            <a:off x="6455664" y="4526280"/>
            <a:ext cx="2194560" cy="274320"/>
          </a:xfrm>
          <a:prstGeom prst="rect">
            <a:avLst/>
          </a:prstGeom>
          <a:noFill/>
          <a:ln/>
        </p:spPr>
        <p:txBody>
          <a:bodyPr wrap="square" lIns="0" tIns="0" rIns="0" bIns="0" rtlCol="0" anchor="t"/>
          <a:lstStyle/>
          <a:p>
            <a:pPr marL="0" indent="0">
              <a:buNone/>
            </a:pPr>
            <a:r>
              <a:rPr lang="en-US" sz="1100" b="1" kern="0" spc="100" dirty="0">
                <a:solidFill>
                  <a:srgbClr val="A98B3C"/>
                </a:solidFill>
                <a:latin typeface="Calibri" pitchFamily="34" charset="0"/>
                <a:ea typeface="Calibri" pitchFamily="34" charset="-122"/>
                <a:cs typeface="Calibri" pitchFamily="34" charset="-120"/>
              </a:rPr>
              <a:t>PART C</a:t>
            </a:r>
            <a:endParaRPr lang="en-US" sz="1100" dirty="0"/>
          </a:p>
        </p:txBody>
      </p:sp>
      <p:sp>
        <p:nvSpPr>
          <p:cNvPr id="41" name="Text 36"/>
          <p:cNvSpPr txBox="1"/>
          <p:nvPr/>
        </p:nvSpPr>
        <p:spPr>
          <a:xfrm>
            <a:off x="6455664" y="4800600"/>
            <a:ext cx="2194560" cy="320040"/>
          </a:xfrm>
          <a:prstGeom prst="rect">
            <a:avLst/>
          </a:prstGeom>
          <a:noFill/>
          <a:ln/>
        </p:spPr>
        <p:txBody>
          <a:bodyPr wrap="square" lIns="0" tIns="0" rIns="0" bIns="0" rtlCol="0" anchor="t"/>
          <a:lstStyle/>
          <a:p>
            <a:pPr marL="0" indent="0">
              <a:buNone/>
            </a:pPr>
            <a:r>
              <a:rPr lang="en-US" sz="1600" b="1" dirty="0">
                <a:solidFill>
                  <a:srgbClr val="2B2E36"/>
                </a:solidFill>
                <a:latin typeface="Calibri" pitchFamily="34" charset="0"/>
                <a:ea typeface="Calibri" pitchFamily="34" charset="-122"/>
                <a:cs typeface="Calibri" pitchFamily="34" charset="-120"/>
              </a:rPr>
              <a:t>German localities</a:t>
            </a:r>
            <a:endParaRPr lang="en-US" sz="1600" dirty="0"/>
          </a:p>
        </p:txBody>
      </p:sp>
      <p:sp>
        <p:nvSpPr>
          <p:cNvPr id="42" name="Text 37"/>
          <p:cNvSpPr txBox="1"/>
          <p:nvPr/>
        </p:nvSpPr>
        <p:spPr>
          <a:xfrm>
            <a:off x="6455664" y="5166360"/>
            <a:ext cx="2194560" cy="64008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Split, rank and translate place hierarchies</a:t>
            </a:r>
            <a:endParaRPr lang="en-US" sz="1250" dirty="0"/>
          </a:p>
        </p:txBody>
      </p:sp>
      <p:sp>
        <p:nvSpPr>
          <p:cNvPr id="43" name="Shape 38"/>
          <p:cNvSpPr/>
          <p:nvPr/>
        </p:nvSpPr>
        <p:spPr>
          <a:xfrm>
            <a:off x="8997696" y="3566160"/>
            <a:ext cx="2651760" cy="2331720"/>
          </a:xfrm>
          <a:prstGeom prst="roundRect">
            <a:avLst>
              <a:gd name="adj" fmla="val 3137"/>
            </a:avLst>
          </a:prstGeom>
          <a:solidFill>
            <a:srgbClr val="EEF3F7"/>
          </a:solidFill>
          <a:ln w="12700">
            <a:solidFill>
              <a:srgbClr val="EEF3F7"/>
            </a:solidFill>
            <a:prstDash val="solid"/>
          </a:ln>
        </p:spPr>
        <p:txBody>
          <a:bodyPr/>
          <a:lstStyle/>
          <a:p>
            <a:endParaRPr lang="en-US"/>
          </a:p>
        </p:txBody>
      </p:sp>
      <p:sp>
        <p:nvSpPr>
          <p:cNvPr id="44" name="Shape 39"/>
          <p:cNvSpPr/>
          <p:nvPr/>
        </p:nvSpPr>
        <p:spPr>
          <a:xfrm>
            <a:off x="9272016" y="3794760"/>
            <a:ext cx="566928" cy="566928"/>
          </a:xfrm>
          <a:prstGeom prst="ellipse">
            <a:avLst/>
          </a:prstGeom>
          <a:solidFill>
            <a:srgbClr val="A98B3C"/>
          </a:solidFill>
          <a:ln w="12700">
            <a:solidFill>
              <a:srgbClr val="A98B3C"/>
            </a:solidFill>
            <a:prstDash val="solid"/>
          </a:ln>
        </p:spPr>
        <p:txBody>
          <a:bodyPr/>
          <a:lstStyle/>
          <a:p>
            <a:endParaRPr lang="en-US"/>
          </a:p>
        </p:txBody>
      </p:sp>
      <p:pic>
        <p:nvPicPr>
          <p:cNvPr id="45" name="Image 3" descr="preencoded.png"/>
          <p:cNvPicPr>
            <a:picLocks noChangeAspect="1"/>
          </p:cNvPicPr>
          <p:nvPr/>
        </p:nvPicPr>
        <p:blipFill>
          <a:blip r:embed="rId6"/>
          <a:stretch>
            <a:fillRect/>
          </a:stretch>
        </p:blipFill>
        <p:spPr>
          <a:xfrm>
            <a:off x="9413748" y="3936492"/>
            <a:ext cx="283464" cy="283464"/>
          </a:xfrm>
          <a:prstGeom prst="rect">
            <a:avLst/>
          </a:prstGeom>
        </p:spPr>
      </p:pic>
      <p:sp>
        <p:nvSpPr>
          <p:cNvPr id="46" name="Text 40"/>
          <p:cNvSpPr txBox="1"/>
          <p:nvPr/>
        </p:nvSpPr>
        <p:spPr>
          <a:xfrm>
            <a:off x="9272016" y="4526280"/>
            <a:ext cx="2194560" cy="274320"/>
          </a:xfrm>
          <a:prstGeom prst="rect">
            <a:avLst/>
          </a:prstGeom>
          <a:noFill/>
          <a:ln/>
        </p:spPr>
        <p:txBody>
          <a:bodyPr wrap="square" lIns="0" tIns="0" rIns="0" bIns="0" rtlCol="0" anchor="t"/>
          <a:lstStyle/>
          <a:p>
            <a:pPr marL="0" indent="0">
              <a:buNone/>
            </a:pPr>
            <a:r>
              <a:rPr lang="en-US" sz="1100" b="1" kern="0" spc="100" dirty="0">
                <a:solidFill>
                  <a:srgbClr val="A98B3C"/>
                </a:solidFill>
                <a:latin typeface="Calibri" pitchFamily="34" charset="0"/>
                <a:ea typeface="Calibri" pitchFamily="34" charset="-122"/>
                <a:cs typeface="Calibri" pitchFamily="34" charset="-120"/>
              </a:rPr>
              <a:t>PART D</a:t>
            </a:r>
            <a:endParaRPr lang="en-US" sz="1100" dirty="0"/>
          </a:p>
        </p:txBody>
      </p:sp>
      <p:sp>
        <p:nvSpPr>
          <p:cNvPr id="47" name="Text 41"/>
          <p:cNvSpPr txBox="1"/>
          <p:nvPr/>
        </p:nvSpPr>
        <p:spPr>
          <a:xfrm>
            <a:off x="9272016" y="4800600"/>
            <a:ext cx="2194560" cy="320040"/>
          </a:xfrm>
          <a:prstGeom prst="rect">
            <a:avLst/>
          </a:prstGeom>
          <a:noFill/>
          <a:ln/>
        </p:spPr>
        <p:txBody>
          <a:bodyPr wrap="square" lIns="0" tIns="0" rIns="0" bIns="0" rtlCol="0" anchor="t"/>
          <a:lstStyle/>
          <a:p>
            <a:pPr marL="0" indent="0">
              <a:buNone/>
            </a:pPr>
            <a:r>
              <a:rPr lang="en-US" sz="1600" b="1" dirty="0">
                <a:solidFill>
                  <a:srgbClr val="2B2E36"/>
                </a:solidFill>
                <a:latin typeface="Calibri" pitchFamily="34" charset="0"/>
                <a:ea typeface="Calibri" pitchFamily="34" charset="-122"/>
                <a:cs typeface="Calibri" pitchFamily="34" charset="-120"/>
              </a:rPr>
              <a:t>Mineral samples</a:t>
            </a:r>
            <a:endParaRPr lang="en-US" sz="1600" dirty="0"/>
          </a:p>
        </p:txBody>
      </p:sp>
      <p:sp>
        <p:nvSpPr>
          <p:cNvPr id="48" name="Text 42"/>
          <p:cNvSpPr txBox="1"/>
          <p:nvPr/>
        </p:nvSpPr>
        <p:spPr>
          <a:xfrm>
            <a:off x="9272016" y="5166360"/>
            <a:ext cx="2194560" cy="64008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Convert to the compound specimen model</a:t>
            </a:r>
            <a:endParaRPr lang="en-US" sz="1250" dirty="0"/>
          </a:p>
        </p:txBody>
      </p:sp>
      <p:sp>
        <p:nvSpPr>
          <p:cNvPr id="49" name="Text 43"/>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D939D"/>
                </a:solidFill>
                <a:latin typeface="Calibri" pitchFamily="34" charset="0"/>
                <a:ea typeface="Calibri" pitchFamily="34" charset="-122"/>
                <a:cs typeface="Calibri" pitchFamily="34" charset="-120"/>
              </a:rPr>
              <a:t>WKS10  ·  Building a Repeatable AI Pipeline</a:t>
            </a:r>
            <a:endParaRPr lang="en-US" sz="1000" dirty="0"/>
          </a:p>
        </p:txBody>
      </p:sp>
      <p:sp>
        <p:nvSpPr>
          <p:cNvPr id="50" name="Text 44"/>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8D939D"/>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A98B3C"/>
                </a:solidFill>
                <a:latin typeface="Calibri" pitchFamily="34" charset="0"/>
                <a:ea typeface="Calibri" pitchFamily="34" charset="-122"/>
                <a:cs typeface="Calibri" pitchFamily="34" charset="-120"/>
              </a:rPr>
              <a:t>INTRODUCTION</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B2E36"/>
                </a:solidFill>
                <a:latin typeface="Raleway" pitchFamily="34" charset="0"/>
                <a:ea typeface="Raleway" pitchFamily="34" charset="-122"/>
                <a:cs typeface="Raleway" pitchFamily="34" charset="-120"/>
              </a:rPr>
              <a:t>Six months of building with AI</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0555F"/>
                </a:solidFill>
                <a:latin typeface="Calibri" pitchFamily="34" charset="0"/>
                <a:ea typeface="Calibri" pitchFamily="34" charset="-122"/>
                <a:cs typeface="Calibri" pitchFamily="34" charset="-120"/>
              </a:rPr>
              <a:t>Multiple ETL pipelines across separate projects, with Claude involved at every step.</a:t>
            </a:r>
            <a:endParaRPr lang="en-US" sz="1500" dirty="0"/>
          </a:p>
        </p:txBody>
      </p:sp>
      <p:sp>
        <p:nvSpPr>
          <p:cNvPr id="5" name="Shape 3"/>
          <p:cNvSpPr/>
          <p:nvPr/>
        </p:nvSpPr>
        <p:spPr>
          <a:xfrm>
            <a:off x="548640" y="2148840"/>
            <a:ext cx="5486400" cy="3931920"/>
          </a:xfrm>
          <a:prstGeom prst="roundRect">
            <a:avLst>
              <a:gd name="adj" fmla="val 1860"/>
            </a:avLst>
          </a:prstGeom>
          <a:solidFill>
            <a:srgbClr val="EEF3F7"/>
          </a:solidFill>
          <a:ln w="12700">
            <a:solidFill>
              <a:srgbClr val="EEF3F7"/>
            </a:solidFill>
            <a:prstDash val="solid"/>
          </a:ln>
        </p:spPr>
        <p:txBody>
          <a:bodyPr/>
          <a:lstStyle/>
          <a:p>
            <a:endParaRPr lang="en-US"/>
          </a:p>
        </p:txBody>
      </p:sp>
      <p:sp>
        <p:nvSpPr>
          <p:cNvPr id="6" name="Text 4"/>
          <p:cNvSpPr txBox="1"/>
          <p:nvPr/>
        </p:nvSpPr>
        <p:spPr>
          <a:xfrm>
            <a:off x="914400" y="2377440"/>
            <a:ext cx="4572000" cy="274320"/>
          </a:xfrm>
          <a:prstGeom prst="rect">
            <a:avLst/>
          </a:prstGeom>
          <a:noFill/>
          <a:ln/>
        </p:spPr>
        <p:txBody>
          <a:bodyPr wrap="square" lIns="0" tIns="0" rIns="0" bIns="0" rtlCol="0" anchor="t"/>
          <a:lstStyle/>
          <a:p>
            <a:pPr marL="0" indent="0">
              <a:buNone/>
            </a:pPr>
            <a:r>
              <a:rPr lang="en-US" sz="1100" b="1" kern="0" spc="100" dirty="0">
                <a:solidFill>
                  <a:srgbClr val="5F8FAF"/>
                </a:solidFill>
                <a:latin typeface="Calibri" pitchFamily="34" charset="0"/>
                <a:ea typeface="Calibri" pitchFamily="34" charset="-122"/>
                <a:cs typeface="Calibri" pitchFamily="34" charset="-120"/>
              </a:rPr>
              <a:t>WHAT THAT HAS INCLUDED</a:t>
            </a:r>
            <a:endParaRPr lang="en-US" sz="1100" dirty="0"/>
          </a:p>
        </p:txBody>
      </p:sp>
      <p:sp>
        <p:nvSpPr>
          <p:cNvPr id="7" name="Text 5"/>
          <p:cNvSpPr/>
          <p:nvPr/>
        </p:nvSpPr>
        <p:spPr>
          <a:xfrm>
            <a:off x="914400" y="2743200"/>
            <a:ext cx="4846320" cy="21945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B2E36"/>
                </a:solidFill>
                <a:latin typeface="Calibri" pitchFamily="34" charset="0"/>
                <a:ea typeface="Calibri" pitchFamily="34" charset="-122"/>
                <a:cs typeface="Calibri" pitchFamily="34" charset="-120"/>
              </a:rPr>
              <a:t>Data transforms and ETL pipelines (Python, SQL)</a:t>
            </a:r>
            <a:endParaRPr lang="en-US" sz="1500" dirty="0"/>
          </a:p>
          <a:p>
            <a:pPr marL="203200" indent="-203200">
              <a:spcAft>
                <a:spcPts val="800"/>
              </a:spcAft>
              <a:buSzPct val="100000"/>
              <a:buChar char="•"/>
            </a:pPr>
            <a:r>
              <a:rPr lang="en-US" sz="1500" dirty="0">
                <a:solidFill>
                  <a:srgbClr val="2B2E36"/>
                </a:solidFill>
                <a:latin typeface="Calibri" pitchFamily="34" charset="0"/>
                <a:ea typeface="Calibri" pitchFamily="34" charset="-122"/>
                <a:cs typeface="Calibri" pitchFamily="34" charset="-120"/>
              </a:rPr>
              <a:t>Testing and validation</a:t>
            </a:r>
            <a:endParaRPr lang="en-US" sz="1500" dirty="0"/>
          </a:p>
          <a:p>
            <a:pPr marL="203200" indent="-203200">
              <a:spcAft>
                <a:spcPts val="800"/>
              </a:spcAft>
              <a:buSzPct val="100000"/>
              <a:buChar char="•"/>
            </a:pPr>
            <a:r>
              <a:rPr lang="en-US" sz="1500" dirty="0">
                <a:solidFill>
                  <a:srgbClr val="2B2E36"/>
                </a:solidFill>
                <a:latin typeface="Calibri" pitchFamily="34" charset="0"/>
                <a:ea typeface="Calibri" pitchFamily="34" charset="-122"/>
                <a:cs typeface="Calibri" pitchFamily="34" charset="-120"/>
              </a:rPr>
              <a:t>Front-end user interfaces and back ends</a:t>
            </a:r>
            <a:endParaRPr lang="en-US" sz="1500" dirty="0"/>
          </a:p>
          <a:p>
            <a:pPr marL="203200" indent="-203200">
              <a:spcAft>
                <a:spcPts val="800"/>
              </a:spcAft>
              <a:buSzPct val="100000"/>
              <a:buChar char="•"/>
            </a:pPr>
            <a:r>
              <a:rPr lang="en-US" sz="1500" dirty="0">
                <a:solidFill>
                  <a:srgbClr val="2B2E36"/>
                </a:solidFill>
                <a:latin typeface="Calibri" pitchFamily="34" charset="0"/>
                <a:ea typeface="Calibri" pitchFamily="34" charset="-122"/>
                <a:cs typeface="Calibri" pitchFamily="34" charset="-120"/>
              </a:rPr>
              <a:t>Custom database abstraction layers</a:t>
            </a:r>
            <a:endParaRPr lang="en-US" sz="1500" dirty="0"/>
          </a:p>
          <a:p>
            <a:pPr marL="203200" indent="-203200">
              <a:spcAft>
                <a:spcPts val="800"/>
              </a:spcAft>
              <a:buSzPct val="100000"/>
              <a:buChar char="•"/>
            </a:pPr>
            <a:r>
              <a:rPr lang="en-US" sz="1500" dirty="0">
                <a:solidFill>
                  <a:srgbClr val="2B2E36"/>
                </a:solidFill>
                <a:latin typeface="Calibri" pitchFamily="34" charset="0"/>
                <a:ea typeface="Calibri" pitchFamily="34" charset="-122"/>
                <a:cs typeface="Calibri" pitchFamily="34" charset="-120"/>
              </a:rPr>
              <a:t>Documentation (Python, JS) and DevOps (Rust, PHP)</a:t>
            </a:r>
            <a:endParaRPr lang="en-US" sz="1500" dirty="0"/>
          </a:p>
        </p:txBody>
      </p:sp>
      <p:sp>
        <p:nvSpPr>
          <p:cNvPr id="8" name="Text 6"/>
          <p:cNvSpPr txBox="1"/>
          <p:nvPr/>
        </p:nvSpPr>
        <p:spPr>
          <a:xfrm>
            <a:off x="914400" y="5074920"/>
            <a:ext cx="4754880" cy="822960"/>
          </a:xfrm>
          <a:prstGeom prst="rect">
            <a:avLst/>
          </a:prstGeom>
          <a:noFill/>
          <a:ln/>
        </p:spPr>
        <p:txBody>
          <a:bodyPr wrap="square" lIns="0" tIns="0" rIns="0" bIns="0" rtlCol="0" anchor="t"/>
          <a:lstStyle/>
          <a:p>
            <a:pPr marL="0" indent="0">
              <a:buNone/>
            </a:pPr>
            <a:r>
              <a:rPr lang="en-US" sz="1300" i="1" dirty="0">
                <a:solidFill>
                  <a:srgbClr val="50555F"/>
                </a:solidFill>
                <a:latin typeface="Calibri" pitchFamily="34" charset="0"/>
                <a:ea typeface="Calibri" pitchFamily="34" charset="-122"/>
                <a:cs typeface="Calibri" pitchFamily="34" charset="-120"/>
              </a:rPr>
              <a:t>The question behind all of it: how do we use Claude Code effectively in a collections data workflow?</a:t>
            </a:r>
            <a:endParaRPr lang="en-US" sz="1300" dirty="0"/>
          </a:p>
        </p:txBody>
      </p:sp>
      <p:sp>
        <p:nvSpPr>
          <p:cNvPr id="9" name="Shape 7"/>
          <p:cNvSpPr/>
          <p:nvPr/>
        </p:nvSpPr>
        <p:spPr>
          <a:xfrm>
            <a:off x="6492240" y="2240280"/>
            <a:ext cx="548640" cy="548640"/>
          </a:xfrm>
          <a:prstGeom prst="ellipse">
            <a:avLst/>
          </a:prstGeom>
          <a:solidFill>
            <a:srgbClr val="5F8FAF"/>
          </a:solidFill>
          <a:ln w="12700">
            <a:solidFill>
              <a:srgbClr val="5F8FAF"/>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6629400" y="2377440"/>
            <a:ext cx="274320" cy="274320"/>
          </a:xfrm>
          <a:prstGeom prst="rect">
            <a:avLst/>
          </a:prstGeom>
        </p:spPr>
      </p:pic>
      <p:sp>
        <p:nvSpPr>
          <p:cNvPr id="11" name="Text 8"/>
          <p:cNvSpPr txBox="1"/>
          <p:nvPr/>
        </p:nvSpPr>
        <p:spPr>
          <a:xfrm>
            <a:off x="7223760" y="2194560"/>
            <a:ext cx="4389120" cy="320040"/>
          </a:xfrm>
          <a:prstGeom prst="rect">
            <a:avLst/>
          </a:prstGeom>
          <a:noFill/>
          <a:ln/>
        </p:spPr>
        <p:txBody>
          <a:bodyPr wrap="square" lIns="0" tIns="0" rIns="0" bIns="0" rtlCol="0" anchor="t"/>
          <a:lstStyle/>
          <a:p>
            <a:pPr marL="0" indent="0">
              <a:buNone/>
            </a:pPr>
            <a:r>
              <a:rPr lang="en-US" sz="1600" b="1" dirty="0">
                <a:solidFill>
                  <a:srgbClr val="2B2E36"/>
                </a:solidFill>
                <a:latin typeface="Calibri" pitchFamily="34" charset="0"/>
                <a:ea typeface="Calibri" pitchFamily="34" charset="-122"/>
                <a:cs typeface="Calibri" pitchFamily="34" charset="-120"/>
              </a:rPr>
              <a:t>Repeatable and transparent</a:t>
            </a:r>
            <a:endParaRPr lang="en-US" sz="1600" dirty="0"/>
          </a:p>
        </p:txBody>
      </p:sp>
      <p:sp>
        <p:nvSpPr>
          <p:cNvPr id="12" name="Text 9"/>
          <p:cNvSpPr txBox="1"/>
          <p:nvPr/>
        </p:nvSpPr>
        <p:spPr>
          <a:xfrm>
            <a:off x="7223760" y="2532888"/>
            <a:ext cx="4389120" cy="457200"/>
          </a:xfrm>
          <a:prstGeom prst="rect">
            <a:avLst/>
          </a:prstGeom>
          <a:noFill/>
          <a:ln/>
        </p:spPr>
        <p:txBody>
          <a:bodyPr wrap="square" lIns="0" tIns="0" rIns="0" bIns="0" rtlCol="0" anchor="t"/>
          <a:lstStyle/>
          <a:p>
            <a:pPr marL="0" indent="0">
              <a:buNone/>
            </a:pPr>
            <a:r>
              <a:rPr lang="en-US" sz="1300" dirty="0">
                <a:solidFill>
                  <a:srgbClr val="50555F"/>
                </a:solidFill>
                <a:latin typeface="Calibri" pitchFamily="34" charset="0"/>
                <a:ea typeface="Calibri" pitchFamily="34" charset="-122"/>
                <a:cs typeface="Calibri" pitchFamily="34" charset="-120"/>
              </a:rPr>
              <a:t>Anyone can re-run the process and get the same result.</a:t>
            </a:r>
            <a:endParaRPr lang="en-US" sz="1300" dirty="0"/>
          </a:p>
        </p:txBody>
      </p:sp>
      <p:sp>
        <p:nvSpPr>
          <p:cNvPr id="13" name="Shape 10"/>
          <p:cNvSpPr/>
          <p:nvPr/>
        </p:nvSpPr>
        <p:spPr>
          <a:xfrm>
            <a:off x="6492240" y="3264408"/>
            <a:ext cx="548640" cy="548640"/>
          </a:xfrm>
          <a:prstGeom prst="ellipse">
            <a:avLst/>
          </a:prstGeom>
          <a:solidFill>
            <a:srgbClr val="5F8FAF"/>
          </a:solidFill>
          <a:ln w="12700">
            <a:solidFill>
              <a:srgbClr val="5F8FAF"/>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6629400" y="3401568"/>
            <a:ext cx="274320" cy="274320"/>
          </a:xfrm>
          <a:prstGeom prst="rect">
            <a:avLst/>
          </a:prstGeom>
        </p:spPr>
      </p:pic>
      <p:sp>
        <p:nvSpPr>
          <p:cNvPr id="15" name="Text 11"/>
          <p:cNvSpPr txBox="1"/>
          <p:nvPr/>
        </p:nvSpPr>
        <p:spPr>
          <a:xfrm>
            <a:off x="7223760" y="3218688"/>
            <a:ext cx="4389120" cy="320040"/>
          </a:xfrm>
          <a:prstGeom prst="rect">
            <a:avLst/>
          </a:prstGeom>
          <a:noFill/>
          <a:ln/>
        </p:spPr>
        <p:txBody>
          <a:bodyPr wrap="square" lIns="0" tIns="0" rIns="0" bIns="0" rtlCol="0" anchor="t"/>
          <a:lstStyle/>
          <a:p>
            <a:pPr marL="0" indent="0">
              <a:buNone/>
            </a:pPr>
            <a:r>
              <a:rPr lang="en-US" sz="1600" b="1" dirty="0">
                <a:solidFill>
                  <a:srgbClr val="2B2E36"/>
                </a:solidFill>
                <a:latin typeface="Calibri" pitchFamily="34" charset="0"/>
                <a:ea typeface="Calibri" pitchFamily="34" charset="-122"/>
                <a:cs typeface="Calibri" pitchFamily="34" charset="-120"/>
              </a:rPr>
              <a:t>Reusable</a:t>
            </a:r>
            <a:endParaRPr lang="en-US" sz="1600" dirty="0"/>
          </a:p>
        </p:txBody>
      </p:sp>
      <p:sp>
        <p:nvSpPr>
          <p:cNvPr id="16" name="Text 12"/>
          <p:cNvSpPr txBox="1"/>
          <p:nvPr/>
        </p:nvSpPr>
        <p:spPr>
          <a:xfrm>
            <a:off x="7223760" y="3557016"/>
            <a:ext cx="4389120" cy="457200"/>
          </a:xfrm>
          <a:prstGeom prst="rect">
            <a:avLst/>
          </a:prstGeom>
          <a:noFill/>
          <a:ln/>
        </p:spPr>
        <p:txBody>
          <a:bodyPr wrap="square" lIns="0" tIns="0" rIns="0" bIns="0" rtlCol="0" anchor="t"/>
          <a:lstStyle/>
          <a:p>
            <a:pPr marL="0" indent="0">
              <a:buNone/>
            </a:pPr>
            <a:r>
              <a:rPr lang="en-US" sz="1300" dirty="0">
                <a:solidFill>
                  <a:srgbClr val="50555F"/>
                </a:solidFill>
                <a:latin typeface="Calibri" pitchFamily="34" charset="0"/>
                <a:ea typeface="Calibri" pitchFamily="34" charset="-122"/>
                <a:cs typeface="Calibri" pitchFamily="34" charset="-120"/>
              </a:rPr>
              <a:t>Scripts and plans carry over to the next dataset.</a:t>
            </a:r>
            <a:endParaRPr lang="en-US" sz="1300" dirty="0"/>
          </a:p>
        </p:txBody>
      </p:sp>
      <p:sp>
        <p:nvSpPr>
          <p:cNvPr id="17" name="Shape 13"/>
          <p:cNvSpPr/>
          <p:nvPr/>
        </p:nvSpPr>
        <p:spPr>
          <a:xfrm>
            <a:off x="6492240" y="4288536"/>
            <a:ext cx="548640" cy="548640"/>
          </a:xfrm>
          <a:prstGeom prst="ellipse">
            <a:avLst/>
          </a:prstGeom>
          <a:solidFill>
            <a:srgbClr val="A98B3C"/>
          </a:solidFill>
          <a:ln w="12700">
            <a:solidFill>
              <a:srgbClr val="A98B3C"/>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629400" y="4425696"/>
            <a:ext cx="274320" cy="274320"/>
          </a:xfrm>
          <a:prstGeom prst="rect">
            <a:avLst/>
          </a:prstGeom>
        </p:spPr>
      </p:pic>
      <p:sp>
        <p:nvSpPr>
          <p:cNvPr id="19" name="Text 14"/>
          <p:cNvSpPr txBox="1"/>
          <p:nvPr/>
        </p:nvSpPr>
        <p:spPr>
          <a:xfrm>
            <a:off x="7223760" y="4242816"/>
            <a:ext cx="4389120" cy="320040"/>
          </a:xfrm>
          <a:prstGeom prst="rect">
            <a:avLst/>
          </a:prstGeom>
          <a:noFill/>
          <a:ln/>
        </p:spPr>
        <p:txBody>
          <a:bodyPr wrap="square" lIns="0" tIns="0" rIns="0" bIns="0" rtlCol="0" anchor="t"/>
          <a:lstStyle/>
          <a:p>
            <a:pPr marL="0" indent="0">
              <a:buNone/>
            </a:pPr>
            <a:r>
              <a:rPr lang="en-US" sz="1600" b="1" dirty="0">
                <a:solidFill>
                  <a:srgbClr val="2B2E36"/>
                </a:solidFill>
                <a:latin typeface="Calibri" pitchFamily="34" charset="0"/>
                <a:ea typeface="Calibri" pitchFamily="34" charset="-122"/>
                <a:cs typeface="Calibri" pitchFamily="34" charset="-120"/>
              </a:rPr>
              <a:t>Provenance</a:t>
            </a:r>
            <a:endParaRPr lang="en-US" sz="1600" dirty="0"/>
          </a:p>
        </p:txBody>
      </p:sp>
      <p:sp>
        <p:nvSpPr>
          <p:cNvPr id="20" name="Text 15"/>
          <p:cNvSpPr txBox="1"/>
          <p:nvPr/>
        </p:nvSpPr>
        <p:spPr>
          <a:xfrm>
            <a:off x="7223760" y="4581144"/>
            <a:ext cx="4389120" cy="457200"/>
          </a:xfrm>
          <a:prstGeom prst="rect">
            <a:avLst/>
          </a:prstGeom>
          <a:noFill/>
          <a:ln/>
        </p:spPr>
        <p:txBody>
          <a:bodyPr wrap="square" lIns="0" tIns="0" rIns="0" bIns="0" rtlCol="0" anchor="t"/>
          <a:lstStyle/>
          <a:p>
            <a:pPr marL="0" indent="0">
              <a:buNone/>
            </a:pPr>
            <a:r>
              <a:rPr lang="en-US" sz="1300" dirty="0">
                <a:solidFill>
                  <a:srgbClr val="50555F"/>
                </a:solidFill>
                <a:latin typeface="Calibri" pitchFamily="34" charset="0"/>
                <a:ea typeface="Calibri" pitchFamily="34" charset="-122"/>
                <a:cs typeface="Calibri" pitchFamily="34" charset="-120"/>
              </a:rPr>
              <a:t>Every step leaves a file and a report behind.</a:t>
            </a:r>
            <a:endParaRPr lang="en-US" sz="1300" dirty="0"/>
          </a:p>
        </p:txBody>
      </p:sp>
      <p:sp>
        <p:nvSpPr>
          <p:cNvPr id="21" name="Text 16"/>
          <p:cNvSpPr txBox="1"/>
          <p:nvPr/>
        </p:nvSpPr>
        <p:spPr>
          <a:xfrm>
            <a:off x="6492240" y="5303520"/>
            <a:ext cx="5120640" cy="777240"/>
          </a:xfrm>
          <a:prstGeom prst="rect">
            <a:avLst/>
          </a:prstGeom>
          <a:noFill/>
          <a:ln/>
        </p:spPr>
        <p:txBody>
          <a:bodyPr wrap="square" lIns="0" tIns="0" rIns="0" bIns="0" rtlCol="0" anchor="ctr"/>
          <a:lstStyle/>
          <a:p>
            <a:pPr marL="0" indent="0">
              <a:buNone/>
            </a:pPr>
            <a:r>
              <a:rPr lang="en-US" sz="1700" i="1" dirty="0">
                <a:solidFill>
                  <a:srgbClr val="5F8FAF"/>
                </a:solidFill>
                <a:latin typeface="Raleway" pitchFamily="34" charset="0"/>
                <a:ea typeface="Raleway" pitchFamily="34" charset="-122"/>
                <a:cs typeface="Raleway" pitchFamily="34" charset="-120"/>
              </a:rPr>
              <a:t>“AI is an entry-level programmer. I can’t hire one, so nothing is being lost.”</a:t>
            </a:r>
            <a:endParaRPr lang="en-US" sz="1700" dirty="0"/>
          </a:p>
        </p:txBody>
      </p:sp>
      <p:sp>
        <p:nvSpPr>
          <p:cNvPr id="22" name="Text 17"/>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D939D"/>
                </a:solidFill>
                <a:latin typeface="Calibri" pitchFamily="34" charset="0"/>
                <a:ea typeface="Calibri" pitchFamily="34" charset="-122"/>
                <a:cs typeface="Calibri" pitchFamily="34" charset="-120"/>
              </a:rPr>
              <a:t>WKS10  ·  Building a Repeatable AI Pipeline</a:t>
            </a:r>
            <a:endParaRPr lang="en-US" sz="1000" dirty="0"/>
          </a:p>
        </p:txBody>
      </p:sp>
      <p:sp>
        <p:nvSpPr>
          <p:cNvPr id="23" name="Text 18"/>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8D939D"/>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name="Slide 4">
    <p:bg>
      <p:bgPr>
        <a:solidFill>
          <a:srgbClr val="2B2E36"/>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t"/>
          <a:lstStyle/>
          <a:p>
            <a:pPr marL="0" indent="0">
              <a:buNone/>
            </a:pPr>
            <a:r>
              <a:rPr lang="en-US" sz="1200" b="1" kern="0" spc="100" dirty="0">
                <a:solidFill>
                  <a:srgbClr val="DCC37A"/>
                </a:solidFill>
                <a:latin typeface="Calibri" pitchFamily="34" charset="0"/>
                <a:ea typeface="Calibri" pitchFamily="34" charset="-122"/>
                <a:cs typeface="Calibri" pitchFamily="34" charset="-120"/>
              </a:rPr>
              <a:t>BEFORE WE START</a:t>
            </a:r>
            <a:endParaRPr lang="en-US" sz="1200" dirty="0"/>
          </a:p>
        </p:txBody>
      </p:sp>
      <p:sp>
        <p:nvSpPr>
          <p:cNvPr id="3" name="Text 1"/>
          <p:cNvSpPr txBox="1"/>
          <p:nvPr/>
        </p:nvSpPr>
        <p:spPr>
          <a:xfrm>
            <a:off x="548640" y="822960"/>
            <a:ext cx="10972800" cy="685800"/>
          </a:xfrm>
          <a:prstGeom prst="rect">
            <a:avLst/>
          </a:prstGeom>
          <a:noFill/>
          <a:ln/>
        </p:spPr>
        <p:txBody>
          <a:bodyPr wrap="square" lIns="0" tIns="0" rIns="0" bIns="0" rtlCol="0" anchor="ctr"/>
          <a:lstStyle/>
          <a:p>
            <a:pPr marL="0" indent="0">
              <a:buNone/>
            </a:pPr>
            <a:r>
              <a:rPr lang="en-US" sz="3600" b="1" dirty="0">
                <a:solidFill>
                  <a:srgbClr val="FFFFFF"/>
                </a:solidFill>
                <a:latin typeface="Raleway" pitchFamily="34" charset="0"/>
                <a:ea typeface="Raleway" pitchFamily="34" charset="-122"/>
                <a:cs typeface="Raleway" pitchFamily="34" charset="-120"/>
              </a:rPr>
              <a:t>We’re usually shown what AI can do.</a:t>
            </a:r>
            <a:endParaRPr lang="en-US" sz="3600" dirty="0"/>
          </a:p>
        </p:txBody>
      </p:sp>
      <p:sp>
        <p:nvSpPr>
          <p:cNvPr id="4" name="Text 2"/>
          <p:cNvSpPr txBox="1"/>
          <p:nvPr/>
        </p:nvSpPr>
        <p:spPr>
          <a:xfrm>
            <a:off x="548640" y="1508760"/>
            <a:ext cx="10972800" cy="640080"/>
          </a:xfrm>
          <a:prstGeom prst="rect">
            <a:avLst/>
          </a:prstGeom>
          <a:noFill/>
          <a:ln/>
        </p:spPr>
        <p:txBody>
          <a:bodyPr wrap="square" lIns="0" tIns="0" rIns="0" bIns="0" rtlCol="0" anchor="ctr"/>
          <a:lstStyle/>
          <a:p>
            <a:pPr marL="0" indent="0">
              <a:buNone/>
            </a:pPr>
            <a:r>
              <a:rPr lang="en-US" sz="3200" b="1" dirty="0">
                <a:solidFill>
                  <a:srgbClr val="9CBFD6"/>
                </a:solidFill>
                <a:latin typeface="Raleway" pitchFamily="34" charset="0"/>
                <a:ea typeface="Raleway" pitchFamily="34" charset="-122"/>
                <a:cs typeface="Raleway" pitchFamily="34" charset="-120"/>
              </a:rPr>
              <a:t>Let’s flip that.</a:t>
            </a:r>
            <a:endParaRPr lang="en-US" sz="3200" dirty="0"/>
          </a:p>
        </p:txBody>
      </p:sp>
      <p:sp>
        <p:nvSpPr>
          <p:cNvPr id="5" name="Text 3"/>
          <p:cNvSpPr txBox="1"/>
          <p:nvPr/>
        </p:nvSpPr>
        <p:spPr>
          <a:xfrm>
            <a:off x="548640" y="2377440"/>
            <a:ext cx="10789920" cy="914400"/>
          </a:xfrm>
          <a:prstGeom prst="rect">
            <a:avLst/>
          </a:prstGeom>
          <a:noFill/>
          <a:ln/>
        </p:spPr>
        <p:txBody>
          <a:bodyPr wrap="square" lIns="0" tIns="0" rIns="0" bIns="0" rtlCol="0" anchor="t"/>
          <a:lstStyle/>
          <a:p>
            <a:pPr marL="0" indent="0">
              <a:lnSpc>
                <a:spcPct val="115000"/>
              </a:lnSpc>
              <a:buNone/>
            </a:pPr>
            <a:r>
              <a:rPr lang="en-US" sz="1600" dirty="0">
                <a:solidFill>
                  <a:srgbClr val="D4D8DE"/>
                </a:solidFill>
                <a:latin typeface="Calibri" pitchFamily="34" charset="0"/>
                <a:ea typeface="Calibri" pitchFamily="34" charset="-122"/>
                <a:cs typeface="Calibri" pitchFamily="34" charset="-120"/>
              </a:rPr>
              <a:t>Most AI talks follow the same format: “look at this cool stuff.” I could do that too. But for six months I have worked almost exclusively on how to use AI, across many types of project, many programming languages and many contexts. I would rather use that to answer your questions.</a:t>
            </a:r>
            <a:endParaRPr lang="en-US" sz="1600" dirty="0"/>
          </a:p>
        </p:txBody>
      </p:sp>
      <p:sp>
        <p:nvSpPr>
          <p:cNvPr id="6" name="Shape 4"/>
          <p:cNvSpPr/>
          <p:nvPr/>
        </p:nvSpPr>
        <p:spPr>
          <a:xfrm>
            <a:off x="548640" y="3611880"/>
            <a:ext cx="3520440" cy="2423160"/>
          </a:xfrm>
          <a:prstGeom prst="roundRect">
            <a:avLst>
              <a:gd name="adj" fmla="val 3019"/>
            </a:avLst>
          </a:prstGeom>
          <a:solidFill>
            <a:srgbClr val="383C46"/>
          </a:solidFill>
          <a:ln w="15875">
            <a:solidFill>
              <a:srgbClr val="2E5C8F"/>
            </a:solidFill>
            <a:prstDash val="solid"/>
          </a:ln>
        </p:spPr>
        <p:txBody>
          <a:bodyPr/>
          <a:lstStyle/>
          <a:p>
            <a:endParaRPr lang="en-US"/>
          </a:p>
        </p:txBody>
      </p:sp>
      <p:sp>
        <p:nvSpPr>
          <p:cNvPr id="7" name="Shape 5"/>
          <p:cNvSpPr/>
          <p:nvPr/>
        </p:nvSpPr>
        <p:spPr>
          <a:xfrm>
            <a:off x="822960" y="3840480"/>
            <a:ext cx="566928" cy="566928"/>
          </a:xfrm>
          <a:prstGeom prst="ellipse">
            <a:avLst/>
          </a:prstGeom>
          <a:solidFill>
            <a:srgbClr val="2E5C8F"/>
          </a:solidFill>
          <a:ln w="12700">
            <a:solidFill>
              <a:srgbClr val="2E5C8F"/>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64692" y="3982212"/>
            <a:ext cx="283464" cy="283464"/>
          </a:xfrm>
          <a:prstGeom prst="rect">
            <a:avLst/>
          </a:prstGeom>
        </p:spPr>
      </p:pic>
      <p:sp>
        <p:nvSpPr>
          <p:cNvPr id="9" name="Text 6"/>
          <p:cNvSpPr txBox="1"/>
          <p:nvPr/>
        </p:nvSpPr>
        <p:spPr>
          <a:xfrm>
            <a:off x="822960" y="4526280"/>
            <a:ext cx="3017520" cy="640080"/>
          </a:xfrm>
          <a:prstGeom prst="rect">
            <a:avLst/>
          </a:prstGeom>
          <a:noFill/>
          <a:ln/>
        </p:spPr>
        <p:txBody>
          <a:bodyPr wrap="square" lIns="0" tIns="0" rIns="0" bIns="0" rtlCol="0" anchor="t"/>
          <a:lstStyle/>
          <a:p>
            <a:pPr marL="0" indent="0">
              <a:buNone/>
            </a:pPr>
            <a:r>
              <a:rPr lang="en-US" sz="1700" b="1" dirty="0">
                <a:solidFill>
                  <a:srgbClr val="FFFFFF"/>
                </a:solidFill>
                <a:latin typeface="Raleway" pitchFamily="34" charset="0"/>
                <a:ea typeface="Raleway" pitchFamily="34" charset="-122"/>
                <a:cs typeface="Raleway" pitchFamily="34" charset="-120"/>
              </a:rPr>
              <a:t>What areas are you interested in?</a:t>
            </a:r>
            <a:endParaRPr lang="en-US" sz="1700" dirty="0"/>
          </a:p>
        </p:txBody>
      </p:sp>
      <p:sp>
        <p:nvSpPr>
          <p:cNvPr id="10" name="Text 7"/>
          <p:cNvSpPr txBox="1"/>
          <p:nvPr/>
        </p:nvSpPr>
        <p:spPr>
          <a:xfrm>
            <a:off x="822960" y="5212080"/>
            <a:ext cx="3017520" cy="731520"/>
          </a:xfrm>
          <a:prstGeom prst="rect">
            <a:avLst/>
          </a:prstGeom>
          <a:noFill/>
          <a:ln/>
        </p:spPr>
        <p:txBody>
          <a:bodyPr wrap="square" lIns="0" tIns="0" rIns="0" bIns="0" rtlCol="0" anchor="t"/>
          <a:lstStyle/>
          <a:p>
            <a:pPr marL="0" indent="0">
              <a:buNone/>
            </a:pPr>
            <a:r>
              <a:rPr lang="en-US" sz="1300" dirty="0">
                <a:solidFill>
                  <a:srgbClr val="B3B8C2"/>
                </a:solidFill>
                <a:latin typeface="Calibri" pitchFamily="34" charset="0"/>
                <a:ea typeface="Calibri" pitchFamily="34" charset="-122"/>
                <a:cs typeface="Calibri" pitchFamily="34" charset="-120"/>
              </a:rPr>
              <a:t>Which parts of your collections work would you most like to see AI applied to?</a:t>
            </a:r>
            <a:endParaRPr lang="en-US" sz="1300" dirty="0"/>
          </a:p>
        </p:txBody>
      </p:sp>
      <p:sp>
        <p:nvSpPr>
          <p:cNvPr id="11" name="Shape 8"/>
          <p:cNvSpPr/>
          <p:nvPr/>
        </p:nvSpPr>
        <p:spPr>
          <a:xfrm>
            <a:off x="4297680" y="3611880"/>
            <a:ext cx="3520440" cy="2423160"/>
          </a:xfrm>
          <a:prstGeom prst="roundRect">
            <a:avLst>
              <a:gd name="adj" fmla="val 3019"/>
            </a:avLst>
          </a:prstGeom>
          <a:solidFill>
            <a:srgbClr val="383C46"/>
          </a:solidFill>
          <a:ln w="15875">
            <a:solidFill>
              <a:srgbClr val="727885"/>
            </a:solidFill>
            <a:prstDash val="solid"/>
          </a:ln>
        </p:spPr>
        <p:txBody>
          <a:bodyPr/>
          <a:lstStyle/>
          <a:p>
            <a:endParaRPr lang="en-US"/>
          </a:p>
        </p:txBody>
      </p:sp>
      <p:sp>
        <p:nvSpPr>
          <p:cNvPr id="12" name="Shape 9"/>
          <p:cNvSpPr/>
          <p:nvPr/>
        </p:nvSpPr>
        <p:spPr>
          <a:xfrm>
            <a:off x="4572000" y="3840480"/>
            <a:ext cx="566928" cy="566928"/>
          </a:xfrm>
          <a:prstGeom prst="ellipse">
            <a:avLst/>
          </a:prstGeom>
          <a:solidFill>
            <a:srgbClr val="727885"/>
          </a:solidFill>
          <a:ln w="12700">
            <a:solidFill>
              <a:srgbClr val="727885"/>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713732" y="3982212"/>
            <a:ext cx="283464" cy="283464"/>
          </a:xfrm>
          <a:prstGeom prst="rect">
            <a:avLst/>
          </a:prstGeom>
        </p:spPr>
      </p:pic>
      <p:sp>
        <p:nvSpPr>
          <p:cNvPr id="14" name="Text 10"/>
          <p:cNvSpPr txBox="1"/>
          <p:nvPr/>
        </p:nvSpPr>
        <p:spPr>
          <a:xfrm>
            <a:off x="4572000" y="4526280"/>
            <a:ext cx="3017520" cy="640080"/>
          </a:xfrm>
          <a:prstGeom prst="rect">
            <a:avLst/>
          </a:prstGeom>
          <a:noFill/>
          <a:ln/>
        </p:spPr>
        <p:txBody>
          <a:bodyPr wrap="square" lIns="0" tIns="0" rIns="0" bIns="0" rtlCol="0" anchor="t"/>
          <a:lstStyle/>
          <a:p>
            <a:pPr marL="0" indent="0">
              <a:buNone/>
            </a:pPr>
            <a:r>
              <a:rPr lang="en-US" sz="1700" b="1" dirty="0">
                <a:solidFill>
                  <a:srgbClr val="FFFFFF"/>
                </a:solidFill>
                <a:latin typeface="Raleway" pitchFamily="34" charset="0"/>
                <a:ea typeface="Raleway" pitchFamily="34" charset="-122"/>
                <a:cs typeface="Raleway" pitchFamily="34" charset="-120"/>
              </a:rPr>
              <a:t>What should be explored further?</a:t>
            </a:r>
            <a:endParaRPr lang="en-US" sz="1700" dirty="0"/>
          </a:p>
        </p:txBody>
      </p:sp>
      <p:sp>
        <p:nvSpPr>
          <p:cNvPr id="15" name="Text 11"/>
          <p:cNvSpPr txBox="1"/>
          <p:nvPr/>
        </p:nvSpPr>
        <p:spPr>
          <a:xfrm>
            <a:off x="4572000" y="5212080"/>
            <a:ext cx="3017520" cy="731520"/>
          </a:xfrm>
          <a:prstGeom prst="rect">
            <a:avLst/>
          </a:prstGeom>
          <a:noFill/>
          <a:ln/>
        </p:spPr>
        <p:txBody>
          <a:bodyPr wrap="square" lIns="0" tIns="0" rIns="0" bIns="0" rtlCol="0" anchor="t"/>
          <a:lstStyle/>
          <a:p>
            <a:pPr marL="0" indent="0">
              <a:buNone/>
            </a:pPr>
            <a:r>
              <a:rPr lang="en-US" sz="1300" dirty="0">
                <a:solidFill>
                  <a:srgbClr val="B3B8C2"/>
                </a:solidFill>
                <a:latin typeface="Calibri" pitchFamily="34" charset="0"/>
                <a:ea typeface="Calibri" pitchFamily="34" charset="-122"/>
                <a:cs typeface="Calibri" pitchFamily="34" charset="-120"/>
              </a:rPr>
              <a:t>Where have you seen promise, but not enough real testing or evidence?</a:t>
            </a:r>
            <a:endParaRPr lang="en-US" sz="1300" dirty="0"/>
          </a:p>
        </p:txBody>
      </p:sp>
      <p:sp>
        <p:nvSpPr>
          <p:cNvPr id="16" name="Shape 12"/>
          <p:cNvSpPr/>
          <p:nvPr/>
        </p:nvSpPr>
        <p:spPr>
          <a:xfrm>
            <a:off x="8046720" y="3611880"/>
            <a:ext cx="3520440" cy="2423160"/>
          </a:xfrm>
          <a:prstGeom prst="roundRect">
            <a:avLst>
              <a:gd name="adj" fmla="val 3019"/>
            </a:avLst>
          </a:prstGeom>
          <a:solidFill>
            <a:srgbClr val="383C46"/>
          </a:solidFill>
          <a:ln w="15875">
            <a:solidFill>
              <a:srgbClr val="C4A654"/>
            </a:solidFill>
            <a:prstDash val="solid"/>
          </a:ln>
        </p:spPr>
        <p:txBody>
          <a:bodyPr/>
          <a:lstStyle/>
          <a:p>
            <a:endParaRPr lang="en-US"/>
          </a:p>
        </p:txBody>
      </p:sp>
      <p:sp>
        <p:nvSpPr>
          <p:cNvPr id="17" name="Shape 13"/>
          <p:cNvSpPr/>
          <p:nvPr/>
        </p:nvSpPr>
        <p:spPr>
          <a:xfrm>
            <a:off x="8321040" y="3840480"/>
            <a:ext cx="566928" cy="566928"/>
          </a:xfrm>
          <a:prstGeom prst="ellipse">
            <a:avLst/>
          </a:prstGeom>
          <a:solidFill>
            <a:srgbClr val="C4A654"/>
          </a:solidFill>
          <a:ln w="12700">
            <a:solidFill>
              <a:srgbClr val="C4A654"/>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62772" y="3982212"/>
            <a:ext cx="283464" cy="283464"/>
          </a:xfrm>
          <a:prstGeom prst="rect">
            <a:avLst/>
          </a:prstGeom>
        </p:spPr>
      </p:pic>
      <p:sp>
        <p:nvSpPr>
          <p:cNvPr id="19" name="Text 14"/>
          <p:cNvSpPr txBox="1"/>
          <p:nvPr/>
        </p:nvSpPr>
        <p:spPr>
          <a:xfrm>
            <a:off x="8321040" y="4526280"/>
            <a:ext cx="3017520" cy="640080"/>
          </a:xfrm>
          <a:prstGeom prst="rect">
            <a:avLst/>
          </a:prstGeom>
          <a:noFill/>
          <a:ln/>
        </p:spPr>
        <p:txBody>
          <a:bodyPr wrap="square" lIns="0" tIns="0" rIns="0" bIns="0" rtlCol="0" anchor="t"/>
          <a:lstStyle/>
          <a:p>
            <a:pPr marL="0" indent="0">
              <a:buNone/>
            </a:pPr>
            <a:r>
              <a:rPr lang="en-US" sz="1700" b="1" dirty="0">
                <a:solidFill>
                  <a:srgbClr val="FFFFFF"/>
                </a:solidFill>
                <a:latin typeface="Raleway" pitchFamily="34" charset="0"/>
                <a:ea typeface="Raleway" pitchFamily="34" charset="-122"/>
                <a:cs typeface="Raleway" pitchFamily="34" charset="-120"/>
              </a:rPr>
              <a:t>What isn’t getting enough time or focus?</a:t>
            </a:r>
            <a:endParaRPr lang="en-US" sz="1700" dirty="0"/>
          </a:p>
        </p:txBody>
      </p:sp>
      <p:sp>
        <p:nvSpPr>
          <p:cNvPr id="20" name="Text 15"/>
          <p:cNvSpPr txBox="1"/>
          <p:nvPr/>
        </p:nvSpPr>
        <p:spPr>
          <a:xfrm>
            <a:off x="8321040" y="5212080"/>
            <a:ext cx="3017520" cy="731520"/>
          </a:xfrm>
          <a:prstGeom prst="rect">
            <a:avLst/>
          </a:prstGeom>
          <a:noFill/>
          <a:ln/>
        </p:spPr>
        <p:txBody>
          <a:bodyPr wrap="square" lIns="0" tIns="0" rIns="0" bIns="0" rtlCol="0" anchor="t"/>
          <a:lstStyle/>
          <a:p>
            <a:pPr marL="0" indent="0">
              <a:buNone/>
            </a:pPr>
            <a:r>
              <a:rPr lang="en-US" sz="1300" dirty="0">
                <a:solidFill>
                  <a:srgbClr val="B3B8C2"/>
                </a:solidFill>
                <a:latin typeface="Calibri" pitchFamily="34" charset="0"/>
                <a:ea typeface="Calibri" pitchFamily="34" charset="-122"/>
                <a:cs typeface="Calibri" pitchFamily="34" charset="-120"/>
              </a:rPr>
              <a:t>Which questions keep being skipped in AI talks: accuracy, cost, provenance, skills, trust?</a:t>
            </a:r>
            <a:endParaRPr lang="en-US" sz="1300" dirty="0"/>
          </a:p>
        </p:txBody>
      </p:sp>
      <p:sp>
        <p:nvSpPr>
          <p:cNvPr id="21" name="Text 16"/>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B3B8C2"/>
                </a:solidFill>
                <a:latin typeface="Calibri" pitchFamily="34" charset="0"/>
                <a:ea typeface="Calibri" pitchFamily="34" charset="-122"/>
                <a:cs typeface="Calibri" pitchFamily="34" charset="-120"/>
              </a:rPr>
              <a:t>WKS10  ·  Building a Repeatable AI Pipeline</a:t>
            </a:r>
            <a:endParaRPr lang="en-US" sz="1000" dirty="0"/>
          </a:p>
        </p:txBody>
      </p:sp>
      <p:sp>
        <p:nvSpPr>
          <p:cNvPr id="22" name="Text 17"/>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B3B8C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A98B3C"/>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B2E36"/>
                </a:solidFill>
                <a:latin typeface="Raleway" pitchFamily="34" charset="0"/>
                <a:ea typeface="Raleway" pitchFamily="34" charset="-122"/>
                <a:cs typeface="Raleway" pitchFamily="34" charset="-120"/>
              </a:rPr>
              <a:t>The role of AI in museums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0555F"/>
                </a:solidFill>
                <a:latin typeface="Calibri" pitchFamily="34" charset="0"/>
                <a:ea typeface="Calibri" pitchFamily="34" charset="-122"/>
                <a:cs typeface="Calibri" pitchFamily="34" charset="-120"/>
              </a:rPr>
              <a:t>Every TDWG conference I have attended makes the same point.</a:t>
            </a:r>
            <a:endParaRPr lang="en-US" sz="1500" dirty="0"/>
          </a:p>
        </p:txBody>
      </p:sp>
      <p:sp>
        <p:nvSpPr>
          <p:cNvPr id="5" name="Shape 3"/>
          <p:cNvSpPr/>
          <p:nvPr/>
        </p:nvSpPr>
        <p:spPr>
          <a:xfrm>
            <a:off x="548640" y="2194560"/>
            <a:ext cx="3520440" cy="1463040"/>
          </a:xfrm>
          <a:prstGeom prst="roundRect">
            <a:avLst>
              <a:gd name="adj" fmla="val 5000"/>
            </a:avLst>
          </a:prstGeom>
          <a:solidFill>
            <a:srgbClr val="EEF3F7"/>
          </a:solidFill>
          <a:ln w="12700">
            <a:solidFill>
              <a:srgbClr val="EEF3F7"/>
            </a:solidFill>
            <a:prstDash val="solid"/>
          </a:ln>
        </p:spPr>
        <p:txBody>
          <a:bodyPr/>
          <a:lstStyle/>
          <a:p>
            <a:endParaRPr lang="en-US"/>
          </a:p>
        </p:txBody>
      </p:sp>
      <p:sp>
        <p:nvSpPr>
          <p:cNvPr id="6" name="Shape 4"/>
          <p:cNvSpPr/>
          <p:nvPr/>
        </p:nvSpPr>
        <p:spPr>
          <a:xfrm>
            <a:off x="868680" y="2606040"/>
            <a:ext cx="640080" cy="640080"/>
          </a:xfrm>
          <a:prstGeom prst="ellipse">
            <a:avLst/>
          </a:prstGeom>
          <a:solidFill>
            <a:srgbClr val="5F8FAF"/>
          </a:solidFill>
          <a:ln w="12700">
            <a:solidFill>
              <a:srgbClr val="5F8FAF"/>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028700" y="2766060"/>
            <a:ext cx="320040" cy="320040"/>
          </a:xfrm>
          <a:prstGeom prst="rect">
            <a:avLst/>
          </a:prstGeom>
        </p:spPr>
      </p:pic>
      <p:sp>
        <p:nvSpPr>
          <p:cNvPr id="8" name="Text 5"/>
          <p:cNvSpPr txBox="1"/>
          <p:nvPr/>
        </p:nvSpPr>
        <p:spPr>
          <a:xfrm>
            <a:off x="1737360" y="2606040"/>
            <a:ext cx="2194560" cy="640080"/>
          </a:xfrm>
          <a:prstGeom prst="rect">
            <a:avLst/>
          </a:prstGeom>
          <a:noFill/>
          <a:ln/>
        </p:spPr>
        <p:txBody>
          <a:bodyPr wrap="square" lIns="0" tIns="0" rIns="0" bIns="0" rtlCol="0" anchor="ctr"/>
          <a:lstStyle/>
          <a:p>
            <a:pPr marL="0" indent="0">
              <a:buNone/>
            </a:pPr>
            <a:r>
              <a:rPr lang="en-US" sz="2000" b="1" dirty="0">
                <a:solidFill>
                  <a:srgbClr val="2B2E36"/>
                </a:solidFill>
                <a:latin typeface="Raleway" pitchFamily="34" charset="0"/>
                <a:ea typeface="Raleway" pitchFamily="34" charset="-122"/>
                <a:cs typeface="Raleway" pitchFamily="34" charset="-120"/>
              </a:rPr>
              <a:t>Not enough time</a:t>
            </a:r>
            <a:endParaRPr lang="en-US" sz="2000" dirty="0"/>
          </a:p>
        </p:txBody>
      </p:sp>
      <p:sp>
        <p:nvSpPr>
          <p:cNvPr id="9" name="Shape 6"/>
          <p:cNvSpPr/>
          <p:nvPr/>
        </p:nvSpPr>
        <p:spPr>
          <a:xfrm>
            <a:off x="4297680" y="2194560"/>
            <a:ext cx="3520440" cy="1463040"/>
          </a:xfrm>
          <a:prstGeom prst="roundRect">
            <a:avLst>
              <a:gd name="adj" fmla="val 5000"/>
            </a:avLst>
          </a:prstGeom>
          <a:solidFill>
            <a:srgbClr val="EEF3F7"/>
          </a:solidFill>
          <a:ln w="12700">
            <a:solidFill>
              <a:srgbClr val="EEF3F7"/>
            </a:solidFill>
            <a:prstDash val="solid"/>
          </a:ln>
        </p:spPr>
        <p:txBody>
          <a:bodyPr/>
          <a:lstStyle/>
          <a:p>
            <a:endParaRPr lang="en-US"/>
          </a:p>
        </p:txBody>
      </p:sp>
      <p:sp>
        <p:nvSpPr>
          <p:cNvPr id="10" name="Shape 7"/>
          <p:cNvSpPr/>
          <p:nvPr/>
        </p:nvSpPr>
        <p:spPr>
          <a:xfrm>
            <a:off x="4617720" y="2606040"/>
            <a:ext cx="640080" cy="640080"/>
          </a:xfrm>
          <a:prstGeom prst="ellipse">
            <a:avLst/>
          </a:prstGeom>
          <a:solidFill>
            <a:srgbClr val="A98B3C"/>
          </a:solidFill>
          <a:ln w="12700">
            <a:solidFill>
              <a:srgbClr val="A98B3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777740" y="2766060"/>
            <a:ext cx="320040" cy="320040"/>
          </a:xfrm>
          <a:prstGeom prst="rect">
            <a:avLst/>
          </a:prstGeom>
        </p:spPr>
      </p:pic>
      <p:sp>
        <p:nvSpPr>
          <p:cNvPr id="12" name="Text 8"/>
          <p:cNvSpPr txBox="1"/>
          <p:nvPr/>
        </p:nvSpPr>
        <p:spPr>
          <a:xfrm>
            <a:off x="5486400" y="2606040"/>
            <a:ext cx="2194560" cy="640080"/>
          </a:xfrm>
          <a:prstGeom prst="rect">
            <a:avLst/>
          </a:prstGeom>
          <a:noFill/>
          <a:ln/>
        </p:spPr>
        <p:txBody>
          <a:bodyPr wrap="square" lIns="0" tIns="0" rIns="0" bIns="0" rtlCol="0" anchor="ctr"/>
          <a:lstStyle/>
          <a:p>
            <a:pPr marL="0" indent="0">
              <a:buNone/>
            </a:pPr>
            <a:r>
              <a:rPr lang="en-US" sz="2000" b="1" dirty="0">
                <a:solidFill>
                  <a:srgbClr val="2B2E36"/>
                </a:solidFill>
                <a:latin typeface="Raleway" pitchFamily="34" charset="0"/>
                <a:ea typeface="Raleway" pitchFamily="34" charset="-122"/>
                <a:cs typeface="Raleway" pitchFamily="34" charset="-120"/>
              </a:rPr>
              <a:t>Not enough money</a:t>
            </a:r>
            <a:endParaRPr lang="en-US" sz="2000" dirty="0"/>
          </a:p>
        </p:txBody>
      </p:sp>
      <p:sp>
        <p:nvSpPr>
          <p:cNvPr id="13" name="Shape 9"/>
          <p:cNvSpPr/>
          <p:nvPr/>
        </p:nvSpPr>
        <p:spPr>
          <a:xfrm>
            <a:off x="8046720" y="2194560"/>
            <a:ext cx="3520440" cy="1463040"/>
          </a:xfrm>
          <a:prstGeom prst="roundRect">
            <a:avLst>
              <a:gd name="adj" fmla="val 5000"/>
            </a:avLst>
          </a:prstGeom>
          <a:solidFill>
            <a:srgbClr val="EEF3F7"/>
          </a:solidFill>
          <a:ln w="12700">
            <a:solidFill>
              <a:srgbClr val="EEF3F7"/>
            </a:solidFill>
            <a:prstDash val="solid"/>
          </a:ln>
        </p:spPr>
        <p:txBody>
          <a:bodyPr/>
          <a:lstStyle/>
          <a:p>
            <a:endParaRPr lang="en-US"/>
          </a:p>
        </p:txBody>
      </p:sp>
      <p:sp>
        <p:nvSpPr>
          <p:cNvPr id="14" name="Shape 10"/>
          <p:cNvSpPr/>
          <p:nvPr/>
        </p:nvSpPr>
        <p:spPr>
          <a:xfrm>
            <a:off x="8366760" y="2606040"/>
            <a:ext cx="640080" cy="640080"/>
          </a:xfrm>
          <a:prstGeom prst="ellipse">
            <a:avLst/>
          </a:prstGeom>
          <a:solidFill>
            <a:srgbClr val="2E5C8F"/>
          </a:solidFill>
          <a:ln w="12700">
            <a:solidFill>
              <a:srgbClr val="2E5C8F"/>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8526780" y="2766060"/>
            <a:ext cx="320040" cy="320040"/>
          </a:xfrm>
          <a:prstGeom prst="rect">
            <a:avLst/>
          </a:prstGeom>
        </p:spPr>
      </p:pic>
      <p:sp>
        <p:nvSpPr>
          <p:cNvPr id="16" name="Text 11"/>
          <p:cNvSpPr txBox="1"/>
          <p:nvPr/>
        </p:nvSpPr>
        <p:spPr>
          <a:xfrm>
            <a:off x="9235440" y="2606040"/>
            <a:ext cx="2194560" cy="640080"/>
          </a:xfrm>
          <a:prstGeom prst="rect">
            <a:avLst/>
          </a:prstGeom>
          <a:noFill/>
          <a:ln/>
        </p:spPr>
        <p:txBody>
          <a:bodyPr wrap="square" lIns="0" tIns="0" rIns="0" bIns="0" rtlCol="0" anchor="ctr"/>
          <a:lstStyle/>
          <a:p>
            <a:pPr marL="0" indent="0">
              <a:buNone/>
            </a:pPr>
            <a:r>
              <a:rPr lang="en-US" sz="2000" b="1" dirty="0">
                <a:solidFill>
                  <a:srgbClr val="2B2E36"/>
                </a:solidFill>
                <a:latin typeface="Raleway" pitchFamily="34" charset="0"/>
                <a:ea typeface="Raleway" pitchFamily="34" charset="-122"/>
                <a:cs typeface="Raleway" pitchFamily="34" charset="-120"/>
              </a:rPr>
              <a:t>Not enough people</a:t>
            </a:r>
            <a:endParaRPr lang="en-US" sz="2000" dirty="0"/>
          </a:p>
        </p:txBody>
      </p:sp>
      <p:sp>
        <p:nvSpPr>
          <p:cNvPr id="17" name="Text 12"/>
          <p:cNvSpPr txBox="1"/>
          <p:nvPr/>
        </p:nvSpPr>
        <p:spPr>
          <a:xfrm>
            <a:off x="548640" y="3977640"/>
            <a:ext cx="10972800" cy="548640"/>
          </a:xfrm>
          <a:prstGeom prst="rect">
            <a:avLst/>
          </a:prstGeom>
          <a:noFill/>
          <a:ln/>
        </p:spPr>
        <p:txBody>
          <a:bodyPr wrap="square" lIns="0" tIns="0" rIns="0" bIns="0" rtlCol="0" anchor="ctr"/>
          <a:lstStyle/>
          <a:p>
            <a:pPr marL="0" indent="0">
              <a:buNone/>
            </a:pPr>
            <a:r>
              <a:rPr lang="en-US" sz="2000" i="1" dirty="0">
                <a:solidFill>
                  <a:srgbClr val="5F8FAF"/>
                </a:solidFill>
                <a:latin typeface="Raleway" pitchFamily="34" charset="0"/>
                <a:ea typeface="Raleway" pitchFamily="34" charset="-122"/>
                <a:cs typeface="Raleway" pitchFamily="34" charset="-120"/>
              </a:rPr>
              <a:t>That is unlikely to change. AI addresses the problem if it is used efficiently and strategically.</a:t>
            </a:r>
            <a:endParaRPr lang="en-US" sz="2000" dirty="0"/>
          </a:p>
        </p:txBody>
      </p:sp>
      <p:sp>
        <p:nvSpPr>
          <p:cNvPr id="18" name="Text 13"/>
          <p:cNvSpPr txBox="1"/>
          <p:nvPr/>
        </p:nvSpPr>
        <p:spPr>
          <a:xfrm>
            <a:off x="548640" y="4800600"/>
            <a:ext cx="3520440" cy="320040"/>
          </a:xfrm>
          <a:prstGeom prst="rect">
            <a:avLst/>
          </a:prstGeom>
          <a:noFill/>
          <a:ln/>
        </p:spPr>
        <p:txBody>
          <a:bodyPr wrap="square" lIns="0" tIns="0" rIns="0" bIns="0" rtlCol="0" anchor="t"/>
          <a:lstStyle/>
          <a:p>
            <a:pPr marL="0" indent="0">
              <a:buNone/>
            </a:pPr>
            <a:r>
              <a:rPr lang="en-US" sz="1500" b="1" dirty="0">
                <a:solidFill>
                  <a:srgbClr val="2B2E36"/>
                </a:solidFill>
                <a:latin typeface="Calibri" pitchFamily="34" charset="0"/>
                <a:ea typeface="Calibri" pitchFamily="34" charset="-122"/>
                <a:cs typeface="Calibri" pitchFamily="34" charset="-120"/>
              </a:rPr>
              <a:t>What problem does it solve?</a:t>
            </a:r>
            <a:endParaRPr lang="en-US" sz="1500" dirty="0"/>
          </a:p>
        </p:txBody>
      </p:sp>
      <p:sp>
        <p:nvSpPr>
          <p:cNvPr id="19" name="Text 14"/>
          <p:cNvSpPr txBox="1"/>
          <p:nvPr/>
        </p:nvSpPr>
        <p:spPr>
          <a:xfrm>
            <a:off x="548640" y="5166360"/>
            <a:ext cx="3520440" cy="822960"/>
          </a:xfrm>
          <a:prstGeom prst="rect">
            <a:avLst/>
          </a:prstGeom>
          <a:noFill/>
          <a:ln/>
        </p:spPr>
        <p:txBody>
          <a:bodyPr wrap="square" lIns="0" tIns="0" rIns="0" bIns="0" rtlCol="0" anchor="t"/>
          <a:lstStyle/>
          <a:p>
            <a:pPr marL="0" indent="0">
              <a:buNone/>
            </a:pPr>
            <a:r>
              <a:rPr lang="en-US" sz="1300" dirty="0">
                <a:solidFill>
                  <a:srgbClr val="50555F"/>
                </a:solidFill>
                <a:latin typeface="Calibri" pitchFamily="34" charset="0"/>
                <a:ea typeface="Calibri" pitchFamily="34" charset="-122"/>
                <a:cs typeface="Calibri" pitchFamily="34" charset="-120"/>
              </a:rPr>
              <a:t>Backlogs of transcription, cleaning, translation and mapping work that no one has time for.</a:t>
            </a:r>
            <a:endParaRPr lang="en-US" sz="1300" dirty="0"/>
          </a:p>
        </p:txBody>
      </p:sp>
      <p:sp>
        <p:nvSpPr>
          <p:cNvPr id="20" name="Text 15"/>
          <p:cNvSpPr txBox="1"/>
          <p:nvPr/>
        </p:nvSpPr>
        <p:spPr>
          <a:xfrm>
            <a:off x="4297680" y="4800600"/>
            <a:ext cx="3520440" cy="320040"/>
          </a:xfrm>
          <a:prstGeom prst="rect">
            <a:avLst/>
          </a:prstGeom>
          <a:noFill/>
          <a:ln/>
        </p:spPr>
        <p:txBody>
          <a:bodyPr wrap="square" lIns="0" tIns="0" rIns="0" bIns="0" rtlCol="0" anchor="t"/>
          <a:lstStyle/>
          <a:p>
            <a:pPr marL="0" indent="0">
              <a:buNone/>
            </a:pPr>
            <a:r>
              <a:rPr lang="en-US" sz="1500" b="1" dirty="0">
                <a:solidFill>
                  <a:srgbClr val="2B2E36"/>
                </a:solidFill>
                <a:latin typeface="Calibri" pitchFamily="34" charset="0"/>
                <a:ea typeface="Calibri" pitchFamily="34" charset="-122"/>
                <a:cs typeface="Calibri" pitchFamily="34" charset="-120"/>
              </a:rPr>
              <a:t>What role does it play?</a:t>
            </a:r>
            <a:endParaRPr lang="en-US" sz="1500" dirty="0"/>
          </a:p>
        </p:txBody>
      </p:sp>
      <p:sp>
        <p:nvSpPr>
          <p:cNvPr id="21" name="Text 16"/>
          <p:cNvSpPr txBox="1"/>
          <p:nvPr/>
        </p:nvSpPr>
        <p:spPr>
          <a:xfrm>
            <a:off x="4297680" y="5166360"/>
            <a:ext cx="3520440" cy="822960"/>
          </a:xfrm>
          <a:prstGeom prst="rect">
            <a:avLst/>
          </a:prstGeom>
          <a:noFill/>
          <a:ln/>
        </p:spPr>
        <p:txBody>
          <a:bodyPr wrap="square" lIns="0" tIns="0" rIns="0" bIns="0" rtlCol="0" anchor="t"/>
          <a:lstStyle/>
          <a:p>
            <a:pPr marL="0" indent="0">
              <a:buNone/>
            </a:pPr>
            <a:r>
              <a:rPr lang="en-US" sz="1300" dirty="0">
                <a:solidFill>
                  <a:srgbClr val="50555F"/>
                </a:solidFill>
                <a:latin typeface="Calibri" pitchFamily="34" charset="0"/>
                <a:ea typeface="Calibri" pitchFamily="34" charset="-122"/>
                <a:cs typeface="Calibri" pitchFamily="34" charset="-120"/>
              </a:rPr>
              <a:t>An assistant that plans, writes and runs code, supervised by the people who know the data.</a:t>
            </a:r>
            <a:endParaRPr lang="en-US" sz="1300" dirty="0"/>
          </a:p>
        </p:txBody>
      </p:sp>
      <p:sp>
        <p:nvSpPr>
          <p:cNvPr id="22" name="Text 17"/>
          <p:cNvSpPr txBox="1"/>
          <p:nvPr/>
        </p:nvSpPr>
        <p:spPr>
          <a:xfrm>
            <a:off x="8046720" y="4800600"/>
            <a:ext cx="3520440" cy="320040"/>
          </a:xfrm>
          <a:prstGeom prst="rect">
            <a:avLst/>
          </a:prstGeom>
          <a:noFill/>
          <a:ln/>
        </p:spPr>
        <p:txBody>
          <a:bodyPr wrap="square" lIns="0" tIns="0" rIns="0" bIns="0" rtlCol="0" anchor="t"/>
          <a:lstStyle/>
          <a:p>
            <a:pPr marL="0" indent="0">
              <a:buNone/>
            </a:pPr>
            <a:r>
              <a:rPr lang="en-US" sz="1500" b="1" dirty="0">
                <a:solidFill>
                  <a:srgbClr val="2B2E36"/>
                </a:solidFill>
                <a:latin typeface="Calibri" pitchFamily="34" charset="0"/>
                <a:ea typeface="Calibri" pitchFamily="34" charset="-122"/>
                <a:cs typeface="Calibri" pitchFamily="34" charset="-120"/>
              </a:rPr>
              <a:t>How accurate is it?</a:t>
            </a:r>
            <a:endParaRPr lang="en-US" sz="1500" dirty="0"/>
          </a:p>
        </p:txBody>
      </p:sp>
      <p:sp>
        <p:nvSpPr>
          <p:cNvPr id="23" name="Text 18"/>
          <p:cNvSpPr txBox="1"/>
          <p:nvPr/>
        </p:nvSpPr>
        <p:spPr>
          <a:xfrm>
            <a:off x="8046720" y="5166360"/>
            <a:ext cx="3520440" cy="822960"/>
          </a:xfrm>
          <a:prstGeom prst="rect">
            <a:avLst/>
          </a:prstGeom>
          <a:noFill/>
          <a:ln/>
        </p:spPr>
        <p:txBody>
          <a:bodyPr wrap="square" lIns="0" tIns="0" rIns="0" bIns="0" rtlCol="0" anchor="t"/>
          <a:lstStyle/>
          <a:p>
            <a:pPr marL="0" indent="0">
              <a:buNone/>
            </a:pPr>
            <a:r>
              <a:rPr lang="en-US" sz="1300" dirty="0">
                <a:solidFill>
                  <a:srgbClr val="50555F"/>
                </a:solidFill>
                <a:latin typeface="Calibri" pitchFamily="34" charset="0"/>
                <a:ea typeface="Calibri" pitchFamily="34" charset="-122"/>
                <a:cs typeface="Calibri" pitchFamily="34" charset="-120"/>
              </a:rPr>
              <a:t>Accurate enough only when it is verified. We come back to this at the end.</a:t>
            </a:r>
            <a:endParaRPr lang="en-US" sz="1300" dirty="0"/>
          </a:p>
        </p:txBody>
      </p:sp>
      <p:sp>
        <p:nvSpPr>
          <p:cNvPr id="24" name="Text 19"/>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D939D"/>
                </a:solidFill>
                <a:latin typeface="Calibri" pitchFamily="34" charset="0"/>
                <a:ea typeface="Calibri" pitchFamily="34" charset="-122"/>
                <a:cs typeface="Calibri" pitchFamily="34" charset="-120"/>
              </a:rPr>
              <a:t>WKS10  ·  Building a Repeatable AI Pipeline</a:t>
            </a:r>
            <a:endParaRPr lang="en-US" sz="1000" dirty="0"/>
          </a:p>
        </p:txBody>
      </p:sp>
      <p:sp>
        <p:nvSpPr>
          <p:cNvPr id="25" name="Text 20"/>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8D939D"/>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A98B3C"/>
                </a:solidFill>
                <a:latin typeface="Calibri" pitchFamily="34" charset="0"/>
                <a:ea typeface="Calibri" pitchFamily="34" charset="-122"/>
                <a:cs typeface="Calibri" pitchFamily="34" charset="-120"/>
              </a:rPr>
              <a:t>THE MODEL LANDSCAPE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B2E36"/>
                </a:solidFill>
                <a:latin typeface="Raleway" pitchFamily="34" charset="0"/>
                <a:ea typeface="Raleway" pitchFamily="34" charset="-122"/>
                <a:cs typeface="Raleway" pitchFamily="34" charset="-120"/>
              </a:rPr>
              <a:t>Many models, different strengths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0555F"/>
                </a:solidFill>
                <a:latin typeface="Calibri" pitchFamily="34" charset="0"/>
                <a:ea typeface="Calibri" pitchFamily="34" charset="-122"/>
                <a:cs typeface="Calibri" pitchFamily="34" charset="-120"/>
              </a:rPr>
              <a:t>Some models perform specific tasks far better than others.</a:t>
            </a:r>
            <a:endParaRPr lang="en-US" sz="1500" dirty="0"/>
          </a:p>
        </p:txBody>
      </p:sp>
      <p:sp>
        <p:nvSpPr>
          <p:cNvPr id="5" name="Shape 3"/>
          <p:cNvSpPr/>
          <p:nvPr/>
        </p:nvSpPr>
        <p:spPr>
          <a:xfrm>
            <a:off x="548640" y="2148840"/>
            <a:ext cx="6675120" cy="3886200"/>
          </a:xfrm>
          <a:prstGeom prst="roundRect">
            <a:avLst>
              <a:gd name="adj" fmla="val 1882"/>
            </a:avLst>
          </a:prstGeom>
          <a:solidFill>
            <a:srgbClr val="EEF3F7"/>
          </a:solidFill>
          <a:ln w="12700">
            <a:solidFill>
              <a:srgbClr val="EEF3F7"/>
            </a:solidFill>
            <a:prstDash val="solid"/>
          </a:ln>
        </p:spPr>
        <p:txBody>
          <a:bodyPr/>
          <a:lstStyle/>
          <a:p>
            <a:endParaRPr lang="en-US"/>
          </a:p>
        </p:txBody>
      </p:sp>
      <p:sp>
        <p:nvSpPr>
          <p:cNvPr id="6" name="Text 4"/>
          <p:cNvSpPr txBox="1"/>
          <p:nvPr/>
        </p:nvSpPr>
        <p:spPr>
          <a:xfrm>
            <a:off x="914400" y="2377440"/>
            <a:ext cx="6035040" cy="274320"/>
          </a:xfrm>
          <a:prstGeom prst="rect">
            <a:avLst/>
          </a:prstGeom>
          <a:noFill/>
          <a:ln/>
        </p:spPr>
        <p:txBody>
          <a:bodyPr wrap="square" lIns="0" tIns="0" rIns="0" bIns="0" rtlCol="0" anchor="t"/>
          <a:lstStyle/>
          <a:p>
            <a:pPr marL="0" indent="0">
              <a:buNone/>
            </a:pPr>
            <a:r>
              <a:rPr lang="en-US" sz="1100" b="1" kern="0" spc="100" dirty="0">
                <a:solidFill>
                  <a:srgbClr val="A98B3C"/>
                </a:solidFill>
                <a:latin typeface="Calibri" pitchFamily="34" charset="0"/>
                <a:ea typeface="Calibri" pitchFamily="34" charset="-122"/>
                <a:cs typeface="Calibri" pitchFamily="34" charset="-120"/>
              </a:rPr>
              <a:t>A REAL EXAMPLE: SCREENSHOT → FIGMA MOCKUP</a:t>
            </a:r>
            <a:endParaRPr lang="en-US" sz="1100" dirty="0"/>
          </a:p>
        </p:txBody>
      </p:sp>
      <p:sp>
        <p:nvSpPr>
          <p:cNvPr id="7" name="Text 5"/>
          <p:cNvSpPr txBox="1"/>
          <p:nvPr/>
        </p:nvSpPr>
        <p:spPr>
          <a:xfrm>
            <a:off x="914400" y="2743200"/>
            <a:ext cx="5943600" cy="640080"/>
          </a:xfrm>
          <a:prstGeom prst="rect">
            <a:avLst/>
          </a:prstGeom>
          <a:noFill/>
          <a:ln/>
        </p:spPr>
        <p:txBody>
          <a:bodyPr wrap="square" lIns="0" tIns="0" rIns="0" bIns="0" rtlCol="0" anchor="t"/>
          <a:lstStyle/>
          <a:p>
            <a:pPr marL="0" indent="0">
              <a:buNone/>
            </a:pPr>
            <a:r>
              <a:rPr lang="en-US" sz="1400" dirty="0">
                <a:solidFill>
                  <a:srgbClr val="50555F"/>
                </a:solidFill>
                <a:latin typeface="Calibri" pitchFamily="34" charset="0"/>
                <a:ea typeface="Calibri" pitchFamily="34" charset="-122"/>
                <a:cs typeface="Calibri" pitchFamily="34" charset="-120"/>
              </a:rPr>
              <a:t>A plugin designed for exactly this task offered several models. The same task was run with each of them:</a:t>
            </a:r>
            <a:endParaRPr lang="en-US" sz="1400" dirty="0"/>
          </a:p>
        </p:txBody>
      </p:sp>
      <p:sp>
        <p:nvSpPr>
          <p:cNvPr id="8" name="Shape 6"/>
          <p:cNvSpPr/>
          <p:nvPr/>
        </p:nvSpPr>
        <p:spPr>
          <a:xfrm>
            <a:off x="914400" y="3474720"/>
            <a:ext cx="347472" cy="347472"/>
          </a:xfrm>
          <a:prstGeom prst="ellipse">
            <a:avLst/>
          </a:prstGeom>
          <a:solidFill>
            <a:srgbClr val="727885"/>
          </a:solidFill>
          <a:ln w="12700">
            <a:solidFill>
              <a:srgbClr val="727885"/>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1001268" y="3561588"/>
            <a:ext cx="173736" cy="173736"/>
          </a:xfrm>
          <a:prstGeom prst="rect">
            <a:avLst/>
          </a:prstGeom>
        </p:spPr>
      </p:pic>
      <p:sp>
        <p:nvSpPr>
          <p:cNvPr id="10" name="Text 7"/>
          <p:cNvSpPr txBox="1"/>
          <p:nvPr/>
        </p:nvSpPr>
        <p:spPr>
          <a:xfrm>
            <a:off x="1417320" y="3493008"/>
            <a:ext cx="2286000" cy="320040"/>
          </a:xfrm>
          <a:prstGeom prst="rect">
            <a:avLst/>
          </a:prstGeom>
          <a:noFill/>
          <a:ln/>
        </p:spPr>
        <p:txBody>
          <a:bodyPr wrap="square" lIns="0" tIns="0" rIns="0" bIns="0" rtlCol="0" anchor="ctr"/>
          <a:lstStyle/>
          <a:p>
            <a:pPr marL="0" indent="0">
              <a:buNone/>
            </a:pPr>
            <a:r>
              <a:rPr lang="en-US" sz="1500" b="1" dirty="0">
                <a:solidFill>
                  <a:srgbClr val="2B2E36"/>
                </a:solidFill>
                <a:latin typeface="Calibri" pitchFamily="34" charset="0"/>
                <a:ea typeface="Calibri" pitchFamily="34" charset="-122"/>
                <a:cs typeface="Calibri" pitchFamily="34" charset="-120"/>
              </a:rPr>
              <a:t>Opus</a:t>
            </a:r>
            <a:endParaRPr lang="en-US" sz="1500" dirty="0"/>
          </a:p>
        </p:txBody>
      </p:sp>
      <p:sp>
        <p:nvSpPr>
          <p:cNvPr id="11" name="Text 8"/>
          <p:cNvSpPr txBox="1"/>
          <p:nvPr/>
        </p:nvSpPr>
        <p:spPr>
          <a:xfrm>
            <a:off x="3291840" y="3493008"/>
            <a:ext cx="3200400" cy="320040"/>
          </a:xfrm>
          <a:prstGeom prst="rect">
            <a:avLst/>
          </a:prstGeom>
          <a:noFill/>
          <a:ln/>
        </p:spPr>
        <p:txBody>
          <a:bodyPr wrap="square" lIns="0" tIns="0" rIns="0" bIns="0" rtlCol="0" anchor="ctr"/>
          <a:lstStyle/>
          <a:p>
            <a:pPr marL="0" indent="0">
              <a:buNone/>
            </a:pPr>
            <a:r>
              <a:rPr lang="en-US" sz="1400" dirty="0">
                <a:solidFill>
                  <a:srgbClr val="50555F"/>
                </a:solidFill>
                <a:latin typeface="Calibri" pitchFamily="34" charset="0"/>
                <a:ea typeface="Calibri" pitchFamily="34" charset="-122"/>
                <a:cs typeface="Calibri" pitchFamily="34" charset="-120"/>
              </a:rPr>
              <a:t>Failed completely</a:t>
            </a:r>
            <a:endParaRPr lang="en-US" sz="1400" dirty="0"/>
          </a:p>
        </p:txBody>
      </p:sp>
      <p:sp>
        <p:nvSpPr>
          <p:cNvPr id="12" name="Shape 9"/>
          <p:cNvSpPr/>
          <p:nvPr/>
        </p:nvSpPr>
        <p:spPr>
          <a:xfrm>
            <a:off x="914400" y="3950208"/>
            <a:ext cx="347472" cy="347472"/>
          </a:xfrm>
          <a:prstGeom prst="ellipse">
            <a:avLst/>
          </a:prstGeom>
          <a:solidFill>
            <a:srgbClr val="727885"/>
          </a:solidFill>
          <a:ln w="12700">
            <a:solidFill>
              <a:srgbClr val="727885"/>
            </a:solidFill>
            <a:prstDash val="solid"/>
          </a:ln>
        </p:spPr>
        <p:txBody>
          <a:bodyPr/>
          <a:lstStyle/>
          <a:p>
            <a:endParaRPr lang="en-US"/>
          </a:p>
        </p:txBody>
      </p:sp>
      <p:pic>
        <p:nvPicPr>
          <p:cNvPr id="13" name="Image 1" descr="preencoded.png"/>
          <p:cNvPicPr>
            <a:picLocks noChangeAspect="1"/>
          </p:cNvPicPr>
          <p:nvPr/>
        </p:nvPicPr>
        <p:blipFill>
          <a:blip r:embed="rId3"/>
          <a:stretch>
            <a:fillRect/>
          </a:stretch>
        </p:blipFill>
        <p:spPr>
          <a:xfrm>
            <a:off x="1001268" y="4037076"/>
            <a:ext cx="173736" cy="173736"/>
          </a:xfrm>
          <a:prstGeom prst="rect">
            <a:avLst/>
          </a:prstGeom>
        </p:spPr>
      </p:pic>
      <p:sp>
        <p:nvSpPr>
          <p:cNvPr id="14" name="Text 10"/>
          <p:cNvSpPr txBox="1"/>
          <p:nvPr/>
        </p:nvSpPr>
        <p:spPr>
          <a:xfrm>
            <a:off x="1417320" y="3968496"/>
            <a:ext cx="2286000" cy="320040"/>
          </a:xfrm>
          <a:prstGeom prst="rect">
            <a:avLst/>
          </a:prstGeom>
          <a:noFill/>
          <a:ln/>
        </p:spPr>
        <p:txBody>
          <a:bodyPr wrap="square" lIns="0" tIns="0" rIns="0" bIns="0" rtlCol="0" anchor="ctr"/>
          <a:lstStyle/>
          <a:p>
            <a:pPr marL="0" indent="0">
              <a:buNone/>
            </a:pPr>
            <a:r>
              <a:rPr lang="en-US" sz="1500" b="1" dirty="0">
                <a:solidFill>
                  <a:srgbClr val="2B2E36"/>
                </a:solidFill>
                <a:latin typeface="Calibri" pitchFamily="34" charset="0"/>
                <a:ea typeface="Calibri" pitchFamily="34" charset="-122"/>
                <a:cs typeface="Calibri" pitchFamily="34" charset="-120"/>
              </a:rPr>
              <a:t>Sonnet</a:t>
            </a:r>
            <a:endParaRPr lang="en-US" sz="1500" dirty="0"/>
          </a:p>
        </p:txBody>
      </p:sp>
      <p:sp>
        <p:nvSpPr>
          <p:cNvPr id="15" name="Text 11"/>
          <p:cNvSpPr txBox="1"/>
          <p:nvPr/>
        </p:nvSpPr>
        <p:spPr>
          <a:xfrm>
            <a:off x="3291840" y="3968496"/>
            <a:ext cx="3200400" cy="320040"/>
          </a:xfrm>
          <a:prstGeom prst="rect">
            <a:avLst/>
          </a:prstGeom>
          <a:noFill/>
          <a:ln/>
        </p:spPr>
        <p:txBody>
          <a:bodyPr wrap="square" lIns="0" tIns="0" rIns="0" bIns="0" rtlCol="0" anchor="ctr"/>
          <a:lstStyle/>
          <a:p>
            <a:pPr marL="0" indent="0">
              <a:buNone/>
            </a:pPr>
            <a:r>
              <a:rPr lang="en-US" sz="1400" dirty="0">
                <a:solidFill>
                  <a:srgbClr val="50555F"/>
                </a:solidFill>
                <a:latin typeface="Calibri" pitchFamily="34" charset="0"/>
                <a:ea typeface="Calibri" pitchFamily="34" charset="-122"/>
                <a:cs typeface="Calibri" pitchFamily="34" charset="-120"/>
              </a:rPr>
              <a:t>Failed completely</a:t>
            </a:r>
            <a:endParaRPr lang="en-US" sz="1400" dirty="0"/>
          </a:p>
        </p:txBody>
      </p:sp>
      <p:sp>
        <p:nvSpPr>
          <p:cNvPr id="16" name="Shape 12"/>
          <p:cNvSpPr/>
          <p:nvPr/>
        </p:nvSpPr>
        <p:spPr>
          <a:xfrm>
            <a:off x="914400" y="4425696"/>
            <a:ext cx="347472" cy="347472"/>
          </a:xfrm>
          <a:prstGeom prst="ellipse">
            <a:avLst/>
          </a:prstGeom>
          <a:solidFill>
            <a:srgbClr val="727885"/>
          </a:solidFill>
          <a:ln w="12700">
            <a:solidFill>
              <a:srgbClr val="727885"/>
            </a:solidFill>
            <a:prstDash val="solid"/>
          </a:ln>
        </p:spPr>
        <p:txBody>
          <a:bodyPr/>
          <a:lstStyle/>
          <a:p>
            <a:endParaRPr lang="en-US"/>
          </a:p>
        </p:txBody>
      </p:sp>
      <p:pic>
        <p:nvPicPr>
          <p:cNvPr id="17" name="Image 2" descr="preencoded.png"/>
          <p:cNvPicPr>
            <a:picLocks noChangeAspect="1"/>
          </p:cNvPicPr>
          <p:nvPr/>
        </p:nvPicPr>
        <p:blipFill>
          <a:blip r:embed="rId3"/>
          <a:stretch>
            <a:fillRect/>
          </a:stretch>
        </p:blipFill>
        <p:spPr>
          <a:xfrm>
            <a:off x="1001268" y="4512564"/>
            <a:ext cx="173736" cy="173736"/>
          </a:xfrm>
          <a:prstGeom prst="rect">
            <a:avLst/>
          </a:prstGeom>
        </p:spPr>
      </p:pic>
      <p:sp>
        <p:nvSpPr>
          <p:cNvPr id="18" name="Text 13"/>
          <p:cNvSpPr txBox="1"/>
          <p:nvPr/>
        </p:nvSpPr>
        <p:spPr>
          <a:xfrm>
            <a:off x="1417320" y="4443984"/>
            <a:ext cx="2286000" cy="320040"/>
          </a:xfrm>
          <a:prstGeom prst="rect">
            <a:avLst/>
          </a:prstGeom>
          <a:noFill/>
          <a:ln/>
        </p:spPr>
        <p:txBody>
          <a:bodyPr wrap="square" lIns="0" tIns="0" rIns="0" bIns="0" rtlCol="0" anchor="ctr"/>
          <a:lstStyle/>
          <a:p>
            <a:pPr marL="0" indent="0">
              <a:buNone/>
            </a:pPr>
            <a:r>
              <a:rPr lang="en-US" sz="1500" b="1" dirty="0">
                <a:solidFill>
                  <a:srgbClr val="2B2E36"/>
                </a:solidFill>
                <a:latin typeface="Calibri" pitchFamily="34" charset="0"/>
                <a:ea typeface="Calibri" pitchFamily="34" charset="-122"/>
                <a:cs typeface="Calibri" pitchFamily="34" charset="-120"/>
              </a:rPr>
              <a:t>GPT</a:t>
            </a:r>
            <a:endParaRPr lang="en-US" sz="1500" dirty="0"/>
          </a:p>
        </p:txBody>
      </p:sp>
      <p:sp>
        <p:nvSpPr>
          <p:cNvPr id="19" name="Text 14"/>
          <p:cNvSpPr txBox="1"/>
          <p:nvPr/>
        </p:nvSpPr>
        <p:spPr>
          <a:xfrm>
            <a:off x="3291840" y="4443984"/>
            <a:ext cx="3200400" cy="320040"/>
          </a:xfrm>
          <a:prstGeom prst="rect">
            <a:avLst/>
          </a:prstGeom>
          <a:noFill/>
          <a:ln/>
        </p:spPr>
        <p:txBody>
          <a:bodyPr wrap="square" lIns="0" tIns="0" rIns="0" bIns="0" rtlCol="0" anchor="ctr"/>
          <a:lstStyle/>
          <a:p>
            <a:pPr marL="0" indent="0">
              <a:buNone/>
            </a:pPr>
            <a:r>
              <a:rPr lang="en-US" sz="1400" dirty="0">
                <a:solidFill>
                  <a:srgbClr val="50555F"/>
                </a:solidFill>
                <a:latin typeface="Calibri" pitchFamily="34" charset="0"/>
                <a:ea typeface="Calibri" pitchFamily="34" charset="-122"/>
                <a:cs typeface="Calibri" pitchFamily="34" charset="-120"/>
              </a:rPr>
              <a:t>Failed completely</a:t>
            </a:r>
            <a:endParaRPr lang="en-US" sz="1400" dirty="0"/>
          </a:p>
        </p:txBody>
      </p:sp>
      <p:sp>
        <p:nvSpPr>
          <p:cNvPr id="20" name="Shape 15"/>
          <p:cNvSpPr/>
          <p:nvPr/>
        </p:nvSpPr>
        <p:spPr>
          <a:xfrm>
            <a:off x="914400" y="4901184"/>
            <a:ext cx="347472" cy="347472"/>
          </a:xfrm>
          <a:prstGeom prst="ellipse">
            <a:avLst/>
          </a:prstGeom>
          <a:solidFill>
            <a:srgbClr val="727885"/>
          </a:solidFill>
          <a:ln w="12700">
            <a:solidFill>
              <a:srgbClr val="727885"/>
            </a:solidFill>
            <a:prstDash val="solid"/>
          </a:ln>
        </p:spPr>
        <p:txBody>
          <a:bodyPr/>
          <a:lstStyle/>
          <a:p>
            <a:endParaRPr lang="en-US"/>
          </a:p>
        </p:txBody>
      </p:sp>
      <p:pic>
        <p:nvPicPr>
          <p:cNvPr id="21" name="Image 3" descr="preencoded.png"/>
          <p:cNvPicPr>
            <a:picLocks noChangeAspect="1"/>
          </p:cNvPicPr>
          <p:nvPr/>
        </p:nvPicPr>
        <p:blipFill>
          <a:blip r:embed="rId3"/>
          <a:stretch>
            <a:fillRect/>
          </a:stretch>
        </p:blipFill>
        <p:spPr>
          <a:xfrm>
            <a:off x="1001268" y="4988052"/>
            <a:ext cx="173736" cy="173736"/>
          </a:xfrm>
          <a:prstGeom prst="rect">
            <a:avLst/>
          </a:prstGeom>
        </p:spPr>
      </p:pic>
      <p:sp>
        <p:nvSpPr>
          <p:cNvPr id="22" name="Text 16"/>
          <p:cNvSpPr txBox="1"/>
          <p:nvPr/>
        </p:nvSpPr>
        <p:spPr>
          <a:xfrm>
            <a:off x="1417320" y="4919472"/>
            <a:ext cx="2286000" cy="320040"/>
          </a:xfrm>
          <a:prstGeom prst="rect">
            <a:avLst/>
          </a:prstGeom>
          <a:noFill/>
          <a:ln/>
        </p:spPr>
        <p:txBody>
          <a:bodyPr wrap="square" lIns="0" tIns="0" rIns="0" bIns="0" rtlCol="0" anchor="ctr"/>
          <a:lstStyle/>
          <a:p>
            <a:pPr marL="0" indent="0">
              <a:buNone/>
            </a:pPr>
            <a:r>
              <a:rPr lang="en-US" sz="1500" b="1" dirty="0">
                <a:solidFill>
                  <a:srgbClr val="2B2E36"/>
                </a:solidFill>
                <a:latin typeface="Calibri" pitchFamily="34" charset="0"/>
                <a:ea typeface="Calibri" pitchFamily="34" charset="-122"/>
                <a:cs typeface="Calibri" pitchFamily="34" charset="-120"/>
              </a:rPr>
              <a:t>Flash Lite</a:t>
            </a:r>
            <a:endParaRPr lang="en-US" sz="1500" dirty="0"/>
          </a:p>
        </p:txBody>
      </p:sp>
      <p:sp>
        <p:nvSpPr>
          <p:cNvPr id="23" name="Text 17"/>
          <p:cNvSpPr txBox="1"/>
          <p:nvPr/>
        </p:nvSpPr>
        <p:spPr>
          <a:xfrm>
            <a:off x="3291840" y="4919472"/>
            <a:ext cx="3200400" cy="320040"/>
          </a:xfrm>
          <a:prstGeom prst="rect">
            <a:avLst/>
          </a:prstGeom>
          <a:noFill/>
          <a:ln/>
        </p:spPr>
        <p:txBody>
          <a:bodyPr wrap="square" lIns="0" tIns="0" rIns="0" bIns="0" rtlCol="0" anchor="ctr"/>
          <a:lstStyle/>
          <a:p>
            <a:pPr marL="0" indent="0">
              <a:buNone/>
            </a:pPr>
            <a:r>
              <a:rPr lang="en-US" sz="1400" dirty="0">
                <a:solidFill>
                  <a:srgbClr val="50555F"/>
                </a:solidFill>
                <a:latin typeface="Calibri" pitchFamily="34" charset="0"/>
                <a:ea typeface="Calibri" pitchFamily="34" charset="-122"/>
                <a:cs typeface="Calibri" pitchFamily="34" charset="-120"/>
              </a:rPr>
              <a:t>Failed completely</a:t>
            </a:r>
            <a:endParaRPr lang="en-US" sz="1400" dirty="0"/>
          </a:p>
        </p:txBody>
      </p:sp>
      <p:sp>
        <p:nvSpPr>
          <p:cNvPr id="24" name="Shape 18"/>
          <p:cNvSpPr/>
          <p:nvPr/>
        </p:nvSpPr>
        <p:spPr>
          <a:xfrm>
            <a:off x="914400" y="5376672"/>
            <a:ext cx="347472" cy="347472"/>
          </a:xfrm>
          <a:prstGeom prst="ellipse">
            <a:avLst/>
          </a:prstGeom>
          <a:solidFill>
            <a:srgbClr val="5F8FAF"/>
          </a:solidFill>
          <a:ln w="12700">
            <a:solidFill>
              <a:srgbClr val="5F8FAF"/>
            </a:solidFill>
            <a:prstDash val="solid"/>
          </a:ln>
        </p:spPr>
        <p:txBody>
          <a:bodyPr/>
          <a:lstStyle/>
          <a:p>
            <a:endParaRPr lang="en-US"/>
          </a:p>
        </p:txBody>
      </p:sp>
      <p:pic>
        <p:nvPicPr>
          <p:cNvPr id="25" name="Image 4" descr="preencoded.png"/>
          <p:cNvPicPr>
            <a:picLocks noChangeAspect="1"/>
          </p:cNvPicPr>
          <p:nvPr/>
        </p:nvPicPr>
        <p:blipFill>
          <a:blip r:embed="rId4"/>
          <a:stretch>
            <a:fillRect/>
          </a:stretch>
        </p:blipFill>
        <p:spPr>
          <a:xfrm>
            <a:off x="1001268" y="5463540"/>
            <a:ext cx="173736" cy="173736"/>
          </a:xfrm>
          <a:prstGeom prst="rect">
            <a:avLst/>
          </a:prstGeom>
        </p:spPr>
      </p:pic>
      <p:sp>
        <p:nvSpPr>
          <p:cNvPr id="26" name="Text 19"/>
          <p:cNvSpPr txBox="1"/>
          <p:nvPr/>
        </p:nvSpPr>
        <p:spPr>
          <a:xfrm>
            <a:off x="1417320" y="5394960"/>
            <a:ext cx="2286000" cy="320040"/>
          </a:xfrm>
          <a:prstGeom prst="rect">
            <a:avLst/>
          </a:prstGeom>
          <a:noFill/>
          <a:ln/>
        </p:spPr>
        <p:txBody>
          <a:bodyPr wrap="square" lIns="0" tIns="0" rIns="0" bIns="0" rtlCol="0" anchor="ctr"/>
          <a:lstStyle/>
          <a:p>
            <a:pPr marL="0" indent="0">
              <a:buNone/>
            </a:pPr>
            <a:r>
              <a:rPr lang="en-US" sz="1500" b="1" dirty="0">
                <a:solidFill>
                  <a:srgbClr val="2B2E36"/>
                </a:solidFill>
                <a:latin typeface="Calibri" pitchFamily="34" charset="0"/>
                <a:ea typeface="Calibri" pitchFamily="34" charset="-122"/>
                <a:cs typeface="Calibri" pitchFamily="34" charset="-120"/>
              </a:rPr>
              <a:t>Flash</a:t>
            </a:r>
            <a:endParaRPr lang="en-US" sz="1500" dirty="0"/>
          </a:p>
        </p:txBody>
      </p:sp>
      <p:sp>
        <p:nvSpPr>
          <p:cNvPr id="27" name="Text 20"/>
          <p:cNvSpPr txBox="1"/>
          <p:nvPr/>
        </p:nvSpPr>
        <p:spPr>
          <a:xfrm>
            <a:off x="3291840" y="5394960"/>
            <a:ext cx="3200400" cy="320040"/>
          </a:xfrm>
          <a:prstGeom prst="rect">
            <a:avLst/>
          </a:prstGeom>
          <a:noFill/>
          <a:ln/>
        </p:spPr>
        <p:txBody>
          <a:bodyPr wrap="square" lIns="0" tIns="0" rIns="0" bIns="0" rtlCol="0" anchor="ctr"/>
          <a:lstStyle/>
          <a:p>
            <a:pPr marL="0" indent="0">
              <a:buNone/>
            </a:pPr>
            <a:r>
              <a:rPr lang="en-US" sz="1400" b="1" dirty="0">
                <a:solidFill>
                  <a:srgbClr val="5F8FAF"/>
                </a:solidFill>
                <a:latin typeface="Calibri" pitchFamily="34" charset="0"/>
                <a:ea typeface="Calibri" pitchFamily="34" charset="-122"/>
                <a:cs typeface="Calibri" pitchFamily="34" charset="-120"/>
              </a:rPr>
              <a:t>Succeeded</a:t>
            </a:r>
            <a:endParaRPr lang="en-US" sz="1400" dirty="0"/>
          </a:p>
        </p:txBody>
      </p:sp>
      <p:sp>
        <p:nvSpPr>
          <p:cNvPr id="28" name="Text 21"/>
          <p:cNvSpPr txBox="1"/>
          <p:nvPr/>
        </p:nvSpPr>
        <p:spPr>
          <a:xfrm>
            <a:off x="7589520" y="2286000"/>
            <a:ext cx="4023360" cy="1280160"/>
          </a:xfrm>
          <a:prstGeom prst="rect">
            <a:avLst/>
          </a:prstGeom>
          <a:noFill/>
          <a:ln/>
        </p:spPr>
        <p:txBody>
          <a:bodyPr wrap="square" lIns="0" tIns="0" rIns="0" bIns="0" rtlCol="0" anchor="t"/>
          <a:lstStyle/>
          <a:p>
            <a:pPr marL="0" indent="0">
              <a:buNone/>
            </a:pPr>
            <a:r>
              <a:rPr lang="en-US" sz="2400" b="1" dirty="0">
                <a:solidFill>
                  <a:srgbClr val="2B2E36"/>
                </a:solidFill>
                <a:latin typeface="Raleway" pitchFamily="34" charset="0"/>
                <a:ea typeface="Raleway" pitchFamily="34" charset="-122"/>
                <a:cs typeface="Raleway" pitchFamily="34" charset="-120"/>
              </a:rPr>
              <a:t>Match the model to the task, and be prepared to switch.</a:t>
            </a:r>
            <a:endParaRPr lang="en-US" sz="2400" dirty="0"/>
          </a:p>
        </p:txBody>
      </p:sp>
      <p:sp>
        <p:nvSpPr>
          <p:cNvPr id="29" name="Text 22"/>
          <p:cNvSpPr txBox="1"/>
          <p:nvPr/>
        </p:nvSpPr>
        <p:spPr>
          <a:xfrm>
            <a:off x="7589520" y="3749040"/>
            <a:ext cx="4023360" cy="1463040"/>
          </a:xfrm>
          <a:prstGeom prst="rect">
            <a:avLst/>
          </a:prstGeom>
          <a:noFill/>
          <a:ln/>
        </p:spPr>
        <p:txBody>
          <a:bodyPr wrap="square" lIns="0" tIns="0" rIns="0" bIns="0" rtlCol="0" anchor="t"/>
          <a:lstStyle/>
          <a:p>
            <a:pPr marL="0" indent="0">
              <a:lnSpc>
                <a:spcPct val="115000"/>
              </a:lnSpc>
              <a:buNone/>
            </a:pPr>
            <a:r>
              <a:rPr lang="en-US" sz="1400" dirty="0">
                <a:solidFill>
                  <a:srgbClr val="50555F"/>
                </a:solidFill>
                <a:latin typeface="Calibri" pitchFamily="34" charset="0"/>
                <a:ea typeface="Calibri" pitchFamily="34" charset="-122"/>
                <a:cs typeface="Calibri" pitchFamily="34" charset="-120"/>
              </a:rPr>
              <a:t>Large models are not always better. A fast, inexpensive model can win on a narrow task. Opus-class and Flash-class models will both have roles in biodiversity informatics.</a:t>
            </a:r>
            <a:endParaRPr lang="en-US" sz="1400" dirty="0"/>
          </a:p>
        </p:txBody>
      </p:sp>
      <p:sp>
        <p:nvSpPr>
          <p:cNvPr id="30" name="Text 23"/>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D939D"/>
                </a:solidFill>
                <a:latin typeface="Calibri" pitchFamily="34" charset="0"/>
                <a:ea typeface="Calibri" pitchFamily="34" charset="-122"/>
                <a:cs typeface="Calibri" pitchFamily="34" charset="-120"/>
              </a:rPr>
              <a:t>WKS10  ·  Building a Repeatable AI Pipeline</a:t>
            </a:r>
            <a:endParaRPr lang="en-US" sz="1000" dirty="0"/>
          </a:p>
        </p:txBody>
      </p:sp>
      <p:sp>
        <p:nvSpPr>
          <p:cNvPr id="31" name="Text 24"/>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8D939D"/>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marL="0" indent="0">
              <a:buNone/>
            </a:pPr>
            <a:r>
              <a:rPr lang="en-US" sz="3400" b="1" dirty="0">
                <a:solidFill>
                  <a:srgbClr val="2B2E36"/>
                </a:solidFill>
                <a:latin typeface="Raleway" pitchFamily="34" charset="0"/>
                <a:ea typeface="Raleway" pitchFamily="34" charset="-122"/>
                <a:cs typeface="Raleway" pitchFamily="34" charset="-120"/>
              </a:rPr>
              <a:t>Models change quickly</a:t>
            </a:r>
            <a:endParaRPr lang="en-US" sz="3400" dirty="0"/>
          </a:p>
        </p:txBody>
      </p:sp>
      <p:sp>
        <p:nvSpPr>
          <p:cNvPr id="3" name="Text 1"/>
          <p:cNvSpPr txBox="1"/>
          <p:nvPr/>
        </p:nvSpPr>
        <p:spPr>
          <a:xfrm>
            <a:off x="548640" y="1234440"/>
            <a:ext cx="11094415" cy="365760"/>
          </a:xfrm>
          <a:prstGeom prst="rect">
            <a:avLst/>
          </a:prstGeom>
          <a:noFill/>
          <a:ln/>
        </p:spPr>
        <p:txBody>
          <a:bodyPr wrap="square" lIns="0" tIns="0" rIns="0" bIns="0" rtlCol="0" anchor="ctr"/>
          <a:lstStyle/>
          <a:p>
            <a:pPr marL="0" indent="0">
              <a:buNone/>
            </a:pPr>
            <a:r>
              <a:rPr lang="en-US" sz="1500" dirty="0">
                <a:solidFill>
                  <a:srgbClr val="50555F"/>
                </a:solidFill>
                <a:latin typeface="Calibri" pitchFamily="34" charset="0"/>
                <a:ea typeface="Calibri" pitchFamily="34" charset="-122"/>
                <a:cs typeface="Calibri" pitchFamily="34" charset="-120"/>
              </a:rPr>
              <a:t>Judgments about reliability go out of date: “Gemini Flash 3 is reliable; Flash 1 is not.”</a:t>
            </a:r>
            <a:endParaRPr lang="en-US" sz="1500" dirty="0"/>
          </a:p>
        </p:txBody>
      </p:sp>
      <p:sp>
        <p:nvSpPr>
          <p:cNvPr id="4" name="Shape 2"/>
          <p:cNvSpPr/>
          <p:nvPr/>
        </p:nvSpPr>
        <p:spPr>
          <a:xfrm>
            <a:off x="822960" y="3977640"/>
            <a:ext cx="10545775" cy="0"/>
          </a:xfrm>
          <a:prstGeom prst="line">
            <a:avLst/>
          </a:prstGeom>
          <a:noFill/>
          <a:ln w="19050">
            <a:solidFill>
              <a:srgbClr val="2B2E36"/>
            </a:solidFill>
            <a:prstDash val="solid"/>
          </a:ln>
        </p:spPr>
        <p:txBody>
          <a:bodyPr/>
          <a:lstStyle/>
          <a:p>
            <a:endParaRPr lang="en-US"/>
          </a:p>
        </p:txBody>
      </p:sp>
      <p:sp>
        <p:nvSpPr>
          <p:cNvPr id="5" name="Shape 3"/>
          <p:cNvSpPr/>
          <p:nvPr/>
        </p:nvSpPr>
        <p:spPr>
          <a:xfrm>
            <a:off x="822960" y="3904488"/>
            <a:ext cx="0" cy="146304"/>
          </a:xfrm>
          <a:prstGeom prst="line">
            <a:avLst/>
          </a:prstGeom>
          <a:noFill/>
          <a:ln w="12700">
            <a:solidFill>
              <a:srgbClr val="2B2E36"/>
            </a:solidFill>
            <a:prstDash val="solid"/>
          </a:ln>
        </p:spPr>
        <p:txBody>
          <a:bodyPr/>
          <a:lstStyle/>
          <a:p>
            <a:endParaRPr lang="en-US"/>
          </a:p>
        </p:txBody>
      </p:sp>
      <p:sp>
        <p:nvSpPr>
          <p:cNvPr id="6" name="Text 4"/>
          <p:cNvSpPr txBox="1"/>
          <p:nvPr/>
        </p:nvSpPr>
        <p:spPr>
          <a:xfrm>
            <a:off x="457200" y="4050792"/>
            <a:ext cx="731520" cy="228600"/>
          </a:xfrm>
          <a:prstGeom prst="rect">
            <a:avLst/>
          </a:prstGeom>
          <a:noFill/>
          <a:ln/>
        </p:spPr>
        <p:txBody>
          <a:bodyPr wrap="square" lIns="0" tIns="0" rIns="0" bIns="0" rtlCol="0" anchor="t"/>
          <a:lstStyle/>
          <a:p>
            <a:pPr marL="0" indent="0" algn="ctr">
              <a:buNone/>
            </a:pPr>
            <a:r>
              <a:rPr lang="en-US" sz="1000" dirty="0">
                <a:solidFill>
                  <a:srgbClr val="8D939D"/>
                </a:solidFill>
                <a:latin typeface="Calibri" pitchFamily="34" charset="0"/>
                <a:ea typeface="Calibri" pitchFamily="34" charset="-122"/>
                <a:cs typeface="Calibri" pitchFamily="34" charset="-120"/>
              </a:rPr>
              <a:t>2023</a:t>
            </a:r>
            <a:endParaRPr lang="en-US" sz="1000" dirty="0"/>
          </a:p>
        </p:txBody>
      </p:sp>
      <p:sp>
        <p:nvSpPr>
          <p:cNvPr id="7" name="Shape 5"/>
          <p:cNvSpPr/>
          <p:nvPr/>
        </p:nvSpPr>
        <p:spPr>
          <a:xfrm>
            <a:off x="3492777" y="3904488"/>
            <a:ext cx="0" cy="146304"/>
          </a:xfrm>
          <a:prstGeom prst="line">
            <a:avLst/>
          </a:prstGeom>
          <a:noFill/>
          <a:ln w="12700">
            <a:solidFill>
              <a:srgbClr val="2B2E36"/>
            </a:solidFill>
            <a:prstDash val="solid"/>
          </a:ln>
        </p:spPr>
        <p:txBody>
          <a:bodyPr/>
          <a:lstStyle/>
          <a:p>
            <a:endParaRPr lang="en-US"/>
          </a:p>
        </p:txBody>
      </p:sp>
      <p:sp>
        <p:nvSpPr>
          <p:cNvPr id="8" name="Text 6"/>
          <p:cNvSpPr txBox="1"/>
          <p:nvPr/>
        </p:nvSpPr>
        <p:spPr>
          <a:xfrm>
            <a:off x="3127017" y="4050792"/>
            <a:ext cx="731520" cy="228600"/>
          </a:xfrm>
          <a:prstGeom prst="rect">
            <a:avLst/>
          </a:prstGeom>
          <a:noFill/>
          <a:ln/>
        </p:spPr>
        <p:txBody>
          <a:bodyPr wrap="square" lIns="0" tIns="0" rIns="0" bIns="0" rtlCol="0" anchor="t"/>
          <a:lstStyle/>
          <a:p>
            <a:pPr marL="0" indent="0" algn="ctr">
              <a:buNone/>
            </a:pPr>
            <a:r>
              <a:rPr lang="en-US" sz="1000" dirty="0">
                <a:solidFill>
                  <a:srgbClr val="8D939D"/>
                </a:solidFill>
                <a:latin typeface="Calibri" pitchFamily="34" charset="0"/>
                <a:ea typeface="Calibri" pitchFamily="34" charset="-122"/>
                <a:cs typeface="Calibri" pitchFamily="34" charset="-120"/>
              </a:rPr>
              <a:t>2024</a:t>
            </a:r>
            <a:endParaRPr lang="en-US" sz="1000" dirty="0"/>
          </a:p>
        </p:txBody>
      </p:sp>
      <p:sp>
        <p:nvSpPr>
          <p:cNvPr id="9" name="Shape 7"/>
          <p:cNvSpPr/>
          <p:nvPr/>
        </p:nvSpPr>
        <p:spPr>
          <a:xfrm>
            <a:off x="6162593" y="3904488"/>
            <a:ext cx="0" cy="146304"/>
          </a:xfrm>
          <a:prstGeom prst="line">
            <a:avLst/>
          </a:prstGeom>
          <a:noFill/>
          <a:ln w="12700">
            <a:solidFill>
              <a:srgbClr val="2B2E36"/>
            </a:solidFill>
            <a:prstDash val="solid"/>
          </a:ln>
        </p:spPr>
        <p:txBody>
          <a:bodyPr/>
          <a:lstStyle/>
          <a:p>
            <a:endParaRPr lang="en-US"/>
          </a:p>
        </p:txBody>
      </p:sp>
      <p:sp>
        <p:nvSpPr>
          <p:cNvPr id="10" name="Text 8"/>
          <p:cNvSpPr txBox="1"/>
          <p:nvPr/>
        </p:nvSpPr>
        <p:spPr>
          <a:xfrm>
            <a:off x="5796833" y="4050792"/>
            <a:ext cx="731520" cy="228600"/>
          </a:xfrm>
          <a:prstGeom prst="rect">
            <a:avLst/>
          </a:prstGeom>
          <a:noFill/>
          <a:ln/>
        </p:spPr>
        <p:txBody>
          <a:bodyPr wrap="square" lIns="0" tIns="0" rIns="0" bIns="0" rtlCol="0" anchor="t"/>
          <a:lstStyle/>
          <a:p>
            <a:pPr marL="0" indent="0" algn="ctr">
              <a:buNone/>
            </a:pPr>
            <a:r>
              <a:rPr lang="en-US" sz="1000" dirty="0">
                <a:solidFill>
                  <a:srgbClr val="8D939D"/>
                </a:solidFill>
                <a:latin typeface="Calibri" pitchFamily="34" charset="0"/>
                <a:ea typeface="Calibri" pitchFamily="34" charset="-122"/>
                <a:cs typeface="Calibri" pitchFamily="34" charset="-120"/>
              </a:rPr>
              <a:t>2025</a:t>
            </a:r>
            <a:endParaRPr lang="en-US" sz="1000" dirty="0"/>
          </a:p>
        </p:txBody>
      </p:sp>
      <p:sp>
        <p:nvSpPr>
          <p:cNvPr id="11" name="Shape 9"/>
          <p:cNvSpPr/>
          <p:nvPr/>
        </p:nvSpPr>
        <p:spPr>
          <a:xfrm>
            <a:off x="8832410" y="3904488"/>
            <a:ext cx="0" cy="146304"/>
          </a:xfrm>
          <a:prstGeom prst="line">
            <a:avLst/>
          </a:prstGeom>
          <a:noFill/>
          <a:ln w="12700">
            <a:solidFill>
              <a:srgbClr val="2B2E36"/>
            </a:solidFill>
            <a:prstDash val="solid"/>
          </a:ln>
        </p:spPr>
        <p:txBody>
          <a:bodyPr/>
          <a:lstStyle/>
          <a:p>
            <a:endParaRPr lang="en-US"/>
          </a:p>
        </p:txBody>
      </p:sp>
      <p:sp>
        <p:nvSpPr>
          <p:cNvPr id="12" name="Text 10"/>
          <p:cNvSpPr txBox="1"/>
          <p:nvPr/>
        </p:nvSpPr>
        <p:spPr>
          <a:xfrm>
            <a:off x="8466650" y="4050792"/>
            <a:ext cx="731520" cy="228600"/>
          </a:xfrm>
          <a:prstGeom prst="rect">
            <a:avLst/>
          </a:prstGeom>
          <a:noFill/>
          <a:ln/>
        </p:spPr>
        <p:txBody>
          <a:bodyPr wrap="square" lIns="0" tIns="0" rIns="0" bIns="0" rtlCol="0" anchor="t"/>
          <a:lstStyle/>
          <a:p>
            <a:pPr marL="0" indent="0" algn="ctr">
              <a:buNone/>
            </a:pPr>
            <a:r>
              <a:rPr lang="en-US" sz="1000" dirty="0">
                <a:solidFill>
                  <a:srgbClr val="8D939D"/>
                </a:solidFill>
                <a:latin typeface="Calibri" pitchFamily="34" charset="0"/>
                <a:ea typeface="Calibri" pitchFamily="34" charset="-122"/>
                <a:cs typeface="Calibri" pitchFamily="34" charset="-120"/>
              </a:rPr>
              <a:t>2026</a:t>
            </a:r>
            <a:endParaRPr lang="en-US" sz="1000" dirty="0"/>
          </a:p>
        </p:txBody>
      </p:sp>
      <p:sp>
        <p:nvSpPr>
          <p:cNvPr id="13" name="Shape 11"/>
          <p:cNvSpPr/>
          <p:nvPr/>
        </p:nvSpPr>
        <p:spPr>
          <a:xfrm>
            <a:off x="6376178" y="3072384"/>
            <a:ext cx="0" cy="905256"/>
          </a:xfrm>
          <a:prstGeom prst="line">
            <a:avLst/>
          </a:prstGeom>
          <a:noFill/>
          <a:ln w="12700">
            <a:solidFill>
              <a:srgbClr val="727885"/>
            </a:solidFill>
            <a:prstDash val="solid"/>
          </a:ln>
        </p:spPr>
        <p:txBody>
          <a:bodyPr/>
          <a:lstStyle/>
          <a:p>
            <a:endParaRPr lang="en-US"/>
          </a:p>
        </p:txBody>
      </p:sp>
      <p:sp>
        <p:nvSpPr>
          <p:cNvPr id="14" name="Shape 12"/>
          <p:cNvSpPr/>
          <p:nvPr/>
        </p:nvSpPr>
        <p:spPr>
          <a:xfrm>
            <a:off x="6293882" y="3895344"/>
            <a:ext cx="164592" cy="164592"/>
          </a:xfrm>
          <a:prstGeom prst="ellipse">
            <a:avLst/>
          </a:prstGeom>
          <a:solidFill>
            <a:srgbClr val="727885"/>
          </a:solidFill>
          <a:ln w="12700">
            <a:solidFill>
              <a:srgbClr val="FFFFFF"/>
            </a:solidFill>
            <a:prstDash val="solid"/>
          </a:ln>
        </p:spPr>
        <p:txBody>
          <a:bodyPr/>
          <a:lstStyle/>
          <a:p>
            <a:endParaRPr lang="en-US"/>
          </a:p>
        </p:txBody>
      </p:sp>
      <p:sp>
        <p:nvSpPr>
          <p:cNvPr id="15" name="Text 13"/>
          <p:cNvSpPr txBox="1"/>
          <p:nvPr/>
        </p:nvSpPr>
        <p:spPr>
          <a:xfrm>
            <a:off x="6431042" y="3026664"/>
            <a:ext cx="1005840" cy="274320"/>
          </a:xfrm>
          <a:prstGeom prst="rect">
            <a:avLst/>
          </a:prstGeom>
          <a:noFill/>
          <a:ln/>
        </p:spPr>
        <p:txBody>
          <a:bodyPr wrap="square" lIns="0" tIns="0" rIns="0" bIns="0" rtlCol="0" anchor="t"/>
          <a:lstStyle/>
          <a:p>
            <a:pPr marL="0" indent="0" algn="l">
              <a:buNone/>
            </a:pPr>
            <a:r>
              <a:rPr lang="en-US" sz="1050" b="1" dirty="0">
                <a:solidFill>
                  <a:srgbClr val="727885"/>
                </a:solidFill>
                <a:latin typeface="Calibri" pitchFamily="34" charset="0"/>
                <a:ea typeface="Calibri" pitchFamily="34" charset="-122"/>
                <a:cs typeface="Calibri" pitchFamily="34" charset="-120"/>
              </a:rPr>
              <a:t>Flash 2.0</a:t>
            </a:r>
            <a:endParaRPr lang="en-US" sz="1050" dirty="0"/>
          </a:p>
        </p:txBody>
      </p:sp>
      <p:sp>
        <p:nvSpPr>
          <p:cNvPr id="16" name="Shape 14"/>
          <p:cNvSpPr/>
          <p:nvPr/>
        </p:nvSpPr>
        <p:spPr>
          <a:xfrm>
            <a:off x="7390709" y="3383280"/>
            <a:ext cx="0" cy="594360"/>
          </a:xfrm>
          <a:prstGeom prst="line">
            <a:avLst/>
          </a:prstGeom>
          <a:noFill/>
          <a:ln w="12700">
            <a:solidFill>
              <a:srgbClr val="727885"/>
            </a:solidFill>
            <a:prstDash val="solid"/>
          </a:ln>
        </p:spPr>
        <p:txBody>
          <a:bodyPr/>
          <a:lstStyle/>
          <a:p>
            <a:endParaRPr lang="en-US"/>
          </a:p>
        </p:txBody>
      </p:sp>
      <p:sp>
        <p:nvSpPr>
          <p:cNvPr id="17" name="Shape 15"/>
          <p:cNvSpPr/>
          <p:nvPr/>
        </p:nvSpPr>
        <p:spPr>
          <a:xfrm>
            <a:off x="7308413" y="3895344"/>
            <a:ext cx="164592" cy="164592"/>
          </a:xfrm>
          <a:prstGeom prst="ellipse">
            <a:avLst/>
          </a:prstGeom>
          <a:solidFill>
            <a:srgbClr val="727885"/>
          </a:solidFill>
          <a:ln w="12700">
            <a:solidFill>
              <a:srgbClr val="FFFFFF"/>
            </a:solidFill>
            <a:prstDash val="solid"/>
          </a:ln>
        </p:spPr>
        <p:txBody>
          <a:bodyPr/>
          <a:lstStyle/>
          <a:p>
            <a:endParaRPr lang="en-US"/>
          </a:p>
        </p:txBody>
      </p:sp>
      <p:sp>
        <p:nvSpPr>
          <p:cNvPr id="18" name="Text 16"/>
          <p:cNvSpPr txBox="1"/>
          <p:nvPr/>
        </p:nvSpPr>
        <p:spPr>
          <a:xfrm>
            <a:off x="7445573" y="3337560"/>
            <a:ext cx="1005840" cy="274320"/>
          </a:xfrm>
          <a:prstGeom prst="rect">
            <a:avLst/>
          </a:prstGeom>
          <a:noFill/>
          <a:ln/>
        </p:spPr>
        <p:txBody>
          <a:bodyPr wrap="square" lIns="0" tIns="0" rIns="0" bIns="0" rtlCol="0" anchor="t"/>
          <a:lstStyle/>
          <a:p>
            <a:pPr marL="0" indent="0" algn="l">
              <a:buNone/>
            </a:pPr>
            <a:r>
              <a:rPr lang="en-US" sz="1050" b="1" dirty="0">
                <a:solidFill>
                  <a:srgbClr val="727885"/>
                </a:solidFill>
                <a:latin typeface="Calibri" pitchFamily="34" charset="0"/>
                <a:ea typeface="Calibri" pitchFamily="34" charset="-122"/>
                <a:cs typeface="Calibri" pitchFamily="34" charset="-120"/>
              </a:rPr>
              <a:t>Flash 2.5</a:t>
            </a:r>
            <a:endParaRPr lang="en-US" sz="1050" dirty="0"/>
          </a:p>
        </p:txBody>
      </p:sp>
      <p:sp>
        <p:nvSpPr>
          <p:cNvPr id="19" name="Shape 17"/>
          <p:cNvSpPr/>
          <p:nvPr/>
        </p:nvSpPr>
        <p:spPr>
          <a:xfrm>
            <a:off x="9846940" y="2450592"/>
            <a:ext cx="0" cy="1527048"/>
          </a:xfrm>
          <a:prstGeom prst="line">
            <a:avLst/>
          </a:prstGeom>
          <a:noFill/>
          <a:ln w="12700">
            <a:solidFill>
              <a:srgbClr val="727885"/>
            </a:solidFill>
            <a:prstDash val="solid"/>
          </a:ln>
        </p:spPr>
        <p:txBody>
          <a:bodyPr/>
          <a:lstStyle/>
          <a:p>
            <a:endParaRPr lang="en-US"/>
          </a:p>
        </p:txBody>
      </p:sp>
      <p:sp>
        <p:nvSpPr>
          <p:cNvPr id="20" name="Shape 18"/>
          <p:cNvSpPr/>
          <p:nvPr/>
        </p:nvSpPr>
        <p:spPr>
          <a:xfrm>
            <a:off x="9764644" y="3895344"/>
            <a:ext cx="164592" cy="164592"/>
          </a:xfrm>
          <a:prstGeom prst="ellipse">
            <a:avLst/>
          </a:prstGeom>
          <a:solidFill>
            <a:srgbClr val="727885"/>
          </a:solidFill>
          <a:ln w="12700">
            <a:solidFill>
              <a:srgbClr val="FFFFFF"/>
            </a:solidFill>
            <a:prstDash val="solid"/>
          </a:ln>
        </p:spPr>
        <p:txBody>
          <a:bodyPr/>
          <a:lstStyle/>
          <a:p>
            <a:endParaRPr lang="en-US"/>
          </a:p>
        </p:txBody>
      </p:sp>
      <p:sp>
        <p:nvSpPr>
          <p:cNvPr id="21" name="Text 19"/>
          <p:cNvSpPr txBox="1"/>
          <p:nvPr/>
        </p:nvSpPr>
        <p:spPr>
          <a:xfrm>
            <a:off x="9901804" y="2404872"/>
            <a:ext cx="1005840" cy="274320"/>
          </a:xfrm>
          <a:prstGeom prst="rect">
            <a:avLst/>
          </a:prstGeom>
          <a:noFill/>
          <a:ln/>
        </p:spPr>
        <p:txBody>
          <a:bodyPr wrap="square" lIns="0" tIns="0" rIns="0" bIns="0" rtlCol="0" anchor="t"/>
          <a:lstStyle/>
          <a:p>
            <a:pPr marL="0" indent="0" algn="l">
              <a:buNone/>
            </a:pPr>
            <a:r>
              <a:rPr lang="en-US" sz="1050" b="1" dirty="0">
                <a:solidFill>
                  <a:srgbClr val="727885"/>
                </a:solidFill>
                <a:latin typeface="Calibri" pitchFamily="34" charset="0"/>
                <a:ea typeface="Calibri" pitchFamily="34" charset="-122"/>
                <a:cs typeface="Calibri" pitchFamily="34" charset="-120"/>
              </a:rPr>
              <a:t>Flash 3.5</a:t>
            </a:r>
            <a:endParaRPr lang="en-US" sz="1050" dirty="0"/>
          </a:p>
        </p:txBody>
      </p:sp>
      <p:sp>
        <p:nvSpPr>
          <p:cNvPr id="22" name="Shape 20"/>
          <p:cNvSpPr/>
          <p:nvPr/>
        </p:nvSpPr>
        <p:spPr>
          <a:xfrm>
            <a:off x="10300809" y="2761488"/>
            <a:ext cx="0" cy="1216152"/>
          </a:xfrm>
          <a:prstGeom prst="line">
            <a:avLst/>
          </a:prstGeom>
          <a:noFill/>
          <a:ln w="12700">
            <a:solidFill>
              <a:srgbClr val="727885"/>
            </a:solidFill>
            <a:prstDash val="solid"/>
          </a:ln>
        </p:spPr>
        <p:txBody>
          <a:bodyPr/>
          <a:lstStyle/>
          <a:p>
            <a:endParaRPr lang="en-US"/>
          </a:p>
        </p:txBody>
      </p:sp>
      <p:sp>
        <p:nvSpPr>
          <p:cNvPr id="23" name="Shape 21"/>
          <p:cNvSpPr/>
          <p:nvPr/>
        </p:nvSpPr>
        <p:spPr>
          <a:xfrm>
            <a:off x="10218513" y="3895344"/>
            <a:ext cx="164592" cy="164592"/>
          </a:xfrm>
          <a:prstGeom prst="ellipse">
            <a:avLst/>
          </a:prstGeom>
          <a:solidFill>
            <a:srgbClr val="727885"/>
          </a:solidFill>
          <a:ln w="12700">
            <a:solidFill>
              <a:srgbClr val="FFFFFF"/>
            </a:solidFill>
            <a:prstDash val="solid"/>
          </a:ln>
        </p:spPr>
        <p:txBody>
          <a:bodyPr/>
          <a:lstStyle/>
          <a:p>
            <a:endParaRPr lang="en-US"/>
          </a:p>
        </p:txBody>
      </p:sp>
      <p:sp>
        <p:nvSpPr>
          <p:cNvPr id="24" name="Text 22"/>
          <p:cNvSpPr txBox="1"/>
          <p:nvPr/>
        </p:nvSpPr>
        <p:spPr>
          <a:xfrm>
            <a:off x="10355673" y="2715768"/>
            <a:ext cx="1005840" cy="274320"/>
          </a:xfrm>
          <a:prstGeom prst="rect">
            <a:avLst/>
          </a:prstGeom>
          <a:noFill/>
          <a:ln/>
        </p:spPr>
        <p:txBody>
          <a:bodyPr wrap="square" lIns="0" tIns="0" rIns="0" bIns="0" rtlCol="0" anchor="t"/>
          <a:lstStyle/>
          <a:p>
            <a:pPr marL="0" indent="0" algn="l">
              <a:buNone/>
            </a:pPr>
            <a:r>
              <a:rPr lang="en-US" sz="1050" b="1" dirty="0">
                <a:solidFill>
                  <a:srgbClr val="727885"/>
                </a:solidFill>
                <a:latin typeface="Calibri" pitchFamily="34" charset="0"/>
                <a:ea typeface="Calibri" pitchFamily="34" charset="-122"/>
                <a:cs typeface="Calibri" pitchFamily="34" charset="-120"/>
              </a:rPr>
              <a:t>Flash 3.6</a:t>
            </a:r>
            <a:endParaRPr lang="en-US" sz="1050" dirty="0"/>
          </a:p>
        </p:txBody>
      </p:sp>
      <p:sp>
        <p:nvSpPr>
          <p:cNvPr id="25" name="Shape 23"/>
          <p:cNvSpPr/>
          <p:nvPr/>
        </p:nvSpPr>
        <p:spPr>
          <a:xfrm>
            <a:off x="10487696" y="3072384"/>
            <a:ext cx="0" cy="905256"/>
          </a:xfrm>
          <a:prstGeom prst="line">
            <a:avLst/>
          </a:prstGeom>
          <a:noFill/>
          <a:ln w="12700">
            <a:solidFill>
              <a:srgbClr val="727885"/>
            </a:solidFill>
            <a:prstDash val="solid"/>
          </a:ln>
        </p:spPr>
        <p:txBody>
          <a:bodyPr/>
          <a:lstStyle/>
          <a:p>
            <a:endParaRPr lang="en-US"/>
          </a:p>
        </p:txBody>
      </p:sp>
      <p:sp>
        <p:nvSpPr>
          <p:cNvPr id="26" name="Shape 24"/>
          <p:cNvSpPr/>
          <p:nvPr/>
        </p:nvSpPr>
        <p:spPr>
          <a:xfrm>
            <a:off x="10405400" y="3895344"/>
            <a:ext cx="164592" cy="164592"/>
          </a:xfrm>
          <a:prstGeom prst="ellipse">
            <a:avLst/>
          </a:prstGeom>
          <a:solidFill>
            <a:srgbClr val="727885"/>
          </a:solidFill>
          <a:ln w="12700">
            <a:solidFill>
              <a:srgbClr val="FFFFFF"/>
            </a:solidFill>
            <a:prstDash val="solid"/>
          </a:ln>
        </p:spPr>
        <p:txBody>
          <a:bodyPr/>
          <a:lstStyle/>
          <a:p>
            <a:endParaRPr lang="en-US"/>
          </a:p>
        </p:txBody>
      </p:sp>
      <p:sp>
        <p:nvSpPr>
          <p:cNvPr id="27" name="Text 25"/>
          <p:cNvSpPr txBox="1"/>
          <p:nvPr/>
        </p:nvSpPr>
        <p:spPr>
          <a:xfrm>
            <a:off x="10542560" y="3026664"/>
            <a:ext cx="1005840" cy="274320"/>
          </a:xfrm>
          <a:prstGeom prst="rect">
            <a:avLst/>
          </a:prstGeom>
          <a:noFill/>
          <a:ln/>
        </p:spPr>
        <p:txBody>
          <a:bodyPr wrap="square" lIns="0" tIns="0" rIns="0" bIns="0" rtlCol="0" anchor="t"/>
          <a:lstStyle/>
          <a:p>
            <a:pPr marL="0" indent="0" algn="l">
              <a:buNone/>
            </a:pPr>
            <a:r>
              <a:rPr lang="en-US" sz="1050" b="1" dirty="0">
                <a:solidFill>
                  <a:srgbClr val="727885"/>
                </a:solidFill>
                <a:latin typeface="Calibri" pitchFamily="34" charset="0"/>
                <a:ea typeface="Calibri" pitchFamily="34" charset="-122"/>
                <a:cs typeface="Calibri" pitchFamily="34" charset="-120"/>
              </a:rPr>
              <a:t>Flash 3.7</a:t>
            </a:r>
            <a:endParaRPr lang="en-US" sz="1050" dirty="0"/>
          </a:p>
        </p:txBody>
      </p:sp>
      <p:sp>
        <p:nvSpPr>
          <p:cNvPr id="28" name="Shape 26"/>
          <p:cNvSpPr/>
          <p:nvPr/>
        </p:nvSpPr>
        <p:spPr>
          <a:xfrm>
            <a:off x="10621187" y="3383280"/>
            <a:ext cx="0" cy="594360"/>
          </a:xfrm>
          <a:prstGeom prst="line">
            <a:avLst/>
          </a:prstGeom>
          <a:noFill/>
          <a:ln w="12700">
            <a:solidFill>
              <a:srgbClr val="727885"/>
            </a:solidFill>
            <a:prstDash val="solid"/>
          </a:ln>
        </p:spPr>
        <p:txBody>
          <a:bodyPr/>
          <a:lstStyle/>
          <a:p>
            <a:endParaRPr lang="en-US"/>
          </a:p>
        </p:txBody>
      </p:sp>
      <p:sp>
        <p:nvSpPr>
          <p:cNvPr id="29" name="Shape 27"/>
          <p:cNvSpPr/>
          <p:nvPr/>
        </p:nvSpPr>
        <p:spPr>
          <a:xfrm>
            <a:off x="10538891" y="3895344"/>
            <a:ext cx="164592" cy="164592"/>
          </a:xfrm>
          <a:prstGeom prst="ellipse">
            <a:avLst/>
          </a:prstGeom>
          <a:solidFill>
            <a:srgbClr val="727885"/>
          </a:solidFill>
          <a:ln w="12700">
            <a:solidFill>
              <a:srgbClr val="FFFFFF"/>
            </a:solidFill>
            <a:prstDash val="solid"/>
          </a:ln>
        </p:spPr>
        <p:txBody>
          <a:bodyPr/>
          <a:lstStyle/>
          <a:p>
            <a:endParaRPr lang="en-US"/>
          </a:p>
        </p:txBody>
      </p:sp>
      <p:sp>
        <p:nvSpPr>
          <p:cNvPr id="30" name="Text 28"/>
          <p:cNvSpPr txBox="1"/>
          <p:nvPr/>
        </p:nvSpPr>
        <p:spPr>
          <a:xfrm>
            <a:off x="10676051" y="3337560"/>
            <a:ext cx="1005840" cy="274320"/>
          </a:xfrm>
          <a:prstGeom prst="rect">
            <a:avLst/>
          </a:prstGeom>
          <a:noFill/>
          <a:ln/>
        </p:spPr>
        <p:txBody>
          <a:bodyPr wrap="square" lIns="0" tIns="0" rIns="0" bIns="0" rtlCol="0" anchor="t"/>
          <a:lstStyle/>
          <a:p>
            <a:pPr marL="0" indent="0" algn="l">
              <a:buNone/>
            </a:pPr>
            <a:r>
              <a:rPr lang="en-US" sz="1050" b="1" dirty="0">
                <a:solidFill>
                  <a:srgbClr val="727885"/>
                </a:solidFill>
                <a:latin typeface="Calibri" pitchFamily="34" charset="0"/>
                <a:ea typeface="Calibri" pitchFamily="34" charset="-122"/>
                <a:cs typeface="Calibri" pitchFamily="34" charset="-120"/>
              </a:rPr>
              <a:t>Flash 3.8</a:t>
            </a:r>
            <a:endParaRPr lang="en-US" sz="1050" dirty="0"/>
          </a:p>
        </p:txBody>
      </p:sp>
      <p:sp>
        <p:nvSpPr>
          <p:cNvPr id="31" name="Shape 29"/>
          <p:cNvSpPr/>
          <p:nvPr/>
        </p:nvSpPr>
        <p:spPr>
          <a:xfrm>
            <a:off x="1356923" y="3977640"/>
            <a:ext cx="0" cy="640080"/>
          </a:xfrm>
          <a:prstGeom prst="line">
            <a:avLst/>
          </a:prstGeom>
          <a:noFill/>
          <a:ln w="12700">
            <a:solidFill>
              <a:srgbClr val="2E5C8F"/>
            </a:solidFill>
            <a:prstDash val="solid"/>
          </a:ln>
        </p:spPr>
        <p:txBody>
          <a:bodyPr/>
          <a:lstStyle/>
          <a:p>
            <a:endParaRPr lang="en-US"/>
          </a:p>
        </p:txBody>
      </p:sp>
      <p:sp>
        <p:nvSpPr>
          <p:cNvPr id="32" name="Shape 30"/>
          <p:cNvSpPr/>
          <p:nvPr/>
        </p:nvSpPr>
        <p:spPr>
          <a:xfrm>
            <a:off x="1274627" y="3895344"/>
            <a:ext cx="164592" cy="164592"/>
          </a:xfrm>
          <a:prstGeom prst="ellipse">
            <a:avLst/>
          </a:prstGeom>
          <a:solidFill>
            <a:srgbClr val="2E5C8F"/>
          </a:solidFill>
          <a:ln w="12700">
            <a:solidFill>
              <a:srgbClr val="FFFFFF"/>
            </a:solidFill>
            <a:prstDash val="solid"/>
          </a:ln>
        </p:spPr>
        <p:txBody>
          <a:bodyPr/>
          <a:lstStyle/>
          <a:p>
            <a:endParaRPr lang="en-US"/>
          </a:p>
        </p:txBody>
      </p:sp>
      <p:sp>
        <p:nvSpPr>
          <p:cNvPr id="33" name="Text 31"/>
          <p:cNvSpPr txBox="1"/>
          <p:nvPr/>
        </p:nvSpPr>
        <p:spPr>
          <a:xfrm>
            <a:off x="1411787" y="4389120"/>
            <a:ext cx="1005840" cy="274320"/>
          </a:xfrm>
          <a:prstGeom prst="rect">
            <a:avLst/>
          </a:prstGeom>
          <a:noFill/>
          <a:ln/>
        </p:spPr>
        <p:txBody>
          <a:bodyPr wrap="square" lIns="0" tIns="0" rIns="0" bIns="0" rtlCol="0" anchor="t"/>
          <a:lstStyle/>
          <a:p>
            <a:pPr marL="0" indent="0" algn="l">
              <a:buNone/>
            </a:pPr>
            <a:r>
              <a:rPr lang="en-US" sz="1050" b="1" dirty="0">
                <a:solidFill>
                  <a:srgbClr val="2E5C8F"/>
                </a:solidFill>
                <a:latin typeface="Calibri" pitchFamily="34" charset="0"/>
                <a:ea typeface="Calibri" pitchFamily="34" charset="-122"/>
                <a:cs typeface="Calibri" pitchFamily="34" charset="-120"/>
              </a:rPr>
              <a:t>Claude 1</a:t>
            </a:r>
            <a:endParaRPr lang="en-US" sz="1050" dirty="0"/>
          </a:p>
        </p:txBody>
      </p:sp>
      <p:sp>
        <p:nvSpPr>
          <p:cNvPr id="34" name="Shape 32"/>
          <p:cNvSpPr/>
          <p:nvPr/>
        </p:nvSpPr>
        <p:spPr>
          <a:xfrm>
            <a:off x="3946645" y="3977640"/>
            <a:ext cx="0" cy="640080"/>
          </a:xfrm>
          <a:prstGeom prst="line">
            <a:avLst/>
          </a:prstGeom>
          <a:noFill/>
          <a:ln w="12700">
            <a:solidFill>
              <a:srgbClr val="2E5C8F"/>
            </a:solidFill>
            <a:prstDash val="solid"/>
          </a:ln>
        </p:spPr>
        <p:txBody>
          <a:bodyPr/>
          <a:lstStyle/>
          <a:p>
            <a:endParaRPr lang="en-US"/>
          </a:p>
        </p:txBody>
      </p:sp>
      <p:sp>
        <p:nvSpPr>
          <p:cNvPr id="35" name="Shape 33"/>
          <p:cNvSpPr/>
          <p:nvPr/>
        </p:nvSpPr>
        <p:spPr>
          <a:xfrm>
            <a:off x="3864349" y="3895344"/>
            <a:ext cx="164592" cy="164592"/>
          </a:xfrm>
          <a:prstGeom prst="ellipse">
            <a:avLst/>
          </a:prstGeom>
          <a:solidFill>
            <a:srgbClr val="2E5C8F"/>
          </a:solidFill>
          <a:ln w="12700">
            <a:solidFill>
              <a:srgbClr val="FFFFFF"/>
            </a:solidFill>
            <a:prstDash val="solid"/>
          </a:ln>
        </p:spPr>
        <p:txBody>
          <a:bodyPr/>
          <a:lstStyle/>
          <a:p>
            <a:endParaRPr lang="en-US"/>
          </a:p>
        </p:txBody>
      </p:sp>
      <p:sp>
        <p:nvSpPr>
          <p:cNvPr id="36" name="Text 34"/>
          <p:cNvSpPr txBox="1"/>
          <p:nvPr/>
        </p:nvSpPr>
        <p:spPr>
          <a:xfrm>
            <a:off x="4001509" y="4389120"/>
            <a:ext cx="1005840" cy="274320"/>
          </a:xfrm>
          <a:prstGeom prst="rect">
            <a:avLst/>
          </a:prstGeom>
          <a:noFill/>
          <a:ln/>
        </p:spPr>
        <p:txBody>
          <a:bodyPr wrap="square" lIns="0" tIns="0" rIns="0" bIns="0" rtlCol="0" anchor="t"/>
          <a:lstStyle/>
          <a:p>
            <a:pPr marL="0" indent="0" algn="l">
              <a:buNone/>
            </a:pPr>
            <a:r>
              <a:rPr lang="en-US" sz="1050" b="1" dirty="0">
                <a:solidFill>
                  <a:srgbClr val="2E5C8F"/>
                </a:solidFill>
                <a:latin typeface="Calibri" pitchFamily="34" charset="0"/>
                <a:ea typeface="Calibri" pitchFamily="34" charset="-122"/>
                <a:cs typeface="Calibri" pitchFamily="34" charset="-120"/>
              </a:rPr>
              <a:t>Claude 3</a:t>
            </a:r>
            <a:endParaRPr lang="en-US" sz="1050" dirty="0"/>
          </a:p>
        </p:txBody>
      </p:sp>
      <p:sp>
        <p:nvSpPr>
          <p:cNvPr id="37" name="Shape 35"/>
          <p:cNvSpPr/>
          <p:nvPr/>
        </p:nvSpPr>
        <p:spPr>
          <a:xfrm>
            <a:off x="7203821" y="3977640"/>
            <a:ext cx="0" cy="1261872"/>
          </a:xfrm>
          <a:prstGeom prst="line">
            <a:avLst/>
          </a:prstGeom>
          <a:noFill/>
          <a:ln w="12700">
            <a:solidFill>
              <a:srgbClr val="2E5C8F"/>
            </a:solidFill>
            <a:prstDash val="solid"/>
          </a:ln>
        </p:spPr>
        <p:txBody>
          <a:bodyPr/>
          <a:lstStyle/>
          <a:p>
            <a:endParaRPr lang="en-US"/>
          </a:p>
        </p:txBody>
      </p:sp>
      <p:sp>
        <p:nvSpPr>
          <p:cNvPr id="38" name="Shape 36"/>
          <p:cNvSpPr/>
          <p:nvPr/>
        </p:nvSpPr>
        <p:spPr>
          <a:xfrm>
            <a:off x="7121525" y="3895344"/>
            <a:ext cx="164592" cy="164592"/>
          </a:xfrm>
          <a:prstGeom prst="ellipse">
            <a:avLst/>
          </a:prstGeom>
          <a:solidFill>
            <a:srgbClr val="2E5C8F"/>
          </a:solidFill>
          <a:ln w="12700">
            <a:solidFill>
              <a:srgbClr val="FFFFFF"/>
            </a:solidFill>
            <a:prstDash val="solid"/>
          </a:ln>
        </p:spPr>
        <p:txBody>
          <a:bodyPr/>
          <a:lstStyle/>
          <a:p>
            <a:endParaRPr lang="en-US"/>
          </a:p>
        </p:txBody>
      </p:sp>
      <p:sp>
        <p:nvSpPr>
          <p:cNvPr id="39" name="Text 37"/>
          <p:cNvSpPr txBox="1"/>
          <p:nvPr/>
        </p:nvSpPr>
        <p:spPr>
          <a:xfrm>
            <a:off x="7258685" y="5010912"/>
            <a:ext cx="1005840" cy="274320"/>
          </a:xfrm>
          <a:prstGeom prst="rect">
            <a:avLst/>
          </a:prstGeom>
          <a:noFill/>
          <a:ln/>
        </p:spPr>
        <p:txBody>
          <a:bodyPr wrap="square" lIns="0" tIns="0" rIns="0" bIns="0" rtlCol="0" anchor="t"/>
          <a:lstStyle/>
          <a:p>
            <a:pPr marL="0" indent="0" algn="l">
              <a:buNone/>
            </a:pPr>
            <a:r>
              <a:rPr lang="en-US" sz="1050" b="1" dirty="0">
                <a:solidFill>
                  <a:srgbClr val="2E5C8F"/>
                </a:solidFill>
                <a:latin typeface="Calibri" pitchFamily="34" charset="0"/>
                <a:ea typeface="Calibri" pitchFamily="34" charset="-122"/>
                <a:cs typeface="Calibri" pitchFamily="34" charset="-120"/>
              </a:rPr>
              <a:t>Claude 4</a:t>
            </a:r>
            <a:endParaRPr lang="en-US" sz="1050" dirty="0"/>
          </a:p>
        </p:txBody>
      </p:sp>
      <p:sp>
        <p:nvSpPr>
          <p:cNvPr id="40" name="Shape 38"/>
          <p:cNvSpPr/>
          <p:nvPr/>
        </p:nvSpPr>
        <p:spPr>
          <a:xfrm>
            <a:off x="8138257" y="3977640"/>
            <a:ext cx="0" cy="950976"/>
          </a:xfrm>
          <a:prstGeom prst="line">
            <a:avLst/>
          </a:prstGeom>
          <a:noFill/>
          <a:ln w="12700">
            <a:solidFill>
              <a:srgbClr val="2E5C8F"/>
            </a:solidFill>
            <a:prstDash val="solid"/>
          </a:ln>
        </p:spPr>
        <p:txBody>
          <a:bodyPr/>
          <a:lstStyle/>
          <a:p>
            <a:endParaRPr lang="en-US"/>
          </a:p>
        </p:txBody>
      </p:sp>
      <p:sp>
        <p:nvSpPr>
          <p:cNvPr id="41" name="Shape 39"/>
          <p:cNvSpPr/>
          <p:nvPr/>
        </p:nvSpPr>
        <p:spPr>
          <a:xfrm>
            <a:off x="8055961" y="3895344"/>
            <a:ext cx="164592" cy="164592"/>
          </a:xfrm>
          <a:prstGeom prst="ellipse">
            <a:avLst/>
          </a:prstGeom>
          <a:solidFill>
            <a:srgbClr val="2E5C8F"/>
          </a:solidFill>
          <a:ln w="12700">
            <a:solidFill>
              <a:srgbClr val="FFFFFF"/>
            </a:solidFill>
            <a:prstDash val="solid"/>
          </a:ln>
        </p:spPr>
        <p:txBody>
          <a:bodyPr/>
          <a:lstStyle/>
          <a:p>
            <a:endParaRPr lang="en-US"/>
          </a:p>
        </p:txBody>
      </p:sp>
      <p:sp>
        <p:nvSpPr>
          <p:cNvPr id="42" name="Text 40"/>
          <p:cNvSpPr txBox="1"/>
          <p:nvPr/>
        </p:nvSpPr>
        <p:spPr>
          <a:xfrm>
            <a:off x="8193121" y="4700016"/>
            <a:ext cx="1005840" cy="274320"/>
          </a:xfrm>
          <a:prstGeom prst="rect">
            <a:avLst/>
          </a:prstGeom>
          <a:noFill/>
          <a:ln/>
        </p:spPr>
        <p:txBody>
          <a:bodyPr wrap="square" lIns="0" tIns="0" rIns="0" bIns="0" rtlCol="0" anchor="t"/>
          <a:lstStyle/>
          <a:p>
            <a:pPr marL="0" indent="0" algn="l">
              <a:buNone/>
            </a:pPr>
            <a:r>
              <a:rPr lang="en-US" sz="1050" b="1" dirty="0">
                <a:solidFill>
                  <a:srgbClr val="2E5C8F"/>
                </a:solidFill>
                <a:latin typeface="Calibri" pitchFamily="34" charset="0"/>
                <a:ea typeface="Calibri" pitchFamily="34" charset="-122"/>
                <a:cs typeface="Calibri" pitchFamily="34" charset="-120"/>
              </a:rPr>
              <a:t>Sonnet 4.5</a:t>
            </a:r>
            <a:endParaRPr lang="en-US" sz="1050" dirty="0"/>
          </a:p>
        </p:txBody>
      </p:sp>
      <p:sp>
        <p:nvSpPr>
          <p:cNvPr id="43" name="Shape 41"/>
          <p:cNvSpPr/>
          <p:nvPr/>
        </p:nvSpPr>
        <p:spPr>
          <a:xfrm>
            <a:off x="8565428" y="3977640"/>
            <a:ext cx="0" cy="640080"/>
          </a:xfrm>
          <a:prstGeom prst="line">
            <a:avLst/>
          </a:prstGeom>
          <a:noFill/>
          <a:ln w="12700">
            <a:solidFill>
              <a:srgbClr val="2E5C8F"/>
            </a:solidFill>
            <a:prstDash val="solid"/>
          </a:ln>
        </p:spPr>
        <p:txBody>
          <a:bodyPr/>
          <a:lstStyle/>
          <a:p>
            <a:endParaRPr lang="en-US"/>
          </a:p>
        </p:txBody>
      </p:sp>
      <p:sp>
        <p:nvSpPr>
          <p:cNvPr id="44" name="Shape 42"/>
          <p:cNvSpPr/>
          <p:nvPr/>
        </p:nvSpPr>
        <p:spPr>
          <a:xfrm>
            <a:off x="8483132" y="3895344"/>
            <a:ext cx="164592" cy="164592"/>
          </a:xfrm>
          <a:prstGeom prst="ellipse">
            <a:avLst/>
          </a:prstGeom>
          <a:solidFill>
            <a:srgbClr val="2E5C8F"/>
          </a:solidFill>
          <a:ln w="12700">
            <a:solidFill>
              <a:srgbClr val="FFFFFF"/>
            </a:solidFill>
            <a:prstDash val="solid"/>
          </a:ln>
        </p:spPr>
        <p:txBody>
          <a:bodyPr/>
          <a:lstStyle/>
          <a:p>
            <a:endParaRPr lang="en-US"/>
          </a:p>
        </p:txBody>
      </p:sp>
      <p:sp>
        <p:nvSpPr>
          <p:cNvPr id="45" name="Text 43"/>
          <p:cNvSpPr txBox="1"/>
          <p:nvPr/>
        </p:nvSpPr>
        <p:spPr>
          <a:xfrm>
            <a:off x="8620292" y="4389120"/>
            <a:ext cx="1005840" cy="274320"/>
          </a:xfrm>
          <a:prstGeom prst="rect">
            <a:avLst/>
          </a:prstGeom>
          <a:noFill/>
          <a:ln/>
        </p:spPr>
        <p:txBody>
          <a:bodyPr wrap="square" lIns="0" tIns="0" rIns="0" bIns="0" rtlCol="0" anchor="t"/>
          <a:lstStyle/>
          <a:p>
            <a:pPr marL="0" indent="0" algn="l">
              <a:buNone/>
            </a:pPr>
            <a:r>
              <a:rPr lang="en-US" sz="1050" b="1" dirty="0">
                <a:solidFill>
                  <a:srgbClr val="2E5C8F"/>
                </a:solidFill>
                <a:latin typeface="Calibri" pitchFamily="34" charset="0"/>
                <a:ea typeface="Calibri" pitchFamily="34" charset="-122"/>
                <a:cs typeface="Calibri" pitchFamily="34" charset="-120"/>
              </a:rPr>
              <a:t>Opus 4.5</a:t>
            </a:r>
            <a:endParaRPr lang="en-US" sz="1050" dirty="0"/>
          </a:p>
        </p:txBody>
      </p:sp>
      <p:sp>
        <p:nvSpPr>
          <p:cNvPr id="46" name="Shape 44"/>
          <p:cNvSpPr/>
          <p:nvPr/>
        </p:nvSpPr>
        <p:spPr>
          <a:xfrm>
            <a:off x="10140620" y="3977640"/>
            <a:ext cx="0" cy="950976"/>
          </a:xfrm>
          <a:prstGeom prst="line">
            <a:avLst/>
          </a:prstGeom>
          <a:noFill/>
          <a:ln w="12700">
            <a:solidFill>
              <a:srgbClr val="2E5C8F"/>
            </a:solidFill>
            <a:prstDash val="solid"/>
          </a:ln>
        </p:spPr>
        <p:txBody>
          <a:bodyPr/>
          <a:lstStyle/>
          <a:p>
            <a:endParaRPr lang="en-US"/>
          </a:p>
        </p:txBody>
      </p:sp>
      <p:sp>
        <p:nvSpPr>
          <p:cNvPr id="47" name="Shape 45"/>
          <p:cNvSpPr/>
          <p:nvPr/>
        </p:nvSpPr>
        <p:spPr>
          <a:xfrm>
            <a:off x="10058324" y="3895344"/>
            <a:ext cx="164592" cy="164592"/>
          </a:xfrm>
          <a:prstGeom prst="ellipse">
            <a:avLst/>
          </a:prstGeom>
          <a:solidFill>
            <a:srgbClr val="2E5C8F"/>
          </a:solidFill>
          <a:ln w="12700">
            <a:solidFill>
              <a:srgbClr val="FFFFFF"/>
            </a:solidFill>
            <a:prstDash val="solid"/>
          </a:ln>
        </p:spPr>
        <p:txBody>
          <a:bodyPr/>
          <a:lstStyle/>
          <a:p>
            <a:endParaRPr lang="en-US"/>
          </a:p>
        </p:txBody>
      </p:sp>
      <p:sp>
        <p:nvSpPr>
          <p:cNvPr id="48" name="Text 46"/>
          <p:cNvSpPr txBox="1"/>
          <p:nvPr/>
        </p:nvSpPr>
        <p:spPr>
          <a:xfrm>
            <a:off x="10195484" y="4700016"/>
            <a:ext cx="1005840" cy="274320"/>
          </a:xfrm>
          <a:prstGeom prst="rect">
            <a:avLst/>
          </a:prstGeom>
          <a:noFill/>
          <a:ln/>
        </p:spPr>
        <p:txBody>
          <a:bodyPr wrap="square" lIns="0" tIns="0" rIns="0" bIns="0" rtlCol="0" anchor="t"/>
          <a:lstStyle/>
          <a:p>
            <a:pPr marL="0" indent="0" algn="l">
              <a:buNone/>
            </a:pPr>
            <a:r>
              <a:rPr lang="en-US" sz="1050" b="1" dirty="0">
                <a:solidFill>
                  <a:srgbClr val="2E5C8F"/>
                </a:solidFill>
                <a:latin typeface="Calibri" pitchFamily="34" charset="0"/>
                <a:ea typeface="Calibri" pitchFamily="34" charset="-122"/>
                <a:cs typeface="Calibri" pitchFamily="34" charset="-120"/>
              </a:rPr>
              <a:t>Sonnet 5</a:t>
            </a:r>
            <a:endParaRPr lang="en-US" sz="1050" dirty="0"/>
          </a:p>
        </p:txBody>
      </p:sp>
      <p:sp>
        <p:nvSpPr>
          <p:cNvPr id="49" name="Shape 47"/>
          <p:cNvSpPr/>
          <p:nvPr/>
        </p:nvSpPr>
        <p:spPr>
          <a:xfrm>
            <a:off x="10327507" y="3977640"/>
            <a:ext cx="0" cy="640080"/>
          </a:xfrm>
          <a:prstGeom prst="line">
            <a:avLst/>
          </a:prstGeom>
          <a:noFill/>
          <a:ln w="12700">
            <a:solidFill>
              <a:srgbClr val="2E5C8F"/>
            </a:solidFill>
            <a:prstDash val="solid"/>
          </a:ln>
        </p:spPr>
        <p:txBody>
          <a:bodyPr/>
          <a:lstStyle/>
          <a:p>
            <a:endParaRPr lang="en-US"/>
          </a:p>
        </p:txBody>
      </p:sp>
      <p:sp>
        <p:nvSpPr>
          <p:cNvPr id="50" name="Shape 48"/>
          <p:cNvSpPr/>
          <p:nvPr/>
        </p:nvSpPr>
        <p:spPr>
          <a:xfrm>
            <a:off x="10245211" y="3895344"/>
            <a:ext cx="164592" cy="164592"/>
          </a:xfrm>
          <a:prstGeom prst="ellipse">
            <a:avLst/>
          </a:prstGeom>
          <a:solidFill>
            <a:srgbClr val="2E5C8F"/>
          </a:solidFill>
          <a:ln w="12700">
            <a:solidFill>
              <a:srgbClr val="FFFFFF"/>
            </a:solidFill>
            <a:prstDash val="solid"/>
          </a:ln>
        </p:spPr>
        <p:txBody>
          <a:bodyPr/>
          <a:lstStyle/>
          <a:p>
            <a:endParaRPr lang="en-US"/>
          </a:p>
        </p:txBody>
      </p:sp>
      <p:sp>
        <p:nvSpPr>
          <p:cNvPr id="51" name="Text 49"/>
          <p:cNvSpPr txBox="1"/>
          <p:nvPr/>
        </p:nvSpPr>
        <p:spPr>
          <a:xfrm>
            <a:off x="10382371" y="4389120"/>
            <a:ext cx="1005840" cy="274320"/>
          </a:xfrm>
          <a:prstGeom prst="rect">
            <a:avLst/>
          </a:prstGeom>
          <a:noFill/>
          <a:ln/>
        </p:spPr>
        <p:txBody>
          <a:bodyPr wrap="square" lIns="0" tIns="0" rIns="0" bIns="0" rtlCol="0" anchor="t"/>
          <a:lstStyle/>
          <a:p>
            <a:pPr marL="0" indent="0" algn="l">
              <a:buNone/>
            </a:pPr>
            <a:r>
              <a:rPr lang="en-US" sz="1050" b="1" dirty="0">
                <a:solidFill>
                  <a:srgbClr val="2E5C8F"/>
                </a:solidFill>
                <a:latin typeface="Calibri" pitchFamily="34" charset="0"/>
                <a:ea typeface="Calibri" pitchFamily="34" charset="-122"/>
                <a:cs typeface="Calibri" pitchFamily="34" charset="-120"/>
              </a:rPr>
              <a:t>Opus 5</a:t>
            </a:r>
            <a:endParaRPr lang="en-US" sz="1050" dirty="0"/>
          </a:p>
        </p:txBody>
      </p:sp>
      <p:sp>
        <p:nvSpPr>
          <p:cNvPr id="52" name="Shape 50"/>
          <p:cNvSpPr/>
          <p:nvPr/>
        </p:nvSpPr>
        <p:spPr>
          <a:xfrm>
            <a:off x="548640" y="1938528"/>
            <a:ext cx="146304" cy="146304"/>
          </a:xfrm>
          <a:prstGeom prst="ellipse">
            <a:avLst/>
          </a:prstGeom>
          <a:solidFill>
            <a:srgbClr val="727885"/>
          </a:solidFill>
          <a:ln w="12700">
            <a:solidFill>
              <a:srgbClr val="727885"/>
            </a:solidFill>
            <a:prstDash val="solid"/>
          </a:ln>
        </p:spPr>
        <p:txBody>
          <a:bodyPr/>
          <a:lstStyle/>
          <a:p>
            <a:endParaRPr lang="en-US"/>
          </a:p>
        </p:txBody>
      </p:sp>
      <p:sp>
        <p:nvSpPr>
          <p:cNvPr id="53" name="Text 51"/>
          <p:cNvSpPr txBox="1"/>
          <p:nvPr/>
        </p:nvSpPr>
        <p:spPr>
          <a:xfrm>
            <a:off x="777240" y="1883664"/>
            <a:ext cx="2926080" cy="256032"/>
          </a:xfrm>
          <a:prstGeom prst="rect">
            <a:avLst/>
          </a:prstGeom>
          <a:noFill/>
          <a:ln/>
        </p:spPr>
        <p:txBody>
          <a:bodyPr wrap="square" lIns="0" tIns="0" rIns="0" bIns="0" rtlCol="0" anchor="t"/>
          <a:lstStyle/>
          <a:p>
            <a:pPr marL="0" indent="0">
              <a:buNone/>
            </a:pPr>
            <a:r>
              <a:rPr lang="en-US" sz="1200" dirty="0">
                <a:solidFill>
                  <a:srgbClr val="50555F"/>
                </a:solidFill>
                <a:latin typeface="Calibri" pitchFamily="34" charset="0"/>
                <a:ea typeface="Calibri" pitchFamily="34" charset="-122"/>
                <a:cs typeface="Calibri" pitchFamily="34" charset="-120"/>
              </a:rPr>
              <a:t>Gemini Flash releases (above)</a:t>
            </a:r>
            <a:endParaRPr lang="en-US" sz="1200" dirty="0"/>
          </a:p>
        </p:txBody>
      </p:sp>
      <p:sp>
        <p:nvSpPr>
          <p:cNvPr id="54" name="Shape 52"/>
          <p:cNvSpPr/>
          <p:nvPr/>
        </p:nvSpPr>
        <p:spPr>
          <a:xfrm>
            <a:off x="3840480" y="1938528"/>
            <a:ext cx="146304" cy="146304"/>
          </a:xfrm>
          <a:prstGeom prst="ellipse">
            <a:avLst/>
          </a:prstGeom>
          <a:solidFill>
            <a:srgbClr val="2E5C8F"/>
          </a:solidFill>
          <a:ln w="12700">
            <a:solidFill>
              <a:srgbClr val="2E5C8F"/>
            </a:solidFill>
            <a:prstDash val="solid"/>
          </a:ln>
        </p:spPr>
        <p:txBody>
          <a:bodyPr/>
          <a:lstStyle/>
          <a:p>
            <a:endParaRPr lang="en-US"/>
          </a:p>
        </p:txBody>
      </p:sp>
      <p:sp>
        <p:nvSpPr>
          <p:cNvPr id="55" name="Text 53"/>
          <p:cNvSpPr txBox="1"/>
          <p:nvPr/>
        </p:nvSpPr>
        <p:spPr>
          <a:xfrm>
            <a:off x="4069080" y="1883664"/>
            <a:ext cx="2926080" cy="256032"/>
          </a:xfrm>
          <a:prstGeom prst="rect">
            <a:avLst/>
          </a:prstGeom>
          <a:noFill/>
          <a:ln/>
        </p:spPr>
        <p:txBody>
          <a:bodyPr wrap="square" lIns="0" tIns="0" rIns="0" bIns="0" rtlCol="0" anchor="t"/>
          <a:lstStyle/>
          <a:p>
            <a:pPr marL="0" indent="0">
              <a:buNone/>
            </a:pPr>
            <a:r>
              <a:rPr lang="en-US" sz="1200" dirty="0">
                <a:solidFill>
                  <a:srgbClr val="50555F"/>
                </a:solidFill>
                <a:latin typeface="Calibri" pitchFamily="34" charset="0"/>
                <a:ea typeface="Calibri" pitchFamily="34" charset="-122"/>
                <a:cs typeface="Calibri" pitchFamily="34" charset="-120"/>
              </a:rPr>
              <a:t>Claude releases (below)</a:t>
            </a:r>
            <a:endParaRPr lang="en-US" sz="1200" dirty="0"/>
          </a:p>
        </p:txBody>
      </p:sp>
      <p:sp>
        <p:nvSpPr>
          <p:cNvPr id="56" name="Text 54"/>
          <p:cNvSpPr txBox="1"/>
          <p:nvPr/>
        </p:nvSpPr>
        <p:spPr>
          <a:xfrm>
            <a:off x="548640" y="5760720"/>
            <a:ext cx="10972800" cy="457200"/>
          </a:xfrm>
          <a:prstGeom prst="rect">
            <a:avLst/>
          </a:prstGeom>
          <a:noFill/>
          <a:ln/>
        </p:spPr>
        <p:txBody>
          <a:bodyPr wrap="square" lIns="0" tIns="0" rIns="0" bIns="0" rtlCol="0" anchor="t"/>
          <a:lstStyle/>
          <a:p>
            <a:pPr marL="0" indent="0">
              <a:buNone/>
            </a:pPr>
            <a:r>
              <a:rPr lang="en-US" sz="1400" i="1" dirty="0">
                <a:solidFill>
                  <a:srgbClr val="2B2E36"/>
                </a:solidFill>
                <a:latin typeface="Calibri" pitchFamily="34" charset="0"/>
                <a:ea typeface="Calibri" pitchFamily="34" charset="-122"/>
                <a:cs typeface="Calibri" pitchFamily="34" charset="-120"/>
              </a:rPr>
              <a:t>Six Gemini Flash releases and five Claude releases in under two years. Test again before you decide a model “can’t do it.”</a:t>
            </a:r>
            <a:endParaRPr lang="en-US" sz="1400" dirty="0"/>
          </a:p>
        </p:txBody>
      </p:sp>
      <p:sp>
        <p:nvSpPr>
          <p:cNvPr id="57" name="Text 55"/>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D939D"/>
                </a:solidFill>
                <a:latin typeface="Calibri" pitchFamily="34" charset="0"/>
                <a:ea typeface="Calibri" pitchFamily="34" charset="-122"/>
                <a:cs typeface="Calibri" pitchFamily="34" charset="-120"/>
              </a:rPr>
              <a:t>WKS10  ·  Building a Repeatable AI Pipeline</a:t>
            </a:r>
            <a:endParaRPr lang="en-US" sz="1000" dirty="0"/>
          </a:p>
        </p:txBody>
      </p:sp>
      <p:sp>
        <p:nvSpPr>
          <p:cNvPr id="58" name="Text 5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8D939D"/>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B2E36"/>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marL="0" indent="0">
              <a:buNone/>
            </a:pPr>
            <a:r>
              <a:rPr lang="en-US" sz="3400" b="1" dirty="0">
                <a:solidFill>
                  <a:srgbClr val="FFFFFF"/>
                </a:solidFill>
                <a:latin typeface="Raleway" pitchFamily="34" charset="0"/>
                <a:ea typeface="Raleway" pitchFamily="34" charset="-122"/>
                <a:cs typeface="Raleway" pitchFamily="34" charset="-120"/>
              </a:rPr>
              <a:t>Broader implications</a:t>
            </a:r>
            <a:endParaRPr lang="en-US" sz="3400" dirty="0"/>
          </a:p>
        </p:txBody>
      </p:sp>
      <p:sp>
        <p:nvSpPr>
          <p:cNvPr id="3" name="Shape 1"/>
          <p:cNvSpPr/>
          <p:nvPr/>
        </p:nvSpPr>
        <p:spPr>
          <a:xfrm>
            <a:off x="548640" y="1737360"/>
            <a:ext cx="3520440" cy="3383280"/>
          </a:xfrm>
          <a:prstGeom prst="roundRect">
            <a:avLst>
              <a:gd name="adj" fmla="val 2162"/>
            </a:avLst>
          </a:prstGeom>
          <a:solidFill>
            <a:srgbClr val="383C46"/>
          </a:solidFill>
          <a:ln w="12700">
            <a:solidFill>
              <a:srgbClr val="383C46"/>
            </a:solidFill>
            <a:prstDash val="solid"/>
          </a:ln>
        </p:spPr>
        <p:txBody>
          <a:bodyPr/>
          <a:lstStyle/>
          <a:p>
            <a:endParaRPr lang="en-US"/>
          </a:p>
        </p:txBody>
      </p:sp>
      <p:sp>
        <p:nvSpPr>
          <p:cNvPr id="4" name="Shape 2"/>
          <p:cNvSpPr/>
          <p:nvPr/>
        </p:nvSpPr>
        <p:spPr>
          <a:xfrm>
            <a:off x="868680" y="2057400"/>
            <a:ext cx="640080" cy="640080"/>
          </a:xfrm>
          <a:prstGeom prst="ellipse">
            <a:avLst/>
          </a:prstGeom>
          <a:solidFill>
            <a:srgbClr val="5F8FAF"/>
          </a:solidFill>
          <a:ln w="12700">
            <a:solidFill>
              <a:srgbClr val="5F8FAF"/>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028700" y="2217420"/>
            <a:ext cx="320040" cy="320040"/>
          </a:xfrm>
          <a:prstGeom prst="rect">
            <a:avLst/>
          </a:prstGeom>
        </p:spPr>
      </p:pic>
      <p:sp>
        <p:nvSpPr>
          <p:cNvPr id="6" name="Text 3"/>
          <p:cNvSpPr txBox="1"/>
          <p:nvPr/>
        </p:nvSpPr>
        <p:spPr>
          <a:xfrm>
            <a:off x="868680" y="2926080"/>
            <a:ext cx="2926080" cy="868680"/>
          </a:xfrm>
          <a:prstGeom prst="rect">
            <a:avLst/>
          </a:prstGeom>
          <a:noFill/>
          <a:ln/>
        </p:spPr>
        <p:txBody>
          <a:bodyPr wrap="square" lIns="0" tIns="0" rIns="0" bIns="0" rtlCol="0" anchor="t"/>
          <a:lstStyle/>
          <a:p>
            <a:pPr marL="0" indent="0">
              <a:buNone/>
            </a:pPr>
            <a:r>
              <a:rPr lang="en-US" sz="1800" b="1" dirty="0">
                <a:solidFill>
                  <a:srgbClr val="FFFFFF"/>
                </a:solidFill>
                <a:latin typeface="Raleway" pitchFamily="34" charset="0"/>
                <a:ea typeface="Raleway" pitchFamily="34" charset="-122"/>
                <a:cs typeface="Raleway" pitchFamily="34" charset="-120"/>
              </a:rPr>
              <a:t>No longer bound to general-purpose software</a:t>
            </a:r>
            <a:endParaRPr lang="en-US" sz="1800" dirty="0"/>
          </a:p>
        </p:txBody>
      </p:sp>
      <p:sp>
        <p:nvSpPr>
          <p:cNvPr id="7" name="Text 4"/>
          <p:cNvSpPr txBox="1"/>
          <p:nvPr/>
        </p:nvSpPr>
        <p:spPr>
          <a:xfrm>
            <a:off x="868680" y="3840480"/>
            <a:ext cx="2926080" cy="1097280"/>
          </a:xfrm>
          <a:prstGeom prst="rect">
            <a:avLst/>
          </a:prstGeom>
          <a:noFill/>
          <a:ln/>
        </p:spPr>
        <p:txBody>
          <a:bodyPr wrap="square" lIns="0" tIns="0" rIns="0" bIns="0" rtlCol="0" anchor="t"/>
          <a:lstStyle/>
          <a:p>
            <a:pPr marL="0" indent="0">
              <a:buNone/>
            </a:pPr>
            <a:r>
              <a:rPr lang="en-US" sz="1350" dirty="0">
                <a:solidFill>
                  <a:srgbClr val="B3B8C2"/>
                </a:solidFill>
                <a:latin typeface="Calibri" pitchFamily="34" charset="0"/>
                <a:ea typeface="Calibri" pitchFamily="34" charset="-122"/>
                <a:cs typeface="Calibri" pitchFamily="34" charset="-120"/>
              </a:rPr>
              <a:t>Excel and similar tools stop being the ceiling for what a small collections team can build.</a:t>
            </a:r>
            <a:endParaRPr lang="en-US" sz="1350" dirty="0"/>
          </a:p>
        </p:txBody>
      </p:sp>
      <p:sp>
        <p:nvSpPr>
          <p:cNvPr id="8" name="Shape 5"/>
          <p:cNvSpPr/>
          <p:nvPr/>
        </p:nvSpPr>
        <p:spPr>
          <a:xfrm>
            <a:off x="4297680" y="1737360"/>
            <a:ext cx="3520440" cy="3383280"/>
          </a:xfrm>
          <a:prstGeom prst="roundRect">
            <a:avLst>
              <a:gd name="adj" fmla="val 2162"/>
            </a:avLst>
          </a:prstGeom>
          <a:solidFill>
            <a:srgbClr val="383C46"/>
          </a:solidFill>
          <a:ln w="12700">
            <a:solidFill>
              <a:srgbClr val="383C46"/>
            </a:solidFill>
            <a:prstDash val="solid"/>
          </a:ln>
        </p:spPr>
        <p:txBody>
          <a:bodyPr/>
          <a:lstStyle/>
          <a:p>
            <a:endParaRPr lang="en-US"/>
          </a:p>
        </p:txBody>
      </p:sp>
      <p:sp>
        <p:nvSpPr>
          <p:cNvPr id="9" name="Shape 6"/>
          <p:cNvSpPr/>
          <p:nvPr/>
        </p:nvSpPr>
        <p:spPr>
          <a:xfrm>
            <a:off x="4617720" y="2057400"/>
            <a:ext cx="640080" cy="640080"/>
          </a:xfrm>
          <a:prstGeom prst="ellipse">
            <a:avLst/>
          </a:prstGeom>
          <a:solidFill>
            <a:srgbClr val="C4A654"/>
          </a:solidFill>
          <a:ln w="12700">
            <a:solidFill>
              <a:srgbClr val="C4A654"/>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4777740" y="2217420"/>
            <a:ext cx="320040" cy="320040"/>
          </a:xfrm>
          <a:prstGeom prst="rect">
            <a:avLst/>
          </a:prstGeom>
        </p:spPr>
      </p:pic>
      <p:sp>
        <p:nvSpPr>
          <p:cNvPr id="11" name="Text 7"/>
          <p:cNvSpPr txBox="1"/>
          <p:nvPr/>
        </p:nvSpPr>
        <p:spPr>
          <a:xfrm>
            <a:off x="4617720" y="2926080"/>
            <a:ext cx="2926080" cy="868680"/>
          </a:xfrm>
          <a:prstGeom prst="rect">
            <a:avLst/>
          </a:prstGeom>
          <a:noFill/>
          <a:ln/>
        </p:spPr>
        <p:txBody>
          <a:bodyPr wrap="square" lIns="0" tIns="0" rIns="0" bIns="0" rtlCol="0" anchor="t"/>
          <a:lstStyle/>
          <a:p>
            <a:pPr marL="0" indent="0">
              <a:buNone/>
            </a:pPr>
            <a:r>
              <a:rPr lang="en-US" sz="1800" b="1" dirty="0">
                <a:solidFill>
                  <a:srgbClr val="FFFFFF"/>
                </a:solidFill>
                <a:latin typeface="Raleway" pitchFamily="34" charset="0"/>
                <a:ea typeface="Raleway" pitchFamily="34" charset="-122"/>
                <a:cs typeface="Raleway" pitchFamily="34" charset="-120"/>
              </a:rPr>
              <a:t>Building software keeps getting easier</a:t>
            </a:r>
            <a:endParaRPr lang="en-US" sz="1800" dirty="0"/>
          </a:p>
        </p:txBody>
      </p:sp>
      <p:sp>
        <p:nvSpPr>
          <p:cNvPr id="12" name="Text 8"/>
          <p:cNvSpPr txBox="1"/>
          <p:nvPr/>
        </p:nvSpPr>
        <p:spPr>
          <a:xfrm>
            <a:off x="4617720" y="3840480"/>
            <a:ext cx="2926080" cy="1097280"/>
          </a:xfrm>
          <a:prstGeom prst="rect">
            <a:avLst/>
          </a:prstGeom>
          <a:noFill/>
          <a:ln/>
        </p:spPr>
        <p:txBody>
          <a:bodyPr wrap="square" lIns="0" tIns="0" rIns="0" bIns="0" rtlCol="0" anchor="t"/>
          <a:lstStyle/>
          <a:p>
            <a:pPr marL="0" indent="0">
              <a:buNone/>
            </a:pPr>
            <a:r>
              <a:rPr lang="en-US" sz="1350" dirty="0">
                <a:solidFill>
                  <a:srgbClr val="B3B8C2"/>
                </a:solidFill>
                <a:latin typeface="Calibri" pitchFamily="34" charset="0"/>
                <a:ea typeface="Calibri" pitchFamily="34" charset="-122"/>
                <a:cs typeface="Calibri" pitchFamily="34" charset="-120"/>
              </a:rPr>
              <a:t>Scripts, small apps and pipelines that once needed a developer are now within reach.</a:t>
            </a:r>
            <a:endParaRPr lang="en-US" sz="1350" dirty="0"/>
          </a:p>
        </p:txBody>
      </p:sp>
      <p:sp>
        <p:nvSpPr>
          <p:cNvPr id="13" name="Shape 9"/>
          <p:cNvSpPr/>
          <p:nvPr/>
        </p:nvSpPr>
        <p:spPr>
          <a:xfrm>
            <a:off x="8046720" y="1737360"/>
            <a:ext cx="3520440" cy="3383280"/>
          </a:xfrm>
          <a:prstGeom prst="roundRect">
            <a:avLst>
              <a:gd name="adj" fmla="val 2162"/>
            </a:avLst>
          </a:prstGeom>
          <a:solidFill>
            <a:srgbClr val="383C46"/>
          </a:solidFill>
          <a:ln w="12700">
            <a:solidFill>
              <a:srgbClr val="383C46"/>
            </a:solidFill>
            <a:prstDash val="solid"/>
          </a:ln>
        </p:spPr>
        <p:txBody>
          <a:bodyPr/>
          <a:lstStyle/>
          <a:p>
            <a:endParaRPr lang="en-US"/>
          </a:p>
        </p:txBody>
      </p:sp>
      <p:sp>
        <p:nvSpPr>
          <p:cNvPr id="14" name="Shape 10"/>
          <p:cNvSpPr/>
          <p:nvPr/>
        </p:nvSpPr>
        <p:spPr>
          <a:xfrm>
            <a:off x="8366760" y="2057400"/>
            <a:ext cx="640080" cy="640080"/>
          </a:xfrm>
          <a:prstGeom prst="ellipse">
            <a:avLst/>
          </a:prstGeom>
          <a:solidFill>
            <a:srgbClr val="2E5C8F"/>
          </a:solidFill>
          <a:ln w="12700">
            <a:solidFill>
              <a:srgbClr val="2E5C8F"/>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8526780" y="2217420"/>
            <a:ext cx="320040" cy="320040"/>
          </a:xfrm>
          <a:prstGeom prst="rect">
            <a:avLst/>
          </a:prstGeom>
        </p:spPr>
      </p:pic>
      <p:sp>
        <p:nvSpPr>
          <p:cNvPr id="16" name="Text 11"/>
          <p:cNvSpPr txBox="1"/>
          <p:nvPr/>
        </p:nvSpPr>
        <p:spPr>
          <a:xfrm>
            <a:off x="8366760" y="2926080"/>
            <a:ext cx="2926080" cy="868680"/>
          </a:xfrm>
          <a:prstGeom prst="rect">
            <a:avLst/>
          </a:prstGeom>
          <a:noFill/>
          <a:ln/>
        </p:spPr>
        <p:txBody>
          <a:bodyPr wrap="square" lIns="0" tIns="0" rIns="0" bIns="0" rtlCol="0" anchor="t"/>
          <a:lstStyle/>
          <a:p>
            <a:pPr marL="0" indent="0">
              <a:buNone/>
            </a:pPr>
            <a:r>
              <a:rPr lang="en-US" sz="1800" b="1" dirty="0">
                <a:solidFill>
                  <a:srgbClr val="FFFFFF"/>
                </a:solidFill>
                <a:latin typeface="Raleway" pitchFamily="34" charset="0"/>
                <a:ea typeface="Raleway" pitchFamily="34" charset="-122"/>
                <a:cs typeface="Raleway" pitchFamily="34" charset="-120"/>
              </a:rPr>
              <a:t>Demand for custom solutions keeps rising</a:t>
            </a:r>
            <a:endParaRPr lang="en-US" sz="1800" dirty="0"/>
          </a:p>
        </p:txBody>
      </p:sp>
      <p:sp>
        <p:nvSpPr>
          <p:cNvPr id="17" name="Text 12"/>
          <p:cNvSpPr txBox="1"/>
          <p:nvPr/>
        </p:nvSpPr>
        <p:spPr>
          <a:xfrm>
            <a:off x="8366760" y="3840480"/>
            <a:ext cx="2926080" cy="1097280"/>
          </a:xfrm>
          <a:prstGeom prst="rect">
            <a:avLst/>
          </a:prstGeom>
          <a:noFill/>
          <a:ln/>
        </p:spPr>
        <p:txBody>
          <a:bodyPr wrap="square" lIns="0" tIns="0" rIns="0" bIns="0" rtlCol="0" anchor="t"/>
          <a:lstStyle/>
          <a:p>
            <a:pPr marL="0" indent="0">
              <a:buNone/>
            </a:pPr>
            <a:r>
              <a:rPr lang="en-US" sz="1350" dirty="0">
                <a:solidFill>
                  <a:srgbClr val="B3B8C2"/>
                </a:solidFill>
                <a:latin typeface="Calibri" pitchFamily="34" charset="0"/>
                <a:ea typeface="Calibri" pitchFamily="34" charset="-122"/>
                <a:cs typeface="Calibri" pitchFamily="34" charset="-120"/>
              </a:rPr>
              <a:t>Every collection has its own quirks. Custom tools fit them better than generic ones.</a:t>
            </a:r>
            <a:endParaRPr lang="en-US" sz="1350" dirty="0"/>
          </a:p>
        </p:txBody>
      </p:sp>
      <p:sp>
        <p:nvSpPr>
          <p:cNvPr id="18" name="Text 13"/>
          <p:cNvSpPr txBox="1"/>
          <p:nvPr/>
        </p:nvSpPr>
        <p:spPr>
          <a:xfrm>
            <a:off x="548640" y="5486400"/>
            <a:ext cx="10972800" cy="457200"/>
          </a:xfrm>
          <a:prstGeom prst="rect">
            <a:avLst/>
          </a:prstGeom>
          <a:noFill/>
          <a:ln/>
        </p:spPr>
        <p:txBody>
          <a:bodyPr wrap="square" lIns="0" tIns="0" rIns="0" bIns="0" rtlCol="0" anchor="ctr"/>
          <a:lstStyle/>
          <a:p>
            <a:pPr marL="0" indent="0">
              <a:buNone/>
            </a:pPr>
            <a:r>
              <a:rPr lang="en-US" sz="1800" i="1" dirty="0">
                <a:solidFill>
                  <a:srgbClr val="9CBFD6"/>
                </a:solidFill>
                <a:latin typeface="Raleway" pitchFamily="34" charset="0"/>
                <a:ea typeface="Raleway" pitchFamily="34" charset="-122"/>
                <a:cs typeface="Raleway" pitchFamily="34" charset="-120"/>
              </a:rPr>
              <a:t>The skill that matters is describing what you want precisely, then checking what you get.</a:t>
            </a:r>
            <a:endParaRPr lang="en-US" sz="1800" dirty="0"/>
          </a:p>
        </p:txBody>
      </p:sp>
      <p:sp>
        <p:nvSpPr>
          <p:cNvPr id="19" name="Text 14"/>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B3B8C2"/>
                </a:solidFill>
                <a:latin typeface="Calibri" pitchFamily="34" charset="0"/>
                <a:ea typeface="Calibri" pitchFamily="34" charset="-122"/>
                <a:cs typeface="Calibri" pitchFamily="34" charset="-120"/>
              </a:rPr>
              <a:t>WKS10  ·  Building a Repeatable AI Pipeline</a:t>
            </a:r>
            <a:endParaRPr lang="en-US" sz="1000" dirty="0"/>
          </a:p>
        </p:txBody>
      </p:sp>
      <p:sp>
        <p:nvSpPr>
          <p:cNvPr id="20" name="Text 15"/>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B3B8C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A98B3C"/>
                </a:solidFill>
                <a:latin typeface="Calibri" pitchFamily="34" charset="0"/>
                <a:ea typeface="Calibri" pitchFamily="34" charset="-122"/>
                <a:cs typeface="Calibri" pitchFamily="34" charset="-120"/>
              </a:rPr>
              <a:t>AI AND PEOPLE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B2E36"/>
                </a:solidFill>
                <a:latin typeface="Raleway" pitchFamily="34" charset="0"/>
                <a:ea typeface="Raleway" pitchFamily="34" charset="-122"/>
                <a:cs typeface="Raleway" pitchFamily="34" charset="-120"/>
              </a:rPr>
              <a:t>The hardest part of any project is people</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0555F"/>
                </a:solidFill>
                <a:latin typeface="Calibri" pitchFamily="34" charset="0"/>
                <a:ea typeface="Calibri" pitchFamily="34" charset="-122"/>
                <a:cs typeface="Calibri" pitchFamily="34" charset="-120"/>
              </a:rPr>
              <a:t>AI changes how much work a task takes. It does not change how people work.</a:t>
            </a:r>
            <a:endParaRPr lang="en-US" sz="1500" dirty="0"/>
          </a:p>
        </p:txBody>
      </p:sp>
      <p:sp>
        <p:nvSpPr>
          <p:cNvPr id="5" name="Shape 3"/>
          <p:cNvSpPr/>
          <p:nvPr/>
        </p:nvSpPr>
        <p:spPr>
          <a:xfrm>
            <a:off x="548640" y="2148840"/>
            <a:ext cx="4937760" cy="3931920"/>
          </a:xfrm>
          <a:prstGeom prst="roundRect">
            <a:avLst>
              <a:gd name="adj" fmla="val 1860"/>
            </a:avLst>
          </a:prstGeom>
          <a:solidFill>
            <a:srgbClr val="EEF3F7"/>
          </a:solidFill>
          <a:ln w="12700">
            <a:solidFill>
              <a:srgbClr val="EEF3F7"/>
            </a:solidFill>
            <a:prstDash val="solid"/>
          </a:ln>
        </p:spPr>
        <p:txBody>
          <a:bodyPr/>
          <a:lstStyle/>
          <a:p>
            <a:endParaRPr lang="en-US"/>
          </a:p>
        </p:txBody>
      </p:sp>
      <p:sp>
        <p:nvSpPr>
          <p:cNvPr id="6" name="Shape 4"/>
          <p:cNvSpPr/>
          <p:nvPr/>
        </p:nvSpPr>
        <p:spPr>
          <a:xfrm>
            <a:off x="868680" y="2423160"/>
            <a:ext cx="640080" cy="640080"/>
          </a:xfrm>
          <a:prstGeom prst="ellipse">
            <a:avLst/>
          </a:prstGeom>
          <a:solidFill>
            <a:srgbClr val="A98B3C"/>
          </a:solidFill>
          <a:ln w="12700">
            <a:solidFill>
              <a:srgbClr val="A98B3C"/>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028700" y="2583180"/>
            <a:ext cx="320040" cy="320040"/>
          </a:xfrm>
          <a:prstGeom prst="rect">
            <a:avLst/>
          </a:prstGeom>
        </p:spPr>
      </p:pic>
      <p:sp>
        <p:nvSpPr>
          <p:cNvPr id="8" name="Text 5"/>
          <p:cNvSpPr txBox="1"/>
          <p:nvPr/>
        </p:nvSpPr>
        <p:spPr>
          <a:xfrm>
            <a:off x="868680" y="3246120"/>
            <a:ext cx="4297680" cy="1371600"/>
          </a:xfrm>
          <a:prstGeom prst="rect">
            <a:avLst/>
          </a:prstGeom>
          <a:noFill/>
          <a:ln/>
        </p:spPr>
        <p:txBody>
          <a:bodyPr wrap="square" lIns="0" tIns="0" rIns="0" bIns="0" rtlCol="0" anchor="t"/>
          <a:lstStyle/>
          <a:p>
            <a:pPr marL="0" indent="0">
              <a:buNone/>
            </a:pPr>
            <a:r>
              <a:rPr lang="en-US" sz="1900" b="1" dirty="0">
                <a:solidFill>
                  <a:srgbClr val="2B2E36"/>
                </a:solidFill>
                <a:latin typeface="Raleway" pitchFamily="34" charset="0"/>
                <a:ea typeface="Raleway" pitchFamily="34" charset="-122"/>
                <a:cs typeface="Raleway" pitchFamily="34" charset="-120"/>
              </a:rPr>
              <a:t>Getting people to change how they work every day is the most difficult task in any software project.</a:t>
            </a:r>
            <a:endParaRPr lang="en-US" sz="1900" dirty="0"/>
          </a:p>
        </p:txBody>
      </p:sp>
      <p:sp>
        <p:nvSpPr>
          <p:cNvPr id="9" name="Text 6"/>
          <p:cNvSpPr txBox="1"/>
          <p:nvPr/>
        </p:nvSpPr>
        <p:spPr>
          <a:xfrm>
            <a:off x="868680" y="4800600"/>
            <a:ext cx="4297680" cy="914400"/>
          </a:xfrm>
          <a:prstGeom prst="rect">
            <a:avLst/>
          </a:prstGeom>
          <a:noFill/>
          <a:ln/>
        </p:spPr>
        <p:txBody>
          <a:bodyPr wrap="square" lIns="0" tIns="0" rIns="0" bIns="0" rtlCol="0" anchor="t"/>
          <a:lstStyle/>
          <a:p>
            <a:pPr marL="0" indent="0">
              <a:buNone/>
            </a:pPr>
            <a:r>
              <a:rPr lang="en-US" sz="1400" dirty="0">
                <a:solidFill>
                  <a:srgbClr val="50555F"/>
                </a:solidFill>
                <a:latin typeface="Calibri" pitchFamily="34" charset="0"/>
                <a:ea typeface="Calibri" pitchFamily="34" charset="-122"/>
                <a:cs typeface="Calibri" pitchFamily="34" charset="-120"/>
              </a:rPr>
              <a:t>It takes communication skills and a real investment of time. AI cannot do it.</a:t>
            </a:r>
            <a:endParaRPr lang="en-US" sz="1400" dirty="0"/>
          </a:p>
        </p:txBody>
      </p:sp>
      <p:sp>
        <p:nvSpPr>
          <p:cNvPr id="10" name="Shape 7"/>
          <p:cNvSpPr/>
          <p:nvPr/>
        </p:nvSpPr>
        <p:spPr>
          <a:xfrm>
            <a:off x="5943600" y="2240280"/>
            <a:ext cx="566928" cy="566928"/>
          </a:xfrm>
          <a:prstGeom prst="ellipse">
            <a:avLst/>
          </a:prstGeom>
          <a:solidFill>
            <a:srgbClr val="5F8FAF"/>
          </a:solidFill>
          <a:ln w="12700">
            <a:solidFill>
              <a:srgbClr val="5F8FAF"/>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6085332" y="2382012"/>
            <a:ext cx="283464" cy="283464"/>
          </a:xfrm>
          <a:prstGeom prst="rect">
            <a:avLst/>
          </a:prstGeom>
        </p:spPr>
      </p:pic>
      <p:sp>
        <p:nvSpPr>
          <p:cNvPr id="12" name="Text 8"/>
          <p:cNvSpPr txBox="1"/>
          <p:nvPr/>
        </p:nvSpPr>
        <p:spPr>
          <a:xfrm>
            <a:off x="6720840" y="2194560"/>
            <a:ext cx="4846320" cy="365760"/>
          </a:xfrm>
          <a:prstGeom prst="rect">
            <a:avLst/>
          </a:prstGeom>
          <a:noFill/>
          <a:ln/>
        </p:spPr>
        <p:txBody>
          <a:bodyPr wrap="square" lIns="0" tIns="0" rIns="0" bIns="0" rtlCol="0" anchor="t"/>
          <a:lstStyle/>
          <a:p>
            <a:pPr marL="0" indent="0">
              <a:buNone/>
            </a:pPr>
            <a:r>
              <a:rPr lang="en-US" sz="1700" b="1" dirty="0">
                <a:solidFill>
                  <a:srgbClr val="2B2E36"/>
                </a:solidFill>
                <a:latin typeface="Calibri" pitchFamily="34" charset="0"/>
                <a:ea typeface="Calibri" pitchFamily="34" charset="-122"/>
                <a:cs typeface="Calibri" pitchFamily="34" charset="-120"/>
              </a:rPr>
              <a:t>AI reduces labour</a:t>
            </a:r>
            <a:endParaRPr lang="en-US" sz="1700" dirty="0"/>
          </a:p>
        </p:txBody>
      </p:sp>
      <p:sp>
        <p:nvSpPr>
          <p:cNvPr id="13" name="Text 9"/>
          <p:cNvSpPr txBox="1"/>
          <p:nvPr/>
        </p:nvSpPr>
        <p:spPr>
          <a:xfrm>
            <a:off x="6720840" y="2606040"/>
            <a:ext cx="4846320" cy="685800"/>
          </a:xfrm>
          <a:prstGeom prst="rect">
            <a:avLst/>
          </a:prstGeom>
          <a:noFill/>
          <a:ln/>
        </p:spPr>
        <p:txBody>
          <a:bodyPr wrap="square" lIns="0" tIns="0" rIns="0" bIns="0" rtlCol="0" anchor="t"/>
          <a:lstStyle/>
          <a:p>
            <a:pPr marL="0" indent="0">
              <a:buNone/>
            </a:pPr>
            <a:r>
              <a:rPr lang="en-US" sz="1350" dirty="0">
                <a:solidFill>
                  <a:srgbClr val="50555F"/>
                </a:solidFill>
                <a:latin typeface="Calibri" pitchFamily="34" charset="0"/>
                <a:ea typeface="Calibri" pitchFamily="34" charset="-122"/>
                <a:cs typeface="Calibri" pitchFamily="34" charset="-120"/>
              </a:rPr>
              <a:t>The same work takes less time and costs less.</a:t>
            </a:r>
            <a:endParaRPr lang="en-US" sz="1350" dirty="0"/>
          </a:p>
        </p:txBody>
      </p:sp>
      <p:pic>
        <p:nvPicPr>
          <p:cNvPr id="14" name="Image 2" descr="preencoded.png"/>
          <p:cNvPicPr>
            <a:picLocks noChangeAspect="1"/>
          </p:cNvPicPr>
          <p:nvPr/>
        </p:nvPicPr>
        <p:blipFill>
          <a:blip r:embed="rId5"/>
          <a:stretch>
            <a:fillRect/>
          </a:stretch>
        </p:blipFill>
        <p:spPr>
          <a:xfrm>
            <a:off x="6089904" y="2971800"/>
            <a:ext cx="274320" cy="274320"/>
          </a:xfrm>
          <a:prstGeom prst="rect">
            <a:avLst/>
          </a:prstGeom>
        </p:spPr>
      </p:pic>
      <p:sp>
        <p:nvSpPr>
          <p:cNvPr id="15" name="Shape 10"/>
          <p:cNvSpPr/>
          <p:nvPr/>
        </p:nvSpPr>
        <p:spPr>
          <a:xfrm>
            <a:off x="5943600" y="3611880"/>
            <a:ext cx="566928" cy="566928"/>
          </a:xfrm>
          <a:prstGeom prst="ellipse">
            <a:avLst/>
          </a:prstGeom>
          <a:solidFill>
            <a:srgbClr val="5F8FAF"/>
          </a:solidFill>
          <a:ln w="12700">
            <a:solidFill>
              <a:srgbClr val="5F8FAF"/>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6085332" y="3753612"/>
            <a:ext cx="283464" cy="283464"/>
          </a:xfrm>
          <a:prstGeom prst="rect">
            <a:avLst/>
          </a:prstGeom>
        </p:spPr>
      </p:pic>
      <p:sp>
        <p:nvSpPr>
          <p:cNvPr id="17" name="Text 11"/>
          <p:cNvSpPr txBox="1"/>
          <p:nvPr/>
        </p:nvSpPr>
        <p:spPr>
          <a:xfrm>
            <a:off x="6720840" y="3566160"/>
            <a:ext cx="4846320" cy="365760"/>
          </a:xfrm>
          <a:prstGeom prst="rect">
            <a:avLst/>
          </a:prstGeom>
          <a:noFill/>
          <a:ln/>
        </p:spPr>
        <p:txBody>
          <a:bodyPr wrap="square" lIns="0" tIns="0" rIns="0" bIns="0" rtlCol="0" anchor="t"/>
          <a:lstStyle/>
          <a:p>
            <a:pPr marL="0" indent="0">
              <a:buNone/>
            </a:pPr>
            <a:r>
              <a:rPr lang="en-US" sz="1700" b="1" dirty="0">
                <a:solidFill>
                  <a:srgbClr val="2B2E36"/>
                </a:solidFill>
                <a:latin typeface="Calibri" pitchFamily="34" charset="0"/>
                <a:ea typeface="Calibri" pitchFamily="34" charset="-122"/>
                <a:cs typeface="Calibri" pitchFamily="34" charset="-120"/>
              </a:rPr>
              <a:t>Time saved is reinvested</a:t>
            </a:r>
            <a:endParaRPr lang="en-US" sz="1700" dirty="0"/>
          </a:p>
        </p:txBody>
      </p:sp>
      <p:sp>
        <p:nvSpPr>
          <p:cNvPr id="18" name="Text 12"/>
          <p:cNvSpPr txBox="1"/>
          <p:nvPr/>
        </p:nvSpPr>
        <p:spPr>
          <a:xfrm>
            <a:off x="6720840" y="3977640"/>
            <a:ext cx="4846320" cy="685800"/>
          </a:xfrm>
          <a:prstGeom prst="rect">
            <a:avLst/>
          </a:prstGeom>
          <a:noFill/>
          <a:ln/>
        </p:spPr>
        <p:txBody>
          <a:bodyPr wrap="square" lIns="0" tIns="0" rIns="0" bIns="0" rtlCol="0" anchor="t"/>
          <a:lstStyle/>
          <a:p>
            <a:pPr marL="0" indent="0">
              <a:buNone/>
            </a:pPr>
            <a:r>
              <a:rPr lang="en-US" sz="1350" dirty="0">
                <a:solidFill>
                  <a:srgbClr val="50555F"/>
                </a:solidFill>
                <a:latin typeface="Calibri" pitchFamily="34" charset="0"/>
                <a:ea typeface="Calibri" pitchFamily="34" charset="-122"/>
                <a:cs typeface="Calibri" pitchFamily="34" charset="-120"/>
              </a:rPr>
              <a:t>Learn new skills and take on work that was out of reach.</a:t>
            </a:r>
            <a:endParaRPr lang="en-US" sz="1350" dirty="0"/>
          </a:p>
        </p:txBody>
      </p:sp>
      <p:pic>
        <p:nvPicPr>
          <p:cNvPr id="19" name="Image 4" descr="preencoded.png"/>
          <p:cNvPicPr>
            <a:picLocks noChangeAspect="1"/>
          </p:cNvPicPr>
          <p:nvPr/>
        </p:nvPicPr>
        <p:blipFill>
          <a:blip r:embed="rId5"/>
          <a:stretch>
            <a:fillRect/>
          </a:stretch>
        </p:blipFill>
        <p:spPr>
          <a:xfrm>
            <a:off x="6089904" y="4343400"/>
            <a:ext cx="274320" cy="274320"/>
          </a:xfrm>
          <a:prstGeom prst="rect">
            <a:avLst/>
          </a:prstGeom>
        </p:spPr>
      </p:pic>
      <p:sp>
        <p:nvSpPr>
          <p:cNvPr id="20" name="Shape 13"/>
          <p:cNvSpPr/>
          <p:nvPr/>
        </p:nvSpPr>
        <p:spPr>
          <a:xfrm>
            <a:off x="5943600" y="4983480"/>
            <a:ext cx="566928" cy="566928"/>
          </a:xfrm>
          <a:prstGeom prst="ellipse">
            <a:avLst/>
          </a:prstGeom>
          <a:solidFill>
            <a:srgbClr val="2E5C8F"/>
          </a:solidFill>
          <a:ln w="12700">
            <a:solidFill>
              <a:srgbClr val="2E5C8F"/>
            </a:solidFill>
            <a:prstDash val="solid"/>
          </a:ln>
        </p:spPr>
        <p:txBody>
          <a:bodyPr/>
          <a:lstStyle/>
          <a:p>
            <a:endParaRPr lang="en-US"/>
          </a:p>
        </p:txBody>
      </p:sp>
      <p:pic>
        <p:nvPicPr>
          <p:cNvPr id="21" name="Image 5" descr="preencoded.png"/>
          <p:cNvPicPr>
            <a:picLocks noChangeAspect="1"/>
          </p:cNvPicPr>
          <p:nvPr/>
        </p:nvPicPr>
        <p:blipFill>
          <a:blip r:embed="rId7"/>
          <a:stretch>
            <a:fillRect/>
          </a:stretch>
        </p:blipFill>
        <p:spPr>
          <a:xfrm>
            <a:off x="6085332" y="5125212"/>
            <a:ext cx="283464" cy="283464"/>
          </a:xfrm>
          <a:prstGeom prst="rect">
            <a:avLst/>
          </a:prstGeom>
        </p:spPr>
      </p:pic>
      <p:sp>
        <p:nvSpPr>
          <p:cNvPr id="22" name="Text 14"/>
          <p:cNvSpPr txBox="1"/>
          <p:nvPr/>
        </p:nvSpPr>
        <p:spPr>
          <a:xfrm>
            <a:off x="6720840" y="4937760"/>
            <a:ext cx="4846320" cy="365760"/>
          </a:xfrm>
          <a:prstGeom prst="rect">
            <a:avLst/>
          </a:prstGeom>
          <a:noFill/>
          <a:ln/>
        </p:spPr>
        <p:txBody>
          <a:bodyPr wrap="square" lIns="0" tIns="0" rIns="0" bIns="0" rtlCol="0" anchor="t"/>
          <a:lstStyle/>
          <a:p>
            <a:pPr marL="0" indent="0">
              <a:buNone/>
            </a:pPr>
            <a:r>
              <a:rPr lang="en-US" sz="1700" b="1" dirty="0">
                <a:solidFill>
                  <a:srgbClr val="2B2E36"/>
                </a:solidFill>
                <a:latin typeface="Calibri" pitchFamily="34" charset="0"/>
                <a:ea typeface="Calibri" pitchFamily="34" charset="-122"/>
                <a:cs typeface="Calibri" pitchFamily="34" charset="-120"/>
              </a:rPr>
              <a:t>People move to higher-level work</a:t>
            </a:r>
            <a:endParaRPr lang="en-US" sz="1700" dirty="0"/>
          </a:p>
        </p:txBody>
      </p:sp>
      <p:sp>
        <p:nvSpPr>
          <p:cNvPr id="23" name="Text 15"/>
          <p:cNvSpPr txBox="1"/>
          <p:nvPr/>
        </p:nvSpPr>
        <p:spPr>
          <a:xfrm>
            <a:off x="6720840" y="5349240"/>
            <a:ext cx="4846320" cy="685800"/>
          </a:xfrm>
          <a:prstGeom prst="rect">
            <a:avLst/>
          </a:prstGeom>
          <a:noFill/>
          <a:ln/>
        </p:spPr>
        <p:txBody>
          <a:bodyPr wrap="square" lIns="0" tIns="0" rIns="0" bIns="0" rtlCol="0" anchor="t"/>
          <a:lstStyle/>
          <a:p>
            <a:pPr marL="0" indent="0">
              <a:buNone/>
            </a:pPr>
            <a:r>
              <a:rPr lang="en-US" sz="1350" dirty="0">
                <a:solidFill>
                  <a:srgbClr val="50555F"/>
                </a:solidFill>
                <a:latin typeface="Calibri" pitchFamily="34" charset="0"/>
                <a:ea typeface="Calibri" pitchFamily="34" charset="-122"/>
                <a:cs typeface="Calibri" pitchFamily="34" charset="-120"/>
              </a:rPr>
              <a:t>Demand for software is higher than ever. Design, decisions and review stay with people.</a:t>
            </a:r>
            <a:endParaRPr lang="en-US" sz="1350" dirty="0"/>
          </a:p>
        </p:txBody>
      </p:sp>
      <p:sp>
        <p:nvSpPr>
          <p:cNvPr id="24" name="Text 16"/>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D939D"/>
                </a:solidFill>
                <a:latin typeface="Calibri" pitchFamily="34" charset="0"/>
                <a:ea typeface="Calibri" pitchFamily="34" charset="-122"/>
                <a:cs typeface="Calibri" pitchFamily="34" charset="-120"/>
              </a:rPr>
              <a:t>WKS10  ·  Building a Repeatable AI Pipeline</a:t>
            </a:r>
            <a:endParaRPr lang="en-US" sz="1000" dirty="0"/>
          </a:p>
        </p:txBody>
      </p:sp>
      <p:sp>
        <p:nvSpPr>
          <p:cNvPr id="25" name="Text 17"/>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8D939D"/>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B2E36"/>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9CBFD6"/>
                </a:solidFill>
                <a:latin typeface="Calibri" pitchFamily="34" charset="0"/>
                <a:ea typeface="Calibri" pitchFamily="34" charset="-122"/>
                <a:cs typeface="Calibri" pitchFamily="34" charset="-120"/>
              </a:rPr>
              <a:t>AI AND PEOPLE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FFFFFF"/>
                </a:solidFill>
                <a:latin typeface="Raleway" pitchFamily="34" charset="0"/>
                <a:ea typeface="Raleway" pitchFamily="34" charset="-122"/>
                <a:cs typeface="Raleway" pitchFamily="34" charset="-120"/>
              </a:rPr>
              <a:t>What stays human</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B3B8C2"/>
                </a:solidFill>
                <a:latin typeface="Calibri" pitchFamily="34" charset="0"/>
                <a:ea typeface="Calibri" pitchFamily="34" charset="-122"/>
                <a:cs typeface="Calibri" pitchFamily="34" charset="-120"/>
              </a:rPr>
              <a:t>AI is not free of costs, and it is not a replacement for people.</a:t>
            </a:r>
            <a:endParaRPr lang="en-US" sz="1500" dirty="0"/>
          </a:p>
        </p:txBody>
      </p:sp>
      <p:sp>
        <p:nvSpPr>
          <p:cNvPr id="5" name="Shape 3"/>
          <p:cNvSpPr/>
          <p:nvPr/>
        </p:nvSpPr>
        <p:spPr>
          <a:xfrm>
            <a:off x="548640" y="2103120"/>
            <a:ext cx="3520440" cy="3246120"/>
          </a:xfrm>
          <a:prstGeom prst="roundRect">
            <a:avLst>
              <a:gd name="adj" fmla="val 2254"/>
            </a:avLst>
          </a:prstGeom>
          <a:solidFill>
            <a:srgbClr val="383C46"/>
          </a:solidFill>
          <a:ln w="12700">
            <a:solidFill>
              <a:srgbClr val="383C46"/>
            </a:solidFill>
            <a:prstDash val="solid"/>
          </a:ln>
        </p:spPr>
        <p:txBody>
          <a:bodyPr/>
          <a:lstStyle/>
          <a:p>
            <a:endParaRPr lang="en-US"/>
          </a:p>
        </p:txBody>
      </p:sp>
      <p:sp>
        <p:nvSpPr>
          <p:cNvPr id="6" name="Shape 4"/>
          <p:cNvSpPr/>
          <p:nvPr/>
        </p:nvSpPr>
        <p:spPr>
          <a:xfrm>
            <a:off x="868680" y="2377440"/>
            <a:ext cx="640080" cy="640080"/>
          </a:xfrm>
          <a:prstGeom prst="ellipse">
            <a:avLst/>
          </a:prstGeom>
          <a:solidFill>
            <a:srgbClr val="C4A654"/>
          </a:solidFill>
          <a:ln w="12700">
            <a:solidFill>
              <a:srgbClr val="C4A654"/>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028700" y="2537460"/>
            <a:ext cx="320040" cy="320040"/>
          </a:xfrm>
          <a:prstGeom prst="rect">
            <a:avLst/>
          </a:prstGeom>
        </p:spPr>
      </p:pic>
      <p:sp>
        <p:nvSpPr>
          <p:cNvPr id="8" name="Text 5"/>
          <p:cNvSpPr txBox="1"/>
          <p:nvPr/>
        </p:nvSpPr>
        <p:spPr>
          <a:xfrm>
            <a:off x="868680" y="3200400"/>
            <a:ext cx="2926080" cy="731520"/>
          </a:xfrm>
          <a:prstGeom prst="rect">
            <a:avLst/>
          </a:prstGeom>
          <a:noFill/>
          <a:ln/>
        </p:spPr>
        <p:txBody>
          <a:bodyPr wrap="square" lIns="0" tIns="0" rIns="0" bIns="0" rtlCol="0" anchor="t"/>
          <a:lstStyle/>
          <a:p>
            <a:pPr marL="0" indent="0">
              <a:buNone/>
            </a:pPr>
            <a:r>
              <a:rPr lang="en-US" sz="1800" b="1" dirty="0">
                <a:solidFill>
                  <a:srgbClr val="FFFFFF"/>
                </a:solidFill>
                <a:latin typeface="Raleway" pitchFamily="34" charset="0"/>
                <a:ea typeface="Raleway" pitchFamily="34" charset="-122"/>
                <a:cs typeface="Raleway" pitchFamily="34" charset="-120"/>
              </a:rPr>
              <a:t>Entry-level roles are at risk</a:t>
            </a:r>
            <a:endParaRPr lang="en-US" sz="1800" dirty="0"/>
          </a:p>
        </p:txBody>
      </p:sp>
      <p:sp>
        <p:nvSpPr>
          <p:cNvPr id="9" name="Text 6"/>
          <p:cNvSpPr txBox="1"/>
          <p:nvPr/>
        </p:nvSpPr>
        <p:spPr>
          <a:xfrm>
            <a:off x="868680" y="3931920"/>
            <a:ext cx="2926080" cy="1371600"/>
          </a:xfrm>
          <a:prstGeom prst="rect">
            <a:avLst/>
          </a:prstGeom>
          <a:noFill/>
          <a:ln/>
        </p:spPr>
        <p:txBody>
          <a:bodyPr wrap="square" lIns="0" tIns="0" rIns="0" bIns="0" rtlCol="0" anchor="t"/>
          <a:lstStyle/>
          <a:p>
            <a:pPr marL="0" indent="0">
              <a:buNone/>
            </a:pPr>
            <a:r>
              <a:rPr lang="en-US" sz="1300" dirty="0">
                <a:solidFill>
                  <a:srgbClr val="B3B8C2"/>
                </a:solidFill>
                <a:latin typeface="Calibri" pitchFamily="34" charset="0"/>
                <a:ea typeface="Calibri" pitchFamily="34" charset="-122"/>
                <a:cs typeface="Calibri" pitchFamily="34" charset="-120"/>
              </a:rPr>
              <a:t>The routine tasks that AI now absorbs are the tasks people have traditionally learned on. We need new ways to train people and bring them into the field.</a:t>
            </a:r>
            <a:endParaRPr lang="en-US" sz="1300" dirty="0"/>
          </a:p>
        </p:txBody>
      </p:sp>
      <p:sp>
        <p:nvSpPr>
          <p:cNvPr id="10" name="Shape 7"/>
          <p:cNvSpPr/>
          <p:nvPr/>
        </p:nvSpPr>
        <p:spPr>
          <a:xfrm>
            <a:off x="4297680" y="2103120"/>
            <a:ext cx="3520440" cy="3246120"/>
          </a:xfrm>
          <a:prstGeom prst="roundRect">
            <a:avLst>
              <a:gd name="adj" fmla="val 2254"/>
            </a:avLst>
          </a:prstGeom>
          <a:solidFill>
            <a:srgbClr val="383C46"/>
          </a:solidFill>
          <a:ln w="12700">
            <a:solidFill>
              <a:srgbClr val="383C46"/>
            </a:solidFill>
            <a:prstDash val="solid"/>
          </a:ln>
        </p:spPr>
        <p:txBody>
          <a:bodyPr/>
          <a:lstStyle/>
          <a:p>
            <a:endParaRPr lang="en-US"/>
          </a:p>
        </p:txBody>
      </p:sp>
      <p:sp>
        <p:nvSpPr>
          <p:cNvPr id="11" name="Shape 8"/>
          <p:cNvSpPr/>
          <p:nvPr/>
        </p:nvSpPr>
        <p:spPr>
          <a:xfrm>
            <a:off x="4617720" y="2377440"/>
            <a:ext cx="640080" cy="640080"/>
          </a:xfrm>
          <a:prstGeom prst="ellipse">
            <a:avLst/>
          </a:prstGeom>
          <a:solidFill>
            <a:srgbClr val="5F8FAF"/>
          </a:solidFill>
          <a:ln w="12700">
            <a:solidFill>
              <a:srgbClr val="5F8FAF"/>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777740" y="2537460"/>
            <a:ext cx="320040" cy="320040"/>
          </a:xfrm>
          <a:prstGeom prst="rect">
            <a:avLst/>
          </a:prstGeom>
        </p:spPr>
      </p:pic>
      <p:sp>
        <p:nvSpPr>
          <p:cNvPr id="13" name="Text 9"/>
          <p:cNvSpPr txBox="1"/>
          <p:nvPr/>
        </p:nvSpPr>
        <p:spPr>
          <a:xfrm>
            <a:off x="4617720" y="3200400"/>
            <a:ext cx="2926080" cy="731520"/>
          </a:xfrm>
          <a:prstGeom prst="rect">
            <a:avLst/>
          </a:prstGeom>
          <a:noFill/>
          <a:ln/>
        </p:spPr>
        <p:txBody>
          <a:bodyPr wrap="square" lIns="0" tIns="0" rIns="0" bIns="0" rtlCol="0" anchor="t"/>
          <a:lstStyle/>
          <a:p>
            <a:pPr marL="0" indent="0">
              <a:buNone/>
            </a:pPr>
            <a:r>
              <a:rPr lang="en-US" sz="1800" b="1" dirty="0">
                <a:solidFill>
                  <a:srgbClr val="FFFFFF"/>
                </a:solidFill>
                <a:latin typeface="Raleway" pitchFamily="34" charset="0"/>
                <a:ea typeface="Raleway" pitchFamily="34" charset="-122"/>
                <a:cs typeface="Raleway" pitchFamily="34" charset="-120"/>
              </a:rPr>
              <a:t>We are social creatures</a:t>
            </a:r>
            <a:endParaRPr lang="en-US" sz="1800" dirty="0"/>
          </a:p>
        </p:txBody>
      </p:sp>
      <p:sp>
        <p:nvSpPr>
          <p:cNvPr id="14" name="Text 10"/>
          <p:cNvSpPr txBox="1"/>
          <p:nvPr/>
        </p:nvSpPr>
        <p:spPr>
          <a:xfrm>
            <a:off x="4617720" y="3931920"/>
            <a:ext cx="2926080" cy="1371600"/>
          </a:xfrm>
          <a:prstGeom prst="rect">
            <a:avLst/>
          </a:prstGeom>
          <a:noFill/>
          <a:ln/>
        </p:spPr>
        <p:txBody>
          <a:bodyPr wrap="square" lIns="0" tIns="0" rIns="0" bIns="0" rtlCol="0" anchor="t"/>
          <a:lstStyle/>
          <a:p>
            <a:pPr marL="0" indent="0">
              <a:buNone/>
            </a:pPr>
            <a:r>
              <a:rPr lang="en-US" sz="1300" dirty="0">
                <a:solidFill>
                  <a:srgbClr val="B3B8C2"/>
                </a:solidFill>
                <a:latin typeface="Calibri" pitchFamily="34" charset="0"/>
                <a:ea typeface="Calibri" pitchFamily="34" charset="-122"/>
                <a:cs typeface="Calibri" pitchFamily="34" charset="-120"/>
              </a:rPr>
              <a:t>People will always seek contact with other people. For now, some tasks must be done by humans, above all communication between people.</a:t>
            </a:r>
            <a:endParaRPr lang="en-US" sz="1300" dirty="0"/>
          </a:p>
        </p:txBody>
      </p:sp>
      <p:sp>
        <p:nvSpPr>
          <p:cNvPr id="15" name="Shape 11"/>
          <p:cNvSpPr/>
          <p:nvPr/>
        </p:nvSpPr>
        <p:spPr>
          <a:xfrm>
            <a:off x="8046720" y="2103120"/>
            <a:ext cx="3520440" cy="3246120"/>
          </a:xfrm>
          <a:prstGeom prst="roundRect">
            <a:avLst>
              <a:gd name="adj" fmla="val 2254"/>
            </a:avLst>
          </a:prstGeom>
          <a:solidFill>
            <a:srgbClr val="383C46"/>
          </a:solidFill>
          <a:ln w="12700">
            <a:solidFill>
              <a:srgbClr val="383C46"/>
            </a:solidFill>
            <a:prstDash val="solid"/>
          </a:ln>
        </p:spPr>
        <p:txBody>
          <a:bodyPr/>
          <a:lstStyle/>
          <a:p>
            <a:endParaRPr lang="en-US"/>
          </a:p>
        </p:txBody>
      </p:sp>
      <p:sp>
        <p:nvSpPr>
          <p:cNvPr id="16" name="Shape 12"/>
          <p:cNvSpPr/>
          <p:nvPr/>
        </p:nvSpPr>
        <p:spPr>
          <a:xfrm>
            <a:off x="8366760" y="2377440"/>
            <a:ext cx="640080" cy="640080"/>
          </a:xfrm>
          <a:prstGeom prst="ellipse">
            <a:avLst/>
          </a:prstGeom>
          <a:solidFill>
            <a:srgbClr val="2E5C8F"/>
          </a:solidFill>
          <a:ln w="12700">
            <a:solidFill>
              <a:srgbClr val="2E5C8F"/>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8526780" y="2537460"/>
            <a:ext cx="320040" cy="320040"/>
          </a:xfrm>
          <a:prstGeom prst="rect">
            <a:avLst/>
          </a:prstGeom>
        </p:spPr>
      </p:pic>
      <p:sp>
        <p:nvSpPr>
          <p:cNvPr id="18" name="Text 13"/>
          <p:cNvSpPr txBox="1"/>
          <p:nvPr/>
        </p:nvSpPr>
        <p:spPr>
          <a:xfrm>
            <a:off x="8366760" y="3200400"/>
            <a:ext cx="2926080" cy="731520"/>
          </a:xfrm>
          <a:prstGeom prst="rect">
            <a:avLst/>
          </a:prstGeom>
          <a:noFill/>
          <a:ln/>
        </p:spPr>
        <p:txBody>
          <a:bodyPr wrap="square" lIns="0" tIns="0" rIns="0" bIns="0" rtlCol="0" anchor="t"/>
          <a:lstStyle/>
          <a:p>
            <a:pPr marL="0" indent="0">
              <a:buNone/>
            </a:pPr>
            <a:r>
              <a:rPr lang="en-US" sz="1800" b="1" dirty="0">
                <a:solidFill>
                  <a:srgbClr val="FFFFFF"/>
                </a:solidFill>
                <a:latin typeface="Raleway" pitchFamily="34" charset="0"/>
                <a:ea typeface="Raleway" pitchFamily="34" charset="-122"/>
                <a:cs typeface="Raleway" pitchFamily="34" charset="-120"/>
              </a:rPr>
              <a:t>AI is pattern matching</a:t>
            </a:r>
            <a:endParaRPr lang="en-US" sz="1800" dirty="0"/>
          </a:p>
        </p:txBody>
      </p:sp>
      <p:sp>
        <p:nvSpPr>
          <p:cNvPr id="19" name="Text 14"/>
          <p:cNvSpPr txBox="1"/>
          <p:nvPr/>
        </p:nvSpPr>
        <p:spPr>
          <a:xfrm>
            <a:off x="8366760" y="3931920"/>
            <a:ext cx="2926080" cy="1371600"/>
          </a:xfrm>
          <a:prstGeom prst="rect">
            <a:avLst/>
          </a:prstGeom>
          <a:noFill/>
          <a:ln/>
        </p:spPr>
        <p:txBody>
          <a:bodyPr wrap="square" lIns="0" tIns="0" rIns="0" bIns="0" rtlCol="0" anchor="t"/>
          <a:lstStyle/>
          <a:p>
            <a:pPr marL="0" indent="0">
              <a:buNone/>
            </a:pPr>
            <a:r>
              <a:rPr lang="en-US" sz="1300" dirty="0">
                <a:solidFill>
                  <a:srgbClr val="B3B8C2"/>
                </a:solidFill>
                <a:latin typeface="Calibri" pitchFamily="34" charset="0"/>
                <a:ea typeface="Calibri" pitchFamily="34" charset="-122"/>
                <a:cs typeface="Calibri" pitchFamily="34" charset="-120"/>
              </a:rPr>
              <a:t>Pattern matching is at the heart of many AI models. That is why they excel at repetitive, well-defined work, and why their results must be checked.</a:t>
            </a:r>
            <a:endParaRPr lang="en-US" sz="1300" dirty="0"/>
          </a:p>
        </p:txBody>
      </p:sp>
      <p:sp>
        <p:nvSpPr>
          <p:cNvPr id="20" name="Text 15"/>
          <p:cNvSpPr txBox="1"/>
          <p:nvPr/>
        </p:nvSpPr>
        <p:spPr>
          <a:xfrm>
            <a:off x="548640" y="5623560"/>
            <a:ext cx="10972800" cy="457200"/>
          </a:xfrm>
          <a:prstGeom prst="rect">
            <a:avLst/>
          </a:prstGeom>
          <a:noFill/>
          <a:ln/>
        </p:spPr>
        <p:txBody>
          <a:bodyPr wrap="square" lIns="0" tIns="0" rIns="0" bIns="0" rtlCol="0" anchor="ctr"/>
          <a:lstStyle/>
          <a:p>
            <a:pPr marL="0" indent="0">
              <a:buNone/>
            </a:pPr>
            <a:r>
              <a:rPr lang="en-US" sz="1800" i="1" dirty="0">
                <a:solidFill>
                  <a:srgbClr val="9CBFD6"/>
                </a:solidFill>
                <a:latin typeface="Raleway" pitchFamily="34" charset="0"/>
                <a:ea typeface="Raleway" pitchFamily="34" charset="-122"/>
                <a:cs typeface="Raleway" pitchFamily="34" charset="-120"/>
              </a:rPr>
              <a:t>AI takes on the repetitive work. People stay responsible for change, communication and judgement.</a:t>
            </a:r>
            <a:endParaRPr lang="en-US" sz="1800" dirty="0"/>
          </a:p>
        </p:txBody>
      </p:sp>
      <p:sp>
        <p:nvSpPr>
          <p:cNvPr id="21" name="Text 16"/>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B3B8C2"/>
                </a:solidFill>
                <a:latin typeface="Calibri" pitchFamily="34" charset="0"/>
                <a:ea typeface="Calibri" pitchFamily="34" charset="-122"/>
                <a:cs typeface="Calibri" pitchFamily="34" charset="-120"/>
              </a:rPr>
              <a:t>WKS10  ·  Building a Repeatable AI Pipeline</a:t>
            </a:r>
            <a:endParaRPr lang="en-US" sz="1000" dirty="0"/>
          </a:p>
        </p:txBody>
      </p:sp>
      <p:sp>
        <p:nvSpPr>
          <p:cNvPr id="22" name="Text 17"/>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B3B8C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A98B3C"/>
                </a:solidFill>
                <a:latin typeface="Calibri" pitchFamily="34" charset="0"/>
                <a:ea typeface="Calibri" pitchFamily="34" charset="-122"/>
                <a:cs typeface="Calibri" pitchFamily="34" charset="-120"/>
              </a:rPr>
              <a:t>USING AI EFFECTIVELY</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B2E36"/>
                </a:solidFill>
                <a:latin typeface="Raleway" pitchFamily="34" charset="0"/>
                <a:ea typeface="Raleway" pitchFamily="34" charset="-122"/>
                <a:cs typeface="Raleway" pitchFamily="34" charset="-120"/>
              </a:rPr>
              <a:t>Most data is AI-ready with the right prompt</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0555F"/>
                </a:solidFill>
                <a:latin typeface="Calibri" pitchFamily="34" charset="0"/>
                <a:ea typeface="Calibri" pitchFamily="34" charset="-122"/>
                <a:cs typeface="Calibri" pitchFamily="34" charset="-120"/>
              </a:rPr>
              <a:t>Success depends on three factors.</a:t>
            </a:r>
            <a:endParaRPr lang="en-US" sz="1500" dirty="0"/>
          </a:p>
        </p:txBody>
      </p:sp>
      <p:sp>
        <p:nvSpPr>
          <p:cNvPr id="5" name="Shape 3"/>
          <p:cNvSpPr/>
          <p:nvPr/>
        </p:nvSpPr>
        <p:spPr>
          <a:xfrm>
            <a:off x="548640" y="2194560"/>
            <a:ext cx="3520440" cy="3566160"/>
          </a:xfrm>
          <a:prstGeom prst="roundRect">
            <a:avLst>
              <a:gd name="adj" fmla="val 2078"/>
            </a:avLst>
          </a:prstGeom>
          <a:solidFill>
            <a:srgbClr val="EEF3F7"/>
          </a:solidFill>
          <a:ln w="12700">
            <a:solidFill>
              <a:srgbClr val="EEF3F7"/>
            </a:solidFill>
            <a:prstDash val="solid"/>
          </a:ln>
        </p:spPr>
        <p:txBody>
          <a:bodyPr/>
          <a:lstStyle/>
          <a:p>
            <a:endParaRPr lang="en-US"/>
          </a:p>
        </p:txBody>
      </p:sp>
      <p:sp>
        <p:nvSpPr>
          <p:cNvPr id="6" name="Text 4"/>
          <p:cNvSpPr txBox="1"/>
          <p:nvPr/>
        </p:nvSpPr>
        <p:spPr>
          <a:xfrm>
            <a:off x="868680" y="2377440"/>
            <a:ext cx="1371600" cy="1005840"/>
          </a:xfrm>
          <a:prstGeom prst="rect">
            <a:avLst/>
          </a:prstGeom>
          <a:noFill/>
          <a:ln/>
        </p:spPr>
        <p:txBody>
          <a:bodyPr wrap="square" lIns="0" tIns="0" rIns="0" bIns="0" rtlCol="0" anchor="ctr"/>
          <a:lstStyle/>
          <a:p>
            <a:pPr marL="0" indent="0">
              <a:buNone/>
            </a:pPr>
            <a:r>
              <a:rPr lang="en-US" sz="6000" b="1" dirty="0">
                <a:solidFill>
                  <a:srgbClr val="5F8FAF"/>
                </a:solidFill>
                <a:latin typeface="Raleway" pitchFamily="34" charset="0"/>
                <a:ea typeface="Raleway" pitchFamily="34" charset="-122"/>
                <a:cs typeface="Raleway" pitchFamily="34" charset="-120"/>
              </a:rPr>
              <a:t>1</a:t>
            </a:r>
            <a:endParaRPr lang="en-US" sz="6000" dirty="0"/>
          </a:p>
        </p:txBody>
      </p:sp>
      <p:sp>
        <p:nvSpPr>
          <p:cNvPr id="7" name="Text 5"/>
          <p:cNvSpPr txBox="1"/>
          <p:nvPr/>
        </p:nvSpPr>
        <p:spPr>
          <a:xfrm>
            <a:off x="868680" y="3474720"/>
            <a:ext cx="2926080" cy="457200"/>
          </a:xfrm>
          <a:prstGeom prst="rect">
            <a:avLst/>
          </a:prstGeom>
          <a:noFill/>
          <a:ln/>
        </p:spPr>
        <p:txBody>
          <a:bodyPr wrap="square" lIns="0" tIns="0" rIns="0" bIns="0" rtlCol="0" anchor="ctr"/>
          <a:lstStyle/>
          <a:p>
            <a:pPr marL="0" indent="0">
              <a:buNone/>
            </a:pPr>
            <a:r>
              <a:rPr lang="en-US" sz="2200" b="1" dirty="0">
                <a:solidFill>
                  <a:srgbClr val="2B2E36"/>
                </a:solidFill>
                <a:latin typeface="Raleway" pitchFamily="34" charset="0"/>
                <a:ea typeface="Raleway" pitchFamily="34" charset="-122"/>
                <a:cs typeface="Raleway" pitchFamily="34" charset="-120"/>
              </a:rPr>
              <a:t>The prompt</a:t>
            </a:r>
            <a:endParaRPr lang="en-US" sz="2200" dirty="0"/>
          </a:p>
        </p:txBody>
      </p:sp>
      <p:sp>
        <p:nvSpPr>
          <p:cNvPr id="8" name="Text 6"/>
          <p:cNvSpPr txBox="1"/>
          <p:nvPr/>
        </p:nvSpPr>
        <p:spPr>
          <a:xfrm>
            <a:off x="868680" y="4023360"/>
            <a:ext cx="2926080" cy="1463040"/>
          </a:xfrm>
          <a:prstGeom prst="rect">
            <a:avLst/>
          </a:prstGeom>
          <a:noFill/>
          <a:ln/>
        </p:spPr>
        <p:txBody>
          <a:bodyPr wrap="square" lIns="0" tIns="0" rIns="0" bIns="0" rtlCol="0" anchor="t"/>
          <a:lstStyle/>
          <a:p>
            <a:pPr marL="0" indent="0">
              <a:lnSpc>
                <a:spcPct val="110000"/>
              </a:lnSpc>
              <a:buNone/>
            </a:pPr>
            <a:r>
              <a:rPr lang="en-US" sz="1400" dirty="0">
                <a:solidFill>
                  <a:srgbClr val="50555F"/>
                </a:solidFill>
                <a:latin typeface="Calibri" pitchFamily="34" charset="0"/>
                <a:ea typeface="Calibri" pitchFamily="34" charset="-122"/>
                <a:cs typeface="Calibri" pitchFamily="34" charset="-120"/>
              </a:rPr>
              <a:t>Every task, note and guideline, stated explicitly. The wording itself matters.</a:t>
            </a:r>
            <a:endParaRPr lang="en-US" sz="1400" dirty="0"/>
          </a:p>
        </p:txBody>
      </p:sp>
      <p:sp>
        <p:nvSpPr>
          <p:cNvPr id="9" name="Shape 7"/>
          <p:cNvSpPr/>
          <p:nvPr/>
        </p:nvSpPr>
        <p:spPr>
          <a:xfrm>
            <a:off x="4297680" y="2194560"/>
            <a:ext cx="3520440" cy="3566160"/>
          </a:xfrm>
          <a:prstGeom prst="roundRect">
            <a:avLst>
              <a:gd name="adj" fmla="val 2078"/>
            </a:avLst>
          </a:prstGeom>
          <a:solidFill>
            <a:srgbClr val="EEF3F7"/>
          </a:solidFill>
          <a:ln w="12700">
            <a:solidFill>
              <a:srgbClr val="EEF3F7"/>
            </a:solidFill>
            <a:prstDash val="solid"/>
          </a:ln>
        </p:spPr>
        <p:txBody>
          <a:bodyPr/>
          <a:lstStyle/>
          <a:p>
            <a:endParaRPr lang="en-US"/>
          </a:p>
        </p:txBody>
      </p:sp>
      <p:sp>
        <p:nvSpPr>
          <p:cNvPr id="10" name="Text 8"/>
          <p:cNvSpPr txBox="1"/>
          <p:nvPr/>
        </p:nvSpPr>
        <p:spPr>
          <a:xfrm>
            <a:off x="4617720" y="2377440"/>
            <a:ext cx="1371600" cy="1005840"/>
          </a:xfrm>
          <a:prstGeom prst="rect">
            <a:avLst/>
          </a:prstGeom>
          <a:noFill/>
          <a:ln/>
        </p:spPr>
        <p:txBody>
          <a:bodyPr wrap="square" lIns="0" tIns="0" rIns="0" bIns="0" rtlCol="0" anchor="ctr"/>
          <a:lstStyle/>
          <a:p>
            <a:pPr marL="0" indent="0">
              <a:buNone/>
            </a:pPr>
            <a:r>
              <a:rPr lang="en-US" sz="6000" b="1" dirty="0">
                <a:solidFill>
                  <a:srgbClr val="A98B3C"/>
                </a:solidFill>
                <a:latin typeface="Raleway" pitchFamily="34" charset="0"/>
                <a:ea typeface="Raleway" pitchFamily="34" charset="-122"/>
                <a:cs typeface="Raleway" pitchFamily="34" charset="-120"/>
              </a:rPr>
              <a:t>2</a:t>
            </a:r>
            <a:endParaRPr lang="en-US" sz="6000" dirty="0"/>
          </a:p>
        </p:txBody>
      </p:sp>
      <p:sp>
        <p:nvSpPr>
          <p:cNvPr id="11" name="Text 9"/>
          <p:cNvSpPr txBox="1"/>
          <p:nvPr/>
        </p:nvSpPr>
        <p:spPr>
          <a:xfrm>
            <a:off x="4617720" y="3474720"/>
            <a:ext cx="2926080" cy="457200"/>
          </a:xfrm>
          <a:prstGeom prst="rect">
            <a:avLst/>
          </a:prstGeom>
          <a:noFill/>
          <a:ln/>
        </p:spPr>
        <p:txBody>
          <a:bodyPr wrap="square" lIns="0" tIns="0" rIns="0" bIns="0" rtlCol="0" anchor="ctr"/>
          <a:lstStyle/>
          <a:p>
            <a:pPr marL="0" indent="0">
              <a:buNone/>
            </a:pPr>
            <a:r>
              <a:rPr lang="en-US" sz="2200" b="1" dirty="0">
                <a:solidFill>
                  <a:srgbClr val="2B2E36"/>
                </a:solidFill>
                <a:latin typeface="Raleway" pitchFamily="34" charset="0"/>
                <a:ea typeface="Raleway" pitchFamily="34" charset="-122"/>
                <a:cs typeface="Raleway" pitchFamily="34" charset="-120"/>
              </a:rPr>
              <a:t>The context</a:t>
            </a:r>
            <a:endParaRPr lang="en-US" sz="2200" dirty="0"/>
          </a:p>
        </p:txBody>
      </p:sp>
      <p:sp>
        <p:nvSpPr>
          <p:cNvPr id="12" name="Text 10"/>
          <p:cNvSpPr txBox="1"/>
          <p:nvPr/>
        </p:nvSpPr>
        <p:spPr>
          <a:xfrm>
            <a:off x="4617720" y="4023360"/>
            <a:ext cx="2926080" cy="1463040"/>
          </a:xfrm>
          <a:prstGeom prst="rect">
            <a:avLst/>
          </a:prstGeom>
          <a:noFill/>
          <a:ln/>
        </p:spPr>
        <p:txBody>
          <a:bodyPr wrap="square" lIns="0" tIns="0" rIns="0" bIns="0" rtlCol="0" anchor="t"/>
          <a:lstStyle/>
          <a:p>
            <a:pPr marL="0" indent="0">
              <a:lnSpc>
                <a:spcPct val="110000"/>
              </a:lnSpc>
              <a:buNone/>
            </a:pPr>
            <a:r>
              <a:rPr lang="en-US" sz="1400" dirty="0">
                <a:solidFill>
                  <a:srgbClr val="50555F"/>
                </a:solidFill>
                <a:latin typeface="Calibri" pitchFamily="34" charset="0"/>
                <a:ea typeface="Calibri" pitchFamily="34" charset="-122"/>
                <a:cs typeface="Calibri" pitchFamily="34" charset="-120"/>
              </a:rPr>
              <a:t>Documentation, authorities, definitions, examples: everything a new colleague would need.</a:t>
            </a:r>
            <a:endParaRPr lang="en-US" sz="1400" dirty="0"/>
          </a:p>
        </p:txBody>
      </p:sp>
      <p:sp>
        <p:nvSpPr>
          <p:cNvPr id="13" name="Shape 11"/>
          <p:cNvSpPr/>
          <p:nvPr/>
        </p:nvSpPr>
        <p:spPr>
          <a:xfrm>
            <a:off x="8046720" y="2194560"/>
            <a:ext cx="3520440" cy="3566160"/>
          </a:xfrm>
          <a:prstGeom prst="roundRect">
            <a:avLst>
              <a:gd name="adj" fmla="val 2078"/>
            </a:avLst>
          </a:prstGeom>
          <a:solidFill>
            <a:srgbClr val="EEF3F7"/>
          </a:solidFill>
          <a:ln w="12700">
            <a:solidFill>
              <a:srgbClr val="EEF3F7"/>
            </a:solidFill>
            <a:prstDash val="solid"/>
          </a:ln>
        </p:spPr>
        <p:txBody>
          <a:bodyPr/>
          <a:lstStyle/>
          <a:p>
            <a:endParaRPr lang="en-US"/>
          </a:p>
        </p:txBody>
      </p:sp>
      <p:sp>
        <p:nvSpPr>
          <p:cNvPr id="14" name="Text 12"/>
          <p:cNvSpPr txBox="1"/>
          <p:nvPr/>
        </p:nvSpPr>
        <p:spPr>
          <a:xfrm>
            <a:off x="8366760" y="2377440"/>
            <a:ext cx="1371600" cy="1005840"/>
          </a:xfrm>
          <a:prstGeom prst="rect">
            <a:avLst/>
          </a:prstGeom>
          <a:noFill/>
          <a:ln/>
        </p:spPr>
        <p:txBody>
          <a:bodyPr wrap="square" lIns="0" tIns="0" rIns="0" bIns="0" rtlCol="0" anchor="ctr"/>
          <a:lstStyle/>
          <a:p>
            <a:pPr marL="0" indent="0">
              <a:buNone/>
            </a:pPr>
            <a:r>
              <a:rPr lang="en-US" sz="6000" b="1" dirty="0">
                <a:solidFill>
                  <a:srgbClr val="2E5C8F"/>
                </a:solidFill>
                <a:latin typeface="Raleway" pitchFamily="34" charset="0"/>
                <a:ea typeface="Raleway" pitchFamily="34" charset="-122"/>
                <a:cs typeface="Raleway" pitchFamily="34" charset="-120"/>
              </a:rPr>
              <a:t>3</a:t>
            </a:r>
            <a:endParaRPr lang="en-US" sz="6000" dirty="0"/>
          </a:p>
        </p:txBody>
      </p:sp>
      <p:sp>
        <p:nvSpPr>
          <p:cNvPr id="15" name="Text 13"/>
          <p:cNvSpPr txBox="1"/>
          <p:nvPr/>
        </p:nvSpPr>
        <p:spPr>
          <a:xfrm>
            <a:off x="8366760" y="3474720"/>
            <a:ext cx="2926080" cy="457200"/>
          </a:xfrm>
          <a:prstGeom prst="rect">
            <a:avLst/>
          </a:prstGeom>
          <a:noFill/>
          <a:ln/>
        </p:spPr>
        <p:txBody>
          <a:bodyPr wrap="square" lIns="0" tIns="0" rIns="0" bIns="0" rtlCol="0" anchor="ctr"/>
          <a:lstStyle/>
          <a:p>
            <a:pPr marL="0" indent="0">
              <a:buNone/>
            </a:pPr>
            <a:r>
              <a:rPr lang="en-US" sz="2200" b="1" dirty="0">
                <a:solidFill>
                  <a:srgbClr val="2B2E36"/>
                </a:solidFill>
                <a:latin typeface="Raleway" pitchFamily="34" charset="0"/>
                <a:ea typeface="Raleway" pitchFamily="34" charset="-122"/>
                <a:cs typeface="Raleway" pitchFamily="34" charset="-120"/>
              </a:rPr>
              <a:t>The model</a:t>
            </a:r>
            <a:endParaRPr lang="en-US" sz="2200" dirty="0"/>
          </a:p>
        </p:txBody>
      </p:sp>
      <p:sp>
        <p:nvSpPr>
          <p:cNvPr id="16" name="Text 14"/>
          <p:cNvSpPr txBox="1"/>
          <p:nvPr/>
        </p:nvSpPr>
        <p:spPr>
          <a:xfrm>
            <a:off x="8366760" y="4023360"/>
            <a:ext cx="2926080" cy="1463040"/>
          </a:xfrm>
          <a:prstGeom prst="rect">
            <a:avLst/>
          </a:prstGeom>
          <a:noFill/>
          <a:ln/>
        </p:spPr>
        <p:txBody>
          <a:bodyPr wrap="square" lIns="0" tIns="0" rIns="0" bIns="0" rtlCol="0" anchor="t"/>
          <a:lstStyle/>
          <a:p>
            <a:pPr marL="0" indent="0">
              <a:lnSpc>
                <a:spcPct val="110000"/>
              </a:lnSpc>
              <a:buNone/>
            </a:pPr>
            <a:r>
              <a:rPr lang="en-US" sz="1400" dirty="0">
                <a:solidFill>
                  <a:srgbClr val="50555F"/>
                </a:solidFill>
                <a:latin typeface="Calibri" pitchFamily="34" charset="0"/>
                <a:ea typeface="Calibri" pitchFamily="34" charset="-122"/>
                <a:cs typeface="Calibri" pitchFamily="34" charset="-120"/>
              </a:rPr>
              <a:t>Chosen for the task, and retested as models change.</a:t>
            </a:r>
            <a:endParaRPr lang="en-US" sz="1400" dirty="0"/>
          </a:p>
        </p:txBody>
      </p:sp>
      <p:sp>
        <p:nvSpPr>
          <p:cNvPr id="17" name="Text 15"/>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D939D"/>
                </a:solidFill>
                <a:latin typeface="Calibri" pitchFamily="34" charset="0"/>
                <a:ea typeface="Calibri" pitchFamily="34" charset="-122"/>
                <a:cs typeface="Calibri" pitchFamily="34" charset="-120"/>
              </a:rPr>
              <a:t>WKS10  ·  Building a Repeatable AI Pipeline</a:t>
            </a:r>
            <a:endParaRPr lang="en-US" sz="1000" dirty="0"/>
          </a:p>
        </p:txBody>
      </p:sp>
      <p:sp>
        <p:nvSpPr>
          <p:cNvPr id="18" name="Text 1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8D939D"/>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42D5C-28BE-EF2A-5B3D-3ED66D2F4BB0}"/>
            </a:ext>
          </a:extLst>
        </p:cNvPr>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buNone/>
            </a:pPr>
            <a:r>
              <a:rPr sz="1100" b="1" i="0">
                <a:solidFill>
                  <a:srgbClr val="A98B3C"/>
                </a:solidFill>
                <a:latin typeface="Calibri"/>
                <a:ea typeface="Calibri"/>
                <a:cs typeface="Calibri"/>
              </a:rPr>
              <a:t>USE CASE  ·  MODEL SELECTION</a:t>
            </a:r>
          </a:p>
        </p:txBody>
      </p:sp>
      <p:sp>
        <p:nvSpPr>
          <p:cNvPr id="3" name="TextBox 2"/>
          <p:cNvSpPr txBox="1"/>
          <p:nvPr/>
        </p:nvSpPr>
        <p:spPr>
          <a:xfrm>
            <a:off x="548640" y="731520"/>
            <a:ext cx="11091672" cy="731520"/>
          </a:xfrm>
          <a:prstGeom prst="rect">
            <a:avLst/>
          </a:prstGeom>
          <a:noFill/>
        </p:spPr>
        <p:txBody>
          <a:bodyPr wrap="square" lIns="0" tIns="0" rIns="0" bIns="0" anchor="t">
            <a:spAutoFit/>
          </a:bodyPr>
          <a:lstStyle/>
          <a:p>
            <a:pPr>
              <a:buNone/>
            </a:pPr>
            <a:r>
              <a:rPr sz="3400" b="1" i="0">
                <a:solidFill>
                  <a:srgbClr val="2B2E36"/>
                </a:solidFill>
                <a:latin typeface="Raleway"/>
                <a:ea typeface="Raleway"/>
                <a:cs typeface="Raleway"/>
              </a:rPr>
              <a:t>Cataloguing a mineral case from one photograph</a:t>
            </a:r>
          </a:p>
        </p:txBody>
      </p:sp>
      <p:sp>
        <p:nvSpPr>
          <p:cNvPr id="4" name="TextBox 3"/>
          <p:cNvSpPr txBox="1"/>
          <p:nvPr/>
        </p:nvSpPr>
        <p:spPr>
          <a:xfrm>
            <a:off x="548640" y="1463040"/>
            <a:ext cx="11091672" cy="365760"/>
          </a:xfrm>
          <a:prstGeom prst="rect">
            <a:avLst/>
          </a:prstGeom>
          <a:noFill/>
        </p:spPr>
        <p:txBody>
          <a:bodyPr wrap="square" lIns="0" tIns="0" rIns="0" bIns="0" anchor="t">
            <a:spAutoFit/>
          </a:bodyPr>
          <a:lstStyle/>
          <a:p>
            <a:pPr>
              <a:buNone/>
            </a:pPr>
            <a:r>
              <a:rPr sz="1500" b="0" i="0">
                <a:solidFill>
                  <a:srgbClr val="50555F"/>
                </a:solidFill>
                <a:latin typeface="Calibri"/>
                <a:ea typeface="Calibri"/>
                <a:cs typeface="Calibri"/>
              </a:rPr>
              <a:t>Thirteen photographs of NHM UK display cases, 4000 × 1848 px, some holding more than twenty specimens and their cards.</a:t>
            </a:r>
          </a:p>
        </p:txBody>
      </p:sp>
      <p:pic>
        <p:nvPicPr>
          <p:cNvPr id="5" name="Picture 4" descr="image.jpg"/>
          <p:cNvPicPr>
            <a:picLocks noChangeAspect="1"/>
          </p:cNvPicPr>
          <p:nvPr/>
        </p:nvPicPr>
        <p:blipFill>
          <a:blip r:embed="rId3"/>
          <a:stretch>
            <a:fillRect/>
          </a:stretch>
        </p:blipFill>
        <p:spPr>
          <a:xfrm>
            <a:off x="548640" y="2148840"/>
            <a:ext cx="6949440" cy="3210644"/>
          </a:xfrm>
          <a:prstGeom prst="rect">
            <a:avLst/>
          </a:prstGeom>
        </p:spPr>
      </p:pic>
      <p:sp>
        <p:nvSpPr>
          <p:cNvPr id="6" name="TextBox 5"/>
          <p:cNvSpPr txBox="1"/>
          <p:nvPr/>
        </p:nvSpPr>
        <p:spPr>
          <a:xfrm>
            <a:off x="548640" y="5468112"/>
            <a:ext cx="6949440" cy="548640"/>
          </a:xfrm>
          <a:prstGeom prst="rect">
            <a:avLst/>
          </a:prstGeom>
          <a:noFill/>
        </p:spPr>
        <p:txBody>
          <a:bodyPr wrap="square" lIns="0" tIns="0" rIns="0" bIns="0" anchor="t">
            <a:spAutoFit/>
          </a:bodyPr>
          <a:lstStyle/>
          <a:p>
            <a:pPr>
              <a:buNone/>
            </a:pPr>
            <a:r>
              <a:rPr sz="1150" b="0" i="1">
                <a:solidFill>
                  <a:srgbClr val="8D939D"/>
                </a:solidFill>
                <a:latin typeface="Calibri"/>
                <a:ea typeface="Calibri"/>
                <a:cs typeface="Calibri"/>
              </a:rPr>
              <a:t>The baryte case: specimens on hessian, a printed card below each one, and a single species card for the whole group.</a:t>
            </a:r>
          </a:p>
        </p:txBody>
      </p:sp>
      <p:sp>
        <p:nvSpPr>
          <p:cNvPr id="7" name="TextBox 6"/>
          <p:cNvSpPr txBox="1"/>
          <p:nvPr/>
        </p:nvSpPr>
        <p:spPr>
          <a:xfrm>
            <a:off x="7863840" y="2148840"/>
            <a:ext cx="3776472" cy="274320"/>
          </a:xfrm>
          <a:prstGeom prst="rect">
            <a:avLst/>
          </a:prstGeom>
          <a:noFill/>
        </p:spPr>
        <p:txBody>
          <a:bodyPr wrap="square" lIns="0" tIns="0" rIns="0" bIns="0" anchor="t">
            <a:spAutoFit/>
          </a:bodyPr>
          <a:lstStyle/>
          <a:p>
            <a:pPr>
              <a:buNone/>
            </a:pPr>
            <a:r>
              <a:rPr sz="1100" b="1" i="0">
                <a:solidFill>
                  <a:srgbClr val="A98B3C"/>
                </a:solidFill>
                <a:latin typeface="Calibri"/>
                <a:ea typeface="Calibri"/>
                <a:cs typeface="Calibri"/>
              </a:rPr>
              <a:t>THE GOAL</a:t>
            </a:r>
          </a:p>
        </p:txBody>
      </p:sp>
      <p:sp>
        <p:nvSpPr>
          <p:cNvPr id="8" name="Oval 7"/>
          <p:cNvSpPr/>
          <p:nvPr/>
        </p:nvSpPr>
        <p:spPr>
          <a:xfrm>
            <a:off x="7863840" y="2542032"/>
            <a:ext cx="411480" cy="411480"/>
          </a:xfrm>
          <a:prstGeom prst="ellipse">
            <a:avLst/>
          </a:prstGeom>
          <a:solidFill>
            <a:srgbClr val="2E5C8F"/>
          </a:solidFill>
          <a:ln>
            <a:solidFill>
              <a:srgbClr val="2E5C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63840" y="2542032"/>
            <a:ext cx="411480" cy="411480"/>
          </a:xfrm>
          <a:prstGeom prst="rect">
            <a:avLst/>
          </a:prstGeom>
          <a:noFill/>
        </p:spPr>
        <p:txBody>
          <a:bodyPr wrap="square" lIns="0" tIns="0" rIns="0" bIns="0" anchor="ctr">
            <a:spAutoFit/>
          </a:bodyPr>
          <a:lstStyle/>
          <a:p>
            <a:pPr algn="ctr">
              <a:buNone/>
            </a:pPr>
            <a:r>
              <a:rPr sz="1600" b="1" i="0">
                <a:solidFill>
                  <a:srgbClr val="FFFFFF"/>
                </a:solidFill>
                <a:latin typeface="Raleway"/>
                <a:ea typeface="Raleway"/>
                <a:cs typeface="Raleway"/>
              </a:rPr>
              <a:t>1</a:t>
            </a:r>
          </a:p>
        </p:txBody>
      </p:sp>
      <p:sp>
        <p:nvSpPr>
          <p:cNvPr id="10" name="TextBox 9"/>
          <p:cNvSpPr txBox="1"/>
          <p:nvPr/>
        </p:nvSpPr>
        <p:spPr>
          <a:xfrm>
            <a:off x="8458200" y="2514600"/>
            <a:ext cx="3200400" cy="274320"/>
          </a:xfrm>
          <a:prstGeom prst="rect">
            <a:avLst/>
          </a:prstGeom>
          <a:noFill/>
        </p:spPr>
        <p:txBody>
          <a:bodyPr wrap="square" lIns="0" tIns="0" rIns="0" bIns="0" anchor="t">
            <a:spAutoFit/>
          </a:bodyPr>
          <a:lstStyle/>
          <a:p>
            <a:pPr>
              <a:buNone/>
            </a:pPr>
            <a:r>
              <a:rPr sz="1500" b="1" i="0">
                <a:solidFill>
                  <a:srgbClr val="2B2E36"/>
                </a:solidFill>
                <a:latin typeface="Calibri"/>
                <a:ea typeface="Calibri"/>
                <a:cs typeface="Calibri"/>
              </a:rPr>
              <a:t>Find every specimen</a:t>
            </a:r>
          </a:p>
        </p:txBody>
      </p:sp>
      <p:sp>
        <p:nvSpPr>
          <p:cNvPr id="11" name="TextBox 10"/>
          <p:cNvSpPr txBox="1"/>
          <p:nvPr/>
        </p:nvSpPr>
        <p:spPr>
          <a:xfrm>
            <a:off x="8458200" y="2788920"/>
            <a:ext cx="3200400" cy="274320"/>
          </a:xfrm>
          <a:prstGeom prst="rect">
            <a:avLst/>
          </a:prstGeom>
          <a:noFill/>
        </p:spPr>
        <p:txBody>
          <a:bodyPr wrap="square" lIns="0" tIns="0" rIns="0" bIns="0" anchor="t">
            <a:spAutoFit/>
          </a:bodyPr>
          <a:lstStyle/>
          <a:p>
            <a:pPr>
              <a:buNone/>
            </a:pPr>
            <a:r>
              <a:rPr sz="1250" b="0" i="0">
                <a:solidFill>
                  <a:srgbClr val="50555F"/>
                </a:solidFill>
                <a:latin typeface="Calibri"/>
                <a:ea typeface="Calibri"/>
                <a:cs typeface="Calibri"/>
              </a:rPr>
              <a:t>A separate outline and crop for each rock.</a:t>
            </a:r>
          </a:p>
        </p:txBody>
      </p:sp>
      <p:sp>
        <p:nvSpPr>
          <p:cNvPr id="12" name="Oval 11"/>
          <p:cNvSpPr/>
          <p:nvPr/>
        </p:nvSpPr>
        <p:spPr>
          <a:xfrm>
            <a:off x="7863840" y="3218687"/>
            <a:ext cx="411480" cy="411480"/>
          </a:xfrm>
          <a:prstGeom prst="ellipse">
            <a:avLst/>
          </a:prstGeom>
          <a:solidFill>
            <a:srgbClr val="5F8FAF"/>
          </a:solidFill>
          <a:ln>
            <a:solidFill>
              <a:srgbClr val="5F8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63840" y="3218687"/>
            <a:ext cx="411480" cy="411480"/>
          </a:xfrm>
          <a:prstGeom prst="rect">
            <a:avLst/>
          </a:prstGeom>
          <a:noFill/>
        </p:spPr>
        <p:txBody>
          <a:bodyPr wrap="square" lIns="0" tIns="0" rIns="0" bIns="0" anchor="ctr">
            <a:spAutoFit/>
          </a:bodyPr>
          <a:lstStyle/>
          <a:p>
            <a:pPr algn="ctr">
              <a:buNone/>
            </a:pPr>
            <a:r>
              <a:rPr sz="1600" b="1" i="0">
                <a:solidFill>
                  <a:srgbClr val="FFFFFF"/>
                </a:solidFill>
                <a:latin typeface="Raleway"/>
                <a:ea typeface="Raleway"/>
                <a:cs typeface="Raleway"/>
              </a:rPr>
              <a:t>2</a:t>
            </a:r>
          </a:p>
        </p:txBody>
      </p:sp>
      <p:sp>
        <p:nvSpPr>
          <p:cNvPr id="14" name="TextBox 13"/>
          <p:cNvSpPr txBox="1"/>
          <p:nvPr/>
        </p:nvSpPr>
        <p:spPr>
          <a:xfrm>
            <a:off x="8458200" y="3191256"/>
            <a:ext cx="3200400" cy="274320"/>
          </a:xfrm>
          <a:prstGeom prst="rect">
            <a:avLst/>
          </a:prstGeom>
          <a:noFill/>
        </p:spPr>
        <p:txBody>
          <a:bodyPr wrap="square" lIns="0" tIns="0" rIns="0" bIns="0" anchor="t">
            <a:spAutoFit/>
          </a:bodyPr>
          <a:lstStyle/>
          <a:p>
            <a:pPr>
              <a:buNone/>
            </a:pPr>
            <a:r>
              <a:rPr sz="1500" b="1" i="0">
                <a:solidFill>
                  <a:srgbClr val="2B2E36"/>
                </a:solidFill>
                <a:latin typeface="Calibri"/>
                <a:ea typeface="Calibri"/>
                <a:cs typeface="Calibri"/>
              </a:rPr>
              <a:t>Find every label</a:t>
            </a:r>
          </a:p>
        </p:txBody>
      </p:sp>
      <p:sp>
        <p:nvSpPr>
          <p:cNvPr id="15" name="TextBox 14"/>
          <p:cNvSpPr txBox="1"/>
          <p:nvPr/>
        </p:nvSpPr>
        <p:spPr>
          <a:xfrm>
            <a:off x="8458200" y="3465575"/>
            <a:ext cx="3200400" cy="274320"/>
          </a:xfrm>
          <a:prstGeom prst="rect">
            <a:avLst/>
          </a:prstGeom>
          <a:noFill/>
        </p:spPr>
        <p:txBody>
          <a:bodyPr wrap="square" lIns="0" tIns="0" rIns="0" bIns="0" anchor="t">
            <a:spAutoFit/>
          </a:bodyPr>
          <a:lstStyle/>
          <a:p>
            <a:pPr>
              <a:buNone/>
            </a:pPr>
            <a:r>
              <a:rPr sz="1250" b="0" i="0">
                <a:solidFill>
                  <a:srgbClr val="50555F"/>
                </a:solidFill>
                <a:latin typeface="Calibri"/>
                <a:ea typeface="Calibri"/>
                <a:cs typeface="Calibri"/>
              </a:rPr>
              <a:t>Specimen cards, strips and group cards.</a:t>
            </a:r>
          </a:p>
        </p:txBody>
      </p:sp>
      <p:sp>
        <p:nvSpPr>
          <p:cNvPr id="16" name="Oval 15"/>
          <p:cNvSpPr/>
          <p:nvPr/>
        </p:nvSpPr>
        <p:spPr>
          <a:xfrm>
            <a:off x="7863840" y="3895344"/>
            <a:ext cx="411480" cy="411480"/>
          </a:xfrm>
          <a:prstGeom prst="ellipse">
            <a:avLst/>
          </a:prstGeom>
          <a:solidFill>
            <a:srgbClr val="5F8FAF"/>
          </a:solidFill>
          <a:ln>
            <a:solidFill>
              <a:srgbClr val="5F8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63840" y="3895344"/>
            <a:ext cx="411480" cy="411480"/>
          </a:xfrm>
          <a:prstGeom prst="rect">
            <a:avLst/>
          </a:prstGeom>
          <a:noFill/>
        </p:spPr>
        <p:txBody>
          <a:bodyPr wrap="square" lIns="0" tIns="0" rIns="0" bIns="0" anchor="ctr">
            <a:spAutoFit/>
          </a:bodyPr>
          <a:lstStyle/>
          <a:p>
            <a:pPr algn="ctr">
              <a:buNone/>
            </a:pPr>
            <a:r>
              <a:rPr sz="1600" b="1" i="0">
                <a:solidFill>
                  <a:srgbClr val="FFFFFF"/>
                </a:solidFill>
                <a:latin typeface="Raleway"/>
                <a:ea typeface="Raleway"/>
                <a:cs typeface="Raleway"/>
              </a:rPr>
              <a:t>3</a:t>
            </a:r>
          </a:p>
        </p:txBody>
      </p:sp>
      <p:sp>
        <p:nvSpPr>
          <p:cNvPr id="18" name="TextBox 17"/>
          <p:cNvSpPr txBox="1"/>
          <p:nvPr/>
        </p:nvSpPr>
        <p:spPr>
          <a:xfrm>
            <a:off x="8458200" y="3867911"/>
            <a:ext cx="3200400" cy="274320"/>
          </a:xfrm>
          <a:prstGeom prst="rect">
            <a:avLst/>
          </a:prstGeom>
          <a:noFill/>
        </p:spPr>
        <p:txBody>
          <a:bodyPr wrap="square" lIns="0" tIns="0" rIns="0" bIns="0" anchor="t">
            <a:spAutoFit/>
          </a:bodyPr>
          <a:lstStyle/>
          <a:p>
            <a:pPr>
              <a:buNone/>
            </a:pPr>
            <a:r>
              <a:rPr sz="1500" b="1" i="0">
                <a:solidFill>
                  <a:srgbClr val="2B2E36"/>
                </a:solidFill>
                <a:latin typeface="Calibri"/>
                <a:ea typeface="Calibri"/>
                <a:cs typeface="Calibri"/>
              </a:rPr>
              <a:t>Transcribe each label</a:t>
            </a:r>
          </a:p>
        </p:txBody>
      </p:sp>
      <p:sp>
        <p:nvSpPr>
          <p:cNvPr id="19" name="TextBox 18"/>
          <p:cNvSpPr txBox="1"/>
          <p:nvPr/>
        </p:nvSpPr>
        <p:spPr>
          <a:xfrm>
            <a:off x="8458200" y="4142231"/>
            <a:ext cx="3200400" cy="274320"/>
          </a:xfrm>
          <a:prstGeom prst="rect">
            <a:avLst/>
          </a:prstGeom>
          <a:noFill/>
        </p:spPr>
        <p:txBody>
          <a:bodyPr wrap="square" lIns="0" tIns="0" rIns="0" bIns="0" anchor="t">
            <a:spAutoFit/>
          </a:bodyPr>
          <a:lstStyle/>
          <a:p>
            <a:pPr>
              <a:buNone/>
            </a:pPr>
            <a:r>
              <a:rPr sz="1250" b="0" i="0">
                <a:solidFill>
                  <a:srgbClr val="50555F"/>
                </a:solidFill>
                <a:latin typeface="Calibri"/>
                <a:ea typeface="Calibri"/>
                <a:cs typeface="Calibri"/>
              </a:rPr>
              <a:t>Verbatim text, parsed into fields.</a:t>
            </a:r>
          </a:p>
        </p:txBody>
      </p:sp>
      <p:sp>
        <p:nvSpPr>
          <p:cNvPr id="20" name="Oval 19"/>
          <p:cNvSpPr/>
          <p:nvPr/>
        </p:nvSpPr>
        <p:spPr>
          <a:xfrm>
            <a:off x="7863840" y="4572000"/>
            <a:ext cx="411480" cy="411480"/>
          </a:xfrm>
          <a:prstGeom prst="ellipse">
            <a:avLst/>
          </a:prstGeom>
          <a:solidFill>
            <a:srgbClr val="A98B3C"/>
          </a:solidFill>
          <a:ln>
            <a:solidFill>
              <a:srgbClr val="A98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863840" y="4572000"/>
            <a:ext cx="411480" cy="411480"/>
          </a:xfrm>
          <a:prstGeom prst="rect">
            <a:avLst/>
          </a:prstGeom>
          <a:noFill/>
        </p:spPr>
        <p:txBody>
          <a:bodyPr wrap="square" lIns="0" tIns="0" rIns="0" bIns="0" anchor="ctr">
            <a:spAutoFit/>
          </a:bodyPr>
          <a:lstStyle/>
          <a:p>
            <a:pPr algn="ctr">
              <a:buNone/>
            </a:pPr>
            <a:r>
              <a:rPr sz="1600" b="1" i="0">
                <a:solidFill>
                  <a:srgbClr val="FFFFFF"/>
                </a:solidFill>
                <a:latin typeface="Raleway"/>
                <a:ea typeface="Raleway"/>
                <a:cs typeface="Raleway"/>
              </a:rPr>
              <a:t>4</a:t>
            </a:r>
          </a:p>
        </p:txBody>
      </p:sp>
      <p:sp>
        <p:nvSpPr>
          <p:cNvPr id="22" name="TextBox 21"/>
          <p:cNvSpPr txBox="1"/>
          <p:nvPr/>
        </p:nvSpPr>
        <p:spPr>
          <a:xfrm>
            <a:off x="8458200" y="4544568"/>
            <a:ext cx="3200400" cy="274320"/>
          </a:xfrm>
          <a:prstGeom prst="rect">
            <a:avLst/>
          </a:prstGeom>
          <a:noFill/>
        </p:spPr>
        <p:txBody>
          <a:bodyPr wrap="square" lIns="0" tIns="0" rIns="0" bIns="0" anchor="t">
            <a:spAutoFit/>
          </a:bodyPr>
          <a:lstStyle/>
          <a:p>
            <a:pPr>
              <a:buNone/>
            </a:pPr>
            <a:r>
              <a:rPr sz="1500" b="1" i="0">
                <a:solidFill>
                  <a:srgbClr val="2B2E36"/>
                </a:solidFill>
                <a:latin typeface="Calibri"/>
                <a:ea typeface="Calibri"/>
                <a:cs typeface="Calibri"/>
              </a:rPr>
              <a:t>Link label to specimen</a:t>
            </a:r>
          </a:p>
        </p:txBody>
      </p:sp>
      <p:sp>
        <p:nvSpPr>
          <p:cNvPr id="23" name="TextBox 22"/>
          <p:cNvSpPr txBox="1"/>
          <p:nvPr/>
        </p:nvSpPr>
        <p:spPr>
          <a:xfrm>
            <a:off x="8458200" y="4818888"/>
            <a:ext cx="3200400" cy="274320"/>
          </a:xfrm>
          <a:prstGeom prst="rect">
            <a:avLst/>
          </a:prstGeom>
          <a:noFill/>
        </p:spPr>
        <p:txBody>
          <a:bodyPr wrap="square" lIns="0" tIns="0" rIns="0" bIns="0" anchor="t">
            <a:spAutoFit/>
          </a:bodyPr>
          <a:lstStyle/>
          <a:p>
            <a:pPr>
              <a:buNone/>
            </a:pPr>
            <a:r>
              <a:rPr sz="1250" b="0" i="0">
                <a:solidFill>
                  <a:srgbClr val="50555F"/>
                </a:solidFill>
                <a:latin typeface="Calibri"/>
                <a:ea typeface="Calibri"/>
                <a:cs typeface="Calibri"/>
              </a:rPr>
              <a:t>Which card describes which rock.</a:t>
            </a:r>
          </a:p>
        </p:txBody>
      </p:sp>
      <p:sp>
        <p:nvSpPr>
          <p:cNvPr id="24" name="TextBox 23"/>
          <p:cNvSpPr txBox="1"/>
          <p:nvPr/>
        </p:nvSpPr>
        <p:spPr>
          <a:xfrm>
            <a:off x="7863840" y="5349240"/>
            <a:ext cx="3776472" cy="731520"/>
          </a:xfrm>
          <a:prstGeom prst="rect">
            <a:avLst/>
          </a:prstGeom>
          <a:noFill/>
        </p:spPr>
        <p:txBody>
          <a:bodyPr wrap="square" lIns="0" tIns="0" rIns="0" bIns="0" anchor="t">
            <a:spAutoFit/>
          </a:bodyPr>
          <a:lstStyle/>
          <a:p>
            <a:pPr>
              <a:buNone/>
            </a:pPr>
            <a:r>
              <a:rPr sz="1700" b="0" i="1">
                <a:solidFill>
                  <a:srgbClr val="5F8FAF"/>
                </a:solidFill>
                <a:latin typeface="Raleway"/>
                <a:ea typeface="Raleway"/>
                <a:cs typeface="Raleway"/>
              </a:rPr>
              <a:t>Two runs over the same photographs, with two very different kinds of model.</a:t>
            </a:r>
          </a:p>
        </p:txBody>
      </p:sp>
      <p:sp>
        <p:nvSpPr>
          <p:cNvPr id="25" name="TextBox 24"/>
          <p:cNvSpPr txBox="1"/>
          <p:nvPr/>
        </p:nvSpPr>
        <p:spPr>
          <a:xfrm>
            <a:off x="548640" y="6400800"/>
            <a:ext cx="7315200" cy="274320"/>
          </a:xfrm>
          <a:prstGeom prst="rect">
            <a:avLst/>
          </a:prstGeom>
          <a:noFill/>
        </p:spPr>
        <p:txBody>
          <a:bodyPr wrap="square" lIns="0" tIns="0" rIns="0" bIns="0" anchor="t">
            <a:spAutoFit/>
          </a:bodyPr>
          <a:lstStyle/>
          <a:p>
            <a:pPr>
              <a:buNone/>
            </a:pPr>
            <a:r>
              <a:rPr sz="1000" b="0" i="0">
                <a:solidFill>
                  <a:srgbClr val="8D939D"/>
                </a:solidFill>
                <a:latin typeface="Calibri"/>
                <a:ea typeface="Calibri"/>
                <a:cs typeface="Calibri"/>
              </a:rPr>
              <a:t>WKS10  ·  Building a Repeatable AI Pipeline</a:t>
            </a:r>
          </a:p>
        </p:txBody>
      </p:sp>
      <p:sp>
        <p:nvSpPr>
          <p:cNvPr id="26" name="TextBox 25"/>
          <p:cNvSpPr txBox="1"/>
          <p:nvPr/>
        </p:nvSpPr>
        <p:spPr>
          <a:xfrm>
            <a:off x="10725912" y="6400800"/>
            <a:ext cx="914400" cy="274320"/>
          </a:xfrm>
          <a:prstGeom prst="rect">
            <a:avLst/>
          </a:prstGeom>
          <a:noFill/>
        </p:spPr>
        <p:txBody>
          <a:bodyPr wrap="square" lIns="0" tIns="0" rIns="0" bIns="0" anchor="t">
            <a:spAutoFit/>
          </a:bodyPr>
          <a:lstStyle/>
          <a:p>
            <a:pPr algn="r">
              <a:buNone/>
            </a:pPr>
            <a:r>
              <a:rPr sz="1000" b="0" i="0">
                <a:solidFill>
                  <a:srgbClr val="8D939D"/>
                </a:solidFill>
                <a:latin typeface="Calibri"/>
                <a:ea typeface="Calibri"/>
                <a:cs typeface="Calibri"/>
              </a:rPr>
              <a:t>12</a:t>
            </a:r>
          </a:p>
        </p:txBody>
      </p:sp>
    </p:spTree>
    <p:extLst>
      <p:ext uri="{BB962C8B-B14F-4D97-AF65-F5344CB8AC3E}">
        <p14:creationId xmlns:p14="http://schemas.microsoft.com/office/powerpoint/2010/main" val="3336956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6AE9E-0196-4A7D-928F-58D08FDE501B}"/>
            </a:ext>
          </a:extLst>
        </p:cNvPr>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buNone/>
            </a:pPr>
            <a:r>
              <a:rPr sz="1100" b="1" i="0">
                <a:solidFill>
                  <a:srgbClr val="A98B3C"/>
                </a:solidFill>
                <a:latin typeface="Calibri"/>
                <a:ea typeface="Calibri"/>
                <a:cs typeface="Calibri"/>
              </a:rPr>
              <a:t>RUN 1  ·  SEGMENT ANYTHING (SAM 2.1)</a:t>
            </a:r>
          </a:p>
        </p:txBody>
      </p:sp>
      <p:sp>
        <p:nvSpPr>
          <p:cNvPr id="3" name="TextBox 2"/>
          <p:cNvSpPr txBox="1"/>
          <p:nvPr/>
        </p:nvSpPr>
        <p:spPr>
          <a:xfrm>
            <a:off x="548640" y="731520"/>
            <a:ext cx="11091672" cy="731520"/>
          </a:xfrm>
          <a:prstGeom prst="rect">
            <a:avLst/>
          </a:prstGeom>
          <a:noFill/>
        </p:spPr>
        <p:txBody>
          <a:bodyPr wrap="square" lIns="0" tIns="0" rIns="0" bIns="0" anchor="t">
            <a:spAutoFit/>
          </a:bodyPr>
          <a:lstStyle/>
          <a:p>
            <a:pPr>
              <a:buNone/>
            </a:pPr>
            <a:r>
              <a:rPr sz="3400" b="1" i="0">
                <a:solidFill>
                  <a:srgbClr val="2B2E36"/>
                </a:solidFill>
                <a:latin typeface="Raleway"/>
                <a:ea typeface="Raleway"/>
                <a:cs typeface="Raleway"/>
              </a:rPr>
              <a:t>Run 1: a purpose-built vision pipeline</a:t>
            </a:r>
          </a:p>
        </p:txBody>
      </p:sp>
      <p:sp>
        <p:nvSpPr>
          <p:cNvPr id="4" name="TextBox 3"/>
          <p:cNvSpPr txBox="1"/>
          <p:nvPr/>
        </p:nvSpPr>
        <p:spPr>
          <a:xfrm>
            <a:off x="548640" y="1463040"/>
            <a:ext cx="11091672" cy="365760"/>
          </a:xfrm>
          <a:prstGeom prst="rect">
            <a:avLst/>
          </a:prstGeom>
          <a:noFill/>
        </p:spPr>
        <p:txBody>
          <a:bodyPr wrap="square" lIns="0" tIns="0" rIns="0" bIns="0" anchor="t">
            <a:spAutoFit/>
          </a:bodyPr>
          <a:lstStyle/>
          <a:p>
            <a:pPr>
              <a:buNone/>
            </a:pPr>
            <a:r>
              <a:rPr sz="1500" b="0" i="0">
                <a:solidFill>
                  <a:srgbClr val="50555F"/>
                </a:solidFill>
                <a:latin typeface="Calibri"/>
                <a:ea typeface="Calibri"/>
                <a:cs typeface="Calibri"/>
              </a:rPr>
              <a:t>SAM 2.1 finds shapes and PP-OCRv3 reads text. Everything in between is rules written by hand.</a:t>
            </a:r>
          </a:p>
        </p:txBody>
      </p:sp>
      <p:pic>
        <p:nvPicPr>
          <p:cNvPr id="5" name="Picture 4" descr="image.jpg"/>
          <p:cNvPicPr>
            <a:picLocks noChangeAspect="1"/>
          </p:cNvPicPr>
          <p:nvPr/>
        </p:nvPicPr>
        <p:blipFill>
          <a:blip r:embed="rId3"/>
          <a:stretch>
            <a:fillRect/>
          </a:stretch>
        </p:blipFill>
        <p:spPr>
          <a:xfrm>
            <a:off x="548640" y="2148840"/>
            <a:ext cx="6949440" cy="3211237"/>
          </a:xfrm>
          <a:prstGeom prst="rect">
            <a:avLst/>
          </a:prstGeom>
        </p:spPr>
      </p:pic>
      <p:sp>
        <p:nvSpPr>
          <p:cNvPr id="6" name="TextBox 5"/>
          <p:cNvSpPr txBox="1"/>
          <p:nvPr/>
        </p:nvSpPr>
        <p:spPr>
          <a:xfrm>
            <a:off x="548640" y="5468112"/>
            <a:ext cx="6949440" cy="548640"/>
          </a:xfrm>
          <a:prstGeom prst="rect">
            <a:avLst/>
          </a:prstGeom>
          <a:noFill/>
        </p:spPr>
        <p:txBody>
          <a:bodyPr wrap="square" lIns="0" tIns="0" rIns="0" bIns="0" anchor="t">
            <a:spAutoFit/>
          </a:bodyPr>
          <a:lstStyle/>
          <a:p>
            <a:pPr>
              <a:buNone/>
            </a:pPr>
            <a:r>
              <a:rPr sz="1150" b="0" i="1">
                <a:solidFill>
                  <a:srgbClr val="8D939D"/>
                </a:solidFill>
                <a:latin typeface="Calibri"/>
                <a:ea typeface="Calibri"/>
                <a:cs typeface="Calibri"/>
              </a:rPr>
              <a:t>SAM output on the baryte case: 15 segments, 13 with a transcription, 103 seconds on CPU.</a:t>
            </a:r>
          </a:p>
        </p:txBody>
      </p:sp>
      <p:sp>
        <p:nvSpPr>
          <p:cNvPr id="7" name="Rounded Rectangle 6"/>
          <p:cNvSpPr/>
          <p:nvPr/>
        </p:nvSpPr>
        <p:spPr>
          <a:xfrm>
            <a:off x="7863840" y="2148840"/>
            <a:ext cx="3776472" cy="3611880"/>
          </a:xfrm>
          <a:prstGeom prst="roundRect">
            <a:avLst>
              <a:gd name="adj" fmla="val 1859"/>
            </a:avLst>
          </a:prstGeom>
          <a:solidFill>
            <a:srgbClr val="EEF3F7"/>
          </a:solidFill>
          <a:ln w="12700">
            <a:solidFill>
              <a:srgbClr val="EE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38160" y="2377440"/>
            <a:ext cx="3291840" cy="274320"/>
          </a:xfrm>
          <a:prstGeom prst="rect">
            <a:avLst/>
          </a:prstGeom>
          <a:noFill/>
        </p:spPr>
        <p:txBody>
          <a:bodyPr wrap="square" lIns="0" tIns="0" rIns="0" bIns="0" anchor="t">
            <a:spAutoFit/>
          </a:bodyPr>
          <a:lstStyle/>
          <a:p>
            <a:pPr>
              <a:buNone/>
            </a:pPr>
            <a:r>
              <a:rPr sz="1100" b="1" i="0">
                <a:solidFill>
                  <a:srgbClr val="5F8FAF"/>
                </a:solidFill>
                <a:latin typeface="Calibri"/>
                <a:ea typeface="Calibri"/>
                <a:cs typeface="Calibri"/>
              </a:rPr>
              <a:t>RULES WRITTEN TO MAKE IT WORK</a:t>
            </a:r>
          </a:p>
        </p:txBody>
      </p:sp>
      <p:sp>
        <p:nvSpPr>
          <p:cNvPr id="9" name="TextBox 8"/>
          <p:cNvSpPr txBox="1"/>
          <p:nvPr/>
        </p:nvSpPr>
        <p:spPr>
          <a:xfrm>
            <a:off x="8138160" y="2743200"/>
            <a:ext cx="3291840" cy="2377440"/>
          </a:xfrm>
          <a:prstGeom prst="rect">
            <a:avLst/>
          </a:prstGeom>
          <a:noFill/>
        </p:spPr>
        <p:txBody>
          <a:bodyPr wrap="square" lIns="0" tIns="0" rIns="0" bIns="0" anchor="t">
            <a:spAutoFit/>
          </a:bodyPr>
          <a:lstStyle/>
          <a:p>
            <a:pPr marL="203200" indent="-203200">
              <a:spcAft>
                <a:spcPts val="600"/>
              </a:spcAft>
              <a:buSzPct val="100000"/>
              <a:buChar char="•"/>
            </a:pPr>
            <a:r>
              <a:rPr sz="1350" b="0" i="0">
                <a:solidFill>
                  <a:srgbClr val="2B2E36"/>
                </a:solidFill>
                <a:latin typeface="Calibri"/>
                <a:ea typeface="Calibri"/>
                <a:cs typeface="Calibri"/>
              </a:rPr>
              <a:t>Tile the panorama into overlapping squares</a:t>
            </a:r>
          </a:p>
          <a:p>
            <a:pPr marL="203200" indent="-203200">
              <a:spcAft>
                <a:spcPts val="600"/>
              </a:spcAft>
              <a:buSzPct val="100000"/>
              <a:buChar char="•"/>
            </a:pPr>
            <a:r>
              <a:rPr sz="1350" b="0" i="0">
                <a:solidFill>
                  <a:srgbClr val="2B2E36"/>
                </a:solidFill>
                <a:latin typeface="Calibri"/>
                <a:ea typeface="Calibri"/>
                <a:cs typeface="Calibri"/>
              </a:rPr>
              <a:t>Model the cloth so it is not a “specimen”</a:t>
            </a:r>
          </a:p>
          <a:p>
            <a:pPr marL="203200" indent="-203200">
              <a:spcAft>
                <a:spcPts val="600"/>
              </a:spcAft>
              <a:buSzPct val="100000"/>
              <a:buChar char="•"/>
            </a:pPr>
            <a:r>
              <a:rPr sz="1350" b="0" i="0">
                <a:solidFill>
                  <a:srgbClr val="2B2E36"/>
                </a:solidFill>
                <a:latin typeface="Calibri"/>
                <a:ea typeface="Calibri"/>
                <a:cs typeface="Calibri"/>
              </a:rPr>
              <a:t>Find cards by the texture of their print</a:t>
            </a:r>
          </a:p>
          <a:p>
            <a:pPr marL="203200" indent="-203200">
              <a:spcAft>
                <a:spcPts val="600"/>
              </a:spcAft>
              <a:buSzPct val="100000"/>
              <a:buChar char="•"/>
            </a:pPr>
            <a:r>
              <a:rPr sz="1350" b="0" i="0">
                <a:solidFill>
                  <a:srgbClr val="2B2E36"/>
                </a:solidFill>
                <a:latin typeface="Calibri"/>
                <a:ea typeface="Calibri"/>
                <a:cs typeface="Calibri"/>
              </a:rPr>
              <a:t>Stitch crystal-facet masks into whole rocks</a:t>
            </a:r>
          </a:p>
          <a:p>
            <a:pPr marL="203200" indent="-203200">
              <a:spcAft>
                <a:spcPts val="600"/>
              </a:spcAft>
              <a:buSzPct val="100000"/>
              <a:buChar char="•"/>
            </a:pPr>
            <a:r>
              <a:rPr sz="1350" b="0" i="0">
                <a:solidFill>
                  <a:srgbClr val="2B2E36"/>
                </a:solidFill>
                <a:latin typeface="Calibri"/>
                <a:ea typeface="Calibri"/>
                <a:cs typeface="Calibri"/>
              </a:rPr>
              <a:t>Pair each card with the rock above it</a:t>
            </a:r>
          </a:p>
          <a:p>
            <a:pPr marL="203200" indent="-203200">
              <a:spcAft>
                <a:spcPts val="600"/>
              </a:spcAft>
              <a:buSzPct val="100000"/>
              <a:buChar char="•"/>
            </a:pPr>
            <a:r>
              <a:rPr sz="1350" b="0" i="0">
                <a:solidFill>
                  <a:srgbClr val="2B2E36"/>
                </a:solidFill>
                <a:latin typeface="Calibri"/>
                <a:ea typeface="Calibri"/>
                <a:cs typeface="Calibri"/>
              </a:rPr>
              <a:t>Straighten, enlarge and read each card three ways</a:t>
            </a:r>
          </a:p>
        </p:txBody>
      </p:sp>
      <p:sp>
        <p:nvSpPr>
          <p:cNvPr id="10" name="TextBox 9"/>
          <p:cNvSpPr txBox="1"/>
          <p:nvPr/>
        </p:nvSpPr>
        <p:spPr>
          <a:xfrm>
            <a:off x="8138160" y="5029200"/>
            <a:ext cx="3291840" cy="640080"/>
          </a:xfrm>
          <a:prstGeom prst="rect">
            <a:avLst/>
          </a:prstGeom>
          <a:noFill/>
        </p:spPr>
        <p:txBody>
          <a:bodyPr wrap="square" lIns="0" tIns="0" rIns="0" bIns="0" anchor="t">
            <a:spAutoFit/>
          </a:bodyPr>
          <a:lstStyle/>
          <a:p>
            <a:pPr>
              <a:buNone/>
            </a:pPr>
            <a:r>
              <a:rPr sz="1250" b="0" i="1">
                <a:solidFill>
                  <a:srgbClr val="50555F"/>
                </a:solidFill>
                <a:latin typeface="Calibri"/>
                <a:ea typeface="Calibri"/>
                <a:cs typeface="Calibri"/>
              </a:rPr>
              <a:t>Ten stages, zero-shot, free and CPU-only: 18–172 seconds per photograph.</a:t>
            </a:r>
          </a:p>
        </p:txBody>
      </p:sp>
      <p:sp>
        <p:nvSpPr>
          <p:cNvPr id="11" name="TextBox 10"/>
          <p:cNvSpPr txBox="1"/>
          <p:nvPr/>
        </p:nvSpPr>
        <p:spPr>
          <a:xfrm>
            <a:off x="548640" y="6400800"/>
            <a:ext cx="7315200" cy="274320"/>
          </a:xfrm>
          <a:prstGeom prst="rect">
            <a:avLst/>
          </a:prstGeom>
          <a:noFill/>
        </p:spPr>
        <p:txBody>
          <a:bodyPr wrap="square" lIns="0" tIns="0" rIns="0" bIns="0" anchor="t">
            <a:spAutoFit/>
          </a:bodyPr>
          <a:lstStyle/>
          <a:p>
            <a:pPr>
              <a:buNone/>
            </a:pPr>
            <a:r>
              <a:rPr sz="1000" b="0" i="0">
                <a:solidFill>
                  <a:srgbClr val="8D939D"/>
                </a:solidFill>
                <a:latin typeface="Calibri"/>
                <a:ea typeface="Calibri"/>
                <a:cs typeface="Calibri"/>
              </a:rPr>
              <a:t>WKS10  ·  Building a Repeatable AI Pipeline</a:t>
            </a:r>
          </a:p>
        </p:txBody>
      </p:sp>
      <p:sp>
        <p:nvSpPr>
          <p:cNvPr id="12" name="TextBox 11"/>
          <p:cNvSpPr txBox="1"/>
          <p:nvPr/>
        </p:nvSpPr>
        <p:spPr>
          <a:xfrm>
            <a:off x="10725912" y="6400800"/>
            <a:ext cx="914400" cy="274320"/>
          </a:xfrm>
          <a:prstGeom prst="rect">
            <a:avLst/>
          </a:prstGeom>
          <a:noFill/>
        </p:spPr>
        <p:txBody>
          <a:bodyPr wrap="square" lIns="0" tIns="0" rIns="0" bIns="0" anchor="t">
            <a:spAutoFit/>
          </a:bodyPr>
          <a:lstStyle/>
          <a:p>
            <a:pPr algn="r">
              <a:buNone/>
            </a:pPr>
            <a:r>
              <a:rPr sz="1000" b="0" i="0">
                <a:solidFill>
                  <a:srgbClr val="8D939D"/>
                </a:solidFill>
                <a:latin typeface="Calibri"/>
                <a:ea typeface="Calibri"/>
                <a:cs typeface="Calibri"/>
              </a:rPr>
              <a:t>13</a:t>
            </a:r>
          </a:p>
        </p:txBody>
      </p:sp>
    </p:spTree>
    <p:extLst>
      <p:ext uri="{BB962C8B-B14F-4D97-AF65-F5344CB8AC3E}">
        <p14:creationId xmlns:p14="http://schemas.microsoft.com/office/powerpoint/2010/main" val="4187711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6A684-F8A7-1254-07CE-B123264E4AFF}"/>
            </a:ext>
          </a:extLst>
        </p:cNvPr>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buNone/>
            </a:pPr>
            <a:r>
              <a:rPr sz="1100" b="1" i="0">
                <a:solidFill>
                  <a:srgbClr val="A98B3C"/>
                </a:solidFill>
                <a:latin typeface="Calibri"/>
                <a:ea typeface="Calibri"/>
                <a:cs typeface="Calibri"/>
              </a:rPr>
              <a:t>RUN 1  ·  RESULTS</a:t>
            </a:r>
          </a:p>
        </p:txBody>
      </p:sp>
      <p:sp>
        <p:nvSpPr>
          <p:cNvPr id="3" name="TextBox 2"/>
          <p:cNvSpPr txBox="1"/>
          <p:nvPr/>
        </p:nvSpPr>
        <p:spPr>
          <a:xfrm>
            <a:off x="548640" y="731520"/>
            <a:ext cx="11091672" cy="731520"/>
          </a:xfrm>
          <a:prstGeom prst="rect">
            <a:avLst/>
          </a:prstGeom>
          <a:noFill/>
        </p:spPr>
        <p:txBody>
          <a:bodyPr wrap="square" lIns="0" tIns="0" rIns="0" bIns="0" anchor="t">
            <a:spAutoFit/>
          </a:bodyPr>
          <a:lstStyle/>
          <a:p>
            <a:pPr>
              <a:buNone/>
            </a:pPr>
            <a:r>
              <a:rPr sz="3400" b="1" i="0">
                <a:solidFill>
                  <a:srgbClr val="2B2E36"/>
                </a:solidFill>
                <a:latin typeface="Raleway"/>
                <a:ea typeface="Raleway"/>
                <a:cs typeface="Raleway"/>
              </a:rPr>
              <a:t>Segmentation worked. Reading and pairing did not.</a:t>
            </a:r>
          </a:p>
        </p:txBody>
      </p:sp>
      <p:sp>
        <p:nvSpPr>
          <p:cNvPr id="4" name="TextBox 3"/>
          <p:cNvSpPr txBox="1"/>
          <p:nvPr/>
        </p:nvSpPr>
        <p:spPr>
          <a:xfrm>
            <a:off x="548640" y="1463040"/>
            <a:ext cx="11091672" cy="365760"/>
          </a:xfrm>
          <a:prstGeom prst="rect">
            <a:avLst/>
          </a:prstGeom>
          <a:noFill/>
        </p:spPr>
        <p:txBody>
          <a:bodyPr wrap="square" lIns="0" tIns="0" rIns="0" bIns="0" anchor="t">
            <a:spAutoFit/>
          </a:bodyPr>
          <a:lstStyle/>
          <a:p>
            <a:pPr>
              <a:buNone/>
            </a:pPr>
            <a:r>
              <a:rPr sz="1500" b="0" i="0">
                <a:solidFill>
                  <a:srgbClr val="50555F"/>
                </a:solidFill>
                <a:latin typeface="Calibri"/>
                <a:ea typeface="Calibri"/>
                <a:cs typeface="Calibri"/>
              </a:rPr>
              <a:t>On the densest case SAM found 39 segments, but only 14 of them carry any text at all.</a:t>
            </a:r>
          </a:p>
        </p:txBody>
      </p:sp>
      <p:pic>
        <p:nvPicPr>
          <p:cNvPr id="5" name="Picture 4" descr="image.jpeg"/>
          <p:cNvPicPr>
            <a:picLocks noChangeAspect="1"/>
          </p:cNvPicPr>
          <p:nvPr/>
        </p:nvPicPr>
        <p:blipFill>
          <a:blip r:embed="rId3"/>
          <a:stretch>
            <a:fillRect/>
          </a:stretch>
        </p:blipFill>
        <p:spPr>
          <a:xfrm>
            <a:off x="548640" y="2148840"/>
            <a:ext cx="6949440" cy="3211237"/>
          </a:xfrm>
          <a:prstGeom prst="rect">
            <a:avLst/>
          </a:prstGeom>
        </p:spPr>
      </p:pic>
      <p:sp>
        <p:nvSpPr>
          <p:cNvPr id="6" name="TextBox 5"/>
          <p:cNvSpPr txBox="1"/>
          <p:nvPr/>
        </p:nvSpPr>
        <p:spPr>
          <a:xfrm>
            <a:off x="548640" y="5468112"/>
            <a:ext cx="6949440" cy="548640"/>
          </a:xfrm>
          <a:prstGeom prst="rect">
            <a:avLst/>
          </a:prstGeom>
          <a:noFill/>
        </p:spPr>
        <p:txBody>
          <a:bodyPr wrap="square" lIns="0" tIns="0" rIns="0" bIns="0" anchor="t">
            <a:spAutoFit/>
          </a:bodyPr>
          <a:lstStyle/>
          <a:p>
            <a:pPr>
              <a:buNone/>
            </a:pPr>
            <a:r>
              <a:rPr sz="1150" b="0" i="1">
                <a:solidFill>
                  <a:srgbClr val="8D939D"/>
                </a:solidFill>
                <a:latin typeface="Calibri"/>
                <a:ea typeface="Calibri"/>
                <a:cs typeface="Calibri"/>
              </a:rPr>
              <a:t>SAM output on the azurite case: 39 segments, 14 with a transcription, 172 seconds on CPU.</a:t>
            </a:r>
          </a:p>
        </p:txBody>
      </p:sp>
      <p:sp>
        <p:nvSpPr>
          <p:cNvPr id="7" name="TextBox 6"/>
          <p:cNvSpPr txBox="1"/>
          <p:nvPr/>
        </p:nvSpPr>
        <p:spPr>
          <a:xfrm>
            <a:off x="7863840" y="2103120"/>
            <a:ext cx="3776472" cy="640080"/>
          </a:xfrm>
          <a:prstGeom prst="rect">
            <a:avLst/>
          </a:prstGeom>
          <a:noFill/>
        </p:spPr>
        <p:txBody>
          <a:bodyPr wrap="square" lIns="0" tIns="0" rIns="0" bIns="0" anchor="t">
            <a:spAutoFit/>
          </a:bodyPr>
          <a:lstStyle/>
          <a:p>
            <a:pPr>
              <a:buNone/>
            </a:pPr>
            <a:r>
              <a:rPr sz="4000" b="1" i="0">
                <a:solidFill>
                  <a:srgbClr val="A98B3C"/>
                </a:solidFill>
                <a:latin typeface="Raleway"/>
                <a:ea typeface="Raleway"/>
                <a:cs typeface="Raleway"/>
              </a:rPr>
              <a:t>117</a:t>
            </a:r>
          </a:p>
        </p:txBody>
      </p:sp>
      <p:sp>
        <p:nvSpPr>
          <p:cNvPr id="8" name="TextBox 7"/>
          <p:cNvSpPr txBox="1"/>
          <p:nvPr/>
        </p:nvSpPr>
        <p:spPr>
          <a:xfrm>
            <a:off x="7863840" y="2788920"/>
            <a:ext cx="3776472" cy="365760"/>
          </a:xfrm>
          <a:prstGeom prst="rect">
            <a:avLst/>
          </a:prstGeom>
          <a:noFill/>
        </p:spPr>
        <p:txBody>
          <a:bodyPr wrap="square" lIns="0" tIns="0" rIns="0" bIns="0" anchor="t">
            <a:spAutoFit/>
          </a:bodyPr>
          <a:lstStyle/>
          <a:p>
            <a:pPr>
              <a:buNone/>
            </a:pPr>
            <a:r>
              <a:rPr sz="1350" b="0" i="0">
                <a:solidFill>
                  <a:srgbClr val="50555F"/>
                </a:solidFill>
                <a:latin typeface="Calibri"/>
                <a:ea typeface="Calibri"/>
                <a:cs typeface="Calibri"/>
              </a:rPr>
              <a:t>segments across all 13 photographs</a:t>
            </a:r>
          </a:p>
        </p:txBody>
      </p:sp>
      <p:sp>
        <p:nvSpPr>
          <p:cNvPr id="9" name="TextBox 8"/>
          <p:cNvSpPr txBox="1"/>
          <p:nvPr/>
        </p:nvSpPr>
        <p:spPr>
          <a:xfrm>
            <a:off x="7863840" y="3383279"/>
            <a:ext cx="3776472" cy="640080"/>
          </a:xfrm>
          <a:prstGeom prst="rect">
            <a:avLst/>
          </a:prstGeom>
          <a:noFill/>
        </p:spPr>
        <p:txBody>
          <a:bodyPr wrap="square" lIns="0" tIns="0" rIns="0" bIns="0" anchor="t">
            <a:spAutoFit/>
          </a:bodyPr>
          <a:lstStyle/>
          <a:p>
            <a:pPr>
              <a:buNone/>
            </a:pPr>
            <a:r>
              <a:rPr sz="4000" b="1" i="0">
                <a:solidFill>
                  <a:srgbClr val="A98B3C"/>
                </a:solidFill>
                <a:latin typeface="Raleway"/>
                <a:ea typeface="Raleway"/>
                <a:cs typeface="Raleway"/>
              </a:rPr>
              <a:t>59</a:t>
            </a:r>
          </a:p>
        </p:txBody>
      </p:sp>
      <p:sp>
        <p:nvSpPr>
          <p:cNvPr id="10" name="TextBox 9"/>
          <p:cNvSpPr txBox="1"/>
          <p:nvPr/>
        </p:nvSpPr>
        <p:spPr>
          <a:xfrm>
            <a:off x="7863840" y="4069079"/>
            <a:ext cx="3776472" cy="365760"/>
          </a:xfrm>
          <a:prstGeom prst="rect">
            <a:avLst/>
          </a:prstGeom>
          <a:noFill/>
        </p:spPr>
        <p:txBody>
          <a:bodyPr wrap="square" lIns="0" tIns="0" rIns="0" bIns="0" anchor="t">
            <a:spAutoFit/>
          </a:bodyPr>
          <a:lstStyle/>
          <a:p>
            <a:pPr>
              <a:buNone/>
            </a:pPr>
            <a:r>
              <a:rPr sz="1350" b="0" i="0">
                <a:solidFill>
                  <a:srgbClr val="50555F"/>
                </a:solidFill>
                <a:latin typeface="Calibri"/>
                <a:ea typeface="Calibri"/>
                <a:cs typeface="Calibri"/>
              </a:rPr>
              <a:t>carry a transcription: about half</a:t>
            </a:r>
          </a:p>
        </p:txBody>
      </p:sp>
      <p:sp>
        <p:nvSpPr>
          <p:cNvPr id="11" name="TextBox 10"/>
          <p:cNvSpPr txBox="1"/>
          <p:nvPr/>
        </p:nvSpPr>
        <p:spPr>
          <a:xfrm>
            <a:off x="7863840" y="4663440"/>
            <a:ext cx="3776472" cy="640080"/>
          </a:xfrm>
          <a:prstGeom prst="rect">
            <a:avLst/>
          </a:prstGeom>
          <a:noFill/>
        </p:spPr>
        <p:txBody>
          <a:bodyPr wrap="square" lIns="0" tIns="0" rIns="0" bIns="0" anchor="t">
            <a:spAutoFit/>
          </a:bodyPr>
          <a:lstStyle/>
          <a:p>
            <a:pPr>
              <a:buNone/>
            </a:pPr>
            <a:r>
              <a:rPr sz="4000" b="1" i="0">
                <a:solidFill>
                  <a:srgbClr val="A98B3C"/>
                </a:solidFill>
                <a:latin typeface="Raleway"/>
                <a:ea typeface="Raleway"/>
                <a:cs typeface="Raleway"/>
              </a:rPr>
              <a:t>77 of 114</a:t>
            </a:r>
          </a:p>
        </p:txBody>
      </p:sp>
      <p:sp>
        <p:nvSpPr>
          <p:cNvPr id="12" name="TextBox 11"/>
          <p:cNvSpPr txBox="1"/>
          <p:nvPr/>
        </p:nvSpPr>
        <p:spPr>
          <a:xfrm>
            <a:off x="7863840" y="5349240"/>
            <a:ext cx="3776472" cy="365760"/>
          </a:xfrm>
          <a:prstGeom prst="rect">
            <a:avLst/>
          </a:prstGeom>
          <a:noFill/>
        </p:spPr>
        <p:txBody>
          <a:bodyPr wrap="square" lIns="0" tIns="0" rIns="0" bIns="0" anchor="t">
            <a:spAutoFit/>
          </a:bodyPr>
          <a:lstStyle/>
          <a:p>
            <a:pPr>
              <a:buNone/>
            </a:pPr>
            <a:r>
              <a:rPr sz="1350" b="0" i="0">
                <a:solidFill>
                  <a:srgbClr val="50555F"/>
                </a:solidFill>
                <a:latin typeface="Calibri"/>
                <a:ea typeface="Calibri"/>
                <a:cs typeface="Calibri"/>
              </a:rPr>
              <a:t>verified cards paired to a specimen</a:t>
            </a:r>
          </a:p>
        </p:txBody>
      </p:sp>
      <p:sp>
        <p:nvSpPr>
          <p:cNvPr id="13" name="TextBox 12"/>
          <p:cNvSpPr txBox="1"/>
          <p:nvPr/>
        </p:nvSpPr>
        <p:spPr>
          <a:xfrm>
            <a:off x="548640" y="6400800"/>
            <a:ext cx="7315200" cy="274320"/>
          </a:xfrm>
          <a:prstGeom prst="rect">
            <a:avLst/>
          </a:prstGeom>
          <a:noFill/>
        </p:spPr>
        <p:txBody>
          <a:bodyPr wrap="square" lIns="0" tIns="0" rIns="0" bIns="0" anchor="t">
            <a:spAutoFit/>
          </a:bodyPr>
          <a:lstStyle/>
          <a:p>
            <a:pPr>
              <a:buNone/>
            </a:pPr>
            <a:r>
              <a:rPr sz="1000" b="0" i="0">
                <a:solidFill>
                  <a:srgbClr val="8D939D"/>
                </a:solidFill>
                <a:latin typeface="Calibri"/>
                <a:ea typeface="Calibri"/>
                <a:cs typeface="Calibri"/>
              </a:rPr>
              <a:t>WKS10  ·  Building a Repeatable AI Pipeline</a:t>
            </a:r>
          </a:p>
        </p:txBody>
      </p:sp>
      <p:sp>
        <p:nvSpPr>
          <p:cNvPr id="14" name="TextBox 13"/>
          <p:cNvSpPr txBox="1"/>
          <p:nvPr/>
        </p:nvSpPr>
        <p:spPr>
          <a:xfrm>
            <a:off x="10725912" y="6400800"/>
            <a:ext cx="914400" cy="274320"/>
          </a:xfrm>
          <a:prstGeom prst="rect">
            <a:avLst/>
          </a:prstGeom>
          <a:noFill/>
        </p:spPr>
        <p:txBody>
          <a:bodyPr wrap="square" lIns="0" tIns="0" rIns="0" bIns="0" anchor="t">
            <a:spAutoFit/>
          </a:bodyPr>
          <a:lstStyle/>
          <a:p>
            <a:pPr algn="r">
              <a:buNone/>
            </a:pPr>
            <a:r>
              <a:rPr sz="1000" b="0" i="0">
                <a:solidFill>
                  <a:srgbClr val="8D939D"/>
                </a:solidFill>
                <a:latin typeface="Calibri"/>
                <a:ea typeface="Calibri"/>
                <a:cs typeface="Calibri"/>
              </a:rPr>
              <a:t>14</a:t>
            </a:r>
          </a:p>
        </p:txBody>
      </p:sp>
    </p:spTree>
    <p:extLst>
      <p:ext uri="{BB962C8B-B14F-4D97-AF65-F5344CB8AC3E}">
        <p14:creationId xmlns:p14="http://schemas.microsoft.com/office/powerpoint/2010/main" val="3097566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BF974-01E8-D09C-7A4D-FDCCDDA86A49}"/>
            </a:ext>
          </a:extLst>
        </p:cNvPr>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buNone/>
            </a:pPr>
            <a:r>
              <a:rPr sz="1100" b="1" i="0">
                <a:solidFill>
                  <a:srgbClr val="A98B3C"/>
                </a:solidFill>
                <a:latin typeface="Calibri"/>
                <a:ea typeface="Calibri"/>
                <a:cs typeface="Calibri"/>
              </a:rPr>
              <a:t>RUN 1  ·  FAILURE MODES</a:t>
            </a:r>
          </a:p>
        </p:txBody>
      </p:sp>
      <p:sp>
        <p:nvSpPr>
          <p:cNvPr id="3" name="TextBox 2"/>
          <p:cNvSpPr txBox="1"/>
          <p:nvPr/>
        </p:nvSpPr>
        <p:spPr>
          <a:xfrm>
            <a:off x="548640" y="731520"/>
            <a:ext cx="11091672" cy="731520"/>
          </a:xfrm>
          <a:prstGeom prst="rect">
            <a:avLst/>
          </a:prstGeom>
          <a:noFill/>
        </p:spPr>
        <p:txBody>
          <a:bodyPr wrap="square" lIns="0" tIns="0" rIns="0" bIns="0" anchor="t">
            <a:spAutoFit/>
          </a:bodyPr>
          <a:lstStyle/>
          <a:p>
            <a:pPr>
              <a:buNone/>
            </a:pPr>
            <a:r>
              <a:rPr sz="3400" b="1" i="0">
                <a:solidFill>
                  <a:srgbClr val="2B2E36"/>
                </a:solidFill>
                <a:latin typeface="Raleway"/>
                <a:ea typeface="Raleway"/>
                <a:cs typeface="Raleway"/>
              </a:rPr>
              <a:t>What the failures look like</a:t>
            </a:r>
          </a:p>
        </p:txBody>
      </p:sp>
      <p:sp>
        <p:nvSpPr>
          <p:cNvPr id="4" name="TextBox 3"/>
          <p:cNvSpPr txBox="1"/>
          <p:nvPr/>
        </p:nvSpPr>
        <p:spPr>
          <a:xfrm>
            <a:off x="548640" y="1463040"/>
            <a:ext cx="11091672" cy="365760"/>
          </a:xfrm>
          <a:prstGeom prst="rect">
            <a:avLst/>
          </a:prstGeom>
          <a:noFill/>
        </p:spPr>
        <p:txBody>
          <a:bodyPr wrap="square" lIns="0" tIns="0" rIns="0" bIns="0" anchor="t">
            <a:spAutoFit/>
          </a:bodyPr>
          <a:lstStyle/>
          <a:p>
            <a:pPr>
              <a:buNone/>
            </a:pPr>
            <a:r>
              <a:rPr sz="1500" b="0" i="0">
                <a:solidFill>
                  <a:srgbClr val="50555F"/>
                </a:solidFill>
                <a:latin typeface="Calibri"/>
                <a:ea typeface="Calibri"/>
                <a:cs typeface="Calibri"/>
              </a:rPr>
              <a:t>Each is a judgement a person makes at a glance, and a rule someone would have to write.</a:t>
            </a:r>
          </a:p>
        </p:txBody>
      </p:sp>
      <p:sp>
        <p:nvSpPr>
          <p:cNvPr id="5" name="Rounded Rectangle 4"/>
          <p:cNvSpPr/>
          <p:nvPr/>
        </p:nvSpPr>
        <p:spPr>
          <a:xfrm>
            <a:off x="548640" y="2148840"/>
            <a:ext cx="2633472" cy="2606040"/>
          </a:xfrm>
          <a:prstGeom prst="roundRect">
            <a:avLst>
              <a:gd name="adj" fmla="val 1859"/>
            </a:avLst>
          </a:prstGeom>
          <a:solidFill>
            <a:srgbClr val="EEF3F7"/>
          </a:solidFill>
          <a:ln w="12700">
            <a:solidFill>
              <a:srgbClr val="EE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437184" y="2286000"/>
            <a:ext cx="856382" cy="1280160"/>
          </a:xfrm>
          <a:prstGeom prst="rect">
            <a:avLst/>
          </a:prstGeom>
        </p:spPr>
      </p:pic>
      <p:sp>
        <p:nvSpPr>
          <p:cNvPr id="7" name="TextBox 6"/>
          <p:cNvSpPr txBox="1"/>
          <p:nvPr/>
        </p:nvSpPr>
        <p:spPr>
          <a:xfrm>
            <a:off x="731520" y="3730752"/>
            <a:ext cx="2286000" cy="274320"/>
          </a:xfrm>
          <a:prstGeom prst="rect">
            <a:avLst/>
          </a:prstGeom>
          <a:noFill/>
        </p:spPr>
        <p:txBody>
          <a:bodyPr wrap="square" lIns="0" tIns="0" rIns="0" bIns="0" anchor="t">
            <a:spAutoFit/>
          </a:bodyPr>
          <a:lstStyle/>
          <a:p>
            <a:pPr>
              <a:buNone/>
            </a:pPr>
            <a:r>
              <a:rPr sz="1400" b="1" i="0">
                <a:solidFill>
                  <a:srgbClr val="2B2E36"/>
                </a:solidFill>
                <a:latin typeface="Calibri"/>
                <a:ea typeface="Calibri"/>
                <a:cs typeface="Calibri"/>
              </a:rPr>
              <a:t>One group card, one owner</a:t>
            </a:r>
          </a:p>
        </p:txBody>
      </p:sp>
      <p:sp>
        <p:nvSpPr>
          <p:cNvPr id="8" name="TextBox 7"/>
          <p:cNvSpPr txBox="1"/>
          <p:nvPr/>
        </p:nvSpPr>
        <p:spPr>
          <a:xfrm>
            <a:off x="731520" y="4041648"/>
            <a:ext cx="2286000" cy="822960"/>
          </a:xfrm>
          <a:prstGeom prst="rect">
            <a:avLst/>
          </a:prstGeom>
          <a:noFill/>
        </p:spPr>
        <p:txBody>
          <a:bodyPr wrap="square" lIns="0" tIns="0" rIns="0" bIns="0" anchor="t">
            <a:spAutoFit/>
          </a:bodyPr>
          <a:lstStyle/>
          <a:p>
            <a:pPr>
              <a:buNone/>
            </a:pPr>
            <a:r>
              <a:rPr sz="1200" b="0" i="0">
                <a:solidFill>
                  <a:srgbClr val="50555F"/>
                </a:solidFill>
                <a:latin typeface="Calibri"/>
                <a:ea typeface="Calibri"/>
                <a:cs typeface="Calibri"/>
              </a:rPr>
              <a:t>The Azurite card names every specimen in the case. Pairing by distance gave it to one.</a:t>
            </a:r>
          </a:p>
        </p:txBody>
      </p:sp>
      <p:sp>
        <p:nvSpPr>
          <p:cNvPr id="9" name="Rounded Rectangle 8"/>
          <p:cNvSpPr/>
          <p:nvPr/>
        </p:nvSpPr>
        <p:spPr>
          <a:xfrm>
            <a:off x="3364992" y="2148840"/>
            <a:ext cx="2633472" cy="2606040"/>
          </a:xfrm>
          <a:prstGeom prst="roundRect">
            <a:avLst>
              <a:gd name="adj" fmla="val 1859"/>
            </a:avLst>
          </a:prstGeom>
          <a:solidFill>
            <a:srgbClr val="EEF3F7"/>
          </a:solidFill>
          <a:ln w="12700">
            <a:solidFill>
              <a:srgbClr val="EE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4"/>
          <a:stretch>
            <a:fillRect/>
          </a:stretch>
        </p:blipFill>
        <p:spPr>
          <a:xfrm>
            <a:off x="3547872" y="2499731"/>
            <a:ext cx="2267712" cy="852696"/>
          </a:xfrm>
          <a:prstGeom prst="rect">
            <a:avLst/>
          </a:prstGeom>
        </p:spPr>
      </p:pic>
      <p:sp>
        <p:nvSpPr>
          <p:cNvPr id="11" name="TextBox 10"/>
          <p:cNvSpPr txBox="1"/>
          <p:nvPr/>
        </p:nvSpPr>
        <p:spPr>
          <a:xfrm>
            <a:off x="3547872" y="3730752"/>
            <a:ext cx="2286000" cy="274320"/>
          </a:xfrm>
          <a:prstGeom prst="rect">
            <a:avLst/>
          </a:prstGeom>
          <a:noFill/>
        </p:spPr>
        <p:txBody>
          <a:bodyPr wrap="square" lIns="0" tIns="0" rIns="0" bIns="0" anchor="t">
            <a:spAutoFit/>
          </a:bodyPr>
          <a:lstStyle/>
          <a:p>
            <a:pPr>
              <a:buNone/>
            </a:pPr>
            <a:r>
              <a:rPr sz="1400" b="1" i="0">
                <a:solidFill>
                  <a:srgbClr val="2B2E36"/>
                </a:solidFill>
                <a:latin typeface="Calibri"/>
                <a:ea typeface="Calibri"/>
                <a:cs typeface="Calibri"/>
              </a:rPr>
              <a:t>Cut off by the frame</a:t>
            </a:r>
          </a:p>
        </p:txBody>
      </p:sp>
      <p:sp>
        <p:nvSpPr>
          <p:cNvPr id="12" name="TextBox 11"/>
          <p:cNvSpPr txBox="1"/>
          <p:nvPr/>
        </p:nvSpPr>
        <p:spPr>
          <a:xfrm>
            <a:off x="3547872" y="4041648"/>
            <a:ext cx="2286000" cy="822960"/>
          </a:xfrm>
          <a:prstGeom prst="rect">
            <a:avLst/>
          </a:prstGeom>
          <a:noFill/>
        </p:spPr>
        <p:txBody>
          <a:bodyPr wrap="square" lIns="0" tIns="0" rIns="0" bIns="0" anchor="t">
            <a:spAutoFit/>
          </a:bodyPr>
          <a:lstStyle/>
          <a:p>
            <a:pPr>
              <a:buNone/>
            </a:pPr>
            <a:r>
              <a:rPr sz="1200" b="0" i="0">
                <a:solidFill>
                  <a:srgbClr val="50555F"/>
                </a:solidFill>
                <a:latin typeface="Calibri"/>
                <a:ea typeface="Calibri"/>
                <a:cs typeface="Calibri"/>
              </a:rPr>
              <a:t>A specimen running off the edge is segmented as if it were whole.</a:t>
            </a:r>
          </a:p>
        </p:txBody>
      </p:sp>
      <p:sp>
        <p:nvSpPr>
          <p:cNvPr id="13" name="Rounded Rectangle 12"/>
          <p:cNvSpPr/>
          <p:nvPr/>
        </p:nvSpPr>
        <p:spPr>
          <a:xfrm>
            <a:off x="6181344" y="2148840"/>
            <a:ext cx="2633472" cy="2606040"/>
          </a:xfrm>
          <a:prstGeom prst="roundRect">
            <a:avLst>
              <a:gd name="adj" fmla="val 1859"/>
            </a:avLst>
          </a:prstGeom>
          <a:solidFill>
            <a:srgbClr val="EEF3F7"/>
          </a:solidFill>
          <a:ln w="12700">
            <a:solidFill>
              <a:srgbClr val="EE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image.png"/>
          <p:cNvPicPr>
            <a:picLocks noChangeAspect="1"/>
          </p:cNvPicPr>
          <p:nvPr/>
        </p:nvPicPr>
        <p:blipFill>
          <a:blip r:embed="rId5"/>
          <a:stretch>
            <a:fillRect/>
          </a:stretch>
        </p:blipFill>
        <p:spPr>
          <a:xfrm>
            <a:off x="6683234" y="2286000"/>
            <a:ext cx="1629691" cy="1280160"/>
          </a:xfrm>
          <a:prstGeom prst="rect">
            <a:avLst/>
          </a:prstGeom>
        </p:spPr>
      </p:pic>
      <p:sp>
        <p:nvSpPr>
          <p:cNvPr id="15" name="TextBox 14"/>
          <p:cNvSpPr txBox="1"/>
          <p:nvPr/>
        </p:nvSpPr>
        <p:spPr>
          <a:xfrm>
            <a:off x="6364224" y="3730752"/>
            <a:ext cx="2286000" cy="274320"/>
          </a:xfrm>
          <a:prstGeom prst="rect">
            <a:avLst/>
          </a:prstGeom>
          <a:noFill/>
        </p:spPr>
        <p:txBody>
          <a:bodyPr wrap="square" lIns="0" tIns="0" rIns="0" bIns="0" anchor="t">
            <a:spAutoFit/>
          </a:bodyPr>
          <a:lstStyle/>
          <a:p>
            <a:pPr>
              <a:buNone/>
            </a:pPr>
            <a:r>
              <a:rPr sz="1400" b="1" i="0">
                <a:solidFill>
                  <a:srgbClr val="2B2E36"/>
                </a:solidFill>
                <a:latin typeface="Calibri"/>
                <a:ea typeface="Calibri"/>
                <a:cs typeface="Calibri"/>
              </a:rPr>
              <a:t>A clean mask</a:t>
            </a:r>
          </a:p>
        </p:txBody>
      </p:sp>
      <p:sp>
        <p:nvSpPr>
          <p:cNvPr id="16" name="TextBox 15"/>
          <p:cNvSpPr txBox="1"/>
          <p:nvPr/>
        </p:nvSpPr>
        <p:spPr>
          <a:xfrm>
            <a:off x="6364224" y="4041648"/>
            <a:ext cx="2286000" cy="822960"/>
          </a:xfrm>
          <a:prstGeom prst="rect">
            <a:avLst/>
          </a:prstGeom>
          <a:noFill/>
        </p:spPr>
        <p:txBody>
          <a:bodyPr wrap="square" lIns="0" tIns="0" rIns="0" bIns="0" anchor="t">
            <a:spAutoFit/>
          </a:bodyPr>
          <a:lstStyle/>
          <a:p>
            <a:pPr>
              <a:buNone/>
            </a:pPr>
            <a:r>
              <a:rPr sz="1200" b="0" i="0">
                <a:solidFill>
                  <a:srgbClr val="50555F"/>
                </a:solidFill>
                <a:latin typeface="Calibri"/>
                <a:ea typeface="Calibri"/>
                <a:cs typeface="Calibri"/>
              </a:rPr>
              <a:t>SAM outlines rocks well. Knowing what belongs to them is the hard part.</a:t>
            </a:r>
          </a:p>
        </p:txBody>
      </p:sp>
      <p:sp>
        <p:nvSpPr>
          <p:cNvPr id="17" name="Rounded Rectangle 16"/>
          <p:cNvSpPr/>
          <p:nvPr/>
        </p:nvSpPr>
        <p:spPr>
          <a:xfrm>
            <a:off x="8997696" y="2148840"/>
            <a:ext cx="2633472" cy="2606040"/>
          </a:xfrm>
          <a:prstGeom prst="roundRect">
            <a:avLst>
              <a:gd name="adj" fmla="val 1859"/>
            </a:avLst>
          </a:prstGeom>
          <a:solidFill>
            <a:srgbClr val="EEF3F7"/>
          </a:solidFill>
          <a:ln w="12700">
            <a:solidFill>
              <a:srgbClr val="EE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image.png"/>
          <p:cNvPicPr>
            <a:picLocks noChangeAspect="1"/>
          </p:cNvPicPr>
          <p:nvPr/>
        </p:nvPicPr>
        <p:blipFill>
          <a:blip r:embed="rId6"/>
          <a:stretch>
            <a:fillRect/>
          </a:stretch>
        </p:blipFill>
        <p:spPr>
          <a:xfrm>
            <a:off x="9361697" y="2286000"/>
            <a:ext cx="1905468" cy="1280160"/>
          </a:xfrm>
          <a:prstGeom prst="rect">
            <a:avLst/>
          </a:prstGeom>
        </p:spPr>
      </p:pic>
      <p:sp>
        <p:nvSpPr>
          <p:cNvPr id="19" name="TextBox 18"/>
          <p:cNvSpPr txBox="1"/>
          <p:nvPr/>
        </p:nvSpPr>
        <p:spPr>
          <a:xfrm>
            <a:off x="9180576" y="3730752"/>
            <a:ext cx="2286000" cy="274320"/>
          </a:xfrm>
          <a:prstGeom prst="rect">
            <a:avLst/>
          </a:prstGeom>
          <a:noFill/>
        </p:spPr>
        <p:txBody>
          <a:bodyPr wrap="square" lIns="0" tIns="0" rIns="0" bIns="0" anchor="t">
            <a:spAutoFit/>
          </a:bodyPr>
          <a:lstStyle/>
          <a:p>
            <a:pPr>
              <a:buNone/>
            </a:pPr>
            <a:r>
              <a:rPr sz="1400" b="1" i="0">
                <a:solidFill>
                  <a:srgbClr val="2B2E36"/>
                </a:solidFill>
                <a:latin typeface="Calibri"/>
                <a:ea typeface="Calibri"/>
                <a:cs typeface="Calibri"/>
              </a:rPr>
              <a:t>A clipped card</a:t>
            </a:r>
          </a:p>
        </p:txBody>
      </p:sp>
      <p:sp>
        <p:nvSpPr>
          <p:cNvPr id="20" name="TextBox 19"/>
          <p:cNvSpPr txBox="1"/>
          <p:nvPr/>
        </p:nvSpPr>
        <p:spPr>
          <a:xfrm>
            <a:off x="9180576" y="4041648"/>
            <a:ext cx="2286000" cy="822960"/>
          </a:xfrm>
          <a:prstGeom prst="rect">
            <a:avLst/>
          </a:prstGeom>
          <a:noFill/>
        </p:spPr>
        <p:txBody>
          <a:bodyPr wrap="square" lIns="0" tIns="0" rIns="0" bIns="0" anchor="t">
            <a:spAutoFit/>
          </a:bodyPr>
          <a:lstStyle/>
          <a:p>
            <a:pPr>
              <a:buNone/>
            </a:pPr>
            <a:r>
              <a:rPr sz="1200" b="0" i="0">
                <a:solidFill>
                  <a:srgbClr val="50555F"/>
                </a:solidFill>
                <a:latin typeface="Calibri"/>
                <a:ea typeface="Calibri"/>
                <a:cs typeface="Calibri"/>
              </a:rPr>
              <a:t>Read as “ting on yellow | Kent” and still paired with a specimen.</a:t>
            </a:r>
          </a:p>
        </p:txBody>
      </p:sp>
      <p:sp>
        <p:nvSpPr>
          <p:cNvPr id="21" name="TextBox 20"/>
          <p:cNvSpPr txBox="1"/>
          <p:nvPr/>
        </p:nvSpPr>
        <p:spPr>
          <a:xfrm>
            <a:off x="548640" y="5074920"/>
            <a:ext cx="10972800" cy="274320"/>
          </a:xfrm>
          <a:prstGeom prst="rect">
            <a:avLst/>
          </a:prstGeom>
          <a:noFill/>
        </p:spPr>
        <p:txBody>
          <a:bodyPr wrap="square" lIns="0" tIns="0" rIns="0" bIns="0" anchor="t">
            <a:spAutoFit/>
          </a:bodyPr>
          <a:lstStyle/>
          <a:p>
            <a:pPr>
              <a:buNone/>
            </a:pPr>
            <a:r>
              <a:rPr sz="1100" b="1" i="0">
                <a:solidFill>
                  <a:srgbClr val="A98B3C"/>
                </a:solidFill>
                <a:latin typeface="Calibri"/>
                <a:ea typeface="Calibri"/>
                <a:cs typeface="Calibri"/>
              </a:rPr>
              <a:t>WHAT THE OCR READ ON THE AZURITE CASE</a:t>
            </a:r>
          </a:p>
        </p:txBody>
      </p:sp>
      <p:sp>
        <p:nvSpPr>
          <p:cNvPr id="22" name="TextBox 21"/>
          <p:cNvSpPr txBox="1"/>
          <p:nvPr/>
        </p:nvSpPr>
        <p:spPr>
          <a:xfrm>
            <a:off x="548640" y="5422392"/>
            <a:ext cx="4297680" cy="365760"/>
          </a:xfrm>
          <a:prstGeom prst="rect">
            <a:avLst/>
          </a:prstGeom>
          <a:noFill/>
        </p:spPr>
        <p:txBody>
          <a:bodyPr wrap="square" lIns="0" tIns="0" rIns="0" bIns="0" anchor="t">
            <a:spAutoFit/>
          </a:bodyPr>
          <a:lstStyle/>
          <a:p>
            <a:pPr>
              <a:buNone/>
            </a:pPr>
            <a:r>
              <a:rPr sz="1200" b="0" i="0">
                <a:solidFill>
                  <a:srgbClr val="2B2E36"/>
                </a:solidFill>
                <a:latin typeface="Courier New"/>
                <a:ea typeface="Courier New"/>
                <a:cs typeface="Courier New"/>
              </a:rPr>
              <a:t>compasiterhombs onmalachite | Chessya Francn</a:t>
            </a:r>
          </a:p>
        </p:txBody>
      </p:sp>
      <p:sp>
        <p:nvSpPr>
          <p:cNvPr id="23" name="TextBox 22"/>
          <p:cNvSpPr txBox="1"/>
          <p:nvPr/>
        </p:nvSpPr>
        <p:spPr>
          <a:xfrm>
            <a:off x="5120640" y="5422392"/>
            <a:ext cx="1280160" cy="365760"/>
          </a:xfrm>
          <a:prstGeom prst="rect">
            <a:avLst/>
          </a:prstGeom>
          <a:noFill/>
        </p:spPr>
        <p:txBody>
          <a:bodyPr wrap="square" lIns="0" tIns="0" rIns="0" bIns="0" anchor="t">
            <a:spAutoFit/>
          </a:bodyPr>
          <a:lstStyle/>
          <a:p>
            <a:pPr>
              <a:buNone/>
            </a:pPr>
            <a:r>
              <a:rPr sz="1200" b="0" i="0">
                <a:solidFill>
                  <a:srgbClr val="2B2E36"/>
                </a:solidFill>
                <a:latin typeface="Courier New"/>
                <a:ea typeface="Courier New"/>
                <a:cs typeface="Courier New"/>
              </a:rPr>
              <a:t>michseite</a:t>
            </a:r>
          </a:p>
        </p:txBody>
      </p:sp>
      <p:sp>
        <p:nvSpPr>
          <p:cNvPr id="24" name="TextBox 23"/>
          <p:cNvSpPr txBox="1"/>
          <p:nvPr/>
        </p:nvSpPr>
        <p:spPr>
          <a:xfrm>
            <a:off x="6675120" y="5422392"/>
            <a:ext cx="4937760" cy="365760"/>
          </a:xfrm>
          <a:prstGeom prst="rect">
            <a:avLst/>
          </a:prstGeom>
          <a:noFill/>
        </p:spPr>
        <p:txBody>
          <a:bodyPr wrap="square" lIns="0" tIns="0" rIns="0" bIns="0" anchor="t">
            <a:spAutoFit/>
          </a:bodyPr>
          <a:lstStyle/>
          <a:p>
            <a:pPr>
              <a:buNone/>
            </a:pPr>
            <a:r>
              <a:rPr sz="1200" b="0" i="0">
                <a:solidFill>
                  <a:srgbClr val="2B2E36"/>
                </a:solidFill>
                <a:latin typeface="Courier New"/>
                <a:ea typeface="Courier New"/>
                <a:cs typeface="Courier New"/>
              </a:rPr>
              <a:t>Thunsain Okoa Ne Doudly terginu wriaedne</a:t>
            </a:r>
          </a:p>
        </p:txBody>
      </p:sp>
      <p:sp>
        <p:nvSpPr>
          <p:cNvPr id="25" name="TextBox 24"/>
          <p:cNvSpPr txBox="1"/>
          <p:nvPr/>
        </p:nvSpPr>
        <p:spPr>
          <a:xfrm>
            <a:off x="548640" y="6400800"/>
            <a:ext cx="7315200" cy="274320"/>
          </a:xfrm>
          <a:prstGeom prst="rect">
            <a:avLst/>
          </a:prstGeom>
          <a:noFill/>
        </p:spPr>
        <p:txBody>
          <a:bodyPr wrap="square" lIns="0" tIns="0" rIns="0" bIns="0" anchor="t">
            <a:spAutoFit/>
          </a:bodyPr>
          <a:lstStyle/>
          <a:p>
            <a:pPr>
              <a:buNone/>
            </a:pPr>
            <a:r>
              <a:rPr sz="1000" b="0" i="0">
                <a:solidFill>
                  <a:srgbClr val="8D939D"/>
                </a:solidFill>
                <a:latin typeface="Calibri"/>
                <a:ea typeface="Calibri"/>
                <a:cs typeface="Calibri"/>
              </a:rPr>
              <a:t>WKS10  ·  Building a Repeatable AI Pipeline</a:t>
            </a:r>
          </a:p>
        </p:txBody>
      </p:sp>
      <p:sp>
        <p:nvSpPr>
          <p:cNvPr id="26" name="TextBox 25"/>
          <p:cNvSpPr txBox="1"/>
          <p:nvPr/>
        </p:nvSpPr>
        <p:spPr>
          <a:xfrm>
            <a:off x="10725912" y="6400800"/>
            <a:ext cx="914400" cy="274320"/>
          </a:xfrm>
          <a:prstGeom prst="rect">
            <a:avLst/>
          </a:prstGeom>
          <a:noFill/>
        </p:spPr>
        <p:txBody>
          <a:bodyPr wrap="square" lIns="0" tIns="0" rIns="0" bIns="0" anchor="t">
            <a:spAutoFit/>
          </a:bodyPr>
          <a:lstStyle/>
          <a:p>
            <a:pPr algn="r">
              <a:buNone/>
            </a:pPr>
            <a:r>
              <a:rPr sz="1000" b="0" i="0">
                <a:solidFill>
                  <a:srgbClr val="8D939D"/>
                </a:solidFill>
                <a:latin typeface="Calibri"/>
                <a:ea typeface="Calibri"/>
                <a:cs typeface="Calibri"/>
              </a:rPr>
              <a:t>15</a:t>
            </a:r>
          </a:p>
        </p:txBody>
      </p:sp>
    </p:spTree>
    <p:extLst>
      <p:ext uri="{BB962C8B-B14F-4D97-AF65-F5344CB8AC3E}">
        <p14:creationId xmlns:p14="http://schemas.microsoft.com/office/powerpoint/2010/main" val="3228244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1C76F-6C81-D5F4-F243-46E079786BEF}"/>
            </a:ext>
          </a:extLst>
        </p:cNvPr>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buNone/>
            </a:pPr>
            <a:r>
              <a:rPr sz="1100" b="1" i="0">
                <a:solidFill>
                  <a:srgbClr val="A98B3C"/>
                </a:solidFill>
                <a:latin typeface="Calibri"/>
                <a:ea typeface="Calibri"/>
                <a:cs typeface="Calibri"/>
              </a:rPr>
              <a:t>RUN 2  ·  GEMINI 3.7 FLASH</a:t>
            </a:r>
          </a:p>
        </p:txBody>
      </p:sp>
      <p:sp>
        <p:nvSpPr>
          <p:cNvPr id="3" name="TextBox 2"/>
          <p:cNvSpPr txBox="1"/>
          <p:nvPr/>
        </p:nvSpPr>
        <p:spPr>
          <a:xfrm>
            <a:off x="548640" y="731520"/>
            <a:ext cx="11091672" cy="731520"/>
          </a:xfrm>
          <a:prstGeom prst="rect">
            <a:avLst/>
          </a:prstGeom>
          <a:noFill/>
        </p:spPr>
        <p:txBody>
          <a:bodyPr wrap="square" lIns="0" tIns="0" rIns="0" bIns="0" anchor="t">
            <a:spAutoFit/>
          </a:bodyPr>
          <a:lstStyle/>
          <a:p>
            <a:pPr>
              <a:buNone/>
            </a:pPr>
            <a:r>
              <a:rPr sz="3400" b="1" i="0">
                <a:solidFill>
                  <a:srgbClr val="2B2E36"/>
                </a:solidFill>
                <a:latin typeface="Raleway"/>
                <a:ea typeface="Raleway"/>
                <a:cs typeface="Raleway"/>
              </a:rPr>
              <a:t>Run 2: one model call per photograph</a:t>
            </a:r>
          </a:p>
        </p:txBody>
      </p:sp>
      <p:sp>
        <p:nvSpPr>
          <p:cNvPr id="4" name="TextBox 3"/>
          <p:cNvSpPr txBox="1"/>
          <p:nvPr/>
        </p:nvSpPr>
        <p:spPr>
          <a:xfrm>
            <a:off x="548640" y="1463040"/>
            <a:ext cx="11091672" cy="365760"/>
          </a:xfrm>
          <a:prstGeom prst="rect">
            <a:avLst/>
          </a:prstGeom>
          <a:noFill/>
        </p:spPr>
        <p:txBody>
          <a:bodyPr wrap="square" lIns="0" tIns="0" rIns="0" bIns="0" anchor="t">
            <a:spAutoFit/>
          </a:bodyPr>
          <a:lstStyle/>
          <a:p>
            <a:pPr>
              <a:buNone/>
            </a:pPr>
            <a:r>
              <a:rPr sz="1500" b="0" i="0">
                <a:solidFill>
                  <a:srgbClr val="50555F"/>
                </a:solidFill>
                <a:latin typeface="Calibri"/>
                <a:ea typeface="Calibri"/>
                <a:cs typeface="Calibri"/>
              </a:rPr>
              <a:t>Detection, reading and pairing share one look at the whole case, so the model sees which card sits with which rock.</a:t>
            </a:r>
          </a:p>
        </p:txBody>
      </p:sp>
      <p:sp>
        <p:nvSpPr>
          <p:cNvPr id="5" name="Rounded Rectangle 4"/>
          <p:cNvSpPr/>
          <p:nvPr/>
        </p:nvSpPr>
        <p:spPr>
          <a:xfrm>
            <a:off x="3063240" y="2148840"/>
            <a:ext cx="4160520" cy="3931920"/>
          </a:xfrm>
          <a:prstGeom prst="roundRect">
            <a:avLst>
              <a:gd name="adj" fmla="val 1859"/>
            </a:avLst>
          </a:prstGeom>
          <a:solidFill>
            <a:srgbClr val="EEF3F7"/>
          </a:solidFill>
          <a:ln w="12700">
            <a:solidFill>
              <a:srgbClr val="EE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406640" y="2148840"/>
            <a:ext cx="4233672" cy="3931920"/>
          </a:xfrm>
          <a:prstGeom prst="roundRect">
            <a:avLst>
              <a:gd name="adj" fmla="val 1859"/>
            </a:avLst>
          </a:prstGeom>
          <a:solidFill>
            <a:srgbClr val="EEF3F7"/>
          </a:solidFill>
          <a:ln w="12700">
            <a:solidFill>
              <a:srgbClr val="EE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337560" y="2377440"/>
            <a:ext cx="3657600" cy="274320"/>
          </a:xfrm>
          <a:prstGeom prst="rect">
            <a:avLst/>
          </a:prstGeom>
          <a:noFill/>
        </p:spPr>
        <p:txBody>
          <a:bodyPr wrap="square" lIns="0" tIns="0" rIns="0" bIns="0" anchor="t">
            <a:spAutoFit/>
          </a:bodyPr>
          <a:lstStyle/>
          <a:p>
            <a:pPr>
              <a:buNone/>
            </a:pPr>
            <a:r>
              <a:rPr sz="1100" b="1" i="0">
                <a:solidFill>
                  <a:srgbClr val="727885"/>
                </a:solidFill>
                <a:latin typeface="Calibri"/>
                <a:ea typeface="Calibri"/>
                <a:cs typeface="Calibri"/>
              </a:rPr>
              <a:t>SAM PIPELINE</a:t>
            </a:r>
          </a:p>
        </p:txBody>
      </p:sp>
      <p:sp>
        <p:nvSpPr>
          <p:cNvPr id="8" name="TextBox 7"/>
          <p:cNvSpPr txBox="1"/>
          <p:nvPr/>
        </p:nvSpPr>
        <p:spPr>
          <a:xfrm>
            <a:off x="7680960" y="2377440"/>
            <a:ext cx="3657600" cy="274320"/>
          </a:xfrm>
          <a:prstGeom prst="rect">
            <a:avLst/>
          </a:prstGeom>
          <a:noFill/>
        </p:spPr>
        <p:txBody>
          <a:bodyPr wrap="square" lIns="0" tIns="0" rIns="0" bIns="0" anchor="t">
            <a:spAutoFit/>
          </a:bodyPr>
          <a:lstStyle/>
          <a:p>
            <a:pPr>
              <a:buNone/>
            </a:pPr>
            <a:r>
              <a:rPr sz="1100" b="1" i="0">
                <a:solidFill>
                  <a:srgbClr val="5F8FAF"/>
                </a:solidFill>
                <a:latin typeface="Calibri"/>
                <a:ea typeface="Calibri"/>
                <a:cs typeface="Calibri"/>
              </a:rPr>
              <a:t>GEMINI PIPELINE</a:t>
            </a:r>
          </a:p>
        </p:txBody>
      </p:sp>
      <p:sp>
        <p:nvSpPr>
          <p:cNvPr id="9" name="TextBox 8"/>
          <p:cNvSpPr txBox="1"/>
          <p:nvPr/>
        </p:nvSpPr>
        <p:spPr>
          <a:xfrm>
            <a:off x="548640" y="2761488"/>
            <a:ext cx="2377440" cy="365760"/>
          </a:xfrm>
          <a:prstGeom prst="rect">
            <a:avLst/>
          </a:prstGeom>
          <a:noFill/>
        </p:spPr>
        <p:txBody>
          <a:bodyPr wrap="square" lIns="0" tIns="0" rIns="0" bIns="0" anchor="t">
            <a:spAutoFit/>
          </a:bodyPr>
          <a:lstStyle/>
          <a:p>
            <a:pPr>
              <a:buNone/>
            </a:pPr>
            <a:r>
              <a:rPr sz="1350" b="1" i="0">
                <a:solidFill>
                  <a:srgbClr val="2B2E36"/>
                </a:solidFill>
                <a:latin typeface="Calibri"/>
                <a:ea typeface="Calibri"/>
                <a:cs typeface="Calibri"/>
              </a:rPr>
              <a:t>Finds specimens</a:t>
            </a:r>
          </a:p>
        </p:txBody>
      </p:sp>
      <p:sp>
        <p:nvSpPr>
          <p:cNvPr id="10" name="TextBox 9"/>
          <p:cNvSpPr txBox="1"/>
          <p:nvPr/>
        </p:nvSpPr>
        <p:spPr>
          <a:xfrm>
            <a:off x="3337560" y="2761488"/>
            <a:ext cx="3749039" cy="365760"/>
          </a:xfrm>
          <a:prstGeom prst="rect">
            <a:avLst/>
          </a:prstGeom>
          <a:noFill/>
        </p:spPr>
        <p:txBody>
          <a:bodyPr wrap="square" lIns="0" tIns="0" rIns="0" bIns="0" anchor="t">
            <a:spAutoFit/>
          </a:bodyPr>
          <a:lstStyle/>
          <a:p>
            <a:pPr>
              <a:buNone/>
            </a:pPr>
            <a:r>
              <a:rPr sz="1350" b="0" i="0">
                <a:solidFill>
                  <a:srgbClr val="50555F"/>
                </a:solidFill>
                <a:latin typeface="Calibri"/>
                <a:ea typeface="Calibri"/>
                <a:cs typeface="Calibri"/>
              </a:rPr>
              <a:t>Masks, backdrop model, stitching</a:t>
            </a:r>
          </a:p>
        </p:txBody>
      </p:sp>
      <p:sp>
        <p:nvSpPr>
          <p:cNvPr id="11" name="TextBox 10"/>
          <p:cNvSpPr txBox="1"/>
          <p:nvPr/>
        </p:nvSpPr>
        <p:spPr>
          <a:xfrm>
            <a:off x="7680960" y="2761488"/>
            <a:ext cx="3840480" cy="365760"/>
          </a:xfrm>
          <a:prstGeom prst="rect">
            <a:avLst/>
          </a:prstGeom>
          <a:noFill/>
        </p:spPr>
        <p:txBody>
          <a:bodyPr wrap="square" lIns="0" tIns="0" rIns="0" bIns="0" anchor="t">
            <a:spAutoFit/>
          </a:bodyPr>
          <a:lstStyle/>
          <a:p>
            <a:pPr>
              <a:buNone/>
            </a:pPr>
            <a:r>
              <a:rPr sz="1350" b="0" i="0">
                <a:solidFill>
                  <a:srgbClr val="2B2E36"/>
                </a:solidFill>
                <a:latin typeface="Calibri"/>
                <a:ea typeface="Calibri"/>
                <a:cs typeface="Calibri"/>
              </a:rPr>
              <a:t>One prompt returns boxes</a:t>
            </a:r>
          </a:p>
        </p:txBody>
      </p:sp>
      <p:sp>
        <p:nvSpPr>
          <p:cNvPr id="12" name="TextBox 11"/>
          <p:cNvSpPr txBox="1"/>
          <p:nvPr/>
        </p:nvSpPr>
        <p:spPr>
          <a:xfrm>
            <a:off x="548640" y="3218688"/>
            <a:ext cx="2377440" cy="365760"/>
          </a:xfrm>
          <a:prstGeom prst="rect">
            <a:avLst/>
          </a:prstGeom>
          <a:noFill/>
        </p:spPr>
        <p:txBody>
          <a:bodyPr wrap="square" lIns="0" tIns="0" rIns="0" bIns="0" anchor="t">
            <a:spAutoFit/>
          </a:bodyPr>
          <a:lstStyle/>
          <a:p>
            <a:pPr>
              <a:buNone/>
            </a:pPr>
            <a:r>
              <a:rPr sz="1350" b="1" i="0">
                <a:solidFill>
                  <a:srgbClr val="2B2E36"/>
                </a:solidFill>
                <a:latin typeface="Calibri"/>
                <a:ea typeface="Calibri"/>
                <a:cs typeface="Calibri"/>
              </a:rPr>
              <a:t>Finds labels</a:t>
            </a:r>
          </a:p>
        </p:txBody>
      </p:sp>
      <p:sp>
        <p:nvSpPr>
          <p:cNvPr id="13" name="TextBox 12"/>
          <p:cNvSpPr txBox="1"/>
          <p:nvPr/>
        </p:nvSpPr>
        <p:spPr>
          <a:xfrm>
            <a:off x="3337560" y="3218688"/>
            <a:ext cx="3749039" cy="365760"/>
          </a:xfrm>
          <a:prstGeom prst="rect">
            <a:avLst/>
          </a:prstGeom>
          <a:noFill/>
        </p:spPr>
        <p:txBody>
          <a:bodyPr wrap="square" lIns="0" tIns="0" rIns="0" bIns="0" anchor="t">
            <a:spAutoFit/>
          </a:bodyPr>
          <a:lstStyle/>
          <a:p>
            <a:pPr>
              <a:buNone/>
            </a:pPr>
            <a:r>
              <a:rPr sz="1350" b="0" i="0">
                <a:solidFill>
                  <a:srgbClr val="50555F"/>
                </a:solidFill>
                <a:latin typeface="Calibri"/>
                <a:ea typeface="Calibri"/>
                <a:cs typeface="Calibri"/>
              </a:rPr>
              <a:t>Print-texture detector</a:t>
            </a:r>
          </a:p>
        </p:txBody>
      </p:sp>
      <p:sp>
        <p:nvSpPr>
          <p:cNvPr id="14" name="TextBox 13"/>
          <p:cNvSpPr txBox="1"/>
          <p:nvPr/>
        </p:nvSpPr>
        <p:spPr>
          <a:xfrm>
            <a:off x="7680960" y="3218688"/>
            <a:ext cx="3840480" cy="365760"/>
          </a:xfrm>
          <a:prstGeom prst="rect">
            <a:avLst/>
          </a:prstGeom>
          <a:noFill/>
        </p:spPr>
        <p:txBody>
          <a:bodyPr wrap="square" lIns="0" tIns="0" rIns="0" bIns="0" anchor="t">
            <a:spAutoFit/>
          </a:bodyPr>
          <a:lstStyle/>
          <a:p>
            <a:pPr>
              <a:buNone/>
            </a:pPr>
            <a:r>
              <a:rPr sz="1350" b="0" i="0">
                <a:solidFill>
                  <a:srgbClr val="2B2E36"/>
                </a:solidFill>
                <a:latin typeface="Calibri"/>
                <a:ea typeface="Calibri"/>
                <a:cs typeface="Calibri"/>
              </a:rPr>
              <a:t>The same prompt</a:t>
            </a:r>
          </a:p>
        </p:txBody>
      </p:sp>
      <p:sp>
        <p:nvSpPr>
          <p:cNvPr id="15" name="TextBox 14"/>
          <p:cNvSpPr txBox="1"/>
          <p:nvPr/>
        </p:nvSpPr>
        <p:spPr>
          <a:xfrm>
            <a:off x="548640" y="3675887"/>
            <a:ext cx="2377440" cy="365760"/>
          </a:xfrm>
          <a:prstGeom prst="rect">
            <a:avLst/>
          </a:prstGeom>
          <a:noFill/>
        </p:spPr>
        <p:txBody>
          <a:bodyPr wrap="square" lIns="0" tIns="0" rIns="0" bIns="0" anchor="t">
            <a:spAutoFit/>
          </a:bodyPr>
          <a:lstStyle/>
          <a:p>
            <a:pPr>
              <a:buNone/>
            </a:pPr>
            <a:r>
              <a:rPr sz="1350" b="1" i="0">
                <a:solidFill>
                  <a:srgbClr val="2B2E36"/>
                </a:solidFill>
                <a:latin typeface="Calibri"/>
                <a:ea typeface="Calibri"/>
                <a:cs typeface="Calibri"/>
              </a:rPr>
              <a:t>Transcribes</a:t>
            </a:r>
          </a:p>
        </p:txBody>
      </p:sp>
      <p:sp>
        <p:nvSpPr>
          <p:cNvPr id="16" name="TextBox 15"/>
          <p:cNvSpPr txBox="1"/>
          <p:nvPr/>
        </p:nvSpPr>
        <p:spPr>
          <a:xfrm>
            <a:off x="3337560" y="3675887"/>
            <a:ext cx="3749039" cy="365760"/>
          </a:xfrm>
          <a:prstGeom prst="rect">
            <a:avLst/>
          </a:prstGeom>
          <a:noFill/>
        </p:spPr>
        <p:txBody>
          <a:bodyPr wrap="square" lIns="0" tIns="0" rIns="0" bIns="0" anchor="t">
            <a:spAutoFit/>
          </a:bodyPr>
          <a:lstStyle/>
          <a:p>
            <a:pPr>
              <a:buNone/>
            </a:pPr>
            <a:r>
              <a:rPr sz="1350" b="0" i="0">
                <a:solidFill>
                  <a:srgbClr val="50555F"/>
                </a:solidFill>
                <a:latin typeface="Calibri"/>
                <a:ea typeface="Calibri"/>
                <a:cs typeface="Calibri"/>
              </a:rPr>
              <a:t>PP-OCRv3</a:t>
            </a:r>
          </a:p>
        </p:txBody>
      </p:sp>
      <p:sp>
        <p:nvSpPr>
          <p:cNvPr id="17" name="TextBox 16"/>
          <p:cNvSpPr txBox="1"/>
          <p:nvPr/>
        </p:nvSpPr>
        <p:spPr>
          <a:xfrm>
            <a:off x="7680960" y="3675887"/>
            <a:ext cx="3840480" cy="365760"/>
          </a:xfrm>
          <a:prstGeom prst="rect">
            <a:avLst/>
          </a:prstGeom>
          <a:noFill/>
        </p:spPr>
        <p:txBody>
          <a:bodyPr wrap="square" lIns="0" tIns="0" rIns="0" bIns="0" anchor="t">
            <a:spAutoFit/>
          </a:bodyPr>
          <a:lstStyle/>
          <a:p>
            <a:pPr>
              <a:buNone/>
            </a:pPr>
            <a:r>
              <a:rPr sz="1350" b="0" i="0">
                <a:solidFill>
                  <a:srgbClr val="2B2E36"/>
                </a:solidFill>
                <a:latin typeface="Calibri"/>
                <a:ea typeface="Calibri"/>
                <a:cs typeface="Calibri"/>
              </a:rPr>
              <a:t>Same prompt, plus a translation</a:t>
            </a:r>
          </a:p>
        </p:txBody>
      </p:sp>
      <p:sp>
        <p:nvSpPr>
          <p:cNvPr id="18" name="TextBox 17"/>
          <p:cNvSpPr txBox="1"/>
          <p:nvPr/>
        </p:nvSpPr>
        <p:spPr>
          <a:xfrm>
            <a:off x="548640" y="4133087"/>
            <a:ext cx="2377440" cy="365760"/>
          </a:xfrm>
          <a:prstGeom prst="rect">
            <a:avLst/>
          </a:prstGeom>
          <a:noFill/>
        </p:spPr>
        <p:txBody>
          <a:bodyPr wrap="square" lIns="0" tIns="0" rIns="0" bIns="0" anchor="t">
            <a:spAutoFit/>
          </a:bodyPr>
          <a:lstStyle/>
          <a:p>
            <a:pPr>
              <a:buNone/>
            </a:pPr>
            <a:r>
              <a:rPr sz="1350" b="1" i="0">
                <a:solidFill>
                  <a:srgbClr val="2B2E36"/>
                </a:solidFill>
                <a:latin typeface="Calibri"/>
                <a:ea typeface="Calibri"/>
                <a:cs typeface="Calibri"/>
              </a:rPr>
              <a:t>Pairs card and rock</a:t>
            </a:r>
          </a:p>
        </p:txBody>
      </p:sp>
      <p:sp>
        <p:nvSpPr>
          <p:cNvPr id="19" name="TextBox 18"/>
          <p:cNvSpPr txBox="1"/>
          <p:nvPr/>
        </p:nvSpPr>
        <p:spPr>
          <a:xfrm>
            <a:off x="3337560" y="4133087"/>
            <a:ext cx="3749039" cy="365760"/>
          </a:xfrm>
          <a:prstGeom prst="rect">
            <a:avLst/>
          </a:prstGeom>
          <a:noFill/>
        </p:spPr>
        <p:txBody>
          <a:bodyPr wrap="square" lIns="0" tIns="0" rIns="0" bIns="0" anchor="t">
            <a:spAutoFit/>
          </a:bodyPr>
          <a:lstStyle/>
          <a:p>
            <a:pPr>
              <a:buNone/>
            </a:pPr>
            <a:r>
              <a:rPr sz="1350" b="0" i="0">
                <a:solidFill>
                  <a:srgbClr val="50555F"/>
                </a:solidFill>
                <a:latin typeface="Calibri"/>
                <a:ea typeface="Calibri"/>
                <a:cs typeface="Calibri"/>
              </a:rPr>
              <a:t>Distance × placement cost</a:t>
            </a:r>
          </a:p>
        </p:txBody>
      </p:sp>
      <p:sp>
        <p:nvSpPr>
          <p:cNvPr id="20" name="TextBox 19"/>
          <p:cNvSpPr txBox="1"/>
          <p:nvPr/>
        </p:nvSpPr>
        <p:spPr>
          <a:xfrm>
            <a:off x="7680960" y="4133087"/>
            <a:ext cx="3840480" cy="365760"/>
          </a:xfrm>
          <a:prstGeom prst="rect">
            <a:avLst/>
          </a:prstGeom>
          <a:noFill/>
        </p:spPr>
        <p:txBody>
          <a:bodyPr wrap="square" lIns="0" tIns="0" rIns="0" bIns="0" anchor="t">
            <a:spAutoFit/>
          </a:bodyPr>
          <a:lstStyle/>
          <a:p>
            <a:pPr>
              <a:buNone/>
            </a:pPr>
            <a:r>
              <a:rPr sz="1350" b="0" i="0">
                <a:solidFill>
                  <a:srgbClr val="2B2E36"/>
                </a:solidFill>
                <a:latin typeface="Calibri"/>
                <a:ea typeface="Calibri"/>
                <a:cs typeface="Calibri"/>
              </a:rPr>
              <a:t>Same prompt, with its reasoning</a:t>
            </a:r>
          </a:p>
        </p:txBody>
      </p:sp>
      <p:sp>
        <p:nvSpPr>
          <p:cNvPr id="21" name="TextBox 20"/>
          <p:cNvSpPr txBox="1"/>
          <p:nvPr/>
        </p:nvSpPr>
        <p:spPr>
          <a:xfrm>
            <a:off x="548640" y="4590288"/>
            <a:ext cx="2377440" cy="365760"/>
          </a:xfrm>
          <a:prstGeom prst="rect">
            <a:avLst/>
          </a:prstGeom>
          <a:noFill/>
        </p:spPr>
        <p:txBody>
          <a:bodyPr wrap="square" lIns="0" tIns="0" rIns="0" bIns="0" anchor="t">
            <a:spAutoFit/>
          </a:bodyPr>
          <a:lstStyle/>
          <a:p>
            <a:pPr>
              <a:buNone/>
            </a:pPr>
            <a:r>
              <a:rPr sz="1350" b="1" i="0">
                <a:solidFill>
                  <a:srgbClr val="2B2E36"/>
                </a:solidFill>
                <a:latin typeface="Calibri"/>
                <a:ea typeface="Calibri"/>
                <a:cs typeface="Calibri"/>
              </a:rPr>
              <a:t>Names the mineral</a:t>
            </a:r>
          </a:p>
        </p:txBody>
      </p:sp>
      <p:sp>
        <p:nvSpPr>
          <p:cNvPr id="22" name="TextBox 21"/>
          <p:cNvSpPr txBox="1"/>
          <p:nvPr/>
        </p:nvSpPr>
        <p:spPr>
          <a:xfrm>
            <a:off x="3337560" y="4590288"/>
            <a:ext cx="3749039" cy="365760"/>
          </a:xfrm>
          <a:prstGeom prst="rect">
            <a:avLst/>
          </a:prstGeom>
          <a:noFill/>
        </p:spPr>
        <p:txBody>
          <a:bodyPr wrap="square" lIns="0" tIns="0" rIns="0" bIns="0" anchor="t">
            <a:spAutoFit/>
          </a:bodyPr>
          <a:lstStyle/>
          <a:p>
            <a:pPr>
              <a:buNone/>
            </a:pPr>
            <a:r>
              <a:rPr sz="1350" b="0" i="0">
                <a:solidFill>
                  <a:srgbClr val="50555F"/>
                </a:solidFill>
                <a:latin typeface="Calibri"/>
                <a:ea typeface="Calibri"/>
                <a:cs typeface="Calibri"/>
              </a:rPr>
              <a:t>Not attempted</a:t>
            </a:r>
          </a:p>
        </p:txBody>
      </p:sp>
      <p:sp>
        <p:nvSpPr>
          <p:cNvPr id="23" name="TextBox 22"/>
          <p:cNvSpPr txBox="1"/>
          <p:nvPr/>
        </p:nvSpPr>
        <p:spPr>
          <a:xfrm>
            <a:off x="7680960" y="4590288"/>
            <a:ext cx="3840480" cy="365760"/>
          </a:xfrm>
          <a:prstGeom prst="rect">
            <a:avLst/>
          </a:prstGeom>
          <a:noFill/>
        </p:spPr>
        <p:txBody>
          <a:bodyPr wrap="square" lIns="0" tIns="0" rIns="0" bIns="0" anchor="t">
            <a:spAutoFit/>
          </a:bodyPr>
          <a:lstStyle/>
          <a:p>
            <a:pPr>
              <a:buNone/>
            </a:pPr>
            <a:r>
              <a:rPr sz="1350" b="0" i="0">
                <a:solidFill>
                  <a:srgbClr val="2B2E36"/>
                </a:solidFill>
                <a:latin typeface="Calibri"/>
                <a:ea typeface="Calibri"/>
                <a:cs typeface="Calibri"/>
              </a:rPr>
              <a:t>Read off the label, linked to Wikidata</a:t>
            </a:r>
          </a:p>
        </p:txBody>
      </p:sp>
      <p:sp>
        <p:nvSpPr>
          <p:cNvPr id="24" name="TextBox 23"/>
          <p:cNvSpPr txBox="1"/>
          <p:nvPr/>
        </p:nvSpPr>
        <p:spPr>
          <a:xfrm>
            <a:off x="548640" y="5047488"/>
            <a:ext cx="2377440" cy="365760"/>
          </a:xfrm>
          <a:prstGeom prst="rect">
            <a:avLst/>
          </a:prstGeom>
          <a:noFill/>
        </p:spPr>
        <p:txBody>
          <a:bodyPr wrap="square" lIns="0" tIns="0" rIns="0" bIns="0" anchor="t">
            <a:spAutoFit/>
          </a:bodyPr>
          <a:lstStyle/>
          <a:p>
            <a:pPr>
              <a:buNone/>
            </a:pPr>
            <a:r>
              <a:rPr sz="1350" b="1" i="0">
                <a:solidFill>
                  <a:srgbClr val="2B2E36"/>
                </a:solidFill>
                <a:latin typeface="Calibri"/>
                <a:ea typeface="Calibri"/>
                <a:cs typeface="Calibri"/>
              </a:rPr>
              <a:t>Fixing a mistake</a:t>
            </a:r>
          </a:p>
        </p:txBody>
      </p:sp>
      <p:sp>
        <p:nvSpPr>
          <p:cNvPr id="25" name="TextBox 24"/>
          <p:cNvSpPr txBox="1"/>
          <p:nvPr/>
        </p:nvSpPr>
        <p:spPr>
          <a:xfrm>
            <a:off x="3337560" y="5047488"/>
            <a:ext cx="3749039" cy="365760"/>
          </a:xfrm>
          <a:prstGeom prst="rect">
            <a:avLst/>
          </a:prstGeom>
          <a:noFill/>
        </p:spPr>
        <p:txBody>
          <a:bodyPr wrap="square" lIns="0" tIns="0" rIns="0" bIns="0" anchor="t">
            <a:spAutoFit/>
          </a:bodyPr>
          <a:lstStyle/>
          <a:p>
            <a:pPr>
              <a:buNone/>
            </a:pPr>
            <a:r>
              <a:rPr sz="1350" b="0" i="0">
                <a:solidFill>
                  <a:srgbClr val="50555F"/>
                </a:solidFill>
                <a:latin typeface="Calibri"/>
                <a:ea typeface="Calibri"/>
                <a:cs typeface="Calibri"/>
              </a:rPr>
              <a:t>Re-tune a threshold, re-run</a:t>
            </a:r>
          </a:p>
        </p:txBody>
      </p:sp>
      <p:sp>
        <p:nvSpPr>
          <p:cNvPr id="26" name="TextBox 25"/>
          <p:cNvSpPr txBox="1"/>
          <p:nvPr/>
        </p:nvSpPr>
        <p:spPr>
          <a:xfrm>
            <a:off x="7680960" y="5047488"/>
            <a:ext cx="3840480" cy="365760"/>
          </a:xfrm>
          <a:prstGeom prst="rect">
            <a:avLst/>
          </a:prstGeom>
          <a:noFill/>
        </p:spPr>
        <p:txBody>
          <a:bodyPr wrap="square" lIns="0" tIns="0" rIns="0" bIns="0" anchor="t">
            <a:spAutoFit/>
          </a:bodyPr>
          <a:lstStyle/>
          <a:p>
            <a:pPr>
              <a:buNone/>
            </a:pPr>
            <a:r>
              <a:rPr sz="1350" b="0" i="0">
                <a:solidFill>
                  <a:srgbClr val="2B2E36"/>
                </a:solidFill>
                <a:latin typeface="Calibri"/>
                <a:ea typeface="Calibri"/>
                <a:cs typeface="Calibri"/>
              </a:rPr>
              <a:t>Correct it in a review screen</a:t>
            </a:r>
          </a:p>
        </p:txBody>
      </p:sp>
      <p:sp>
        <p:nvSpPr>
          <p:cNvPr id="27" name="TextBox 26"/>
          <p:cNvSpPr txBox="1"/>
          <p:nvPr/>
        </p:nvSpPr>
        <p:spPr>
          <a:xfrm>
            <a:off x="548640" y="5504688"/>
            <a:ext cx="2377440" cy="365760"/>
          </a:xfrm>
          <a:prstGeom prst="rect">
            <a:avLst/>
          </a:prstGeom>
          <a:noFill/>
        </p:spPr>
        <p:txBody>
          <a:bodyPr wrap="square" lIns="0" tIns="0" rIns="0" bIns="0" anchor="t">
            <a:spAutoFit/>
          </a:bodyPr>
          <a:lstStyle/>
          <a:p>
            <a:pPr>
              <a:buNone/>
            </a:pPr>
            <a:r>
              <a:rPr sz="1350" b="1" i="0">
                <a:solidFill>
                  <a:srgbClr val="2B2E36"/>
                </a:solidFill>
                <a:latin typeface="Calibri"/>
                <a:ea typeface="Calibri"/>
                <a:cs typeface="Calibri"/>
              </a:rPr>
              <a:t>Time and cost</a:t>
            </a:r>
          </a:p>
        </p:txBody>
      </p:sp>
      <p:sp>
        <p:nvSpPr>
          <p:cNvPr id="28" name="TextBox 27"/>
          <p:cNvSpPr txBox="1"/>
          <p:nvPr/>
        </p:nvSpPr>
        <p:spPr>
          <a:xfrm>
            <a:off x="3337560" y="5504688"/>
            <a:ext cx="3749039" cy="365760"/>
          </a:xfrm>
          <a:prstGeom prst="rect">
            <a:avLst/>
          </a:prstGeom>
          <a:noFill/>
        </p:spPr>
        <p:txBody>
          <a:bodyPr wrap="square" lIns="0" tIns="0" rIns="0" bIns="0" anchor="t">
            <a:spAutoFit/>
          </a:bodyPr>
          <a:lstStyle/>
          <a:p>
            <a:pPr>
              <a:buNone/>
            </a:pPr>
            <a:r>
              <a:rPr sz="1350" b="0" i="0">
                <a:solidFill>
                  <a:srgbClr val="50555F"/>
                </a:solidFill>
                <a:latin typeface="Calibri"/>
                <a:ea typeface="Calibri"/>
                <a:cs typeface="Calibri"/>
              </a:rPr>
              <a:t>18–172 s, CPU, free</a:t>
            </a:r>
          </a:p>
        </p:txBody>
      </p:sp>
      <p:sp>
        <p:nvSpPr>
          <p:cNvPr id="29" name="TextBox 28"/>
          <p:cNvSpPr txBox="1"/>
          <p:nvPr/>
        </p:nvSpPr>
        <p:spPr>
          <a:xfrm>
            <a:off x="7680960" y="5504688"/>
            <a:ext cx="3840480" cy="365760"/>
          </a:xfrm>
          <a:prstGeom prst="rect">
            <a:avLst/>
          </a:prstGeom>
          <a:noFill/>
        </p:spPr>
        <p:txBody>
          <a:bodyPr wrap="square" lIns="0" tIns="0" rIns="0" bIns="0" anchor="t">
            <a:spAutoFit/>
          </a:bodyPr>
          <a:lstStyle/>
          <a:p>
            <a:pPr>
              <a:buNone/>
            </a:pPr>
            <a:r>
              <a:rPr sz="1350" b="0" i="0">
                <a:solidFill>
                  <a:srgbClr val="2B2E36"/>
                </a:solidFill>
                <a:latin typeface="Calibri"/>
                <a:ea typeface="Calibri"/>
                <a:cs typeface="Calibri"/>
              </a:rPr>
              <a:t>15–65 s, under $0.05 a photo</a:t>
            </a:r>
          </a:p>
        </p:txBody>
      </p:sp>
      <p:sp>
        <p:nvSpPr>
          <p:cNvPr id="30" name="TextBox 29"/>
          <p:cNvSpPr txBox="1"/>
          <p:nvPr/>
        </p:nvSpPr>
        <p:spPr>
          <a:xfrm>
            <a:off x="548640" y="6400800"/>
            <a:ext cx="7315200" cy="274320"/>
          </a:xfrm>
          <a:prstGeom prst="rect">
            <a:avLst/>
          </a:prstGeom>
          <a:noFill/>
        </p:spPr>
        <p:txBody>
          <a:bodyPr wrap="square" lIns="0" tIns="0" rIns="0" bIns="0" anchor="t">
            <a:spAutoFit/>
          </a:bodyPr>
          <a:lstStyle/>
          <a:p>
            <a:pPr>
              <a:buNone/>
            </a:pPr>
            <a:r>
              <a:rPr sz="1000" b="0" i="0">
                <a:solidFill>
                  <a:srgbClr val="8D939D"/>
                </a:solidFill>
                <a:latin typeface="Calibri"/>
                <a:ea typeface="Calibri"/>
                <a:cs typeface="Calibri"/>
              </a:rPr>
              <a:t>WKS10  ·  Building a Repeatable AI Pipeline</a:t>
            </a:r>
          </a:p>
        </p:txBody>
      </p:sp>
      <p:sp>
        <p:nvSpPr>
          <p:cNvPr id="31" name="TextBox 30"/>
          <p:cNvSpPr txBox="1"/>
          <p:nvPr/>
        </p:nvSpPr>
        <p:spPr>
          <a:xfrm>
            <a:off x="10725912" y="6400800"/>
            <a:ext cx="914400" cy="274320"/>
          </a:xfrm>
          <a:prstGeom prst="rect">
            <a:avLst/>
          </a:prstGeom>
          <a:noFill/>
        </p:spPr>
        <p:txBody>
          <a:bodyPr wrap="square" lIns="0" tIns="0" rIns="0" bIns="0" anchor="t">
            <a:spAutoFit/>
          </a:bodyPr>
          <a:lstStyle/>
          <a:p>
            <a:pPr algn="r">
              <a:buNone/>
            </a:pPr>
            <a:r>
              <a:rPr sz="1000" b="0" i="0">
                <a:solidFill>
                  <a:srgbClr val="8D939D"/>
                </a:solidFill>
                <a:latin typeface="Calibri"/>
                <a:ea typeface="Calibri"/>
                <a:cs typeface="Calibri"/>
              </a:rPr>
              <a:t>16</a:t>
            </a:r>
          </a:p>
        </p:txBody>
      </p:sp>
    </p:spTree>
    <p:extLst>
      <p:ext uri="{BB962C8B-B14F-4D97-AF65-F5344CB8AC3E}">
        <p14:creationId xmlns:p14="http://schemas.microsoft.com/office/powerpoint/2010/main" val="28759678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B2E36"/>
        </a:solidFill>
        <a:effectLst/>
      </p:bgPr>
    </p:bg>
    <p:spTree>
      <p:nvGrpSpPr>
        <p:cNvPr id="1" name="">
          <a:extLst>
            <a:ext uri="{FF2B5EF4-FFF2-40B4-BE49-F238E27FC236}">
              <a16:creationId xmlns:a16="http://schemas.microsoft.com/office/drawing/2014/main" id="{100C9554-0907-C319-9961-27D6396222FF}"/>
            </a:ext>
          </a:extLst>
        </p:cNvPr>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buNone/>
            </a:pPr>
            <a:r>
              <a:rPr sz="1100" b="1" i="0">
                <a:solidFill>
                  <a:srgbClr val="DCC37A"/>
                </a:solidFill>
                <a:latin typeface="Calibri"/>
                <a:ea typeface="Calibri"/>
                <a:cs typeface="Calibri"/>
              </a:rPr>
              <a:t>RUN 2  ·  RESULTS</a:t>
            </a:r>
          </a:p>
        </p:txBody>
      </p:sp>
      <p:sp>
        <p:nvSpPr>
          <p:cNvPr id="3" name="TextBox 2"/>
          <p:cNvSpPr txBox="1"/>
          <p:nvPr/>
        </p:nvSpPr>
        <p:spPr>
          <a:xfrm>
            <a:off x="548640" y="731520"/>
            <a:ext cx="11091672" cy="731520"/>
          </a:xfrm>
          <a:prstGeom prst="rect">
            <a:avLst/>
          </a:prstGeom>
          <a:noFill/>
        </p:spPr>
        <p:txBody>
          <a:bodyPr wrap="square" lIns="0" tIns="0" rIns="0" bIns="0" anchor="t">
            <a:spAutoFit/>
          </a:bodyPr>
          <a:lstStyle/>
          <a:p>
            <a:pPr>
              <a:buNone/>
            </a:pPr>
            <a:r>
              <a:rPr sz="3400" b="1" i="0">
                <a:solidFill>
                  <a:srgbClr val="FFFFFF"/>
                </a:solidFill>
                <a:latin typeface="Raleway"/>
                <a:ea typeface="Raleway"/>
                <a:cs typeface="Raleway"/>
              </a:rPr>
              <a:t>The model reads. The code guarantees.</a:t>
            </a:r>
          </a:p>
        </p:txBody>
      </p:sp>
      <p:sp>
        <p:nvSpPr>
          <p:cNvPr id="4" name="TextBox 3"/>
          <p:cNvSpPr txBox="1"/>
          <p:nvPr/>
        </p:nvSpPr>
        <p:spPr>
          <a:xfrm>
            <a:off x="548640" y="1645920"/>
            <a:ext cx="3566160" cy="594360"/>
          </a:xfrm>
          <a:prstGeom prst="rect">
            <a:avLst/>
          </a:prstGeom>
          <a:noFill/>
        </p:spPr>
        <p:txBody>
          <a:bodyPr wrap="square" lIns="0" tIns="0" rIns="0" bIns="0" anchor="t">
            <a:spAutoFit/>
          </a:bodyPr>
          <a:lstStyle/>
          <a:p>
            <a:pPr>
              <a:buNone/>
            </a:pPr>
            <a:r>
              <a:rPr sz="3400" b="1" i="0">
                <a:solidFill>
                  <a:srgbClr val="DCC37A"/>
                </a:solidFill>
                <a:latin typeface="Raleway"/>
                <a:ea typeface="Raleway"/>
                <a:cs typeface="Raleway"/>
              </a:rPr>
              <a:t>$0.047 · 65 s</a:t>
            </a:r>
          </a:p>
        </p:txBody>
      </p:sp>
      <p:sp>
        <p:nvSpPr>
          <p:cNvPr id="5" name="TextBox 4"/>
          <p:cNvSpPr txBox="1"/>
          <p:nvPr/>
        </p:nvSpPr>
        <p:spPr>
          <a:xfrm>
            <a:off x="548640" y="2286000"/>
            <a:ext cx="3474720" cy="640080"/>
          </a:xfrm>
          <a:prstGeom prst="rect">
            <a:avLst/>
          </a:prstGeom>
          <a:noFill/>
        </p:spPr>
        <p:txBody>
          <a:bodyPr wrap="square" lIns="0" tIns="0" rIns="0" bIns="0" anchor="t">
            <a:spAutoFit/>
          </a:bodyPr>
          <a:lstStyle/>
          <a:p>
            <a:pPr>
              <a:buNone/>
            </a:pPr>
            <a:r>
              <a:rPr sz="1300" b="0" i="0">
                <a:solidFill>
                  <a:srgbClr val="D4D8DE"/>
                </a:solidFill>
                <a:latin typeface="Calibri"/>
                <a:ea typeface="Calibri"/>
                <a:cs typeface="Calibri"/>
              </a:rPr>
              <a:t>the densest case: 21 specimens, 21 labels, and 15 partial objects set aside</a:t>
            </a:r>
          </a:p>
        </p:txBody>
      </p:sp>
      <p:sp>
        <p:nvSpPr>
          <p:cNvPr id="6" name="TextBox 5"/>
          <p:cNvSpPr txBox="1"/>
          <p:nvPr/>
        </p:nvSpPr>
        <p:spPr>
          <a:xfrm>
            <a:off x="4297679" y="1645920"/>
            <a:ext cx="3566160" cy="594360"/>
          </a:xfrm>
          <a:prstGeom prst="rect">
            <a:avLst/>
          </a:prstGeom>
          <a:noFill/>
        </p:spPr>
        <p:txBody>
          <a:bodyPr wrap="square" lIns="0" tIns="0" rIns="0" bIns="0" anchor="t">
            <a:spAutoFit/>
          </a:bodyPr>
          <a:lstStyle/>
          <a:p>
            <a:pPr>
              <a:buNone/>
            </a:pPr>
            <a:r>
              <a:rPr sz="3400" b="1" i="0">
                <a:solidFill>
                  <a:srgbClr val="DCC37A"/>
                </a:solidFill>
                <a:latin typeface="Raleway"/>
                <a:ea typeface="Raleway"/>
                <a:cs typeface="Raleway"/>
              </a:rPr>
              <a:t>22 of 23</a:t>
            </a:r>
          </a:p>
        </p:txBody>
      </p:sp>
      <p:sp>
        <p:nvSpPr>
          <p:cNvPr id="7" name="TextBox 6"/>
          <p:cNvSpPr txBox="1"/>
          <p:nvPr/>
        </p:nvSpPr>
        <p:spPr>
          <a:xfrm>
            <a:off x="4297679" y="2286000"/>
            <a:ext cx="3474720" cy="640080"/>
          </a:xfrm>
          <a:prstGeom prst="rect">
            <a:avLst/>
          </a:prstGeom>
          <a:noFill/>
        </p:spPr>
        <p:txBody>
          <a:bodyPr wrap="square" lIns="0" tIns="0" rIns="0" bIns="0" anchor="t">
            <a:spAutoFit/>
          </a:bodyPr>
          <a:lstStyle/>
          <a:p>
            <a:pPr>
              <a:buNone/>
            </a:pPr>
            <a:r>
              <a:rPr sz="1300" b="0" i="0">
                <a:solidFill>
                  <a:srgbClr val="D4D8DE"/>
                </a:solidFill>
                <a:latin typeface="Calibri"/>
                <a:ea typeface="Calibri"/>
                <a:cs typeface="Calibri"/>
              </a:rPr>
              <a:t>terms on one case matched in Wikidata; the miss was reported, not guessed</a:t>
            </a:r>
          </a:p>
        </p:txBody>
      </p:sp>
      <p:sp>
        <p:nvSpPr>
          <p:cNvPr id="8" name="TextBox 7"/>
          <p:cNvSpPr txBox="1"/>
          <p:nvPr/>
        </p:nvSpPr>
        <p:spPr>
          <a:xfrm>
            <a:off x="8046719" y="1645920"/>
            <a:ext cx="3566160" cy="594360"/>
          </a:xfrm>
          <a:prstGeom prst="rect">
            <a:avLst/>
          </a:prstGeom>
          <a:noFill/>
        </p:spPr>
        <p:txBody>
          <a:bodyPr wrap="square" lIns="0" tIns="0" rIns="0" bIns="0" anchor="t">
            <a:spAutoFit/>
          </a:bodyPr>
          <a:lstStyle/>
          <a:p>
            <a:pPr>
              <a:buNone/>
            </a:pPr>
            <a:r>
              <a:rPr sz="3400" b="1" i="0">
                <a:solidFill>
                  <a:srgbClr val="DCC37A"/>
                </a:solidFill>
                <a:latin typeface="Raleway"/>
                <a:ea typeface="Raleway"/>
                <a:cs typeface="Raleway"/>
              </a:rPr>
              <a:t>$0.083</a:t>
            </a:r>
          </a:p>
        </p:txBody>
      </p:sp>
      <p:sp>
        <p:nvSpPr>
          <p:cNvPr id="9" name="TextBox 8"/>
          <p:cNvSpPr txBox="1"/>
          <p:nvPr/>
        </p:nvSpPr>
        <p:spPr>
          <a:xfrm>
            <a:off x="8046719" y="2286000"/>
            <a:ext cx="3474720" cy="640080"/>
          </a:xfrm>
          <a:prstGeom prst="rect">
            <a:avLst/>
          </a:prstGeom>
          <a:noFill/>
        </p:spPr>
        <p:txBody>
          <a:bodyPr wrap="square" lIns="0" tIns="0" rIns="0" bIns="0" anchor="t">
            <a:spAutoFit/>
          </a:bodyPr>
          <a:lstStyle/>
          <a:p>
            <a:pPr>
              <a:buNone/>
            </a:pPr>
            <a:r>
              <a:rPr sz="1300" b="0" i="0">
                <a:solidFill>
                  <a:srgbClr val="D4D8DE"/>
                </a:solidFill>
                <a:latin typeface="Calibri"/>
                <a:ea typeface="Calibri"/>
                <a:cs typeface="Calibri"/>
              </a:rPr>
              <a:t>the whole 17-photograph Geneva collection</a:t>
            </a:r>
          </a:p>
        </p:txBody>
      </p:sp>
      <p:sp>
        <p:nvSpPr>
          <p:cNvPr id="10" name="Rounded Rectangle 9"/>
          <p:cNvSpPr/>
          <p:nvPr/>
        </p:nvSpPr>
        <p:spPr>
          <a:xfrm>
            <a:off x="548640" y="3246120"/>
            <a:ext cx="5394960" cy="2194560"/>
          </a:xfrm>
          <a:prstGeom prst="roundRect">
            <a:avLst>
              <a:gd name="adj" fmla="val 1859"/>
            </a:avLst>
          </a:prstGeom>
          <a:solidFill>
            <a:srgbClr val="383C46"/>
          </a:solidFill>
          <a:ln w="12700">
            <a:solidFill>
              <a:srgbClr val="383C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63640" y="3246120"/>
            <a:ext cx="5376672" cy="2194560"/>
          </a:xfrm>
          <a:prstGeom prst="roundRect">
            <a:avLst>
              <a:gd name="adj" fmla="val 1859"/>
            </a:avLst>
          </a:prstGeom>
          <a:solidFill>
            <a:srgbClr val="383C46"/>
          </a:solidFill>
          <a:ln w="12700">
            <a:solidFill>
              <a:srgbClr val="383C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3474720"/>
            <a:ext cx="4754880" cy="274320"/>
          </a:xfrm>
          <a:prstGeom prst="rect">
            <a:avLst/>
          </a:prstGeom>
          <a:noFill/>
        </p:spPr>
        <p:txBody>
          <a:bodyPr wrap="square" lIns="0" tIns="0" rIns="0" bIns="0" anchor="t">
            <a:spAutoFit/>
          </a:bodyPr>
          <a:lstStyle/>
          <a:p>
            <a:pPr>
              <a:buNone/>
            </a:pPr>
            <a:r>
              <a:rPr sz="1100" b="1" i="0">
                <a:solidFill>
                  <a:srgbClr val="9CBFD6"/>
                </a:solidFill>
                <a:latin typeface="Calibri"/>
                <a:ea typeface="Calibri"/>
                <a:cs typeface="Calibri"/>
              </a:rPr>
              <a:t>RULES STATED IN THE PROMPT, ENFORCED IN CODE</a:t>
            </a:r>
          </a:p>
        </p:txBody>
      </p:sp>
      <p:sp>
        <p:nvSpPr>
          <p:cNvPr id="13" name="TextBox 12"/>
          <p:cNvSpPr txBox="1"/>
          <p:nvPr/>
        </p:nvSpPr>
        <p:spPr>
          <a:xfrm>
            <a:off x="914400" y="3840480"/>
            <a:ext cx="4754880" cy="1554480"/>
          </a:xfrm>
          <a:prstGeom prst="rect">
            <a:avLst/>
          </a:prstGeom>
          <a:noFill/>
        </p:spPr>
        <p:txBody>
          <a:bodyPr wrap="square" lIns="0" tIns="0" rIns="0" bIns="0" anchor="t">
            <a:spAutoFit/>
          </a:bodyPr>
          <a:lstStyle/>
          <a:p>
            <a:pPr marL="203200" indent="-203200">
              <a:spcAft>
                <a:spcPts val="600"/>
              </a:spcAft>
              <a:buSzPct val="100000"/>
              <a:buChar char="•"/>
            </a:pPr>
            <a:r>
              <a:rPr sz="1400" b="0" i="0">
                <a:solidFill>
                  <a:srgbClr val="D4D8DE"/>
                </a:solidFill>
                <a:latin typeface="Calibri"/>
                <a:ea typeface="Calibri"/>
                <a:cs typeface="Calibri"/>
              </a:rPr>
              <a:t>Only objects wholly inside the frame are catalogued</a:t>
            </a:r>
          </a:p>
          <a:p>
            <a:pPr marL="203200" indent="-203200">
              <a:spcAft>
                <a:spcPts val="600"/>
              </a:spcAft>
              <a:buSzPct val="100000"/>
              <a:buChar char="•"/>
            </a:pPr>
            <a:r>
              <a:rPr sz="1400" b="0" i="0">
                <a:solidFill>
                  <a:srgbClr val="D4D8DE"/>
                </a:solidFill>
                <a:latin typeface="Calibri"/>
                <a:ea typeface="Calibri"/>
                <a:cs typeface="Calibri"/>
              </a:rPr>
              <a:t>A lone specimen owns every label in the photograph</a:t>
            </a:r>
          </a:p>
          <a:p>
            <a:pPr marL="203200" indent="-203200">
              <a:spcAft>
                <a:spcPts val="600"/>
              </a:spcAft>
              <a:buSzPct val="100000"/>
              <a:buChar char="•"/>
            </a:pPr>
            <a:r>
              <a:rPr sz="1400" b="0" i="0">
                <a:solidFill>
                  <a:srgbClr val="D4D8DE"/>
                </a:solidFill>
                <a:latin typeface="Calibri"/>
                <a:ea typeface="Calibri"/>
                <a:cs typeface="Calibri"/>
              </a:rPr>
              <a:t>A group card links to every specimen and lends its name</a:t>
            </a:r>
          </a:p>
          <a:p>
            <a:pPr marL="203200" indent="-203200">
              <a:spcAft>
                <a:spcPts val="600"/>
              </a:spcAft>
              <a:buSzPct val="100000"/>
              <a:buChar char="•"/>
            </a:pPr>
            <a:r>
              <a:rPr sz="1400" b="0" i="0">
                <a:solidFill>
                  <a:srgbClr val="D4D8DE"/>
                </a:solidFill>
                <a:latin typeface="Calibri"/>
                <a:ea typeface="Calibri"/>
                <a:cs typeface="Calibri"/>
              </a:rPr>
              <a:t>Each rule has its own test</a:t>
            </a:r>
          </a:p>
        </p:txBody>
      </p:sp>
      <p:sp>
        <p:nvSpPr>
          <p:cNvPr id="14" name="TextBox 13"/>
          <p:cNvSpPr txBox="1"/>
          <p:nvPr/>
        </p:nvSpPr>
        <p:spPr>
          <a:xfrm>
            <a:off x="6629400" y="3474720"/>
            <a:ext cx="4754880" cy="274320"/>
          </a:xfrm>
          <a:prstGeom prst="rect">
            <a:avLst/>
          </a:prstGeom>
          <a:noFill/>
        </p:spPr>
        <p:txBody>
          <a:bodyPr wrap="square" lIns="0" tIns="0" rIns="0" bIns="0" anchor="t">
            <a:spAutoFit/>
          </a:bodyPr>
          <a:lstStyle/>
          <a:p>
            <a:pPr>
              <a:buNone/>
            </a:pPr>
            <a:r>
              <a:rPr sz="1100" b="1" i="0">
                <a:solidFill>
                  <a:srgbClr val="DCC37A"/>
                </a:solidFill>
                <a:latin typeface="Calibri"/>
                <a:ea typeface="Calibri"/>
                <a:cs typeface="Calibri"/>
              </a:rPr>
              <a:t>WHAT NEVER COMES FROM THE MODEL</a:t>
            </a:r>
          </a:p>
        </p:txBody>
      </p:sp>
      <p:sp>
        <p:nvSpPr>
          <p:cNvPr id="15" name="TextBox 14"/>
          <p:cNvSpPr txBox="1"/>
          <p:nvPr/>
        </p:nvSpPr>
        <p:spPr>
          <a:xfrm>
            <a:off x="6629400" y="3840480"/>
            <a:ext cx="4663440" cy="1554480"/>
          </a:xfrm>
          <a:prstGeom prst="rect">
            <a:avLst/>
          </a:prstGeom>
          <a:noFill/>
        </p:spPr>
        <p:txBody>
          <a:bodyPr wrap="square" lIns="0" tIns="0" rIns="0" bIns="0" anchor="t">
            <a:spAutoFit/>
          </a:bodyPr>
          <a:lstStyle/>
          <a:p>
            <a:pPr marL="203200" indent="-203200">
              <a:spcAft>
                <a:spcPts val="600"/>
              </a:spcAft>
              <a:buSzPct val="100000"/>
              <a:buChar char="•"/>
            </a:pPr>
            <a:r>
              <a:rPr sz="1400" b="0" i="0">
                <a:solidFill>
                  <a:srgbClr val="D4D8DE"/>
                </a:solidFill>
                <a:latin typeface="Calibri"/>
                <a:ea typeface="Calibri"/>
                <a:cs typeface="Calibri"/>
              </a:rPr>
              <a:t>Wikidata links: only candidates Wikidata returned</a:t>
            </a:r>
          </a:p>
          <a:p>
            <a:pPr marL="203200" indent="-203200">
              <a:spcAft>
                <a:spcPts val="600"/>
              </a:spcAft>
              <a:buSzPct val="100000"/>
              <a:buChar char="•"/>
            </a:pPr>
            <a:r>
              <a:rPr sz="1400" b="0" i="0">
                <a:solidFill>
                  <a:srgbClr val="D4D8DE"/>
                </a:solidFill>
                <a:latin typeface="Calibri"/>
                <a:ea typeface="Calibri"/>
                <a:cs typeface="Calibri"/>
              </a:rPr>
              <a:t>Darwin Core terms: one fixed mapping table</a:t>
            </a:r>
          </a:p>
          <a:p>
            <a:pPr marL="203200" indent="-203200">
              <a:spcAft>
                <a:spcPts val="600"/>
              </a:spcAft>
              <a:buSzPct val="100000"/>
              <a:buChar char="•"/>
            </a:pPr>
            <a:r>
              <a:rPr sz="1400" b="0" i="0">
                <a:solidFill>
                  <a:srgbClr val="D4D8DE"/>
                </a:solidFill>
                <a:latin typeface="Calibri"/>
                <a:ea typeface="Calibri"/>
                <a:cs typeface="Calibri"/>
              </a:rPr>
              <a:t>Record structure: every answer is normalized</a:t>
            </a:r>
          </a:p>
          <a:p>
            <a:pPr marL="203200" indent="-203200">
              <a:spcAft>
                <a:spcPts val="600"/>
              </a:spcAft>
              <a:buSzPct val="100000"/>
              <a:buChar char="•"/>
            </a:pPr>
            <a:r>
              <a:rPr sz="1400" b="0" i="0">
                <a:solidFill>
                  <a:srgbClr val="D4D8DE"/>
                </a:solidFill>
                <a:latin typeface="Calibri"/>
                <a:ea typeface="Calibri"/>
                <a:cs typeface="Calibri"/>
              </a:rPr>
              <a:t>Corrections: saved as new versions, never overwritten</a:t>
            </a:r>
          </a:p>
        </p:txBody>
      </p:sp>
      <p:sp>
        <p:nvSpPr>
          <p:cNvPr id="16" name="TextBox 15"/>
          <p:cNvSpPr txBox="1"/>
          <p:nvPr/>
        </p:nvSpPr>
        <p:spPr>
          <a:xfrm>
            <a:off x="548640" y="5715000"/>
            <a:ext cx="10972800" cy="411480"/>
          </a:xfrm>
          <a:prstGeom prst="rect">
            <a:avLst/>
          </a:prstGeom>
          <a:noFill/>
        </p:spPr>
        <p:txBody>
          <a:bodyPr wrap="square" lIns="0" tIns="0" rIns="0" bIns="0" anchor="t">
            <a:spAutoFit/>
          </a:bodyPr>
          <a:lstStyle/>
          <a:p>
            <a:pPr>
              <a:buNone/>
            </a:pPr>
            <a:r>
              <a:rPr sz="1800" b="0" i="1">
                <a:solidFill>
                  <a:srgbClr val="9CBFD6"/>
                </a:solidFill>
                <a:latin typeface="Raleway"/>
                <a:ea typeface="Raleway"/>
                <a:cs typeface="Raleway"/>
              </a:rPr>
              <a:t>Match the model to the task, then build the checks around it.</a:t>
            </a:r>
          </a:p>
        </p:txBody>
      </p:sp>
      <p:sp>
        <p:nvSpPr>
          <p:cNvPr id="17" name="TextBox 16"/>
          <p:cNvSpPr txBox="1"/>
          <p:nvPr/>
        </p:nvSpPr>
        <p:spPr>
          <a:xfrm>
            <a:off x="548640" y="6400800"/>
            <a:ext cx="7315200" cy="274320"/>
          </a:xfrm>
          <a:prstGeom prst="rect">
            <a:avLst/>
          </a:prstGeom>
          <a:noFill/>
        </p:spPr>
        <p:txBody>
          <a:bodyPr wrap="square" lIns="0" tIns="0" rIns="0" bIns="0" anchor="t">
            <a:spAutoFit/>
          </a:bodyPr>
          <a:lstStyle/>
          <a:p>
            <a:pPr>
              <a:buNone/>
            </a:pPr>
            <a:r>
              <a:rPr sz="1000" b="0" i="0">
                <a:solidFill>
                  <a:srgbClr val="B3B8C2"/>
                </a:solidFill>
                <a:latin typeface="Calibri"/>
                <a:ea typeface="Calibri"/>
                <a:cs typeface="Calibri"/>
              </a:rPr>
              <a:t>WKS10  ·  Building a Repeatable AI Pipeline</a:t>
            </a:r>
          </a:p>
        </p:txBody>
      </p:sp>
      <p:sp>
        <p:nvSpPr>
          <p:cNvPr id="18" name="TextBox 17"/>
          <p:cNvSpPr txBox="1"/>
          <p:nvPr/>
        </p:nvSpPr>
        <p:spPr>
          <a:xfrm>
            <a:off x="10725912" y="6400800"/>
            <a:ext cx="914400" cy="274320"/>
          </a:xfrm>
          <a:prstGeom prst="rect">
            <a:avLst/>
          </a:prstGeom>
          <a:noFill/>
        </p:spPr>
        <p:txBody>
          <a:bodyPr wrap="square" lIns="0" tIns="0" rIns="0" bIns="0" anchor="t">
            <a:spAutoFit/>
          </a:bodyPr>
          <a:lstStyle/>
          <a:p>
            <a:pPr algn="r">
              <a:buNone/>
            </a:pPr>
            <a:r>
              <a:rPr sz="1000" b="0" i="0">
                <a:solidFill>
                  <a:srgbClr val="B3B8C2"/>
                </a:solidFill>
                <a:latin typeface="Calibri"/>
                <a:ea typeface="Calibri"/>
                <a:cs typeface="Calibri"/>
              </a:rPr>
              <a:t>17</a:t>
            </a:r>
          </a:p>
        </p:txBody>
      </p:sp>
    </p:spTree>
    <p:extLst>
      <p:ext uri="{BB962C8B-B14F-4D97-AF65-F5344CB8AC3E}">
        <p14:creationId xmlns:p14="http://schemas.microsoft.com/office/powerpoint/2010/main" val="3949378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A98B3C"/>
                </a:solidFill>
                <a:latin typeface="Calibri" pitchFamily="34" charset="0"/>
                <a:ea typeface="Calibri" pitchFamily="34" charset="-122"/>
                <a:cs typeface="Calibri" pitchFamily="34" charset="-120"/>
              </a:rPr>
              <a:t>USING AI EFFECTIVELY</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B2E36"/>
                </a:solidFill>
                <a:latin typeface="Raleway" pitchFamily="34" charset="0"/>
                <a:ea typeface="Raleway" pitchFamily="34" charset="-122"/>
                <a:cs typeface="Raleway" pitchFamily="34" charset="-120"/>
              </a:rPr>
              <a:t>Rules of thumb</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0555F"/>
                </a:solidFill>
                <a:latin typeface="Calibri" pitchFamily="34" charset="0"/>
                <a:ea typeface="Calibri" pitchFamily="34" charset="-122"/>
                <a:cs typeface="Calibri" pitchFamily="34" charset="-120"/>
              </a:rPr>
              <a:t>What six months of daily use has taught me.</a:t>
            </a:r>
            <a:endParaRPr lang="en-US" sz="1500" dirty="0"/>
          </a:p>
        </p:txBody>
      </p:sp>
      <p:sp>
        <p:nvSpPr>
          <p:cNvPr id="5" name="Shape 3"/>
          <p:cNvSpPr/>
          <p:nvPr/>
        </p:nvSpPr>
        <p:spPr>
          <a:xfrm>
            <a:off x="548640" y="2103120"/>
            <a:ext cx="3520440" cy="1828800"/>
          </a:xfrm>
          <a:prstGeom prst="roundRect">
            <a:avLst>
              <a:gd name="adj" fmla="val 4000"/>
            </a:avLst>
          </a:prstGeom>
          <a:solidFill>
            <a:srgbClr val="EEF3F7"/>
          </a:solidFill>
          <a:ln w="12700">
            <a:solidFill>
              <a:srgbClr val="EEF3F7"/>
            </a:solidFill>
            <a:prstDash val="solid"/>
          </a:ln>
        </p:spPr>
        <p:txBody>
          <a:bodyPr/>
          <a:lstStyle/>
          <a:p>
            <a:endParaRPr lang="en-US"/>
          </a:p>
        </p:txBody>
      </p:sp>
      <p:sp>
        <p:nvSpPr>
          <p:cNvPr id="6" name="Shape 4"/>
          <p:cNvSpPr/>
          <p:nvPr/>
        </p:nvSpPr>
        <p:spPr>
          <a:xfrm>
            <a:off x="822960" y="2377440"/>
            <a:ext cx="502920" cy="502920"/>
          </a:xfrm>
          <a:prstGeom prst="ellipse">
            <a:avLst/>
          </a:prstGeom>
          <a:solidFill>
            <a:srgbClr val="5F8FAF"/>
          </a:solidFill>
          <a:ln w="12700">
            <a:solidFill>
              <a:srgbClr val="5F8FAF"/>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48690" y="2503170"/>
            <a:ext cx="251460" cy="251460"/>
          </a:xfrm>
          <a:prstGeom prst="rect">
            <a:avLst/>
          </a:prstGeom>
        </p:spPr>
      </p:pic>
      <p:sp>
        <p:nvSpPr>
          <p:cNvPr id="8" name="Text 5"/>
          <p:cNvSpPr txBox="1"/>
          <p:nvPr/>
        </p:nvSpPr>
        <p:spPr>
          <a:xfrm>
            <a:off x="1508760" y="2404872"/>
            <a:ext cx="2423160" cy="457200"/>
          </a:xfrm>
          <a:prstGeom prst="rect">
            <a:avLst/>
          </a:prstGeom>
          <a:noFill/>
          <a:ln/>
        </p:spPr>
        <p:txBody>
          <a:bodyPr wrap="square" lIns="0" tIns="0" rIns="0" bIns="0" rtlCol="0" anchor="ctr"/>
          <a:lstStyle/>
          <a:p>
            <a:pPr marL="0" indent="0">
              <a:buNone/>
            </a:pPr>
            <a:r>
              <a:rPr lang="en-US" sz="1550" b="1" dirty="0">
                <a:solidFill>
                  <a:srgbClr val="2B2E36"/>
                </a:solidFill>
                <a:latin typeface="Calibri" pitchFamily="34" charset="0"/>
                <a:ea typeface="Calibri" pitchFamily="34" charset="-122"/>
                <a:cs typeface="Calibri" pitchFamily="34" charset="-120"/>
              </a:rPr>
              <a:t>Hold their hand</a:t>
            </a:r>
            <a:endParaRPr lang="en-US" sz="1550" dirty="0"/>
          </a:p>
        </p:txBody>
      </p:sp>
      <p:sp>
        <p:nvSpPr>
          <p:cNvPr id="9" name="Text 6"/>
          <p:cNvSpPr txBox="1"/>
          <p:nvPr/>
        </p:nvSpPr>
        <p:spPr>
          <a:xfrm>
            <a:off x="822960" y="3017520"/>
            <a:ext cx="3017520" cy="86868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AI models are dumb and computers are dumb. Give the model every task, note and guideline.</a:t>
            </a:r>
            <a:endParaRPr lang="en-US" sz="1250" dirty="0"/>
          </a:p>
        </p:txBody>
      </p:sp>
      <p:sp>
        <p:nvSpPr>
          <p:cNvPr id="10" name="Shape 7"/>
          <p:cNvSpPr/>
          <p:nvPr/>
        </p:nvSpPr>
        <p:spPr>
          <a:xfrm>
            <a:off x="4297680" y="2103120"/>
            <a:ext cx="3520440" cy="1828800"/>
          </a:xfrm>
          <a:prstGeom prst="roundRect">
            <a:avLst>
              <a:gd name="adj" fmla="val 4000"/>
            </a:avLst>
          </a:prstGeom>
          <a:solidFill>
            <a:srgbClr val="EEF3F7"/>
          </a:solidFill>
          <a:ln w="12700">
            <a:solidFill>
              <a:srgbClr val="EEF3F7"/>
            </a:solidFill>
            <a:prstDash val="solid"/>
          </a:ln>
        </p:spPr>
        <p:txBody>
          <a:bodyPr/>
          <a:lstStyle/>
          <a:p>
            <a:endParaRPr lang="en-US"/>
          </a:p>
        </p:txBody>
      </p:sp>
      <p:sp>
        <p:nvSpPr>
          <p:cNvPr id="11" name="Shape 8"/>
          <p:cNvSpPr/>
          <p:nvPr/>
        </p:nvSpPr>
        <p:spPr>
          <a:xfrm>
            <a:off x="4572000" y="2377440"/>
            <a:ext cx="502920" cy="502920"/>
          </a:xfrm>
          <a:prstGeom prst="ellipse">
            <a:avLst/>
          </a:prstGeom>
          <a:solidFill>
            <a:srgbClr val="A98B3C"/>
          </a:solidFill>
          <a:ln w="12700">
            <a:solidFill>
              <a:srgbClr val="A98B3C"/>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97730" y="2503170"/>
            <a:ext cx="251460" cy="251460"/>
          </a:xfrm>
          <a:prstGeom prst="rect">
            <a:avLst/>
          </a:prstGeom>
        </p:spPr>
      </p:pic>
      <p:sp>
        <p:nvSpPr>
          <p:cNvPr id="13" name="Text 9"/>
          <p:cNvSpPr txBox="1"/>
          <p:nvPr/>
        </p:nvSpPr>
        <p:spPr>
          <a:xfrm>
            <a:off x="5257800" y="2404872"/>
            <a:ext cx="2423160" cy="457200"/>
          </a:xfrm>
          <a:prstGeom prst="rect">
            <a:avLst/>
          </a:prstGeom>
          <a:noFill/>
          <a:ln/>
        </p:spPr>
        <p:txBody>
          <a:bodyPr wrap="square" lIns="0" tIns="0" rIns="0" bIns="0" rtlCol="0" anchor="ctr"/>
          <a:lstStyle/>
          <a:p>
            <a:pPr marL="0" indent="0">
              <a:buNone/>
            </a:pPr>
            <a:r>
              <a:rPr lang="en-US" sz="1550" b="1" dirty="0">
                <a:solidFill>
                  <a:srgbClr val="2B2E36"/>
                </a:solidFill>
                <a:latin typeface="Calibri" pitchFamily="34" charset="0"/>
                <a:ea typeface="Calibri" pitchFamily="34" charset="-122"/>
                <a:cs typeface="Calibri" pitchFamily="34" charset="-120"/>
              </a:rPr>
              <a:t>Have the model review the plan</a:t>
            </a:r>
            <a:endParaRPr lang="en-US" sz="1550" dirty="0"/>
          </a:p>
        </p:txBody>
      </p:sp>
      <p:sp>
        <p:nvSpPr>
          <p:cNvPr id="14" name="Text 10"/>
          <p:cNvSpPr txBox="1"/>
          <p:nvPr/>
        </p:nvSpPr>
        <p:spPr>
          <a:xfrm>
            <a:off x="4572000" y="3017520"/>
            <a:ext cx="3017520" cy="86868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Models are good at finding gaps and ambiguity in instructions before anything runs.</a:t>
            </a:r>
            <a:endParaRPr lang="en-US" sz="1250" dirty="0"/>
          </a:p>
        </p:txBody>
      </p:sp>
      <p:sp>
        <p:nvSpPr>
          <p:cNvPr id="15" name="Shape 11"/>
          <p:cNvSpPr/>
          <p:nvPr/>
        </p:nvSpPr>
        <p:spPr>
          <a:xfrm>
            <a:off x="8046720" y="2103120"/>
            <a:ext cx="3520440" cy="1828800"/>
          </a:xfrm>
          <a:prstGeom prst="roundRect">
            <a:avLst>
              <a:gd name="adj" fmla="val 4000"/>
            </a:avLst>
          </a:prstGeom>
          <a:solidFill>
            <a:srgbClr val="EEF3F7"/>
          </a:solidFill>
          <a:ln w="12700">
            <a:solidFill>
              <a:srgbClr val="EEF3F7"/>
            </a:solidFill>
            <a:prstDash val="solid"/>
          </a:ln>
        </p:spPr>
        <p:txBody>
          <a:bodyPr/>
          <a:lstStyle/>
          <a:p>
            <a:endParaRPr lang="en-US"/>
          </a:p>
        </p:txBody>
      </p:sp>
      <p:sp>
        <p:nvSpPr>
          <p:cNvPr id="16" name="Shape 12"/>
          <p:cNvSpPr/>
          <p:nvPr/>
        </p:nvSpPr>
        <p:spPr>
          <a:xfrm>
            <a:off x="8321040" y="2377440"/>
            <a:ext cx="502920" cy="502920"/>
          </a:xfrm>
          <a:prstGeom prst="ellipse">
            <a:avLst/>
          </a:prstGeom>
          <a:solidFill>
            <a:srgbClr val="5F8FAF"/>
          </a:solidFill>
          <a:ln w="12700">
            <a:solidFill>
              <a:srgbClr val="5F8FAF"/>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8446770" y="2503170"/>
            <a:ext cx="251460" cy="251460"/>
          </a:xfrm>
          <a:prstGeom prst="rect">
            <a:avLst/>
          </a:prstGeom>
        </p:spPr>
      </p:pic>
      <p:sp>
        <p:nvSpPr>
          <p:cNvPr id="18" name="Text 13"/>
          <p:cNvSpPr txBox="1"/>
          <p:nvPr/>
        </p:nvSpPr>
        <p:spPr>
          <a:xfrm>
            <a:off x="9006840" y="2404872"/>
            <a:ext cx="2423160" cy="457200"/>
          </a:xfrm>
          <a:prstGeom prst="rect">
            <a:avLst/>
          </a:prstGeom>
          <a:noFill/>
          <a:ln/>
        </p:spPr>
        <p:txBody>
          <a:bodyPr wrap="square" lIns="0" tIns="0" rIns="0" bIns="0" rtlCol="0" anchor="ctr"/>
          <a:lstStyle/>
          <a:p>
            <a:pPr marL="0" indent="0">
              <a:buNone/>
            </a:pPr>
            <a:r>
              <a:rPr lang="en-US" sz="1550" b="1" dirty="0">
                <a:solidFill>
                  <a:srgbClr val="2B2E36"/>
                </a:solidFill>
                <a:latin typeface="Calibri" pitchFamily="34" charset="0"/>
                <a:ea typeface="Calibri" pitchFamily="34" charset="-122"/>
                <a:cs typeface="Calibri" pitchFamily="34" charset="-120"/>
              </a:rPr>
              <a:t>Wording matters</a:t>
            </a:r>
            <a:endParaRPr lang="en-US" sz="1550" dirty="0"/>
          </a:p>
        </p:txBody>
      </p:sp>
      <p:sp>
        <p:nvSpPr>
          <p:cNvPr id="19" name="Text 14"/>
          <p:cNvSpPr txBox="1"/>
          <p:nvPr/>
        </p:nvSpPr>
        <p:spPr>
          <a:xfrm>
            <a:off x="8321040" y="3017520"/>
            <a:ext cx="3017520" cy="86868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I have had mediocre results become good ones when someone else phrased the same instructions differently.</a:t>
            </a:r>
            <a:endParaRPr lang="en-US" sz="1250" dirty="0"/>
          </a:p>
        </p:txBody>
      </p:sp>
      <p:sp>
        <p:nvSpPr>
          <p:cNvPr id="20" name="Shape 15"/>
          <p:cNvSpPr/>
          <p:nvPr/>
        </p:nvSpPr>
        <p:spPr>
          <a:xfrm>
            <a:off x="548640" y="4114800"/>
            <a:ext cx="3520440" cy="1828800"/>
          </a:xfrm>
          <a:prstGeom prst="roundRect">
            <a:avLst>
              <a:gd name="adj" fmla="val 4000"/>
            </a:avLst>
          </a:prstGeom>
          <a:solidFill>
            <a:srgbClr val="EEF3F7"/>
          </a:solidFill>
          <a:ln w="12700">
            <a:solidFill>
              <a:srgbClr val="EEF3F7"/>
            </a:solidFill>
            <a:prstDash val="solid"/>
          </a:ln>
        </p:spPr>
        <p:txBody>
          <a:bodyPr/>
          <a:lstStyle/>
          <a:p>
            <a:endParaRPr lang="en-US"/>
          </a:p>
        </p:txBody>
      </p:sp>
      <p:sp>
        <p:nvSpPr>
          <p:cNvPr id="21" name="Shape 16"/>
          <p:cNvSpPr/>
          <p:nvPr/>
        </p:nvSpPr>
        <p:spPr>
          <a:xfrm>
            <a:off x="822960" y="4389120"/>
            <a:ext cx="502920" cy="502920"/>
          </a:xfrm>
          <a:prstGeom prst="ellipse">
            <a:avLst/>
          </a:prstGeom>
          <a:solidFill>
            <a:srgbClr val="A98B3C"/>
          </a:solidFill>
          <a:ln w="12700">
            <a:solidFill>
              <a:srgbClr val="A98B3C"/>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948690" y="4514850"/>
            <a:ext cx="251460" cy="251460"/>
          </a:xfrm>
          <a:prstGeom prst="rect">
            <a:avLst/>
          </a:prstGeom>
        </p:spPr>
      </p:pic>
      <p:sp>
        <p:nvSpPr>
          <p:cNvPr id="23" name="Text 17"/>
          <p:cNvSpPr txBox="1"/>
          <p:nvPr/>
        </p:nvSpPr>
        <p:spPr>
          <a:xfrm>
            <a:off x="1508760" y="4416552"/>
            <a:ext cx="2423160" cy="457200"/>
          </a:xfrm>
          <a:prstGeom prst="rect">
            <a:avLst/>
          </a:prstGeom>
          <a:noFill/>
          <a:ln/>
        </p:spPr>
        <p:txBody>
          <a:bodyPr wrap="square" lIns="0" tIns="0" rIns="0" bIns="0" rtlCol="0" anchor="ctr"/>
          <a:lstStyle/>
          <a:p>
            <a:pPr marL="0" indent="0">
              <a:buNone/>
            </a:pPr>
            <a:r>
              <a:rPr lang="en-US" sz="1550" b="1" dirty="0">
                <a:solidFill>
                  <a:srgbClr val="2B2E36"/>
                </a:solidFill>
                <a:latin typeface="Calibri" pitchFamily="34" charset="0"/>
                <a:ea typeface="Calibri" pitchFamily="34" charset="-122"/>
                <a:cs typeface="Calibri" pitchFamily="34" charset="-120"/>
              </a:rPr>
              <a:t>Process the data ahead of time</a:t>
            </a:r>
            <a:endParaRPr lang="en-US" sz="1550" dirty="0"/>
          </a:p>
        </p:txBody>
      </p:sp>
      <p:sp>
        <p:nvSpPr>
          <p:cNvPr id="24" name="Text 18"/>
          <p:cNvSpPr txBox="1"/>
          <p:nvPr/>
        </p:nvSpPr>
        <p:spPr>
          <a:xfrm>
            <a:off x="822960" y="5029200"/>
            <a:ext cx="3017520" cy="86868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Profile and clean the data before asking for transformations.</a:t>
            </a:r>
            <a:endParaRPr lang="en-US" sz="1250" dirty="0"/>
          </a:p>
        </p:txBody>
      </p:sp>
      <p:sp>
        <p:nvSpPr>
          <p:cNvPr id="25" name="Shape 19"/>
          <p:cNvSpPr/>
          <p:nvPr/>
        </p:nvSpPr>
        <p:spPr>
          <a:xfrm>
            <a:off x="4297680" y="4114800"/>
            <a:ext cx="3520440" cy="1828800"/>
          </a:xfrm>
          <a:prstGeom prst="roundRect">
            <a:avLst>
              <a:gd name="adj" fmla="val 4000"/>
            </a:avLst>
          </a:prstGeom>
          <a:solidFill>
            <a:srgbClr val="EEF3F7"/>
          </a:solidFill>
          <a:ln w="12700">
            <a:solidFill>
              <a:srgbClr val="EEF3F7"/>
            </a:solidFill>
            <a:prstDash val="solid"/>
          </a:ln>
        </p:spPr>
        <p:txBody>
          <a:bodyPr/>
          <a:lstStyle/>
          <a:p>
            <a:endParaRPr lang="en-US"/>
          </a:p>
        </p:txBody>
      </p:sp>
      <p:sp>
        <p:nvSpPr>
          <p:cNvPr id="26" name="Shape 20"/>
          <p:cNvSpPr/>
          <p:nvPr/>
        </p:nvSpPr>
        <p:spPr>
          <a:xfrm>
            <a:off x="4572000" y="4389120"/>
            <a:ext cx="502920" cy="502920"/>
          </a:xfrm>
          <a:prstGeom prst="ellipse">
            <a:avLst/>
          </a:prstGeom>
          <a:solidFill>
            <a:srgbClr val="5F8FAF"/>
          </a:solidFill>
          <a:ln w="12700">
            <a:solidFill>
              <a:srgbClr val="5F8FAF"/>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4697730" y="4514850"/>
            <a:ext cx="251460" cy="251460"/>
          </a:xfrm>
          <a:prstGeom prst="rect">
            <a:avLst/>
          </a:prstGeom>
        </p:spPr>
      </p:pic>
      <p:sp>
        <p:nvSpPr>
          <p:cNvPr id="28" name="Text 21"/>
          <p:cNvSpPr txBox="1"/>
          <p:nvPr/>
        </p:nvSpPr>
        <p:spPr>
          <a:xfrm>
            <a:off x="5257800" y="4416552"/>
            <a:ext cx="2423160" cy="457200"/>
          </a:xfrm>
          <a:prstGeom prst="rect">
            <a:avLst/>
          </a:prstGeom>
          <a:noFill/>
          <a:ln/>
        </p:spPr>
        <p:txBody>
          <a:bodyPr wrap="square" lIns="0" tIns="0" rIns="0" bIns="0" rtlCol="0" anchor="ctr"/>
          <a:lstStyle/>
          <a:p>
            <a:pPr marL="0" indent="0">
              <a:buNone/>
            </a:pPr>
            <a:r>
              <a:rPr lang="en-US" sz="1550" b="1" dirty="0">
                <a:solidFill>
                  <a:srgbClr val="2B2E36"/>
                </a:solidFill>
                <a:latin typeface="Calibri" pitchFamily="34" charset="0"/>
                <a:ea typeface="Calibri" pitchFamily="34" charset="-122"/>
                <a:cs typeface="Calibri" pitchFamily="34" charset="-120"/>
              </a:rPr>
              <a:t>Compare levels of context</a:t>
            </a:r>
            <a:endParaRPr lang="en-US" sz="1550" dirty="0"/>
          </a:p>
        </p:txBody>
      </p:sp>
      <p:sp>
        <p:nvSpPr>
          <p:cNvPr id="29" name="Text 22"/>
          <p:cNvSpPr txBox="1"/>
          <p:nvPr/>
        </p:nvSpPr>
        <p:spPr>
          <a:xfrm>
            <a:off x="4572000" y="5029200"/>
            <a:ext cx="3017520" cy="86868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Ask: “What if you didn’t provide all the context?” Then test it.</a:t>
            </a:r>
            <a:endParaRPr lang="en-US" sz="1250" dirty="0"/>
          </a:p>
        </p:txBody>
      </p:sp>
      <p:sp>
        <p:nvSpPr>
          <p:cNvPr id="30" name="Shape 23"/>
          <p:cNvSpPr/>
          <p:nvPr/>
        </p:nvSpPr>
        <p:spPr>
          <a:xfrm>
            <a:off x="8046720" y="4114800"/>
            <a:ext cx="3520440" cy="1828800"/>
          </a:xfrm>
          <a:prstGeom prst="roundRect">
            <a:avLst>
              <a:gd name="adj" fmla="val 4000"/>
            </a:avLst>
          </a:prstGeom>
          <a:solidFill>
            <a:srgbClr val="EEF3F7"/>
          </a:solidFill>
          <a:ln w="12700">
            <a:solidFill>
              <a:srgbClr val="EEF3F7"/>
            </a:solidFill>
            <a:prstDash val="solid"/>
          </a:ln>
        </p:spPr>
        <p:txBody>
          <a:bodyPr/>
          <a:lstStyle/>
          <a:p>
            <a:endParaRPr lang="en-US"/>
          </a:p>
        </p:txBody>
      </p:sp>
      <p:sp>
        <p:nvSpPr>
          <p:cNvPr id="31" name="Shape 24"/>
          <p:cNvSpPr/>
          <p:nvPr/>
        </p:nvSpPr>
        <p:spPr>
          <a:xfrm>
            <a:off x="8321040" y="4389120"/>
            <a:ext cx="502920" cy="502920"/>
          </a:xfrm>
          <a:prstGeom prst="ellipse">
            <a:avLst/>
          </a:prstGeom>
          <a:solidFill>
            <a:srgbClr val="A98B3C"/>
          </a:solidFill>
          <a:ln w="12700">
            <a:solidFill>
              <a:srgbClr val="A98B3C"/>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8446770" y="4514850"/>
            <a:ext cx="251460" cy="251460"/>
          </a:xfrm>
          <a:prstGeom prst="rect">
            <a:avLst/>
          </a:prstGeom>
        </p:spPr>
      </p:pic>
      <p:sp>
        <p:nvSpPr>
          <p:cNvPr id="33" name="Text 25"/>
          <p:cNvSpPr txBox="1"/>
          <p:nvPr/>
        </p:nvSpPr>
        <p:spPr>
          <a:xfrm>
            <a:off x="9006840" y="4416552"/>
            <a:ext cx="2423160" cy="457200"/>
          </a:xfrm>
          <a:prstGeom prst="rect">
            <a:avLst/>
          </a:prstGeom>
          <a:noFill/>
          <a:ln/>
        </p:spPr>
        <p:txBody>
          <a:bodyPr wrap="square" lIns="0" tIns="0" rIns="0" bIns="0" rtlCol="0" anchor="ctr"/>
          <a:lstStyle/>
          <a:p>
            <a:pPr marL="0" indent="0">
              <a:buNone/>
            </a:pPr>
            <a:r>
              <a:rPr lang="en-US" sz="1550" b="1" dirty="0">
                <a:solidFill>
                  <a:srgbClr val="2B2E36"/>
                </a:solidFill>
                <a:latin typeface="Calibri" pitchFamily="34" charset="0"/>
                <a:ea typeface="Calibri" pitchFamily="34" charset="-122"/>
                <a:cs typeface="Calibri" pitchFamily="34" charset="-120"/>
              </a:rPr>
              <a:t>Provide examples</a:t>
            </a:r>
            <a:endParaRPr lang="en-US" sz="1550" dirty="0"/>
          </a:p>
        </p:txBody>
      </p:sp>
      <p:sp>
        <p:nvSpPr>
          <p:cNvPr id="34" name="Text 26"/>
          <p:cNvSpPr txBox="1"/>
          <p:nvPr/>
        </p:nvSpPr>
        <p:spPr>
          <a:xfrm>
            <a:off x="8321040" y="5029200"/>
            <a:ext cx="3017520" cy="86868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A worked example says more than a paragraph of rules.</a:t>
            </a:r>
            <a:endParaRPr lang="en-US" sz="1250" dirty="0"/>
          </a:p>
        </p:txBody>
      </p:sp>
      <p:sp>
        <p:nvSpPr>
          <p:cNvPr id="35" name="Text 27"/>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D939D"/>
                </a:solidFill>
                <a:latin typeface="Calibri" pitchFamily="34" charset="0"/>
                <a:ea typeface="Calibri" pitchFamily="34" charset="-122"/>
                <a:cs typeface="Calibri" pitchFamily="34" charset="-120"/>
              </a:rPr>
              <a:t>WKS10  ·  Building a Repeatable AI Pipeline</a:t>
            </a:r>
            <a:endParaRPr lang="en-US" sz="1000" dirty="0"/>
          </a:p>
        </p:txBody>
      </p:sp>
      <p:sp>
        <p:nvSpPr>
          <p:cNvPr id="36" name="Text 28"/>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8D939D"/>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A98B3C"/>
                </a:solidFill>
                <a:latin typeface="Calibri" pitchFamily="34" charset="0"/>
                <a:ea typeface="Calibri" pitchFamily="34" charset="-122"/>
                <a:cs typeface="Calibri" pitchFamily="34" charset="-120"/>
              </a:rPr>
              <a:t>FUNDAMENTALS</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B2E36"/>
                </a:solidFill>
                <a:latin typeface="Raleway" pitchFamily="34" charset="0"/>
                <a:ea typeface="Raleway" pitchFamily="34" charset="-122"/>
                <a:cs typeface="Raleway" pitchFamily="34" charset="-120"/>
              </a:rPr>
              <a:t>Pipelines and ETL</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0555F"/>
                </a:solidFill>
                <a:latin typeface="Calibri" pitchFamily="34" charset="0"/>
                <a:ea typeface="Calibri" pitchFamily="34" charset="-122"/>
                <a:cs typeface="Calibri" pitchFamily="34" charset="-120"/>
              </a:rPr>
              <a:t>A pipeline is a sequence of small, defined steps from a source to a target.</a:t>
            </a:r>
            <a:endParaRPr lang="en-US" sz="1500" dirty="0"/>
          </a:p>
        </p:txBody>
      </p:sp>
      <p:sp>
        <p:nvSpPr>
          <p:cNvPr id="5" name="Shape 3"/>
          <p:cNvSpPr/>
          <p:nvPr/>
        </p:nvSpPr>
        <p:spPr>
          <a:xfrm>
            <a:off x="548640" y="2148840"/>
            <a:ext cx="3291840" cy="2286000"/>
          </a:xfrm>
          <a:prstGeom prst="roundRect">
            <a:avLst>
              <a:gd name="adj" fmla="val 3200"/>
            </a:avLst>
          </a:prstGeom>
          <a:solidFill>
            <a:srgbClr val="EEF3F7"/>
          </a:solidFill>
          <a:ln w="12700">
            <a:solidFill>
              <a:srgbClr val="EEF3F7"/>
            </a:solidFill>
            <a:prstDash val="solid"/>
          </a:ln>
        </p:spPr>
        <p:txBody>
          <a:bodyPr/>
          <a:lstStyle/>
          <a:p>
            <a:endParaRPr lang="en-US"/>
          </a:p>
        </p:txBody>
      </p:sp>
      <p:sp>
        <p:nvSpPr>
          <p:cNvPr id="6" name="Shape 4"/>
          <p:cNvSpPr/>
          <p:nvPr/>
        </p:nvSpPr>
        <p:spPr>
          <a:xfrm>
            <a:off x="822960" y="2377440"/>
            <a:ext cx="594360" cy="594360"/>
          </a:xfrm>
          <a:prstGeom prst="ellipse">
            <a:avLst/>
          </a:prstGeom>
          <a:solidFill>
            <a:srgbClr val="2E5C8F"/>
          </a:solidFill>
          <a:ln w="12700">
            <a:solidFill>
              <a:srgbClr val="2E5C8F"/>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71550" y="2526030"/>
            <a:ext cx="297180" cy="297180"/>
          </a:xfrm>
          <a:prstGeom prst="rect">
            <a:avLst/>
          </a:prstGeom>
        </p:spPr>
      </p:pic>
      <p:sp>
        <p:nvSpPr>
          <p:cNvPr id="8" name="Text 5"/>
          <p:cNvSpPr txBox="1"/>
          <p:nvPr/>
        </p:nvSpPr>
        <p:spPr>
          <a:xfrm>
            <a:off x="1600200" y="2377440"/>
            <a:ext cx="2103120" cy="594360"/>
          </a:xfrm>
          <a:prstGeom prst="rect">
            <a:avLst/>
          </a:prstGeom>
          <a:noFill/>
          <a:ln/>
        </p:spPr>
        <p:txBody>
          <a:bodyPr wrap="square" lIns="0" tIns="0" rIns="0" bIns="0" rtlCol="0" anchor="ctr"/>
          <a:lstStyle/>
          <a:p>
            <a:pPr marL="0" indent="0">
              <a:buNone/>
            </a:pPr>
            <a:r>
              <a:rPr lang="en-US" sz="2200" b="1" dirty="0">
                <a:solidFill>
                  <a:srgbClr val="2B2E36"/>
                </a:solidFill>
                <a:latin typeface="Raleway" pitchFamily="34" charset="0"/>
                <a:ea typeface="Raleway" pitchFamily="34" charset="-122"/>
                <a:cs typeface="Raleway" pitchFamily="34" charset="-120"/>
              </a:rPr>
              <a:t>Extract</a:t>
            </a:r>
            <a:endParaRPr lang="en-US" sz="2200" dirty="0"/>
          </a:p>
        </p:txBody>
      </p:sp>
      <p:sp>
        <p:nvSpPr>
          <p:cNvPr id="9" name="Text 6"/>
          <p:cNvSpPr txBox="1"/>
          <p:nvPr/>
        </p:nvSpPr>
        <p:spPr>
          <a:xfrm>
            <a:off x="822960" y="3154680"/>
            <a:ext cx="2788920" cy="1188720"/>
          </a:xfrm>
          <a:prstGeom prst="rect">
            <a:avLst/>
          </a:prstGeom>
          <a:noFill/>
          <a:ln/>
        </p:spPr>
        <p:txBody>
          <a:bodyPr wrap="square" lIns="0" tIns="0" rIns="0" bIns="0" rtlCol="0" anchor="t"/>
          <a:lstStyle/>
          <a:p>
            <a:pPr marL="0" indent="0">
              <a:buNone/>
            </a:pPr>
            <a:r>
              <a:rPr lang="en-US" sz="1350" dirty="0">
                <a:solidFill>
                  <a:srgbClr val="50555F"/>
                </a:solidFill>
                <a:latin typeface="Calibri" pitchFamily="34" charset="0"/>
                <a:ea typeface="Calibri" pitchFamily="34" charset="-122"/>
                <a:cs typeface="Calibri" pitchFamily="34" charset="-120"/>
              </a:rPr>
              <a:t>Pull data from its source (a CMS export, a CSV, a database) in its verbatim form.</a:t>
            </a:r>
            <a:endParaRPr lang="en-US" sz="1350" dirty="0"/>
          </a:p>
        </p:txBody>
      </p:sp>
      <p:pic>
        <p:nvPicPr>
          <p:cNvPr id="10" name="Image 1" descr="preencoded.png"/>
          <p:cNvPicPr>
            <a:picLocks noChangeAspect="1"/>
          </p:cNvPicPr>
          <p:nvPr/>
        </p:nvPicPr>
        <p:blipFill>
          <a:blip r:embed="rId4"/>
          <a:stretch>
            <a:fillRect/>
          </a:stretch>
        </p:blipFill>
        <p:spPr>
          <a:xfrm>
            <a:off x="3913632" y="3063240"/>
            <a:ext cx="310896" cy="310896"/>
          </a:xfrm>
          <a:prstGeom prst="rect">
            <a:avLst/>
          </a:prstGeom>
        </p:spPr>
      </p:pic>
      <p:sp>
        <p:nvSpPr>
          <p:cNvPr id="11" name="Shape 7"/>
          <p:cNvSpPr/>
          <p:nvPr/>
        </p:nvSpPr>
        <p:spPr>
          <a:xfrm>
            <a:off x="4297680" y="2148840"/>
            <a:ext cx="3291840" cy="2286000"/>
          </a:xfrm>
          <a:prstGeom prst="roundRect">
            <a:avLst>
              <a:gd name="adj" fmla="val 3200"/>
            </a:avLst>
          </a:prstGeom>
          <a:solidFill>
            <a:srgbClr val="EEF3F7"/>
          </a:solidFill>
          <a:ln w="12700">
            <a:solidFill>
              <a:srgbClr val="EEF3F7"/>
            </a:solidFill>
            <a:prstDash val="solid"/>
          </a:ln>
        </p:spPr>
        <p:txBody>
          <a:bodyPr/>
          <a:lstStyle/>
          <a:p>
            <a:endParaRPr lang="en-US"/>
          </a:p>
        </p:txBody>
      </p:sp>
      <p:sp>
        <p:nvSpPr>
          <p:cNvPr id="12" name="Shape 8"/>
          <p:cNvSpPr/>
          <p:nvPr/>
        </p:nvSpPr>
        <p:spPr>
          <a:xfrm>
            <a:off x="4572000" y="2377440"/>
            <a:ext cx="594360" cy="594360"/>
          </a:xfrm>
          <a:prstGeom prst="ellipse">
            <a:avLst/>
          </a:prstGeom>
          <a:solidFill>
            <a:srgbClr val="5F8FAF"/>
          </a:solidFill>
          <a:ln w="12700">
            <a:solidFill>
              <a:srgbClr val="5F8FAF"/>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4720590" y="2526030"/>
            <a:ext cx="297180" cy="297180"/>
          </a:xfrm>
          <a:prstGeom prst="rect">
            <a:avLst/>
          </a:prstGeom>
        </p:spPr>
      </p:pic>
      <p:sp>
        <p:nvSpPr>
          <p:cNvPr id="14" name="Text 9"/>
          <p:cNvSpPr txBox="1"/>
          <p:nvPr/>
        </p:nvSpPr>
        <p:spPr>
          <a:xfrm>
            <a:off x="5349240" y="2377440"/>
            <a:ext cx="2103120" cy="594360"/>
          </a:xfrm>
          <a:prstGeom prst="rect">
            <a:avLst/>
          </a:prstGeom>
          <a:noFill/>
          <a:ln/>
        </p:spPr>
        <p:txBody>
          <a:bodyPr wrap="square" lIns="0" tIns="0" rIns="0" bIns="0" rtlCol="0" anchor="ctr"/>
          <a:lstStyle/>
          <a:p>
            <a:pPr marL="0" indent="0">
              <a:buNone/>
            </a:pPr>
            <a:r>
              <a:rPr lang="en-US" sz="2200" b="1" dirty="0">
                <a:solidFill>
                  <a:srgbClr val="2B2E36"/>
                </a:solidFill>
                <a:latin typeface="Raleway" pitchFamily="34" charset="0"/>
                <a:ea typeface="Raleway" pitchFamily="34" charset="-122"/>
                <a:cs typeface="Raleway" pitchFamily="34" charset="-120"/>
              </a:rPr>
              <a:t>Transform</a:t>
            </a:r>
            <a:endParaRPr lang="en-US" sz="2200" dirty="0"/>
          </a:p>
        </p:txBody>
      </p:sp>
      <p:sp>
        <p:nvSpPr>
          <p:cNvPr id="15" name="Text 10"/>
          <p:cNvSpPr txBox="1"/>
          <p:nvPr/>
        </p:nvSpPr>
        <p:spPr>
          <a:xfrm>
            <a:off x="4572000" y="3154680"/>
            <a:ext cx="2788920" cy="1188720"/>
          </a:xfrm>
          <a:prstGeom prst="rect">
            <a:avLst/>
          </a:prstGeom>
          <a:noFill/>
          <a:ln/>
        </p:spPr>
        <p:txBody>
          <a:bodyPr wrap="square" lIns="0" tIns="0" rIns="0" bIns="0" rtlCol="0" anchor="t"/>
          <a:lstStyle/>
          <a:p>
            <a:pPr marL="0" indent="0">
              <a:buNone/>
            </a:pPr>
            <a:r>
              <a:rPr lang="en-US" sz="1350" dirty="0">
                <a:solidFill>
                  <a:srgbClr val="50555F"/>
                </a:solidFill>
                <a:latin typeface="Calibri" pitchFamily="34" charset="0"/>
                <a:ea typeface="Calibri" pitchFamily="34" charset="-122"/>
                <a:cs typeface="Calibri" pitchFamily="34" charset="-120"/>
              </a:rPr>
              <a:t>Clean, split, categorize, translate, reconcile and restructure to match the target model.</a:t>
            </a:r>
            <a:endParaRPr lang="en-US" sz="1350" dirty="0"/>
          </a:p>
        </p:txBody>
      </p:sp>
      <p:pic>
        <p:nvPicPr>
          <p:cNvPr id="16" name="Image 3" descr="preencoded.png"/>
          <p:cNvPicPr>
            <a:picLocks noChangeAspect="1"/>
          </p:cNvPicPr>
          <p:nvPr/>
        </p:nvPicPr>
        <p:blipFill>
          <a:blip r:embed="rId4"/>
          <a:stretch>
            <a:fillRect/>
          </a:stretch>
        </p:blipFill>
        <p:spPr>
          <a:xfrm>
            <a:off x="7662672" y="3063240"/>
            <a:ext cx="310896" cy="310896"/>
          </a:xfrm>
          <a:prstGeom prst="rect">
            <a:avLst/>
          </a:prstGeom>
        </p:spPr>
      </p:pic>
      <p:sp>
        <p:nvSpPr>
          <p:cNvPr id="17" name="Shape 11"/>
          <p:cNvSpPr/>
          <p:nvPr/>
        </p:nvSpPr>
        <p:spPr>
          <a:xfrm>
            <a:off x="8046720" y="2148840"/>
            <a:ext cx="3291840" cy="2286000"/>
          </a:xfrm>
          <a:prstGeom prst="roundRect">
            <a:avLst>
              <a:gd name="adj" fmla="val 3200"/>
            </a:avLst>
          </a:prstGeom>
          <a:solidFill>
            <a:srgbClr val="EEF3F7"/>
          </a:solidFill>
          <a:ln w="12700">
            <a:solidFill>
              <a:srgbClr val="EEF3F7"/>
            </a:solidFill>
            <a:prstDash val="solid"/>
          </a:ln>
        </p:spPr>
        <p:txBody>
          <a:bodyPr/>
          <a:lstStyle/>
          <a:p>
            <a:endParaRPr lang="en-US"/>
          </a:p>
        </p:txBody>
      </p:sp>
      <p:sp>
        <p:nvSpPr>
          <p:cNvPr id="18" name="Shape 12"/>
          <p:cNvSpPr/>
          <p:nvPr/>
        </p:nvSpPr>
        <p:spPr>
          <a:xfrm>
            <a:off x="8321040" y="2377440"/>
            <a:ext cx="594360" cy="594360"/>
          </a:xfrm>
          <a:prstGeom prst="ellipse">
            <a:avLst/>
          </a:prstGeom>
          <a:solidFill>
            <a:srgbClr val="A98B3C"/>
          </a:solidFill>
          <a:ln w="12700">
            <a:solidFill>
              <a:srgbClr val="A98B3C"/>
            </a:solidFill>
            <a:prstDash val="solid"/>
          </a:ln>
        </p:spPr>
        <p:txBody>
          <a:bodyPr/>
          <a:lstStyle/>
          <a:p>
            <a:endParaRPr lang="en-US"/>
          </a:p>
        </p:txBody>
      </p:sp>
      <p:pic>
        <p:nvPicPr>
          <p:cNvPr id="19" name="Image 4" descr="preencoded.png"/>
          <p:cNvPicPr>
            <a:picLocks noChangeAspect="1"/>
          </p:cNvPicPr>
          <p:nvPr/>
        </p:nvPicPr>
        <p:blipFill>
          <a:blip r:embed="rId6"/>
          <a:stretch>
            <a:fillRect/>
          </a:stretch>
        </p:blipFill>
        <p:spPr>
          <a:xfrm>
            <a:off x="8469630" y="2526030"/>
            <a:ext cx="297180" cy="297180"/>
          </a:xfrm>
          <a:prstGeom prst="rect">
            <a:avLst/>
          </a:prstGeom>
        </p:spPr>
      </p:pic>
      <p:sp>
        <p:nvSpPr>
          <p:cNvPr id="20" name="Text 13"/>
          <p:cNvSpPr txBox="1"/>
          <p:nvPr/>
        </p:nvSpPr>
        <p:spPr>
          <a:xfrm>
            <a:off x="9098280" y="2377440"/>
            <a:ext cx="2103120" cy="594360"/>
          </a:xfrm>
          <a:prstGeom prst="rect">
            <a:avLst/>
          </a:prstGeom>
          <a:noFill/>
          <a:ln/>
        </p:spPr>
        <p:txBody>
          <a:bodyPr wrap="square" lIns="0" tIns="0" rIns="0" bIns="0" rtlCol="0" anchor="ctr"/>
          <a:lstStyle/>
          <a:p>
            <a:pPr marL="0" indent="0">
              <a:buNone/>
            </a:pPr>
            <a:r>
              <a:rPr lang="en-US" sz="2200" b="1" dirty="0">
                <a:solidFill>
                  <a:srgbClr val="2B2E36"/>
                </a:solidFill>
                <a:latin typeface="Raleway" pitchFamily="34" charset="0"/>
                <a:ea typeface="Raleway" pitchFamily="34" charset="-122"/>
                <a:cs typeface="Raleway" pitchFamily="34" charset="-120"/>
              </a:rPr>
              <a:t>Load</a:t>
            </a:r>
            <a:endParaRPr lang="en-US" sz="2200" dirty="0"/>
          </a:p>
        </p:txBody>
      </p:sp>
      <p:sp>
        <p:nvSpPr>
          <p:cNvPr id="21" name="Text 14"/>
          <p:cNvSpPr txBox="1"/>
          <p:nvPr/>
        </p:nvSpPr>
        <p:spPr>
          <a:xfrm>
            <a:off x="8321040" y="3154680"/>
            <a:ext cx="2788920" cy="1188720"/>
          </a:xfrm>
          <a:prstGeom prst="rect">
            <a:avLst/>
          </a:prstGeom>
          <a:noFill/>
          <a:ln/>
        </p:spPr>
        <p:txBody>
          <a:bodyPr wrap="square" lIns="0" tIns="0" rIns="0" bIns="0" rtlCol="0" anchor="t"/>
          <a:lstStyle/>
          <a:p>
            <a:pPr marL="0" indent="0">
              <a:buNone/>
            </a:pPr>
            <a:r>
              <a:rPr lang="en-US" sz="1350" dirty="0">
                <a:solidFill>
                  <a:srgbClr val="50555F"/>
                </a:solidFill>
                <a:latin typeface="Calibri" pitchFamily="34" charset="0"/>
                <a:ea typeface="Calibri" pitchFamily="34" charset="-122"/>
                <a:cs typeface="Calibri" pitchFamily="34" charset="-120"/>
              </a:rPr>
              <a:t>Write the transformed data to the target format or system.</a:t>
            </a:r>
            <a:endParaRPr lang="en-US" sz="1350" dirty="0"/>
          </a:p>
        </p:txBody>
      </p:sp>
      <p:sp>
        <p:nvSpPr>
          <p:cNvPr id="22" name="Text 15"/>
          <p:cNvSpPr txBox="1"/>
          <p:nvPr/>
        </p:nvSpPr>
        <p:spPr>
          <a:xfrm>
            <a:off x="548640" y="4754880"/>
            <a:ext cx="5486400" cy="274320"/>
          </a:xfrm>
          <a:prstGeom prst="rect">
            <a:avLst/>
          </a:prstGeom>
          <a:noFill/>
          <a:ln/>
        </p:spPr>
        <p:txBody>
          <a:bodyPr wrap="square" lIns="0" tIns="0" rIns="0" bIns="0" rtlCol="0" anchor="t"/>
          <a:lstStyle/>
          <a:p>
            <a:pPr marL="0" indent="0">
              <a:buNone/>
            </a:pPr>
            <a:r>
              <a:rPr lang="en-US" sz="1100" b="1" kern="0" spc="100" dirty="0">
                <a:solidFill>
                  <a:srgbClr val="A98B3C"/>
                </a:solidFill>
                <a:latin typeface="Calibri" pitchFamily="34" charset="0"/>
                <a:ea typeface="Calibri" pitchFamily="34" charset="-122"/>
                <a:cs typeface="Calibri" pitchFamily="34" charset="-120"/>
              </a:rPr>
              <a:t>ORGANIZING A PIPELINE</a:t>
            </a:r>
            <a:endParaRPr lang="en-US" sz="1100" dirty="0"/>
          </a:p>
        </p:txBody>
      </p:sp>
      <p:sp>
        <p:nvSpPr>
          <p:cNvPr id="23" name="Text 16"/>
          <p:cNvSpPr txBox="1"/>
          <p:nvPr/>
        </p:nvSpPr>
        <p:spPr>
          <a:xfrm>
            <a:off x="548640" y="5120640"/>
            <a:ext cx="2651760" cy="822960"/>
          </a:xfrm>
          <a:prstGeom prst="rect">
            <a:avLst/>
          </a:prstGeom>
          <a:noFill/>
          <a:ln/>
        </p:spPr>
        <p:txBody>
          <a:bodyPr wrap="square" lIns="0" tIns="0" rIns="0" bIns="0" rtlCol="0" anchor="t"/>
          <a:lstStyle/>
          <a:p>
            <a:pPr marL="0" indent="0">
              <a:buNone/>
            </a:pPr>
            <a:r>
              <a:rPr lang="en-US" sz="1400" b="1" dirty="0">
                <a:solidFill>
                  <a:srgbClr val="2B2E36"/>
                </a:solidFill>
                <a:latin typeface="Calibri" pitchFamily="34" charset="0"/>
                <a:ea typeface="Calibri" pitchFamily="34" charset="-122"/>
                <a:cs typeface="Calibri" pitchFamily="34" charset="-120"/>
              </a:rPr>
              <a:t>Discrete stages</a:t>
            </a:r>
            <a:endParaRPr lang="en-US" sz="1400" dirty="0"/>
          </a:p>
          <a:p>
            <a:pPr marL="0" indent="0">
              <a:buNone/>
            </a:pPr>
            <a:r>
              <a:rPr lang="en-US" sz="1400" dirty="0">
                <a:solidFill>
                  <a:srgbClr val="50555F"/>
                </a:solidFill>
                <a:latin typeface="Calibri" pitchFamily="34" charset="0"/>
                <a:ea typeface="Calibri" pitchFamily="34" charset="-122"/>
                <a:cs typeface="Calibri" pitchFamily="34" charset="-120"/>
              </a:rPr>
              <a:t>with defined inputs and outputs</a:t>
            </a:r>
            <a:endParaRPr lang="en-US" sz="1400" dirty="0"/>
          </a:p>
        </p:txBody>
      </p:sp>
      <p:sp>
        <p:nvSpPr>
          <p:cNvPr id="24" name="Text 17"/>
          <p:cNvSpPr txBox="1"/>
          <p:nvPr/>
        </p:nvSpPr>
        <p:spPr>
          <a:xfrm>
            <a:off x="3364992" y="5120640"/>
            <a:ext cx="2651760" cy="822960"/>
          </a:xfrm>
          <a:prstGeom prst="rect">
            <a:avLst/>
          </a:prstGeom>
          <a:noFill/>
          <a:ln/>
        </p:spPr>
        <p:txBody>
          <a:bodyPr wrap="square" lIns="0" tIns="0" rIns="0" bIns="0" rtlCol="0" anchor="t"/>
          <a:lstStyle/>
          <a:p>
            <a:pPr marL="0" indent="0">
              <a:buNone/>
            </a:pPr>
            <a:r>
              <a:rPr lang="en-US" sz="1400" b="1" dirty="0">
                <a:solidFill>
                  <a:srgbClr val="2B2E36"/>
                </a:solidFill>
                <a:latin typeface="Calibri" pitchFamily="34" charset="0"/>
                <a:ea typeface="Calibri" pitchFamily="34" charset="-122"/>
                <a:cs typeface="Calibri" pitchFamily="34" charset="-120"/>
              </a:rPr>
              <a:t>Config files</a:t>
            </a:r>
            <a:endParaRPr lang="en-US" sz="1400" dirty="0"/>
          </a:p>
          <a:p>
            <a:pPr marL="0" indent="0">
              <a:buNone/>
            </a:pPr>
            <a:r>
              <a:rPr lang="en-US" sz="1400" dirty="0">
                <a:solidFill>
                  <a:srgbClr val="50555F"/>
                </a:solidFill>
                <a:latin typeface="Calibri" pitchFamily="34" charset="0"/>
                <a:ea typeface="Calibri" pitchFamily="34" charset="-122"/>
                <a:cs typeface="Calibri" pitchFamily="34" charset="-120"/>
              </a:rPr>
              <a:t>instead of hard-coded logic</a:t>
            </a:r>
            <a:endParaRPr lang="en-US" sz="1400" dirty="0"/>
          </a:p>
        </p:txBody>
      </p:sp>
      <p:sp>
        <p:nvSpPr>
          <p:cNvPr id="25" name="Text 18"/>
          <p:cNvSpPr txBox="1"/>
          <p:nvPr/>
        </p:nvSpPr>
        <p:spPr>
          <a:xfrm>
            <a:off x="6181344" y="5120640"/>
            <a:ext cx="2651760" cy="822960"/>
          </a:xfrm>
          <a:prstGeom prst="rect">
            <a:avLst/>
          </a:prstGeom>
          <a:noFill/>
          <a:ln/>
        </p:spPr>
        <p:txBody>
          <a:bodyPr wrap="square" lIns="0" tIns="0" rIns="0" bIns="0" rtlCol="0" anchor="t"/>
          <a:lstStyle/>
          <a:p>
            <a:pPr marL="0" indent="0">
              <a:buNone/>
            </a:pPr>
            <a:r>
              <a:rPr lang="en-US" sz="1400" b="1" dirty="0">
                <a:solidFill>
                  <a:srgbClr val="2B2E36"/>
                </a:solidFill>
                <a:latin typeface="Calibri" pitchFamily="34" charset="0"/>
                <a:ea typeface="Calibri" pitchFamily="34" charset="-122"/>
                <a:cs typeface="Calibri" pitchFamily="34" charset="-120"/>
              </a:rPr>
              <a:t>Small scripts</a:t>
            </a:r>
            <a:endParaRPr lang="en-US" sz="1400" dirty="0"/>
          </a:p>
          <a:p>
            <a:pPr marL="0" indent="0">
              <a:buNone/>
            </a:pPr>
            <a:r>
              <a:rPr lang="en-US" sz="1400" dirty="0">
                <a:solidFill>
                  <a:srgbClr val="50555F"/>
                </a:solidFill>
                <a:latin typeface="Calibri" pitchFamily="34" charset="0"/>
                <a:ea typeface="Calibri" pitchFamily="34" charset="-122"/>
                <a:cs typeface="Calibri" pitchFamily="34" charset="-120"/>
              </a:rPr>
              <a:t>that can be re-run at any time</a:t>
            </a:r>
            <a:endParaRPr lang="en-US" sz="1400" dirty="0"/>
          </a:p>
        </p:txBody>
      </p:sp>
      <p:sp>
        <p:nvSpPr>
          <p:cNvPr id="26" name="Text 19"/>
          <p:cNvSpPr txBox="1"/>
          <p:nvPr/>
        </p:nvSpPr>
        <p:spPr>
          <a:xfrm>
            <a:off x="8997696" y="5120640"/>
            <a:ext cx="2651760" cy="822960"/>
          </a:xfrm>
          <a:prstGeom prst="rect">
            <a:avLst/>
          </a:prstGeom>
          <a:noFill/>
          <a:ln/>
        </p:spPr>
        <p:txBody>
          <a:bodyPr wrap="square" lIns="0" tIns="0" rIns="0" bIns="0" rtlCol="0" anchor="t"/>
          <a:lstStyle/>
          <a:p>
            <a:pPr marL="0" indent="0">
              <a:buNone/>
            </a:pPr>
            <a:r>
              <a:rPr lang="en-US" sz="1400" b="1" dirty="0">
                <a:solidFill>
                  <a:srgbClr val="2B2E36"/>
                </a:solidFill>
                <a:latin typeface="Calibri" pitchFamily="34" charset="0"/>
                <a:ea typeface="Calibri" pitchFamily="34" charset="-122"/>
                <a:cs typeface="Calibri" pitchFamily="34" charset="-120"/>
              </a:rPr>
              <a:t>A report</a:t>
            </a:r>
            <a:endParaRPr lang="en-US" sz="1400" dirty="0"/>
          </a:p>
          <a:p>
            <a:pPr marL="0" indent="0">
              <a:buNone/>
            </a:pPr>
            <a:r>
              <a:rPr lang="en-US" sz="1400" dirty="0">
                <a:solidFill>
                  <a:srgbClr val="50555F"/>
                </a:solidFill>
                <a:latin typeface="Calibri" pitchFamily="34" charset="0"/>
                <a:ea typeface="Calibri" pitchFamily="34" charset="-122"/>
                <a:cs typeface="Calibri" pitchFamily="34" charset="-120"/>
              </a:rPr>
              <a:t>that defines what each output contains</a:t>
            </a:r>
            <a:endParaRPr lang="en-US" sz="1400" dirty="0"/>
          </a:p>
        </p:txBody>
      </p:sp>
      <p:sp>
        <p:nvSpPr>
          <p:cNvPr id="27" name="Text 20"/>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D939D"/>
                </a:solidFill>
                <a:latin typeface="Calibri" pitchFamily="34" charset="0"/>
                <a:ea typeface="Calibri" pitchFamily="34" charset="-122"/>
                <a:cs typeface="Calibri" pitchFamily="34" charset="-120"/>
              </a:rPr>
              <a:t>WKS10  ·  Building a Repeatable AI Pipeline</a:t>
            </a:r>
            <a:endParaRPr lang="en-US" sz="1000" dirty="0"/>
          </a:p>
        </p:txBody>
      </p:sp>
      <p:sp>
        <p:nvSpPr>
          <p:cNvPr id="28" name="Text 2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8D939D"/>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C271C04-EAC5-DC30-85EC-0F632EE152B0}"/>
            </a:ext>
          </a:extLst>
        </p:cNvPr>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buNone/>
            </a:pPr>
            <a:r>
              <a:rPr sz="1100" b="1" i="0">
                <a:solidFill>
                  <a:srgbClr val="A98B3C"/>
                </a:solidFill>
                <a:latin typeface="Calibri"/>
                <a:ea typeface="Calibri"/>
                <a:cs typeface="Calibri"/>
              </a:rPr>
              <a:t>FUNDAMENTALS</a:t>
            </a:r>
          </a:p>
        </p:txBody>
      </p:sp>
      <p:sp>
        <p:nvSpPr>
          <p:cNvPr id="3" name="TextBox 2"/>
          <p:cNvSpPr txBox="1"/>
          <p:nvPr/>
        </p:nvSpPr>
        <p:spPr>
          <a:xfrm>
            <a:off x="548640" y="731520"/>
            <a:ext cx="11091672" cy="731520"/>
          </a:xfrm>
          <a:prstGeom prst="rect">
            <a:avLst/>
          </a:prstGeom>
          <a:noFill/>
        </p:spPr>
        <p:txBody>
          <a:bodyPr wrap="square" lIns="0" tIns="0" rIns="0" bIns="0" anchor="t">
            <a:spAutoFit/>
          </a:bodyPr>
          <a:lstStyle/>
          <a:p>
            <a:pPr>
              <a:buNone/>
            </a:pPr>
            <a:r>
              <a:rPr sz="3400" b="1" i="0">
                <a:solidFill>
                  <a:srgbClr val="2B2E36"/>
                </a:solidFill>
                <a:latin typeface="Raleway"/>
                <a:ea typeface="Raleway"/>
                <a:cs typeface="Raleway"/>
              </a:rPr>
              <a:t>Anatomy of a staged pipeline</a:t>
            </a:r>
          </a:p>
        </p:txBody>
      </p:sp>
      <p:sp>
        <p:nvSpPr>
          <p:cNvPr id="4" name="TextBox 3"/>
          <p:cNvSpPr txBox="1"/>
          <p:nvPr/>
        </p:nvSpPr>
        <p:spPr>
          <a:xfrm>
            <a:off x="548640" y="1463040"/>
            <a:ext cx="11091672" cy="365760"/>
          </a:xfrm>
          <a:prstGeom prst="rect">
            <a:avLst/>
          </a:prstGeom>
          <a:noFill/>
        </p:spPr>
        <p:txBody>
          <a:bodyPr wrap="square" lIns="0" tIns="0" rIns="0" bIns="0" anchor="t">
            <a:spAutoFit/>
          </a:bodyPr>
          <a:lstStyle/>
          <a:p>
            <a:pPr>
              <a:buNone/>
            </a:pPr>
            <a:r>
              <a:rPr sz="1500" b="0" i="0">
                <a:solidFill>
                  <a:srgbClr val="50555F"/>
                </a:solidFill>
                <a:latin typeface="Calibri"/>
                <a:ea typeface="Calibri"/>
                <a:cs typeface="Calibri"/>
              </a:rPr>
              <a:t>Processes change the data. Each one writes a numbered stage file, so every step can be opened, checked and re-run.</a:t>
            </a:r>
          </a:p>
        </p:txBody>
      </p:sp>
      <p:sp>
        <p:nvSpPr>
          <p:cNvPr id="5" name="Rounded Rectangle 4"/>
          <p:cNvSpPr/>
          <p:nvPr/>
        </p:nvSpPr>
        <p:spPr>
          <a:xfrm>
            <a:off x="548640" y="2240280"/>
            <a:ext cx="1417320" cy="914400"/>
          </a:xfrm>
          <a:prstGeom prst="roundRect">
            <a:avLst>
              <a:gd name="adj" fmla="val 1859"/>
            </a:avLst>
          </a:prstGeom>
          <a:solidFill>
            <a:srgbClr val="FFFFFF"/>
          </a:solidFill>
          <a:ln w="19050">
            <a:solidFill>
              <a:srgbClr val="A98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240280"/>
            <a:ext cx="1234440" cy="914400"/>
          </a:xfrm>
          <a:prstGeom prst="rect">
            <a:avLst/>
          </a:prstGeom>
          <a:noFill/>
        </p:spPr>
        <p:txBody>
          <a:bodyPr wrap="square" lIns="0" tIns="0" rIns="0" bIns="0" anchor="ctr">
            <a:spAutoFit/>
          </a:bodyPr>
          <a:lstStyle/>
          <a:p>
            <a:pPr algn="ctr">
              <a:buNone/>
            </a:pPr>
            <a:r>
              <a:rPr sz="1300" b="1" i="0">
                <a:solidFill>
                  <a:srgbClr val="2B2E36"/>
                </a:solidFill>
                <a:latin typeface="Calibri"/>
                <a:ea typeface="Calibri"/>
                <a:cs typeface="Calibri"/>
              </a:rPr>
              <a:t>Original verbatim dataset</a:t>
            </a:r>
          </a:p>
        </p:txBody>
      </p:sp>
      <p:sp>
        <p:nvSpPr>
          <p:cNvPr id="7" name="Rounded Rectangle 6"/>
          <p:cNvSpPr/>
          <p:nvPr/>
        </p:nvSpPr>
        <p:spPr>
          <a:xfrm>
            <a:off x="2556662" y="2331720"/>
            <a:ext cx="1188720" cy="731520"/>
          </a:xfrm>
          <a:prstGeom prst="roundRect">
            <a:avLst>
              <a:gd name="adj" fmla="val 50000"/>
            </a:avLst>
          </a:prstGeom>
          <a:solidFill>
            <a:srgbClr val="5F8FAF"/>
          </a:solidFill>
          <a:ln>
            <a:solidFill>
              <a:srgbClr val="5F8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629814" y="2331720"/>
            <a:ext cx="1042416" cy="731520"/>
          </a:xfrm>
          <a:prstGeom prst="rect">
            <a:avLst/>
          </a:prstGeom>
          <a:noFill/>
        </p:spPr>
        <p:txBody>
          <a:bodyPr wrap="square" lIns="0" tIns="0" rIns="0" bIns="0" anchor="ctr">
            <a:spAutoFit/>
          </a:bodyPr>
          <a:lstStyle/>
          <a:p>
            <a:pPr algn="ctr">
              <a:buNone/>
            </a:pPr>
            <a:r>
              <a:rPr sz="1200" b="1" i="0">
                <a:solidFill>
                  <a:srgbClr val="FFFFFF"/>
                </a:solidFill>
                <a:latin typeface="Calibri"/>
                <a:ea typeface="Calibri"/>
                <a:cs typeface="Calibri"/>
              </a:rPr>
              <a:t>Make copy</a:t>
            </a:r>
          </a:p>
        </p:txBody>
      </p:sp>
      <p:sp>
        <p:nvSpPr>
          <p:cNvPr id="9" name="Rounded Rectangle 8"/>
          <p:cNvSpPr/>
          <p:nvPr/>
        </p:nvSpPr>
        <p:spPr>
          <a:xfrm>
            <a:off x="4336084" y="2240280"/>
            <a:ext cx="1463040" cy="914400"/>
          </a:xfrm>
          <a:prstGeom prst="roundRect">
            <a:avLst>
              <a:gd name="adj" fmla="val 1859"/>
            </a:avLst>
          </a:prstGeom>
          <a:solidFill>
            <a:srgbClr val="EEF3F7"/>
          </a:solidFill>
          <a:ln w="12700">
            <a:solidFill>
              <a:srgbClr val="EE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27524" y="2350008"/>
            <a:ext cx="1280160" cy="274320"/>
          </a:xfrm>
          <a:prstGeom prst="rect">
            <a:avLst/>
          </a:prstGeom>
          <a:noFill/>
        </p:spPr>
        <p:txBody>
          <a:bodyPr wrap="square" lIns="0" tIns="0" rIns="0" bIns="0" anchor="t">
            <a:spAutoFit/>
          </a:bodyPr>
          <a:lstStyle/>
          <a:p>
            <a:pPr algn="ctr">
              <a:buNone/>
            </a:pPr>
            <a:r>
              <a:rPr sz="1300" b="1" i="0">
                <a:solidFill>
                  <a:srgbClr val="2B2E36"/>
                </a:solidFill>
                <a:latin typeface="Calibri"/>
                <a:ea typeface="Calibri"/>
                <a:cs typeface="Calibri"/>
              </a:rPr>
              <a:t>Stage init</a:t>
            </a:r>
          </a:p>
        </p:txBody>
      </p:sp>
      <p:sp>
        <p:nvSpPr>
          <p:cNvPr id="11" name="TextBox 10"/>
          <p:cNvSpPr txBox="1"/>
          <p:nvPr/>
        </p:nvSpPr>
        <p:spPr>
          <a:xfrm>
            <a:off x="4427524" y="2743200"/>
            <a:ext cx="1280160" cy="274320"/>
          </a:xfrm>
          <a:prstGeom prst="rect">
            <a:avLst/>
          </a:prstGeom>
          <a:noFill/>
        </p:spPr>
        <p:txBody>
          <a:bodyPr wrap="square" lIns="0" tIns="0" rIns="0" bIns="0" anchor="t">
            <a:spAutoFit/>
          </a:bodyPr>
          <a:lstStyle/>
          <a:p>
            <a:pPr algn="ctr">
              <a:buNone/>
            </a:pPr>
            <a:r>
              <a:rPr sz="1050" b="0" i="0">
                <a:solidFill>
                  <a:srgbClr val="50555F"/>
                </a:solidFill>
                <a:latin typeface="Courier New"/>
                <a:ea typeface="Courier New"/>
                <a:cs typeface="Courier New"/>
              </a:rPr>
              <a:t>[code]_init</a:t>
            </a:r>
          </a:p>
        </p:txBody>
      </p:sp>
      <p:sp>
        <p:nvSpPr>
          <p:cNvPr id="12" name="Rounded Rectangle 11"/>
          <p:cNvSpPr/>
          <p:nvPr/>
        </p:nvSpPr>
        <p:spPr>
          <a:xfrm>
            <a:off x="6389827" y="2331720"/>
            <a:ext cx="1417320" cy="731520"/>
          </a:xfrm>
          <a:prstGeom prst="roundRect">
            <a:avLst>
              <a:gd name="adj" fmla="val 50000"/>
            </a:avLst>
          </a:prstGeom>
          <a:solidFill>
            <a:srgbClr val="5F8FAF"/>
          </a:solidFill>
          <a:ln>
            <a:solidFill>
              <a:srgbClr val="5F8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62979" y="2331720"/>
            <a:ext cx="1271016" cy="731520"/>
          </a:xfrm>
          <a:prstGeom prst="rect">
            <a:avLst/>
          </a:prstGeom>
          <a:noFill/>
        </p:spPr>
        <p:txBody>
          <a:bodyPr wrap="square" lIns="0" tIns="0" rIns="0" bIns="0" anchor="ctr">
            <a:spAutoFit/>
          </a:bodyPr>
          <a:lstStyle/>
          <a:p>
            <a:pPr algn="ctr">
              <a:buNone/>
            </a:pPr>
            <a:r>
              <a:rPr sz="1200" b="1" i="0">
                <a:solidFill>
                  <a:srgbClr val="FFFFFF"/>
                </a:solidFill>
                <a:latin typeface="Calibri"/>
                <a:ea typeface="Calibri"/>
                <a:cs typeface="Calibri"/>
              </a:rPr>
              <a:t>Drop empty and single-value columns</a:t>
            </a:r>
          </a:p>
        </p:txBody>
      </p:sp>
      <p:sp>
        <p:nvSpPr>
          <p:cNvPr id="14" name="Rounded Rectangle 13"/>
          <p:cNvSpPr/>
          <p:nvPr/>
        </p:nvSpPr>
        <p:spPr>
          <a:xfrm>
            <a:off x="8397849" y="2331720"/>
            <a:ext cx="1188720" cy="731520"/>
          </a:xfrm>
          <a:prstGeom prst="roundRect">
            <a:avLst>
              <a:gd name="adj" fmla="val 50000"/>
            </a:avLst>
          </a:prstGeom>
          <a:solidFill>
            <a:srgbClr val="A98B3C"/>
          </a:solidFill>
          <a:ln>
            <a:solidFill>
              <a:srgbClr val="A98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71001" y="2331720"/>
            <a:ext cx="1042416" cy="731520"/>
          </a:xfrm>
          <a:prstGeom prst="rect">
            <a:avLst/>
          </a:prstGeom>
          <a:noFill/>
        </p:spPr>
        <p:txBody>
          <a:bodyPr wrap="square" lIns="0" tIns="0" rIns="0" bIns="0" anchor="ctr">
            <a:spAutoFit/>
          </a:bodyPr>
          <a:lstStyle/>
          <a:p>
            <a:pPr algn="ctr">
              <a:buNone/>
            </a:pPr>
            <a:r>
              <a:rPr sz="1200" b="1" i="0">
                <a:solidFill>
                  <a:srgbClr val="FFFFFF"/>
                </a:solidFill>
                <a:latin typeface="Calibri"/>
                <a:ea typeface="Calibri"/>
                <a:cs typeface="Calibri"/>
              </a:rPr>
              <a:t>Translate</a:t>
            </a:r>
          </a:p>
        </p:txBody>
      </p:sp>
      <p:sp>
        <p:nvSpPr>
          <p:cNvPr id="16" name="Rounded Rectangle 15"/>
          <p:cNvSpPr/>
          <p:nvPr/>
        </p:nvSpPr>
        <p:spPr>
          <a:xfrm>
            <a:off x="10177272" y="2240280"/>
            <a:ext cx="1463040" cy="914400"/>
          </a:xfrm>
          <a:prstGeom prst="roundRect">
            <a:avLst>
              <a:gd name="adj" fmla="val 1859"/>
            </a:avLst>
          </a:prstGeom>
          <a:solidFill>
            <a:srgbClr val="EEF3F7"/>
          </a:solidFill>
          <a:ln w="12700">
            <a:solidFill>
              <a:srgbClr val="EE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268712" y="2350008"/>
            <a:ext cx="1280160" cy="274320"/>
          </a:xfrm>
          <a:prstGeom prst="rect">
            <a:avLst/>
          </a:prstGeom>
          <a:noFill/>
        </p:spPr>
        <p:txBody>
          <a:bodyPr wrap="square" lIns="0" tIns="0" rIns="0" bIns="0" anchor="t">
            <a:spAutoFit/>
          </a:bodyPr>
          <a:lstStyle/>
          <a:p>
            <a:pPr algn="ctr">
              <a:buNone/>
            </a:pPr>
            <a:r>
              <a:rPr sz="1300" b="1" i="0">
                <a:solidFill>
                  <a:srgbClr val="2B2E36"/>
                </a:solidFill>
                <a:latin typeface="Calibri"/>
                <a:ea typeface="Calibri"/>
                <a:cs typeface="Calibri"/>
              </a:rPr>
              <a:t>Stage 00</a:t>
            </a:r>
          </a:p>
        </p:txBody>
      </p:sp>
      <p:sp>
        <p:nvSpPr>
          <p:cNvPr id="18" name="TextBox 17"/>
          <p:cNvSpPr txBox="1"/>
          <p:nvPr/>
        </p:nvSpPr>
        <p:spPr>
          <a:xfrm>
            <a:off x="10268712" y="2743200"/>
            <a:ext cx="1280160" cy="274320"/>
          </a:xfrm>
          <a:prstGeom prst="rect">
            <a:avLst/>
          </a:prstGeom>
          <a:noFill/>
        </p:spPr>
        <p:txBody>
          <a:bodyPr wrap="square" lIns="0" tIns="0" rIns="0" bIns="0" anchor="t">
            <a:spAutoFit/>
          </a:bodyPr>
          <a:lstStyle/>
          <a:p>
            <a:pPr algn="ctr">
              <a:buNone/>
            </a:pPr>
            <a:r>
              <a:rPr sz="1050" b="0" i="0">
                <a:solidFill>
                  <a:srgbClr val="50555F"/>
                </a:solidFill>
                <a:latin typeface="Courier New"/>
                <a:ea typeface="Courier New"/>
                <a:cs typeface="Courier New"/>
              </a:rPr>
              <a:t>[code]_stage_00</a:t>
            </a:r>
          </a:p>
        </p:txBody>
      </p:sp>
      <p:cxnSp>
        <p:nvCxnSpPr>
          <p:cNvPr id="19" name="Connector 18"/>
          <p:cNvCxnSpPr/>
          <p:nvPr/>
        </p:nvCxnSpPr>
        <p:spPr>
          <a:xfrm>
            <a:off x="2011679" y="2697480"/>
            <a:ext cx="499263" cy="0"/>
          </a:xfrm>
          <a:prstGeom prst="line">
            <a:avLst/>
          </a:prstGeom>
          <a:ln w="19050">
            <a:solidFill>
              <a:srgbClr val="7278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91102" y="2697480"/>
            <a:ext cx="499262" cy="0"/>
          </a:xfrm>
          <a:prstGeom prst="line">
            <a:avLst/>
          </a:prstGeom>
          <a:ln w="19050">
            <a:solidFill>
              <a:srgbClr val="7278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844844" y="2697480"/>
            <a:ext cx="499263" cy="0"/>
          </a:xfrm>
          <a:prstGeom prst="line">
            <a:avLst/>
          </a:prstGeom>
          <a:ln w="19050">
            <a:solidFill>
              <a:srgbClr val="7278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852867" y="2697480"/>
            <a:ext cx="499262" cy="0"/>
          </a:xfrm>
          <a:prstGeom prst="line">
            <a:avLst/>
          </a:prstGeom>
          <a:ln w="19050">
            <a:solidFill>
              <a:srgbClr val="727885"/>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632289" y="2697480"/>
            <a:ext cx="499263" cy="0"/>
          </a:xfrm>
          <a:prstGeom prst="line">
            <a:avLst/>
          </a:prstGeom>
          <a:ln w="19050">
            <a:solidFill>
              <a:srgbClr val="72788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0314432" y="3840479"/>
            <a:ext cx="1188720" cy="731520"/>
          </a:xfrm>
          <a:prstGeom prst="roundRect">
            <a:avLst>
              <a:gd name="adj" fmla="val 50000"/>
            </a:avLst>
          </a:prstGeom>
          <a:solidFill>
            <a:srgbClr val="2E5C8F"/>
          </a:solidFill>
          <a:ln>
            <a:solidFill>
              <a:srgbClr val="2E5C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387584" y="3840479"/>
            <a:ext cx="1042416" cy="731520"/>
          </a:xfrm>
          <a:prstGeom prst="rect">
            <a:avLst/>
          </a:prstGeom>
          <a:noFill/>
        </p:spPr>
        <p:txBody>
          <a:bodyPr wrap="square" lIns="0" tIns="0" rIns="0" bIns="0" anchor="ctr">
            <a:spAutoFit/>
          </a:bodyPr>
          <a:lstStyle/>
          <a:p>
            <a:pPr algn="ctr">
              <a:buNone/>
            </a:pPr>
            <a:r>
              <a:rPr sz="1200" b="1" i="0">
                <a:solidFill>
                  <a:srgbClr val="FFFFFF"/>
                </a:solidFill>
                <a:latin typeface="Calibri"/>
                <a:ea typeface="Calibri"/>
                <a:cs typeface="Calibri"/>
              </a:rPr>
              <a:t>Generate column lists</a:t>
            </a:r>
          </a:p>
        </p:txBody>
      </p:sp>
      <p:sp>
        <p:nvSpPr>
          <p:cNvPr id="26" name="Rounded Rectangle 25"/>
          <p:cNvSpPr/>
          <p:nvPr/>
        </p:nvSpPr>
        <p:spPr>
          <a:xfrm>
            <a:off x="8823960" y="3840479"/>
            <a:ext cx="1188720" cy="731520"/>
          </a:xfrm>
          <a:prstGeom prst="roundRect">
            <a:avLst>
              <a:gd name="adj" fmla="val 50000"/>
            </a:avLst>
          </a:prstGeom>
          <a:solidFill>
            <a:srgbClr val="5F8FAF"/>
          </a:solidFill>
          <a:ln>
            <a:solidFill>
              <a:srgbClr val="5F8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897112" y="3840479"/>
            <a:ext cx="1042416" cy="731520"/>
          </a:xfrm>
          <a:prstGeom prst="rect">
            <a:avLst/>
          </a:prstGeom>
          <a:noFill/>
        </p:spPr>
        <p:txBody>
          <a:bodyPr wrap="square" lIns="0" tIns="0" rIns="0" bIns="0" anchor="ctr">
            <a:spAutoFit/>
          </a:bodyPr>
          <a:lstStyle/>
          <a:p>
            <a:pPr algn="ctr">
              <a:buNone/>
            </a:pPr>
            <a:r>
              <a:rPr sz="1200" b="1" i="0">
                <a:solidFill>
                  <a:srgbClr val="FFFFFF"/>
                </a:solidFill>
                <a:latin typeface="Calibri"/>
                <a:ea typeface="Calibri"/>
                <a:cs typeface="Calibri"/>
              </a:rPr>
              <a:t>Rename and drop columns</a:t>
            </a:r>
          </a:p>
        </p:txBody>
      </p:sp>
      <p:sp>
        <p:nvSpPr>
          <p:cNvPr id="28" name="Rounded Rectangle 27"/>
          <p:cNvSpPr/>
          <p:nvPr/>
        </p:nvSpPr>
        <p:spPr>
          <a:xfrm>
            <a:off x="7059168" y="3749039"/>
            <a:ext cx="1463040" cy="914400"/>
          </a:xfrm>
          <a:prstGeom prst="roundRect">
            <a:avLst>
              <a:gd name="adj" fmla="val 1859"/>
            </a:avLst>
          </a:prstGeom>
          <a:solidFill>
            <a:srgbClr val="EEF3F7"/>
          </a:solidFill>
          <a:ln w="12700">
            <a:solidFill>
              <a:srgbClr val="EE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150608" y="3858768"/>
            <a:ext cx="1280160" cy="274320"/>
          </a:xfrm>
          <a:prstGeom prst="rect">
            <a:avLst/>
          </a:prstGeom>
          <a:noFill/>
        </p:spPr>
        <p:txBody>
          <a:bodyPr wrap="square" lIns="0" tIns="0" rIns="0" bIns="0" anchor="t">
            <a:spAutoFit/>
          </a:bodyPr>
          <a:lstStyle/>
          <a:p>
            <a:pPr algn="ctr">
              <a:buNone/>
            </a:pPr>
            <a:r>
              <a:rPr sz="1300" b="1" i="0">
                <a:solidFill>
                  <a:srgbClr val="2B2E36"/>
                </a:solidFill>
                <a:latin typeface="Calibri"/>
                <a:ea typeface="Calibri"/>
                <a:cs typeface="Calibri"/>
              </a:rPr>
              <a:t>Stage 01</a:t>
            </a:r>
          </a:p>
        </p:txBody>
      </p:sp>
      <p:sp>
        <p:nvSpPr>
          <p:cNvPr id="30" name="TextBox 29"/>
          <p:cNvSpPr txBox="1"/>
          <p:nvPr/>
        </p:nvSpPr>
        <p:spPr>
          <a:xfrm>
            <a:off x="7150608" y="4251959"/>
            <a:ext cx="1280160" cy="274320"/>
          </a:xfrm>
          <a:prstGeom prst="rect">
            <a:avLst/>
          </a:prstGeom>
          <a:noFill/>
        </p:spPr>
        <p:txBody>
          <a:bodyPr wrap="square" lIns="0" tIns="0" rIns="0" bIns="0" anchor="t">
            <a:spAutoFit/>
          </a:bodyPr>
          <a:lstStyle/>
          <a:p>
            <a:pPr algn="ctr">
              <a:buNone/>
            </a:pPr>
            <a:r>
              <a:rPr sz="1050" b="0" i="0">
                <a:solidFill>
                  <a:srgbClr val="50555F"/>
                </a:solidFill>
                <a:latin typeface="Courier New"/>
                <a:ea typeface="Courier New"/>
                <a:cs typeface="Courier New"/>
              </a:rPr>
              <a:t>[code]_stage_01</a:t>
            </a:r>
          </a:p>
        </p:txBody>
      </p:sp>
      <p:sp>
        <p:nvSpPr>
          <p:cNvPr id="31" name="Rounded Rectangle 30"/>
          <p:cNvSpPr/>
          <p:nvPr/>
        </p:nvSpPr>
        <p:spPr>
          <a:xfrm>
            <a:off x="5568696" y="3840479"/>
            <a:ext cx="1188720" cy="731520"/>
          </a:xfrm>
          <a:prstGeom prst="roundRect">
            <a:avLst>
              <a:gd name="adj" fmla="val 50000"/>
            </a:avLst>
          </a:prstGeom>
          <a:solidFill>
            <a:srgbClr val="5F8FAF"/>
          </a:solidFill>
          <a:ln>
            <a:solidFill>
              <a:srgbClr val="5F8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41848" y="3840479"/>
            <a:ext cx="1042416" cy="731520"/>
          </a:xfrm>
          <a:prstGeom prst="rect">
            <a:avLst/>
          </a:prstGeom>
          <a:noFill/>
        </p:spPr>
        <p:txBody>
          <a:bodyPr wrap="square" lIns="0" tIns="0" rIns="0" bIns="0" anchor="ctr">
            <a:spAutoFit/>
          </a:bodyPr>
          <a:lstStyle/>
          <a:p>
            <a:pPr algn="ctr">
              <a:buNone/>
            </a:pPr>
            <a:r>
              <a:rPr sz="1200" b="1" i="0">
                <a:solidFill>
                  <a:srgbClr val="FFFFFF"/>
                </a:solidFill>
                <a:latin typeface="Calibri"/>
                <a:ea typeface="Calibri"/>
                <a:cs typeface="Calibri"/>
              </a:rPr>
              <a:t>Transform sequence</a:t>
            </a:r>
          </a:p>
        </p:txBody>
      </p:sp>
      <p:sp>
        <p:nvSpPr>
          <p:cNvPr id="33" name="Rounded Rectangle 32"/>
          <p:cNvSpPr/>
          <p:nvPr/>
        </p:nvSpPr>
        <p:spPr>
          <a:xfrm>
            <a:off x="3803904" y="3749039"/>
            <a:ext cx="1463040" cy="914400"/>
          </a:xfrm>
          <a:prstGeom prst="roundRect">
            <a:avLst>
              <a:gd name="adj" fmla="val 1859"/>
            </a:avLst>
          </a:prstGeom>
          <a:solidFill>
            <a:srgbClr val="EEF3F7"/>
          </a:solidFill>
          <a:ln w="12700">
            <a:solidFill>
              <a:srgbClr val="EE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895344" y="3858768"/>
            <a:ext cx="1280160" cy="274320"/>
          </a:xfrm>
          <a:prstGeom prst="rect">
            <a:avLst/>
          </a:prstGeom>
          <a:noFill/>
        </p:spPr>
        <p:txBody>
          <a:bodyPr wrap="square" lIns="0" tIns="0" rIns="0" bIns="0" anchor="t">
            <a:spAutoFit/>
          </a:bodyPr>
          <a:lstStyle/>
          <a:p>
            <a:pPr algn="ctr">
              <a:buNone/>
            </a:pPr>
            <a:r>
              <a:rPr sz="1300" b="1" i="0">
                <a:solidFill>
                  <a:srgbClr val="2B2E36"/>
                </a:solidFill>
                <a:latin typeface="Calibri"/>
                <a:ea typeface="Calibri"/>
                <a:cs typeface="Calibri"/>
              </a:rPr>
              <a:t>Stage 02</a:t>
            </a:r>
          </a:p>
        </p:txBody>
      </p:sp>
      <p:sp>
        <p:nvSpPr>
          <p:cNvPr id="35" name="TextBox 34"/>
          <p:cNvSpPr txBox="1"/>
          <p:nvPr/>
        </p:nvSpPr>
        <p:spPr>
          <a:xfrm>
            <a:off x="3895344" y="4251959"/>
            <a:ext cx="1280160" cy="274320"/>
          </a:xfrm>
          <a:prstGeom prst="rect">
            <a:avLst/>
          </a:prstGeom>
          <a:noFill/>
        </p:spPr>
        <p:txBody>
          <a:bodyPr wrap="square" lIns="0" tIns="0" rIns="0" bIns="0" anchor="t">
            <a:spAutoFit/>
          </a:bodyPr>
          <a:lstStyle/>
          <a:p>
            <a:pPr algn="ctr">
              <a:buNone/>
            </a:pPr>
            <a:r>
              <a:rPr sz="1050" b="0" i="0">
                <a:solidFill>
                  <a:srgbClr val="50555F"/>
                </a:solidFill>
                <a:latin typeface="Courier New"/>
                <a:ea typeface="Courier New"/>
                <a:cs typeface="Courier New"/>
              </a:rPr>
              <a:t>[code]_stage_02</a:t>
            </a:r>
          </a:p>
        </p:txBody>
      </p:sp>
      <p:sp>
        <p:nvSpPr>
          <p:cNvPr id="36" name="Rounded Rectangle 35"/>
          <p:cNvSpPr/>
          <p:nvPr/>
        </p:nvSpPr>
        <p:spPr>
          <a:xfrm>
            <a:off x="2313431" y="3840479"/>
            <a:ext cx="1188720" cy="731520"/>
          </a:xfrm>
          <a:prstGeom prst="roundRect">
            <a:avLst>
              <a:gd name="adj" fmla="val 50000"/>
            </a:avLst>
          </a:prstGeom>
          <a:solidFill>
            <a:srgbClr val="5F8FAF"/>
          </a:solidFill>
          <a:ln>
            <a:solidFill>
              <a:srgbClr val="5F8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386583" y="3840479"/>
            <a:ext cx="1042416" cy="731520"/>
          </a:xfrm>
          <a:prstGeom prst="rect">
            <a:avLst/>
          </a:prstGeom>
          <a:noFill/>
        </p:spPr>
        <p:txBody>
          <a:bodyPr wrap="square" lIns="0" tIns="0" rIns="0" bIns="0" anchor="ctr">
            <a:spAutoFit/>
          </a:bodyPr>
          <a:lstStyle/>
          <a:p>
            <a:pPr algn="ctr">
              <a:buNone/>
            </a:pPr>
            <a:r>
              <a:rPr sz="1200" b="1" i="0">
                <a:solidFill>
                  <a:srgbClr val="FFFFFF"/>
                </a:solidFill>
                <a:latin typeface="Calibri"/>
                <a:ea typeface="Calibri"/>
                <a:cs typeface="Calibri"/>
              </a:rPr>
              <a:t>Iterative single transforms</a:t>
            </a:r>
          </a:p>
        </p:txBody>
      </p:sp>
      <p:sp>
        <p:nvSpPr>
          <p:cNvPr id="38" name="Rounded Rectangle 37"/>
          <p:cNvSpPr/>
          <p:nvPr/>
        </p:nvSpPr>
        <p:spPr>
          <a:xfrm>
            <a:off x="548639" y="3749039"/>
            <a:ext cx="1463040" cy="914400"/>
          </a:xfrm>
          <a:prstGeom prst="roundRect">
            <a:avLst>
              <a:gd name="adj" fmla="val 1859"/>
            </a:avLst>
          </a:prstGeom>
          <a:solidFill>
            <a:srgbClr val="EEF3F7"/>
          </a:solidFill>
          <a:ln w="12700">
            <a:solidFill>
              <a:srgbClr val="EE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0079" y="3858768"/>
            <a:ext cx="1280160" cy="274320"/>
          </a:xfrm>
          <a:prstGeom prst="rect">
            <a:avLst/>
          </a:prstGeom>
          <a:noFill/>
        </p:spPr>
        <p:txBody>
          <a:bodyPr wrap="square" lIns="0" tIns="0" rIns="0" bIns="0" anchor="t">
            <a:spAutoFit/>
          </a:bodyPr>
          <a:lstStyle/>
          <a:p>
            <a:pPr algn="ctr">
              <a:buNone/>
            </a:pPr>
            <a:r>
              <a:rPr sz="1300" b="1" i="0">
                <a:solidFill>
                  <a:srgbClr val="2B2E36"/>
                </a:solidFill>
                <a:latin typeface="Calibri"/>
                <a:ea typeface="Calibri"/>
                <a:cs typeface="Calibri"/>
              </a:rPr>
              <a:t>Stage 03</a:t>
            </a:r>
          </a:p>
        </p:txBody>
      </p:sp>
      <p:sp>
        <p:nvSpPr>
          <p:cNvPr id="40" name="TextBox 39"/>
          <p:cNvSpPr txBox="1"/>
          <p:nvPr/>
        </p:nvSpPr>
        <p:spPr>
          <a:xfrm>
            <a:off x="640079" y="4251959"/>
            <a:ext cx="1280160" cy="274320"/>
          </a:xfrm>
          <a:prstGeom prst="rect">
            <a:avLst/>
          </a:prstGeom>
          <a:noFill/>
        </p:spPr>
        <p:txBody>
          <a:bodyPr wrap="square" lIns="0" tIns="0" rIns="0" bIns="0" anchor="t">
            <a:spAutoFit/>
          </a:bodyPr>
          <a:lstStyle/>
          <a:p>
            <a:pPr algn="ctr">
              <a:buNone/>
            </a:pPr>
            <a:r>
              <a:rPr sz="1050" b="0" i="0">
                <a:solidFill>
                  <a:srgbClr val="50555F"/>
                </a:solidFill>
                <a:latin typeface="Courier New"/>
                <a:ea typeface="Courier New"/>
                <a:cs typeface="Courier New"/>
              </a:rPr>
              <a:t>[code]_stage_03</a:t>
            </a:r>
          </a:p>
        </p:txBody>
      </p:sp>
      <p:cxnSp>
        <p:nvCxnSpPr>
          <p:cNvPr id="41" name="Connector 40"/>
          <p:cNvCxnSpPr/>
          <p:nvPr/>
        </p:nvCxnSpPr>
        <p:spPr>
          <a:xfrm flipH="1">
            <a:off x="10058400" y="4206240"/>
            <a:ext cx="210312" cy="0"/>
          </a:xfrm>
          <a:prstGeom prst="line">
            <a:avLst/>
          </a:prstGeom>
          <a:ln w="19050">
            <a:solidFill>
              <a:srgbClr val="7278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8567928" y="4206240"/>
            <a:ext cx="210312" cy="0"/>
          </a:xfrm>
          <a:prstGeom prst="line">
            <a:avLst/>
          </a:prstGeom>
          <a:ln w="19050">
            <a:solidFill>
              <a:srgbClr val="7278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803136" y="4206240"/>
            <a:ext cx="210312" cy="0"/>
          </a:xfrm>
          <a:prstGeom prst="line">
            <a:avLst/>
          </a:prstGeom>
          <a:ln w="19050">
            <a:solidFill>
              <a:srgbClr val="7278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5312664" y="4206240"/>
            <a:ext cx="210312" cy="0"/>
          </a:xfrm>
          <a:prstGeom prst="line">
            <a:avLst/>
          </a:prstGeom>
          <a:ln w="19050">
            <a:solidFill>
              <a:srgbClr val="7278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3547871" y="4206240"/>
            <a:ext cx="210313" cy="0"/>
          </a:xfrm>
          <a:prstGeom prst="line">
            <a:avLst/>
          </a:prstGeom>
          <a:ln w="19050">
            <a:solidFill>
              <a:srgbClr val="7278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2057399" y="4206240"/>
            <a:ext cx="210312" cy="0"/>
          </a:xfrm>
          <a:prstGeom prst="line">
            <a:avLst/>
          </a:prstGeom>
          <a:ln w="19050">
            <a:solidFill>
              <a:srgbClr val="72788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0908792" y="3200400"/>
            <a:ext cx="0" cy="594359"/>
          </a:xfrm>
          <a:prstGeom prst="line">
            <a:avLst/>
          </a:prstGeom>
          <a:ln w="19050">
            <a:solidFill>
              <a:srgbClr val="7278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10177272" y="5074920"/>
            <a:ext cx="1463040" cy="640080"/>
          </a:xfrm>
          <a:prstGeom prst="roundRect">
            <a:avLst>
              <a:gd name="adj" fmla="val 50000"/>
            </a:avLst>
          </a:prstGeom>
          <a:solidFill>
            <a:srgbClr val="2E5C8F"/>
          </a:solidFill>
          <a:ln>
            <a:solidFill>
              <a:srgbClr val="2E5C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250424" y="5074920"/>
            <a:ext cx="1316736" cy="640080"/>
          </a:xfrm>
          <a:prstGeom prst="rect">
            <a:avLst/>
          </a:prstGeom>
          <a:noFill/>
        </p:spPr>
        <p:txBody>
          <a:bodyPr wrap="square" lIns="0" tIns="0" rIns="0" bIns="0" anchor="ctr">
            <a:spAutoFit/>
          </a:bodyPr>
          <a:lstStyle/>
          <a:p>
            <a:pPr algn="ctr">
              <a:buNone/>
            </a:pPr>
            <a:r>
              <a:rPr sz="1200" b="1" i="0">
                <a:solidFill>
                  <a:srgbClr val="FFFFFF"/>
                </a:solidFill>
                <a:latin typeface="Calibri"/>
                <a:ea typeface="Calibri"/>
                <a:cs typeface="Calibri"/>
              </a:rPr>
              <a:t>Sample and unique valuesets</a:t>
            </a:r>
          </a:p>
        </p:txBody>
      </p:sp>
      <p:cxnSp>
        <p:nvCxnSpPr>
          <p:cNvPr id="50" name="Connector 49"/>
          <p:cNvCxnSpPr/>
          <p:nvPr/>
        </p:nvCxnSpPr>
        <p:spPr>
          <a:xfrm>
            <a:off x="10908792" y="4617720"/>
            <a:ext cx="0" cy="411480"/>
          </a:xfrm>
          <a:prstGeom prst="line">
            <a:avLst/>
          </a:prstGeom>
          <a:ln w="19050">
            <a:solidFill>
              <a:srgbClr val="7278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548640" y="5943600"/>
            <a:ext cx="329184" cy="182880"/>
          </a:xfrm>
          <a:prstGeom prst="roundRect">
            <a:avLst>
              <a:gd name="adj" fmla="val 50000"/>
            </a:avLst>
          </a:prstGeom>
          <a:solidFill>
            <a:srgbClr val="5F8FAF"/>
          </a:solidFill>
          <a:ln>
            <a:solidFill>
              <a:srgbClr val="5F8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69264" y="5916168"/>
            <a:ext cx="1188720" cy="237744"/>
          </a:xfrm>
          <a:prstGeom prst="rect">
            <a:avLst/>
          </a:prstGeom>
          <a:noFill/>
        </p:spPr>
        <p:txBody>
          <a:bodyPr wrap="square" lIns="0" tIns="0" rIns="0" bIns="0" anchor="t">
            <a:spAutoFit/>
          </a:bodyPr>
          <a:lstStyle/>
          <a:p>
            <a:pPr>
              <a:buNone/>
            </a:pPr>
            <a:r>
              <a:rPr sz="1100" b="0" i="0">
                <a:solidFill>
                  <a:srgbClr val="50555F"/>
                </a:solidFill>
                <a:latin typeface="Calibri"/>
                <a:ea typeface="Calibri"/>
                <a:cs typeface="Calibri"/>
              </a:rPr>
              <a:t>Transform process</a:t>
            </a:r>
          </a:p>
        </p:txBody>
      </p:sp>
      <p:sp>
        <p:nvSpPr>
          <p:cNvPr id="53" name="Rounded Rectangle 52"/>
          <p:cNvSpPr/>
          <p:nvPr/>
        </p:nvSpPr>
        <p:spPr>
          <a:xfrm>
            <a:off x="2432304" y="5943600"/>
            <a:ext cx="329184" cy="182880"/>
          </a:xfrm>
          <a:prstGeom prst="roundRect">
            <a:avLst>
              <a:gd name="adj" fmla="val 50000"/>
            </a:avLst>
          </a:prstGeom>
          <a:solidFill>
            <a:srgbClr val="2E5C8F"/>
          </a:solidFill>
          <a:ln>
            <a:solidFill>
              <a:srgbClr val="2E5C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852928" y="5916168"/>
            <a:ext cx="1051560" cy="237744"/>
          </a:xfrm>
          <a:prstGeom prst="rect">
            <a:avLst/>
          </a:prstGeom>
          <a:noFill/>
        </p:spPr>
        <p:txBody>
          <a:bodyPr wrap="square" lIns="0" tIns="0" rIns="0" bIns="0" anchor="t">
            <a:spAutoFit/>
          </a:bodyPr>
          <a:lstStyle/>
          <a:p>
            <a:pPr>
              <a:buNone/>
            </a:pPr>
            <a:r>
              <a:rPr sz="1100" b="0" i="0">
                <a:solidFill>
                  <a:srgbClr val="50555F"/>
                </a:solidFill>
                <a:latin typeface="Calibri"/>
                <a:ea typeface="Calibri"/>
                <a:cs typeface="Calibri"/>
              </a:rPr>
              <a:t>Extract process</a:t>
            </a:r>
          </a:p>
        </p:txBody>
      </p:sp>
      <p:sp>
        <p:nvSpPr>
          <p:cNvPr id="55" name="Rounded Rectangle 54"/>
          <p:cNvSpPr/>
          <p:nvPr/>
        </p:nvSpPr>
        <p:spPr>
          <a:xfrm>
            <a:off x="4178808" y="5943600"/>
            <a:ext cx="329184" cy="182880"/>
          </a:xfrm>
          <a:prstGeom prst="roundRect">
            <a:avLst>
              <a:gd name="adj" fmla="val 50000"/>
            </a:avLst>
          </a:prstGeom>
          <a:solidFill>
            <a:srgbClr val="A98B3C"/>
          </a:solidFill>
          <a:ln>
            <a:solidFill>
              <a:srgbClr val="A98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599432" y="5916168"/>
            <a:ext cx="1143000" cy="237744"/>
          </a:xfrm>
          <a:prstGeom prst="rect">
            <a:avLst/>
          </a:prstGeom>
          <a:noFill/>
        </p:spPr>
        <p:txBody>
          <a:bodyPr wrap="square" lIns="0" tIns="0" rIns="0" bIns="0" anchor="t">
            <a:spAutoFit/>
          </a:bodyPr>
          <a:lstStyle/>
          <a:p>
            <a:pPr>
              <a:buNone/>
            </a:pPr>
            <a:r>
              <a:rPr sz="1100" b="0" i="0">
                <a:solidFill>
                  <a:srgbClr val="50555F"/>
                </a:solidFill>
                <a:latin typeface="Calibri"/>
                <a:ea typeface="Calibri"/>
                <a:cs typeface="Calibri"/>
              </a:rPr>
              <a:t>Optional process</a:t>
            </a:r>
          </a:p>
        </p:txBody>
      </p:sp>
      <p:sp>
        <p:nvSpPr>
          <p:cNvPr id="57" name="Rounded Rectangle 56"/>
          <p:cNvSpPr/>
          <p:nvPr/>
        </p:nvSpPr>
        <p:spPr>
          <a:xfrm>
            <a:off x="6016752" y="5943600"/>
            <a:ext cx="329184" cy="182880"/>
          </a:xfrm>
          <a:prstGeom prst="roundRect">
            <a:avLst>
              <a:gd name="adj" fmla="val 10000"/>
            </a:avLst>
          </a:prstGeom>
          <a:solidFill>
            <a:srgbClr val="EEF3F7"/>
          </a:solidFill>
          <a:ln>
            <a:solidFill>
              <a:srgbClr val="8D93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437376" y="5916168"/>
            <a:ext cx="685800" cy="237744"/>
          </a:xfrm>
          <a:prstGeom prst="rect">
            <a:avLst/>
          </a:prstGeom>
          <a:noFill/>
        </p:spPr>
        <p:txBody>
          <a:bodyPr wrap="square" lIns="0" tIns="0" rIns="0" bIns="0" anchor="t">
            <a:spAutoFit/>
          </a:bodyPr>
          <a:lstStyle/>
          <a:p>
            <a:pPr>
              <a:buNone/>
            </a:pPr>
            <a:r>
              <a:rPr sz="1100" b="0" i="0">
                <a:solidFill>
                  <a:srgbClr val="50555F"/>
                </a:solidFill>
                <a:latin typeface="Calibri"/>
                <a:ea typeface="Calibri"/>
                <a:cs typeface="Calibri"/>
              </a:rPr>
              <a:t>Stage file</a:t>
            </a:r>
          </a:p>
        </p:txBody>
      </p:sp>
      <p:sp>
        <p:nvSpPr>
          <p:cNvPr id="59" name="Rounded Rectangle 58"/>
          <p:cNvSpPr/>
          <p:nvPr/>
        </p:nvSpPr>
        <p:spPr>
          <a:xfrm>
            <a:off x="7397496" y="5943600"/>
            <a:ext cx="329184" cy="182880"/>
          </a:xfrm>
          <a:prstGeom prst="roundRect">
            <a:avLst>
              <a:gd name="adj" fmla="val 10000"/>
            </a:avLst>
          </a:prstGeom>
          <a:solidFill>
            <a:srgbClr val="FFFFFF"/>
          </a:solidFill>
          <a:ln>
            <a:solidFill>
              <a:srgbClr val="A98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818120" y="5916168"/>
            <a:ext cx="1371600" cy="237744"/>
          </a:xfrm>
          <a:prstGeom prst="rect">
            <a:avLst/>
          </a:prstGeom>
          <a:noFill/>
        </p:spPr>
        <p:txBody>
          <a:bodyPr wrap="square" lIns="0" tIns="0" rIns="0" bIns="0" anchor="t">
            <a:spAutoFit/>
          </a:bodyPr>
          <a:lstStyle/>
          <a:p>
            <a:pPr>
              <a:buNone/>
            </a:pPr>
            <a:r>
              <a:rPr sz="1100" b="0" i="0">
                <a:solidFill>
                  <a:srgbClr val="50555F"/>
                </a:solidFill>
                <a:latin typeface="Calibri"/>
                <a:ea typeface="Calibri"/>
                <a:cs typeface="Calibri"/>
              </a:rPr>
              <a:t>Source, never edited</a:t>
            </a:r>
          </a:p>
        </p:txBody>
      </p:sp>
      <p:sp>
        <p:nvSpPr>
          <p:cNvPr id="61" name="TextBox 60"/>
          <p:cNvSpPr txBox="1"/>
          <p:nvPr/>
        </p:nvSpPr>
        <p:spPr>
          <a:xfrm>
            <a:off x="548640" y="6400800"/>
            <a:ext cx="7315200" cy="274320"/>
          </a:xfrm>
          <a:prstGeom prst="rect">
            <a:avLst/>
          </a:prstGeom>
          <a:noFill/>
        </p:spPr>
        <p:txBody>
          <a:bodyPr wrap="square" lIns="0" tIns="0" rIns="0" bIns="0" anchor="t">
            <a:spAutoFit/>
          </a:bodyPr>
          <a:lstStyle/>
          <a:p>
            <a:pPr>
              <a:buNone/>
            </a:pPr>
            <a:r>
              <a:rPr sz="1000" b="0" i="0">
                <a:solidFill>
                  <a:srgbClr val="8D939D"/>
                </a:solidFill>
                <a:latin typeface="Calibri"/>
                <a:ea typeface="Calibri"/>
                <a:cs typeface="Calibri"/>
              </a:rPr>
              <a:t>WKS10  ·  Building a Repeatable AI Pipeline</a:t>
            </a:r>
          </a:p>
        </p:txBody>
      </p:sp>
      <p:sp>
        <p:nvSpPr>
          <p:cNvPr id="62" name="TextBox 61"/>
          <p:cNvSpPr txBox="1"/>
          <p:nvPr/>
        </p:nvSpPr>
        <p:spPr>
          <a:xfrm>
            <a:off x="10725912" y="6400800"/>
            <a:ext cx="914400" cy="274320"/>
          </a:xfrm>
          <a:prstGeom prst="rect">
            <a:avLst/>
          </a:prstGeom>
          <a:noFill/>
        </p:spPr>
        <p:txBody>
          <a:bodyPr wrap="square" lIns="0" tIns="0" rIns="0" bIns="0" anchor="t">
            <a:spAutoFit/>
          </a:bodyPr>
          <a:lstStyle/>
          <a:p>
            <a:pPr algn="r">
              <a:buNone/>
            </a:pPr>
            <a:r>
              <a:rPr sz="1000" b="0" i="0">
                <a:solidFill>
                  <a:srgbClr val="8D939D"/>
                </a:solidFill>
                <a:latin typeface="Calibri"/>
                <a:ea typeface="Calibri"/>
                <a:cs typeface="Calibri"/>
              </a:rPr>
              <a:t>20</a:t>
            </a:r>
          </a:p>
        </p:txBody>
      </p:sp>
    </p:spTree>
    <p:extLst>
      <p:ext uri="{BB962C8B-B14F-4D97-AF65-F5344CB8AC3E}">
        <p14:creationId xmlns:p14="http://schemas.microsoft.com/office/powerpoint/2010/main" val="34572432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2B2E36"/>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marL="0" indent="0">
              <a:buNone/>
            </a:pPr>
            <a:r>
              <a:rPr lang="en-US" sz="3400" b="1" dirty="0">
                <a:solidFill>
                  <a:srgbClr val="FFFFFF"/>
                </a:solidFill>
                <a:latin typeface="Raleway" pitchFamily="34" charset="0"/>
                <a:ea typeface="Raleway" pitchFamily="34" charset="-122"/>
                <a:cs typeface="Raleway" pitchFamily="34" charset="-120"/>
              </a:rPr>
              <a:t>Key points for pipeline work</a:t>
            </a:r>
            <a:endParaRPr lang="en-US" sz="3400" dirty="0"/>
          </a:p>
        </p:txBody>
      </p:sp>
      <p:sp>
        <p:nvSpPr>
          <p:cNvPr id="3" name="Shape 1"/>
          <p:cNvSpPr/>
          <p:nvPr/>
        </p:nvSpPr>
        <p:spPr>
          <a:xfrm>
            <a:off x="548640" y="1645920"/>
            <a:ext cx="5394960" cy="4069080"/>
          </a:xfrm>
          <a:prstGeom prst="roundRect">
            <a:avLst>
              <a:gd name="adj" fmla="val 1798"/>
            </a:avLst>
          </a:prstGeom>
          <a:solidFill>
            <a:srgbClr val="383C46"/>
          </a:solidFill>
          <a:ln w="12700">
            <a:solidFill>
              <a:srgbClr val="383C46"/>
            </a:solidFill>
            <a:prstDash val="solid"/>
          </a:ln>
        </p:spPr>
        <p:txBody>
          <a:bodyPr/>
          <a:lstStyle/>
          <a:p>
            <a:endParaRPr lang="en-US"/>
          </a:p>
        </p:txBody>
      </p:sp>
      <p:sp>
        <p:nvSpPr>
          <p:cNvPr id="4" name="Shape 2"/>
          <p:cNvSpPr/>
          <p:nvPr/>
        </p:nvSpPr>
        <p:spPr>
          <a:xfrm>
            <a:off x="6263640" y="1645920"/>
            <a:ext cx="5376672" cy="4069080"/>
          </a:xfrm>
          <a:prstGeom prst="roundRect">
            <a:avLst>
              <a:gd name="adj" fmla="val 1798"/>
            </a:avLst>
          </a:prstGeom>
          <a:solidFill>
            <a:srgbClr val="383C46"/>
          </a:solidFill>
          <a:ln w="12700">
            <a:solidFill>
              <a:srgbClr val="383C46"/>
            </a:solidFill>
            <a:prstDash val="solid"/>
          </a:ln>
        </p:spPr>
        <p:txBody>
          <a:bodyPr/>
          <a:lstStyle/>
          <a:p>
            <a:endParaRPr lang="en-US"/>
          </a:p>
        </p:txBody>
      </p:sp>
      <p:sp>
        <p:nvSpPr>
          <p:cNvPr id="5" name="Text 3"/>
          <p:cNvSpPr txBox="1"/>
          <p:nvPr/>
        </p:nvSpPr>
        <p:spPr>
          <a:xfrm>
            <a:off x="914400" y="1920240"/>
            <a:ext cx="4572000" cy="274320"/>
          </a:xfrm>
          <a:prstGeom prst="rect">
            <a:avLst/>
          </a:prstGeom>
          <a:noFill/>
          <a:ln/>
        </p:spPr>
        <p:txBody>
          <a:bodyPr wrap="square" lIns="0" tIns="0" rIns="0" bIns="0" rtlCol="0" anchor="t"/>
          <a:lstStyle/>
          <a:p>
            <a:pPr marL="0" indent="0">
              <a:buNone/>
            </a:pPr>
            <a:r>
              <a:rPr lang="en-US" sz="1100" b="1" kern="0" spc="100" dirty="0">
                <a:solidFill>
                  <a:srgbClr val="9CBFD6"/>
                </a:solidFill>
                <a:latin typeface="Calibri" pitchFamily="34" charset="0"/>
                <a:ea typeface="Calibri" pitchFamily="34" charset="-122"/>
                <a:cs typeface="Calibri" pitchFamily="34" charset="-120"/>
              </a:rPr>
              <a:t>DO</a:t>
            </a:r>
            <a:endParaRPr lang="en-US" sz="1100" dirty="0"/>
          </a:p>
        </p:txBody>
      </p:sp>
      <p:sp>
        <p:nvSpPr>
          <p:cNvPr id="6" name="Text 4"/>
          <p:cNvSpPr/>
          <p:nvPr/>
        </p:nvSpPr>
        <p:spPr>
          <a:xfrm>
            <a:off x="914400" y="2286000"/>
            <a:ext cx="4754880" cy="3291840"/>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D4D8DE"/>
                </a:solidFill>
                <a:latin typeface="Calibri" pitchFamily="34" charset="0"/>
                <a:ea typeface="Calibri" pitchFamily="34" charset="-122"/>
                <a:cs typeface="Calibri" pitchFamily="34" charset="-120"/>
              </a:rPr>
              <a:t>Avoid runaway codebases</a:t>
            </a:r>
            <a:endParaRPr lang="en-US" sz="1450" dirty="0"/>
          </a:p>
          <a:p>
            <a:pPr marL="203200" indent="-203200">
              <a:spcAft>
                <a:spcPts val="800"/>
              </a:spcAft>
              <a:buSzPct val="100000"/>
              <a:buChar char="•"/>
            </a:pPr>
            <a:r>
              <a:rPr lang="en-US" sz="1450" dirty="0">
                <a:solidFill>
                  <a:srgbClr val="D4D8DE"/>
                </a:solidFill>
                <a:latin typeface="Calibri" pitchFamily="34" charset="0"/>
                <a:ea typeface="Calibri" pitchFamily="34" charset="-122"/>
                <a:cs typeface="Calibri" pitchFamily="34" charset="-120"/>
              </a:rPr>
              <a:t>Make it repeatable: config files and scripts</a:t>
            </a:r>
            <a:endParaRPr lang="en-US" sz="1450" dirty="0"/>
          </a:p>
          <a:p>
            <a:pPr marL="203200" indent="-203200">
              <a:spcAft>
                <a:spcPts val="800"/>
              </a:spcAft>
              <a:buSzPct val="100000"/>
              <a:buChar char="•"/>
            </a:pPr>
            <a:r>
              <a:rPr lang="en-US" sz="1450" dirty="0">
                <a:solidFill>
                  <a:srgbClr val="D4D8DE"/>
                </a:solidFill>
                <a:latin typeface="Calibri" pitchFamily="34" charset="0"/>
                <a:ea typeface="Calibri" pitchFamily="34" charset="-122"/>
                <a:cs typeface="Calibri" pitchFamily="34" charset="-120"/>
              </a:rPr>
              <a:t>Define metrics</a:t>
            </a:r>
            <a:endParaRPr lang="en-US" sz="1450" dirty="0"/>
          </a:p>
          <a:p>
            <a:pPr marL="203200" indent="-203200">
              <a:spcAft>
                <a:spcPts val="800"/>
              </a:spcAft>
              <a:buSzPct val="100000"/>
              <a:buChar char="•"/>
            </a:pPr>
            <a:r>
              <a:rPr lang="en-US" sz="1450" dirty="0">
                <a:solidFill>
                  <a:srgbClr val="D4D8DE"/>
                </a:solidFill>
                <a:latin typeface="Calibri" pitchFamily="34" charset="0"/>
                <a:ea typeface="Calibri" pitchFamily="34" charset="-122"/>
                <a:cs typeface="Calibri" pitchFamily="34" charset="-120"/>
              </a:rPr>
              <a:t>Provide examples for context</a:t>
            </a:r>
            <a:endParaRPr lang="en-US" sz="1450" dirty="0"/>
          </a:p>
          <a:p>
            <a:pPr marL="203200" indent="-203200">
              <a:spcAft>
                <a:spcPts val="800"/>
              </a:spcAft>
              <a:buSzPct val="100000"/>
              <a:buChar char="•"/>
            </a:pPr>
            <a:r>
              <a:rPr lang="en-US" sz="1450" dirty="0">
                <a:solidFill>
                  <a:srgbClr val="D4D8DE"/>
                </a:solidFill>
                <a:latin typeface="Calibri" pitchFamily="34" charset="0"/>
                <a:ea typeface="Calibri" pitchFamily="34" charset="-122"/>
                <a:cs typeface="Calibri" pitchFamily="34" charset="-120"/>
              </a:rPr>
              <a:t>Make a plan, then have Claude review it</a:t>
            </a:r>
            <a:endParaRPr lang="en-US" sz="1450" dirty="0"/>
          </a:p>
          <a:p>
            <a:pPr marL="203200" indent="-203200">
              <a:spcAft>
                <a:spcPts val="800"/>
              </a:spcAft>
              <a:buSzPct val="100000"/>
              <a:buChar char="•"/>
            </a:pPr>
            <a:r>
              <a:rPr lang="en-US" sz="1450" dirty="0">
                <a:solidFill>
                  <a:srgbClr val="D4D8DE"/>
                </a:solidFill>
                <a:latin typeface="Calibri" pitchFamily="34" charset="0"/>
                <a:ea typeface="Calibri" pitchFamily="34" charset="-122"/>
                <a:cs typeface="Calibri" pitchFamily="34" charset="-120"/>
              </a:rPr>
              <a:t>Use a stepwise architecture</a:t>
            </a:r>
            <a:endParaRPr lang="en-US" sz="1450" dirty="0"/>
          </a:p>
          <a:p>
            <a:pPr marL="203200" indent="-203200">
              <a:spcAft>
                <a:spcPts val="800"/>
              </a:spcAft>
              <a:buSzPct val="100000"/>
              <a:buChar char="•"/>
            </a:pPr>
            <a:r>
              <a:rPr lang="en-US" sz="1450" dirty="0">
                <a:solidFill>
                  <a:srgbClr val="D4D8DE"/>
                </a:solidFill>
                <a:latin typeface="Calibri" pitchFamily="34" charset="0"/>
                <a:ea typeface="Calibri" pitchFamily="34" charset="-122"/>
                <a:cs typeface="Calibri" pitchFamily="34" charset="-120"/>
              </a:rPr>
              <a:t>Generate a report at every stage</a:t>
            </a:r>
            <a:endParaRPr lang="en-US" sz="1450" dirty="0"/>
          </a:p>
          <a:p>
            <a:pPr marL="203200" indent="-203200">
              <a:spcAft>
                <a:spcPts val="800"/>
              </a:spcAft>
              <a:buSzPct val="100000"/>
              <a:buChar char="•"/>
            </a:pPr>
            <a:r>
              <a:rPr lang="en-US" sz="1450" dirty="0">
                <a:solidFill>
                  <a:srgbClr val="D4D8DE"/>
                </a:solidFill>
                <a:latin typeface="Calibri" pitchFamily="34" charset="0"/>
                <a:ea typeface="Calibri" pitchFamily="34" charset="-122"/>
                <a:cs typeface="Calibri" pitchFamily="34" charset="-120"/>
              </a:rPr>
              <a:t>Preserve the source in its verbatim form</a:t>
            </a:r>
            <a:endParaRPr lang="en-US" sz="1450" dirty="0"/>
          </a:p>
        </p:txBody>
      </p:sp>
      <p:sp>
        <p:nvSpPr>
          <p:cNvPr id="7" name="Text 5"/>
          <p:cNvSpPr txBox="1"/>
          <p:nvPr/>
        </p:nvSpPr>
        <p:spPr>
          <a:xfrm>
            <a:off x="6629400" y="1920240"/>
            <a:ext cx="4754880" cy="274320"/>
          </a:xfrm>
          <a:prstGeom prst="rect">
            <a:avLst/>
          </a:prstGeom>
          <a:noFill/>
          <a:ln/>
        </p:spPr>
        <p:txBody>
          <a:bodyPr wrap="square" lIns="0" tIns="0" rIns="0" bIns="0" rtlCol="0" anchor="t"/>
          <a:lstStyle/>
          <a:p>
            <a:pPr marL="0" indent="0">
              <a:buNone/>
            </a:pPr>
            <a:r>
              <a:rPr lang="en-US" sz="1100" b="1" kern="0" spc="100" dirty="0">
                <a:solidFill>
                  <a:srgbClr val="DCC37A"/>
                </a:solidFill>
                <a:latin typeface="Calibri" pitchFamily="34" charset="0"/>
                <a:ea typeface="Calibri" pitchFamily="34" charset="-122"/>
                <a:cs typeface="Calibri" pitchFamily="34" charset="-120"/>
              </a:rPr>
              <a:t>PROVENANCE: HOW DO WE TRACK AI USE?</a:t>
            </a:r>
            <a:endParaRPr lang="en-US" sz="1100" dirty="0"/>
          </a:p>
        </p:txBody>
      </p:sp>
      <p:sp>
        <p:nvSpPr>
          <p:cNvPr id="8" name="Text 6"/>
          <p:cNvSpPr/>
          <p:nvPr/>
        </p:nvSpPr>
        <p:spPr>
          <a:xfrm>
            <a:off x="6629400" y="2286000"/>
            <a:ext cx="4663440" cy="3291840"/>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D4D8DE"/>
                </a:solidFill>
                <a:latin typeface="Calibri" pitchFamily="34" charset="0"/>
                <a:ea typeface="Calibri" pitchFamily="34" charset="-122"/>
                <a:cs typeface="Calibri" pitchFamily="34" charset="-120"/>
              </a:rPr>
              <a:t>Store everything in a standardized GitHub repository</a:t>
            </a:r>
            <a:endParaRPr lang="en-US" sz="1450" dirty="0"/>
          </a:p>
          <a:p>
            <a:pPr marL="203200" indent="-203200">
              <a:spcAft>
                <a:spcPts val="800"/>
              </a:spcAft>
              <a:buSzPct val="100000"/>
              <a:buChar char="•"/>
            </a:pPr>
            <a:r>
              <a:rPr lang="en-US" sz="1450" dirty="0">
                <a:solidFill>
                  <a:srgbClr val="D4D8DE"/>
                </a:solidFill>
                <a:latin typeface="Calibri" pitchFamily="34" charset="0"/>
                <a:ea typeface="Calibri" pitchFamily="34" charset="-122"/>
                <a:cs typeface="Calibri" pitchFamily="34" charset="-120"/>
              </a:rPr>
              <a:t>Minimize reliance on AI for specific transformations: script the task so it runs without the model</a:t>
            </a:r>
            <a:endParaRPr lang="en-US" sz="1450" dirty="0"/>
          </a:p>
          <a:p>
            <a:pPr marL="203200" indent="-203200">
              <a:spcAft>
                <a:spcPts val="800"/>
              </a:spcAft>
              <a:buSzPct val="100000"/>
              <a:buChar char="•"/>
            </a:pPr>
            <a:r>
              <a:rPr lang="en-US" sz="1450" dirty="0">
                <a:solidFill>
                  <a:srgbClr val="D4D8DE"/>
                </a:solidFill>
                <a:latin typeface="Calibri" pitchFamily="34" charset="0"/>
                <a:ea typeface="Calibri" pitchFamily="34" charset="-122"/>
                <a:cs typeface="Calibri" pitchFamily="34" charset="-120"/>
              </a:rPr>
              <a:t>Save AI decisions as mapping files that can be reviewed and re-applied</a:t>
            </a:r>
            <a:endParaRPr lang="en-US" sz="1450" dirty="0"/>
          </a:p>
          <a:p>
            <a:pPr marL="203200" indent="-203200">
              <a:spcAft>
                <a:spcPts val="800"/>
              </a:spcAft>
              <a:buSzPct val="100000"/>
              <a:buChar char="•"/>
            </a:pPr>
            <a:r>
              <a:rPr lang="en-US" sz="1450" dirty="0">
                <a:solidFill>
                  <a:srgbClr val="D4D8DE"/>
                </a:solidFill>
                <a:latin typeface="Calibri" pitchFamily="34" charset="0"/>
                <a:ea typeface="Calibri" pitchFamily="34" charset="-122"/>
                <a:cs typeface="Calibri" pitchFamily="34" charset="-120"/>
              </a:rPr>
              <a:t>Generate reports</a:t>
            </a:r>
            <a:endParaRPr lang="en-US" sz="1450" dirty="0"/>
          </a:p>
        </p:txBody>
      </p:sp>
      <p:sp>
        <p:nvSpPr>
          <p:cNvPr id="9" name="Text 7"/>
          <p:cNvSpPr txBox="1"/>
          <p:nvPr/>
        </p:nvSpPr>
        <p:spPr>
          <a:xfrm>
            <a:off x="548640" y="5852160"/>
            <a:ext cx="10972800" cy="411480"/>
          </a:xfrm>
          <a:prstGeom prst="rect">
            <a:avLst/>
          </a:prstGeom>
          <a:noFill/>
          <a:ln/>
        </p:spPr>
        <p:txBody>
          <a:bodyPr wrap="square" lIns="0" tIns="0" rIns="0" bIns="0" rtlCol="0" anchor="ctr"/>
          <a:lstStyle/>
          <a:p>
            <a:pPr marL="0" indent="0">
              <a:buNone/>
            </a:pPr>
            <a:r>
              <a:rPr lang="en-US" sz="1800" i="1" dirty="0">
                <a:solidFill>
                  <a:srgbClr val="9CBFD6"/>
                </a:solidFill>
                <a:latin typeface="Raleway" pitchFamily="34" charset="0"/>
                <a:ea typeface="Raleway" pitchFamily="34" charset="-122"/>
                <a:cs typeface="Raleway" pitchFamily="34" charset="-120"/>
              </a:rPr>
              <a:t>Computers are still dumb. Plan for that.</a:t>
            </a:r>
            <a:endParaRPr lang="en-US" sz="1800" dirty="0"/>
          </a:p>
        </p:txBody>
      </p:sp>
      <p:sp>
        <p:nvSpPr>
          <p:cNvPr id="10" name="Text 8"/>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B3B8C2"/>
                </a:solidFill>
                <a:latin typeface="Calibri" pitchFamily="34" charset="0"/>
                <a:ea typeface="Calibri" pitchFamily="34" charset="-122"/>
                <a:cs typeface="Calibri" pitchFamily="34" charset="-120"/>
              </a:rPr>
              <a:t>WKS10  ·  Building a Repeatable AI Pipeline</a:t>
            </a:r>
            <a:endParaRPr lang="en-US" sz="1000" dirty="0"/>
          </a:p>
        </p:txBody>
      </p:sp>
      <p:sp>
        <p:nvSpPr>
          <p:cNvPr id="11" name="Text 9"/>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B3B8C2"/>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buNone/>
            </a:pPr>
            <a:r>
              <a:rPr sz="1100" b="1" i="0">
                <a:solidFill>
                  <a:srgbClr val="A98B3C"/>
                </a:solidFill>
                <a:latin typeface="Calibri"/>
                <a:ea typeface="Calibri"/>
                <a:cs typeface="Calibri"/>
              </a:rPr>
              <a:t>METHOD</a:t>
            </a:r>
          </a:p>
        </p:txBody>
      </p:sp>
      <p:sp>
        <p:nvSpPr>
          <p:cNvPr id="3" name="TextBox 2"/>
          <p:cNvSpPr txBox="1"/>
          <p:nvPr/>
        </p:nvSpPr>
        <p:spPr>
          <a:xfrm>
            <a:off x="548640" y="731520"/>
            <a:ext cx="11091672" cy="731520"/>
          </a:xfrm>
          <a:prstGeom prst="rect">
            <a:avLst/>
          </a:prstGeom>
          <a:noFill/>
        </p:spPr>
        <p:txBody>
          <a:bodyPr wrap="square" lIns="0" tIns="0" rIns="0" bIns="0" anchor="t">
            <a:spAutoFit/>
          </a:bodyPr>
          <a:lstStyle/>
          <a:p>
            <a:pPr>
              <a:buNone/>
            </a:pPr>
            <a:r>
              <a:rPr sz="3400" b="1" i="0">
                <a:solidFill>
                  <a:srgbClr val="2B2E36"/>
                </a:solidFill>
                <a:latin typeface="Raleway"/>
                <a:ea typeface="Raleway"/>
                <a:cs typeface="Raleway"/>
              </a:rPr>
              <a:t>Human-readable transformations</a:t>
            </a:r>
          </a:p>
        </p:txBody>
      </p:sp>
      <p:sp>
        <p:nvSpPr>
          <p:cNvPr id="4" name="TextBox 3"/>
          <p:cNvSpPr txBox="1"/>
          <p:nvPr/>
        </p:nvSpPr>
        <p:spPr>
          <a:xfrm>
            <a:off x="548640" y="1463040"/>
            <a:ext cx="11091672" cy="365760"/>
          </a:xfrm>
          <a:prstGeom prst="rect">
            <a:avLst/>
          </a:prstGeom>
          <a:noFill/>
        </p:spPr>
        <p:txBody>
          <a:bodyPr wrap="square" lIns="0" tIns="0" rIns="0" bIns="0" anchor="t">
            <a:spAutoFit/>
          </a:bodyPr>
          <a:lstStyle/>
          <a:p>
            <a:pPr>
              <a:buNone/>
            </a:pPr>
            <a:r>
              <a:rPr sz="1500" b="0" i="0">
                <a:solidFill>
                  <a:srgbClr val="50555F"/>
                </a:solidFill>
                <a:latin typeface="Calibri"/>
                <a:ea typeface="Calibri"/>
                <a:cs typeface="Calibri"/>
              </a:rPr>
              <a:t>Plain-language instructions an AI can follow to turn a source dataset into a target result.</a:t>
            </a:r>
          </a:p>
        </p:txBody>
      </p:sp>
      <p:sp>
        <p:nvSpPr>
          <p:cNvPr id="5" name="Rounded Rectangle 4"/>
          <p:cNvSpPr/>
          <p:nvPr/>
        </p:nvSpPr>
        <p:spPr>
          <a:xfrm>
            <a:off x="548640" y="2148840"/>
            <a:ext cx="3383280" cy="1783080"/>
          </a:xfrm>
          <a:prstGeom prst="roundRect">
            <a:avLst>
              <a:gd name="adj" fmla="val 1859"/>
            </a:avLst>
          </a:prstGeom>
          <a:solidFill>
            <a:srgbClr val="EEF3F7"/>
          </a:solidFill>
          <a:ln w="12700">
            <a:solidFill>
              <a:srgbClr val="EE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22959" y="2423160"/>
            <a:ext cx="502920" cy="502920"/>
          </a:xfrm>
          <a:prstGeom prst="ellipse">
            <a:avLst/>
          </a:prstGeom>
          <a:solidFill>
            <a:srgbClr val="2E5C8F"/>
          </a:solidFill>
          <a:ln>
            <a:solidFill>
              <a:srgbClr val="2E5C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3"/>
          <a:stretch>
            <a:fillRect/>
          </a:stretch>
        </p:blipFill>
        <p:spPr>
          <a:xfrm>
            <a:off x="948689" y="2548890"/>
            <a:ext cx="251460" cy="251460"/>
          </a:xfrm>
          <a:prstGeom prst="rect">
            <a:avLst/>
          </a:prstGeom>
        </p:spPr>
      </p:pic>
      <p:sp>
        <p:nvSpPr>
          <p:cNvPr id="8" name="TextBox 7"/>
          <p:cNvSpPr txBox="1"/>
          <p:nvPr/>
        </p:nvSpPr>
        <p:spPr>
          <a:xfrm>
            <a:off x="1508760" y="2423160"/>
            <a:ext cx="2286000" cy="502920"/>
          </a:xfrm>
          <a:prstGeom prst="rect">
            <a:avLst/>
          </a:prstGeom>
          <a:noFill/>
        </p:spPr>
        <p:txBody>
          <a:bodyPr wrap="square" lIns="0" tIns="0" rIns="0" bIns="0" anchor="ctr">
            <a:spAutoFit/>
          </a:bodyPr>
          <a:lstStyle/>
          <a:p>
            <a:pPr>
              <a:buNone/>
            </a:pPr>
            <a:r>
              <a:rPr sz="1600" b="1" i="0">
                <a:solidFill>
                  <a:srgbClr val="2B2E36"/>
                </a:solidFill>
                <a:latin typeface="Calibri"/>
                <a:ea typeface="Calibri"/>
                <a:cs typeface="Calibri"/>
              </a:rPr>
              <a:t>Opens the black box</a:t>
            </a:r>
          </a:p>
        </p:txBody>
      </p:sp>
      <p:sp>
        <p:nvSpPr>
          <p:cNvPr id="9" name="TextBox 8"/>
          <p:cNvSpPr txBox="1"/>
          <p:nvPr/>
        </p:nvSpPr>
        <p:spPr>
          <a:xfrm>
            <a:off x="822959" y="3063240"/>
            <a:ext cx="2880360" cy="777240"/>
          </a:xfrm>
          <a:prstGeom prst="rect">
            <a:avLst/>
          </a:prstGeom>
          <a:noFill/>
        </p:spPr>
        <p:txBody>
          <a:bodyPr wrap="square" lIns="0" tIns="0" rIns="0" bIns="0" anchor="t">
            <a:spAutoFit/>
          </a:bodyPr>
          <a:lstStyle/>
          <a:p>
            <a:pPr>
              <a:buNone/>
            </a:pPr>
            <a:r>
              <a:rPr sz="1300" b="0" i="0">
                <a:solidFill>
                  <a:srgbClr val="50555F"/>
                </a:solidFill>
                <a:latin typeface="Calibri"/>
                <a:ea typeface="Calibri"/>
                <a:cs typeface="Calibri"/>
              </a:rPr>
              <a:t>Anyone on the team can read, question and contribute to the logic.</a:t>
            </a:r>
          </a:p>
        </p:txBody>
      </p:sp>
      <p:sp>
        <p:nvSpPr>
          <p:cNvPr id="10" name="Rounded Rectangle 9"/>
          <p:cNvSpPr/>
          <p:nvPr/>
        </p:nvSpPr>
        <p:spPr>
          <a:xfrm>
            <a:off x="4114800" y="2148840"/>
            <a:ext cx="3383280" cy="1783080"/>
          </a:xfrm>
          <a:prstGeom prst="roundRect">
            <a:avLst>
              <a:gd name="adj" fmla="val 1859"/>
            </a:avLst>
          </a:prstGeom>
          <a:solidFill>
            <a:srgbClr val="EEF3F7"/>
          </a:solidFill>
          <a:ln w="12700">
            <a:solidFill>
              <a:srgbClr val="EE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389120" y="2423160"/>
            <a:ext cx="502920" cy="502920"/>
          </a:xfrm>
          <a:prstGeom prst="ellipse">
            <a:avLst/>
          </a:prstGeom>
          <a:solidFill>
            <a:srgbClr val="5F8FAF"/>
          </a:solidFill>
          <a:ln>
            <a:solidFill>
              <a:srgbClr val="5F8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png"/>
          <p:cNvPicPr>
            <a:picLocks noChangeAspect="1"/>
          </p:cNvPicPr>
          <p:nvPr/>
        </p:nvPicPr>
        <p:blipFill>
          <a:blip r:embed="rId4"/>
          <a:stretch>
            <a:fillRect/>
          </a:stretch>
        </p:blipFill>
        <p:spPr>
          <a:xfrm>
            <a:off x="4514850" y="2548890"/>
            <a:ext cx="251460" cy="251460"/>
          </a:xfrm>
          <a:prstGeom prst="rect">
            <a:avLst/>
          </a:prstGeom>
        </p:spPr>
      </p:pic>
      <p:sp>
        <p:nvSpPr>
          <p:cNvPr id="13" name="TextBox 12"/>
          <p:cNvSpPr txBox="1"/>
          <p:nvPr/>
        </p:nvSpPr>
        <p:spPr>
          <a:xfrm>
            <a:off x="5074920" y="2423160"/>
            <a:ext cx="2286000" cy="502920"/>
          </a:xfrm>
          <a:prstGeom prst="rect">
            <a:avLst/>
          </a:prstGeom>
          <a:noFill/>
        </p:spPr>
        <p:txBody>
          <a:bodyPr wrap="square" lIns="0" tIns="0" rIns="0" bIns="0" anchor="ctr">
            <a:spAutoFit/>
          </a:bodyPr>
          <a:lstStyle/>
          <a:p>
            <a:pPr>
              <a:buNone/>
            </a:pPr>
            <a:r>
              <a:rPr sz="1600" b="1" i="0">
                <a:solidFill>
                  <a:srgbClr val="2B2E36"/>
                </a:solidFill>
                <a:latin typeface="Calibri"/>
                <a:ea typeface="Calibri"/>
                <a:cs typeface="Calibri"/>
              </a:rPr>
              <a:t>Lowers the barrier</a:t>
            </a:r>
          </a:p>
        </p:txBody>
      </p:sp>
      <p:sp>
        <p:nvSpPr>
          <p:cNvPr id="14" name="TextBox 13"/>
          <p:cNvSpPr txBox="1"/>
          <p:nvPr/>
        </p:nvSpPr>
        <p:spPr>
          <a:xfrm>
            <a:off x="4389120" y="3063240"/>
            <a:ext cx="2880360" cy="777240"/>
          </a:xfrm>
          <a:prstGeom prst="rect">
            <a:avLst/>
          </a:prstGeom>
          <a:noFill/>
        </p:spPr>
        <p:txBody>
          <a:bodyPr wrap="square" lIns="0" tIns="0" rIns="0" bIns="0" anchor="t">
            <a:spAutoFit/>
          </a:bodyPr>
          <a:lstStyle/>
          <a:p>
            <a:pPr>
              <a:buNone/>
            </a:pPr>
            <a:r>
              <a:rPr sz="1300" b="0" i="0">
                <a:solidFill>
                  <a:srgbClr val="50555F"/>
                </a:solidFill>
                <a:latin typeface="Calibri"/>
                <a:ea typeface="Calibri"/>
                <a:cs typeface="Calibri"/>
              </a:rPr>
              <a:t>Domain experts can take part without needing to code.</a:t>
            </a:r>
          </a:p>
        </p:txBody>
      </p:sp>
      <p:sp>
        <p:nvSpPr>
          <p:cNvPr id="15" name="Rounded Rectangle 14"/>
          <p:cNvSpPr/>
          <p:nvPr/>
        </p:nvSpPr>
        <p:spPr>
          <a:xfrm>
            <a:off x="548640" y="4114800"/>
            <a:ext cx="3383280" cy="1783080"/>
          </a:xfrm>
          <a:prstGeom prst="roundRect">
            <a:avLst>
              <a:gd name="adj" fmla="val 1859"/>
            </a:avLst>
          </a:prstGeom>
          <a:solidFill>
            <a:srgbClr val="EEF3F7"/>
          </a:solidFill>
          <a:ln w="12700">
            <a:solidFill>
              <a:srgbClr val="EE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22959" y="4389120"/>
            <a:ext cx="502920" cy="502920"/>
          </a:xfrm>
          <a:prstGeom prst="ellipse">
            <a:avLst/>
          </a:prstGeom>
          <a:solidFill>
            <a:srgbClr val="5F8FAF"/>
          </a:solidFill>
          <a:ln>
            <a:solidFill>
              <a:srgbClr val="5F8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LuSearchCheck.png"/>
          <p:cNvPicPr>
            <a:picLocks noChangeAspect="1"/>
          </p:cNvPicPr>
          <p:nvPr/>
        </p:nvPicPr>
        <p:blipFill>
          <a:blip r:embed="rId5"/>
          <a:stretch>
            <a:fillRect/>
          </a:stretch>
        </p:blipFill>
        <p:spPr>
          <a:xfrm>
            <a:off x="948689" y="4514850"/>
            <a:ext cx="251460" cy="251460"/>
          </a:xfrm>
          <a:prstGeom prst="rect">
            <a:avLst/>
          </a:prstGeom>
        </p:spPr>
      </p:pic>
      <p:sp>
        <p:nvSpPr>
          <p:cNvPr id="18" name="TextBox 17"/>
          <p:cNvSpPr txBox="1"/>
          <p:nvPr/>
        </p:nvSpPr>
        <p:spPr>
          <a:xfrm>
            <a:off x="1508760" y="4389120"/>
            <a:ext cx="2286000" cy="502920"/>
          </a:xfrm>
          <a:prstGeom prst="rect">
            <a:avLst/>
          </a:prstGeom>
          <a:noFill/>
        </p:spPr>
        <p:txBody>
          <a:bodyPr wrap="square" lIns="0" tIns="0" rIns="0" bIns="0" anchor="ctr">
            <a:spAutoFit/>
          </a:bodyPr>
          <a:lstStyle/>
          <a:p>
            <a:pPr>
              <a:buNone/>
            </a:pPr>
            <a:r>
              <a:rPr sz="1600" b="1" i="0">
                <a:solidFill>
                  <a:srgbClr val="2B2E36"/>
                </a:solidFill>
                <a:latin typeface="Calibri"/>
                <a:ea typeface="Calibri"/>
                <a:cs typeface="Calibri"/>
              </a:rPr>
              <a:t>AI-reviewed documentation</a:t>
            </a:r>
          </a:p>
        </p:txBody>
      </p:sp>
      <p:sp>
        <p:nvSpPr>
          <p:cNvPr id="19" name="TextBox 18"/>
          <p:cNvSpPr txBox="1"/>
          <p:nvPr/>
        </p:nvSpPr>
        <p:spPr>
          <a:xfrm>
            <a:off x="822959" y="5029200"/>
            <a:ext cx="2880360" cy="777240"/>
          </a:xfrm>
          <a:prstGeom prst="rect">
            <a:avLst/>
          </a:prstGeom>
          <a:noFill/>
        </p:spPr>
        <p:txBody>
          <a:bodyPr wrap="square" lIns="0" tIns="0" rIns="0" bIns="0" anchor="t">
            <a:spAutoFit/>
          </a:bodyPr>
          <a:lstStyle/>
          <a:p>
            <a:pPr>
              <a:buNone/>
            </a:pPr>
            <a:r>
              <a:rPr sz="1300" b="0" i="0">
                <a:solidFill>
                  <a:srgbClr val="50555F"/>
                </a:solidFill>
                <a:latin typeface="Calibri"/>
                <a:ea typeface="Calibri"/>
                <a:cs typeface="Calibri"/>
              </a:rPr>
              <a:t>Models flag gaps and ambiguities, so the docs come out tighter and more complete.</a:t>
            </a:r>
          </a:p>
        </p:txBody>
      </p:sp>
      <p:sp>
        <p:nvSpPr>
          <p:cNvPr id="20" name="Rounded Rectangle 19"/>
          <p:cNvSpPr/>
          <p:nvPr/>
        </p:nvSpPr>
        <p:spPr>
          <a:xfrm>
            <a:off x="4114800" y="4114800"/>
            <a:ext cx="3383280" cy="1783080"/>
          </a:xfrm>
          <a:prstGeom prst="roundRect">
            <a:avLst>
              <a:gd name="adj" fmla="val 1859"/>
            </a:avLst>
          </a:prstGeom>
          <a:solidFill>
            <a:srgbClr val="EEF3F7"/>
          </a:solidFill>
          <a:ln w="12700">
            <a:solidFill>
              <a:srgbClr val="EE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4389120" y="4389120"/>
            <a:ext cx="502920" cy="502920"/>
          </a:xfrm>
          <a:prstGeom prst="ellipse">
            <a:avLst/>
          </a:prstGeom>
          <a:solidFill>
            <a:srgbClr val="A98B3C"/>
          </a:solidFill>
          <a:ln>
            <a:solidFill>
              <a:srgbClr val="A98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image.png"/>
          <p:cNvPicPr>
            <a:picLocks noChangeAspect="1"/>
          </p:cNvPicPr>
          <p:nvPr/>
        </p:nvPicPr>
        <p:blipFill>
          <a:blip r:embed="rId6"/>
          <a:stretch>
            <a:fillRect/>
          </a:stretch>
        </p:blipFill>
        <p:spPr>
          <a:xfrm>
            <a:off x="4514850" y="4514850"/>
            <a:ext cx="251460" cy="251460"/>
          </a:xfrm>
          <a:prstGeom prst="rect">
            <a:avLst/>
          </a:prstGeom>
        </p:spPr>
      </p:pic>
      <p:sp>
        <p:nvSpPr>
          <p:cNvPr id="23" name="TextBox 22"/>
          <p:cNvSpPr txBox="1"/>
          <p:nvPr/>
        </p:nvSpPr>
        <p:spPr>
          <a:xfrm>
            <a:off x="5074920" y="4389120"/>
            <a:ext cx="2286000" cy="502920"/>
          </a:xfrm>
          <a:prstGeom prst="rect">
            <a:avLst/>
          </a:prstGeom>
          <a:noFill/>
        </p:spPr>
        <p:txBody>
          <a:bodyPr wrap="square" lIns="0" tIns="0" rIns="0" bIns="0" anchor="ctr">
            <a:spAutoFit/>
          </a:bodyPr>
          <a:lstStyle/>
          <a:p>
            <a:pPr>
              <a:buNone/>
            </a:pPr>
            <a:r>
              <a:rPr sz="1600" b="1" i="0">
                <a:solidFill>
                  <a:srgbClr val="2B2E36"/>
                </a:solidFill>
                <a:latin typeface="Calibri"/>
                <a:ea typeface="Calibri"/>
                <a:cs typeface="Calibri"/>
              </a:rPr>
              <a:t>Built-in verification</a:t>
            </a:r>
          </a:p>
        </p:txBody>
      </p:sp>
      <p:sp>
        <p:nvSpPr>
          <p:cNvPr id="24" name="TextBox 23"/>
          <p:cNvSpPr txBox="1"/>
          <p:nvPr/>
        </p:nvSpPr>
        <p:spPr>
          <a:xfrm>
            <a:off x="4389120" y="5029200"/>
            <a:ext cx="2880360" cy="777240"/>
          </a:xfrm>
          <a:prstGeom prst="rect">
            <a:avLst/>
          </a:prstGeom>
          <a:noFill/>
        </p:spPr>
        <p:txBody>
          <a:bodyPr wrap="square" lIns="0" tIns="0" rIns="0" bIns="0" anchor="t">
            <a:spAutoFit/>
          </a:bodyPr>
          <a:lstStyle/>
          <a:p>
            <a:pPr>
              <a:buNone/>
            </a:pPr>
            <a:r>
              <a:rPr sz="1300" b="0" i="0">
                <a:solidFill>
                  <a:srgbClr val="50555F"/>
                </a:solidFill>
                <a:latin typeface="Calibri"/>
                <a:ea typeface="Calibri"/>
                <a:cs typeface="Calibri"/>
              </a:rPr>
              <a:t>The instructions become the spec the script is checked against.</a:t>
            </a:r>
          </a:p>
        </p:txBody>
      </p:sp>
      <p:sp>
        <p:nvSpPr>
          <p:cNvPr id="25" name="TextBox 24"/>
          <p:cNvSpPr txBox="1"/>
          <p:nvPr/>
        </p:nvSpPr>
        <p:spPr>
          <a:xfrm>
            <a:off x="7863840" y="2148840"/>
            <a:ext cx="3776472" cy="274320"/>
          </a:xfrm>
          <a:prstGeom prst="rect">
            <a:avLst/>
          </a:prstGeom>
          <a:noFill/>
        </p:spPr>
        <p:txBody>
          <a:bodyPr wrap="square" lIns="0" tIns="0" rIns="0" bIns="0" anchor="t">
            <a:spAutoFit/>
          </a:bodyPr>
          <a:lstStyle/>
          <a:p>
            <a:pPr>
              <a:buNone/>
            </a:pPr>
            <a:r>
              <a:rPr sz="1100" b="1" i="0">
                <a:solidFill>
                  <a:srgbClr val="A98B3C"/>
                </a:solidFill>
                <a:latin typeface="Calibri"/>
                <a:ea typeface="Calibri"/>
                <a:cs typeface="Calibri"/>
              </a:rPr>
              <a:t>THE CHALLENGE</a:t>
            </a:r>
          </a:p>
        </p:txBody>
      </p:sp>
      <p:sp>
        <p:nvSpPr>
          <p:cNvPr id="26" name="TextBox 25"/>
          <p:cNvSpPr txBox="1"/>
          <p:nvPr/>
        </p:nvSpPr>
        <p:spPr>
          <a:xfrm>
            <a:off x="7863840" y="2468880"/>
            <a:ext cx="3776472" cy="822960"/>
          </a:xfrm>
          <a:prstGeom prst="rect">
            <a:avLst/>
          </a:prstGeom>
          <a:noFill/>
        </p:spPr>
        <p:txBody>
          <a:bodyPr wrap="square" lIns="0" tIns="0" rIns="0" bIns="0" anchor="t">
            <a:spAutoFit/>
          </a:bodyPr>
          <a:lstStyle/>
          <a:p>
            <a:pPr>
              <a:buNone/>
            </a:pPr>
            <a:r>
              <a:rPr sz="2200" b="1" i="0">
                <a:solidFill>
                  <a:srgbClr val="2B2E36"/>
                </a:solidFill>
                <a:latin typeface="Raleway"/>
                <a:ea typeface="Raleway"/>
                <a:cs typeface="Raleway"/>
              </a:rPr>
              <a:t>Writing for AI is a skill of its own.</a:t>
            </a:r>
          </a:p>
        </p:txBody>
      </p:sp>
      <p:sp>
        <p:nvSpPr>
          <p:cNvPr id="27" name="TextBox 26"/>
          <p:cNvSpPr txBox="1"/>
          <p:nvPr/>
        </p:nvSpPr>
        <p:spPr>
          <a:xfrm>
            <a:off x="7863840" y="3310128"/>
            <a:ext cx="3776472" cy="1188720"/>
          </a:xfrm>
          <a:prstGeom prst="rect">
            <a:avLst/>
          </a:prstGeom>
          <a:noFill/>
        </p:spPr>
        <p:txBody>
          <a:bodyPr wrap="square" lIns="0" tIns="0" rIns="0" bIns="0" anchor="t">
            <a:spAutoFit/>
          </a:bodyPr>
          <a:lstStyle/>
          <a:p>
            <a:pPr>
              <a:buNone/>
            </a:pPr>
            <a:r>
              <a:rPr sz="1350" b="0" i="0">
                <a:solidFill>
                  <a:srgbClr val="50555F"/>
                </a:solidFill>
                <a:latin typeface="Calibri"/>
                <a:ea typeface="Calibri"/>
                <a:cs typeface="Calibri"/>
              </a:rPr>
              <a:t>Adults read between the lines of how someone speaks. AI, like a child, takes the words as written and fills every gap with a guess.</a:t>
            </a:r>
          </a:p>
        </p:txBody>
      </p:sp>
      <p:sp>
        <p:nvSpPr>
          <p:cNvPr id="28" name="Rounded Rectangle 27"/>
          <p:cNvSpPr/>
          <p:nvPr/>
        </p:nvSpPr>
        <p:spPr>
          <a:xfrm>
            <a:off x="7863840" y="4572000"/>
            <a:ext cx="3776472" cy="1325880"/>
          </a:xfrm>
          <a:prstGeom prst="roundRect">
            <a:avLst>
              <a:gd name="adj" fmla="val 1859"/>
            </a:avLst>
          </a:prstGeom>
          <a:solidFill>
            <a:srgbClr val="EEF3F7"/>
          </a:solidFill>
          <a:ln w="12700">
            <a:solidFill>
              <a:srgbClr val="EE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92440" y="4754880"/>
            <a:ext cx="3383280" cy="274320"/>
          </a:xfrm>
          <a:prstGeom prst="rect">
            <a:avLst/>
          </a:prstGeom>
          <a:noFill/>
        </p:spPr>
        <p:txBody>
          <a:bodyPr wrap="square" lIns="0" tIns="0" rIns="0" bIns="0" anchor="t">
            <a:spAutoFit/>
          </a:bodyPr>
          <a:lstStyle/>
          <a:p>
            <a:pPr>
              <a:buNone/>
            </a:pPr>
            <a:r>
              <a:rPr sz="1100" b="1" i="0">
                <a:solidFill>
                  <a:srgbClr val="5F8FAF"/>
                </a:solidFill>
                <a:latin typeface="Calibri"/>
                <a:ea typeface="Calibri"/>
                <a:cs typeface="Calibri"/>
              </a:rPr>
              <a:t>IN THE SEGMENTATION USE CASE</a:t>
            </a:r>
          </a:p>
        </p:txBody>
      </p:sp>
      <p:sp>
        <p:nvSpPr>
          <p:cNvPr id="30" name="TextBox 29"/>
          <p:cNvSpPr txBox="1"/>
          <p:nvPr/>
        </p:nvSpPr>
        <p:spPr>
          <a:xfrm>
            <a:off x="8092440" y="5047488"/>
            <a:ext cx="3383280" cy="777240"/>
          </a:xfrm>
          <a:prstGeom prst="rect">
            <a:avLst/>
          </a:prstGeom>
          <a:noFill/>
        </p:spPr>
        <p:txBody>
          <a:bodyPr wrap="square" lIns="0" tIns="0" rIns="0" bIns="0" anchor="t">
            <a:spAutoFit/>
          </a:bodyPr>
          <a:lstStyle/>
          <a:p>
            <a:pPr>
              <a:buNone/>
            </a:pPr>
            <a:r>
              <a:rPr sz="1250" b="0" i="0">
                <a:solidFill>
                  <a:srgbClr val="2B2E36"/>
                </a:solidFill>
                <a:latin typeface="Calibri"/>
                <a:ea typeface="Calibri"/>
                <a:cs typeface="Calibri"/>
              </a:rPr>
              <a:t>The cataloguing rules are written in plain English, stated in the prompt, enforced in code, and each has its own test.</a:t>
            </a:r>
          </a:p>
        </p:txBody>
      </p:sp>
      <p:sp>
        <p:nvSpPr>
          <p:cNvPr id="31" name="TextBox 30"/>
          <p:cNvSpPr txBox="1"/>
          <p:nvPr/>
        </p:nvSpPr>
        <p:spPr>
          <a:xfrm>
            <a:off x="548640" y="6400800"/>
            <a:ext cx="7315200" cy="274320"/>
          </a:xfrm>
          <a:prstGeom prst="rect">
            <a:avLst/>
          </a:prstGeom>
          <a:noFill/>
        </p:spPr>
        <p:txBody>
          <a:bodyPr wrap="square" lIns="0" tIns="0" rIns="0" bIns="0" anchor="t">
            <a:spAutoFit/>
          </a:bodyPr>
          <a:lstStyle/>
          <a:p>
            <a:pPr>
              <a:buNone/>
            </a:pPr>
            <a:r>
              <a:rPr sz="1000" b="0" i="0">
                <a:solidFill>
                  <a:srgbClr val="8D939D"/>
                </a:solidFill>
                <a:latin typeface="Calibri"/>
                <a:ea typeface="Calibri"/>
                <a:cs typeface="Calibri"/>
              </a:rPr>
              <a:t>WKS10  ·  Building a Repeatable AI Pipeline</a:t>
            </a:r>
          </a:p>
        </p:txBody>
      </p:sp>
      <p:sp>
        <p:nvSpPr>
          <p:cNvPr id="32" name="TextBox 31"/>
          <p:cNvSpPr txBox="1"/>
          <p:nvPr/>
        </p:nvSpPr>
        <p:spPr>
          <a:xfrm>
            <a:off x="10725912" y="6400800"/>
            <a:ext cx="914400" cy="274320"/>
          </a:xfrm>
          <a:prstGeom prst="rect">
            <a:avLst/>
          </a:prstGeom>
          <a:noFill/>
        </p:spPr>
        <p:txBody>
          <a:bodyPr wrap="square" lIns="0" tIns="0" rIns="0" bIns="0" anchor="t">
            <a:spAutoFit/>
          </a:bodyPr>
          <a:lstStyle/>
          <a:p>
            <a:pPr algn="r">
              <a:buNone/>
            </a:pPr>
            <a:r>
              <a:rPr sz="1000" b="0" i="0">
                <a:solidFill>
                  <a:srgbClr val="8D939D"/>
                </a:solidFill>
                <a:latin typeface="Calibri"/>
                <a:ea typeface="Calibri"/>
                <a:cs typeface="Calibr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A98B3C"/>
                </a:solidFill>
                <a:latin typeface="Calibri" pitchFamily="34" charset="0"/>
                <a:ea typeface="Calibri" pitchFamily="34" charset="-122"/>
                <a:cs typeface="Calibri" pitchFamily="34" charset="-120"/>
              </a:rPr>
              <a:t>THE TOOL</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B2E36"/>
                </a:solidFill>
                <a:latin typeface="Raleway" pitchFamily="34" charset="0"/>
                <a:ea typeface="Raleway" pitchFamily="34" charset="-122"/>
                <a:cs typeface="Raleway" pitchFamily="34" charset="-120"/>
              </a:rPr>
              <a:t>What is Claude Code?</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0555F"/>
                </a:solidFill>
                <a:latin typeface="Calibri" pitchFamily="34" charset="0"/>
                <a:ea typeface="Calibri" pitchFamily="34" charset="-122"/>
                <a:cs typeface="Calibri" pitchFamily="34" charset="-120"/>
              </a:rPr>
              <a:t>An AI assistant that works inside your project folder, not in a chat window.</a:t>
            </a:r>
            <a:endParaRPr lang="en-US" sz="1500" dirty="0"/>
          </a:p>
        </p:txBody>
      </p:sp>
      <p:sp>
        <p:nvSpPr>
          <p:cNvPr id="5" name="Shape 3"/>
          <p:cNvSpPr/>
          <p:nvPr/>
        </p:nvSpPr>
        <p:spPr>
          <a:xfrm>
            <a:off x="548640" y="2148840"/>
            <a:ext cx="5394960" cy="2606040"/>
          </a:xfrm>
          <a:prstGeom prst="roundRect">
            <a:avLst>
              <a:gd name="adj" fmla="val 2807"/>
            </a:avLst>
          </a:prstGeom>
          <a:solidFill>
            <a:srgbClr val="EEF3F7"/>
          </a:solidFill>
          <a:ln w="12700">
            <a:solidFill>
              <a:srgbClr val="EEF3F7"/>
            </a:solidFill>
            <a:prstDash val="solid"/>
          </a:ln>
        </p:spPr>
        <p:txBody>
          <a:bodyPr/>
          <a:lstStyle/>
          <a:p>
            <a:endParaRPr lang="en-US"/>
          </a:p>
        </p:txBody>
      </p:sp>
      <p:sp>
        <p:nvSpPr>
          <p:cNvPr id="6" name="Shape 4"/>
          <p:cNvSpPr/>
          <p:nvPr/>
        </p:nvSpPr>
        <p:spPr>
          <a:xfrm>
            <a:off x="6263640" y="2148840"/>
            <a:ext cx="5376672" cy="2606040"/>
          </a:xfrm>
          <a:prstGeom prst="roundRect">
            <a:avLst>
              <a:gd name="adj" fmla="val 2807"/>
            </a:avLst>
          </a:prstGeom>
          <a:solidFill>
            <a:srgbClr val="EEF3F7"/>
          </a:solidFill>
          <a:ln w="12700">
            <a:solidFill>
              <a:srgbClr val="EEF3F7"/>
            </a:solidFill>
            <a:prstDash val="solid"/>
          </a:ln>
        </p:spPr>
        <p:txBody>
          <a:bodyPr/>
          <a:lstStyle/>
          <a:p>
            <a:endParaRPr lang="en-US"/>
          </a:p>
        </p:txBody>
      </p:sp>
      <p:sp>
        <p:nvSpPr>
          <p:cNvPr id="7" name="Shape 5"/>
          <p:cNvSpPr/>
          <p:nvPr/>
        </p:nvSpPr>
        <p:spPr>
          <a:xfrm>
            <a:off x="548640" y="5029200"/>
            <a:ext cx="502920" cy="502920"/>
          </a:xfrm>
          <a:prstGeom prst="ellipse">
            <a:avLst/>
          </a:prstGeom>
          <a:solidFill>
            <a:srgbClr val="2E5C8F"/>
          </a:solidFill>
          <a:ln w="12700">
            <a:solidFill>
              <a:srgbClr val="2E5C8F"/>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674370" y="5154930"/>
            <a:ext cx="251460" cy="251460"/>
          </a:xfrm>
          <a:prstGeom prst="rect">
            <a:avLst/>
          </a:prstGeom>
        </p:spPr>
      </p:pic>
      <p:sp>
        <p:nvSpPr>
          <p:cNvPr id="9" name="Text 6"/>
          <p:cNvSpPr txBox="1"/>
          <p:nvPr/>
        </p:nvSpPr>
        <p:spPr>
          <a:xfrm>
            <a:off x="1188720" y="5001768"/>
            <a:ext cx="2926080" cy="274320"/>
          </a:xfrm>
          <a:prstGeom prst="rect">
            <a:avLst/>
          </a:prstGeom>
          <a:noFill/>
          <a:ln/>
        </p:spPr>
        <p:txBody>
          <a:bodyPr wrap="square" lIns="0" tIns="0" rIns="0" bIns="0" rtlCol="0" anchor="t"/>
          <a:lstStyle/>
          <a:p>
            <a:pPr marL="0" indent="0">
              <a:buNone/>
            </a:pPr>
            <a:r>
              <a:rPr lang="en-US" sz="1400" b="1" dirty="0">
                <a:solidFill>
                  <a:srgbClr val="2B2E36"/>
                </a:solidFill>
                <a:latin typeface="Calibri" pitchFamily="34" charset="0"/>
                <a:ea typeface="Calibri" pitchFamily="34" charset="-122"/>
                <a:cs typeface="Calibri" pitchFamily="34" charset="-120"/>
              </a:rPr>
              <a:t>Install</a:t>
            </a:r>
            <a:endParaRPr lang="en-US" sz="1400" dirty="0"/>
          </a:p>
        </p:txBody>
      </p:sp>
      <p:sp>
        <p:nvSpPr>
          <p:cNvPr id="10" name="Text 7"/>
          <p:cNvSpPr txBox="1"/>
          <p:nvPr/>
        </p:nvSpPr>
        <p:spPr>
          <a:xfrm>
            <a:off x="1188720" y="5285232"/>
            <a:ext cx="2926080" cy="27432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Desktop app, VS Code extension or terminal</a:t>
            </a:r>
            <a:endParaRPr lang="en-US" sz="1250" dirty="0"/>
          </a:p>
        </p:txBody>
      </p:sp>
      <p:sp>
        <p:nvSpPr>
          <p:cNvPr id="11" name="Shape 8"/>
          <p:cNvSpPr/>
          <p:nvPr/>
        </p:nvSpPr>
        <p:spPr>
          <a:xfrm>
            <a:off x="4297680" y="5029200"/>
            <a:ext cx="502920" cy="502920"/>
          </a:xfrm>
          <a:prstGeom prst="ellipse">
            <a:avLst/>
          </a:prstGeom>
          <a:solidFill>
            <a:srgbClr val="2E5C8F"/>
          </a:solidFill>
          <a:ln w="12700">
            <a:solidFill>
              <a:srgbClr val="2E5C8F"/>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423410" y="5154930"/>
            <a:ext cx="251460" cy="251460"/>
          </a:xfrm>
          <a:prstGeom prst="rect">
            <a:avLst/>
          </a:prstGeom>
        </p:spPr>
      </p:pic>
      <p:sp>
        <p:nvSpPr>
          <p:cNvPr id="13" name="Text 9"/>
          <p:cNvSpPr txBox="1"/>
          <p:nvPr/>
        </p:nvSpPr>
        <p:spPr>
          <a:xfrm>
            <a:off x="4937760" y="5001768"/>
            <a:ext cx="2926080" cy="274320"/>
          </a:xfrm>
          <a:prstGeom prst="rect">
            <a:avLst/>
          </a:prstGeom>
          <a:noFill/>
          <a:ln/>
        </p:spPr>
        <p:txBody>
          <a:bodyPr wrap="square" lIns="0" tIns="0" rIns="0" bIns="0" rtlCol="0" anchor="t"/>
          <a:lstStyle/>
          <a:p>
            <a:pPr marL="0" indent="0">
              <a:buNone/>
            </a:pPr>
            <a:r>
              <a:rPr lang="en-US" sz="1400" b="1" dirty="0">
                <a:solidFill>
                  <a:srgbClr val="2B2E36"/>
                </a:solidFill>
                <a:latin typeface="Calibri" pitchFamily="34" charset="0"/>
                <a:ea typeface="Calibri" pitchFamily="34" charset="-122"/>
                <a:cs typeface="Calibri" pitchFamily="34" charset="-120"/>
              </a:rPr>
              <a:t>Sign in</a:t>
            </a:r>
            <a:endParaRPr lang="en-US" sz="1400" dirty="0"/>
          </a:p>
        </p:txBody>
      </p:sp>
      <p:sp>
        <p:nvSpPr>
          <p:cNvPr id="14" name="Text 10"/>
          <p:cNvSpPr txBox="1"/>
          <p:nvPr/>
        </p:nvSpPr>
        <p:spPr>
          <a:xfrm>
            <a:off x="4937760" y="5285232"/>
            <a:ext cx="2926080" cy="27432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Paid Claude plan or API account</a:t>
            </a:r>
            <a:endParaRPr lang="en-US" sz="1250" dirty="0"/>
          </a:p>
        </p:txBody>
      </p:sp>
      <p:sp>
        <p:nvSpPr>
          <p:cNvPr id="15" name="Shape 11"/>
          <p:cNvSpPr/>
          <p:nvPr/>
        </p:nvSpPr>
        <p:spPr>
          <a:xfrm>
            <a:off x="8046720" y="5029200"/>
            <a:ext cx="502920" cy="502920"/>
          </a:xfrm>
          <a:prstGeom prst="ellipse">
            <a:avLst/>
          </a:prstGeom>
          <a:solidFill>
            <a:srgbClr val="A98B3C"/>
          </a:solidFill>
          <a:ln w="12700">
            <a:solidFill>
              <a:srgbClr val="A98B3C"/>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172450" y="5154930"/>
            <a:ext cx="251460" cy="251460"/>
          </a:xfrm>
          <a:prstGeom prst="rect">
            <a:avLst/>
          </a:prstGeom>
        </p:spPr>
      </p:pic>
      <p:sp>
        <p:nvSpPr>
          <p:cNvPr id="17" name="Text 12"/>
          <p:cNvSpPr txBox="1"/>
          <p:nvPr/>
        </p:nvSpPr>
        <p:spPr>
          <a:xfrm>
            <a:off x="8686800" y="5001768"/>
            <a:ext cx="2926080" cy="274320"/>
          </a:xfrm>
          <a:prstGeom prst="rect">
            <a:avLst/>
          </a:prstGeom>
          <a:noFill/>
          <a:ln/>
        </p:spPr>
        <p:txBody>
          <a:bodyPr wrap="square" lIns="0" tIns="0" rIns="0" bIns="0" rtlCol="0" anchor="t"/>
          <a:lstStyle/>
          <a:p>
            <a:pPr marL="0" indent="0">
              <a:buNone/>
            </a:pPr>
            <a:r>
              <a:rPr lang="en-US" sz="1400" b="1" dirty="0">
                <a:solidFill>
                  <a:srgbClr val="2B2E36"/>
                </a:solidFill>
                <a:latin typeface="Calibri" pitchFamily="34" charset="0"/>
                <a:ea typeface="Calibri" pitchFamily="34" charset="-122"/>
                <a:cs typeface="Calibri" pitchFamily="34" charset="-120"/>
              </a:rPr>
              <a:t>Open the repository</a:t>
            </a:r>
            <a:endParaRPr lang="en-US" sz="1400" dirty="0"/>
          </a:p>
        </p:txBody>
      </p:sp>
      <p:sp>
        <p:nvSpPr>
          <p:cNvPr id="18" name="Text 13"/>
          <p:cNvSpPr txBox="1"/>
          <p:nvPr/>
        </p:nvSpPr>
        <p:spPr>
          <a:xfrm>
            <a:off x="8686800" y="5285232"/>
            <a:ext cx="2926080" cy="27432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Claude reads CLAUDE.md and the docs</a:t>
            </a:r>
            <a:endParaRPr lang="en-US" sz="1250" dirty="0"/>
          </a:p>
        </p:txBody>
      </p:sp>
      <p:sp>
        <p:nvSpPr>
          <p:cNvPr id="19" name="Text 14"/>
          <p:cNvSpPr txBox="1"/>
          <p:nvPr/>
        </p:nvSpPr>
        <p:spPr>
          <a:xfrm>
            <a:off x="914400" y="2377440"/>
            <a:ext cx="4572000" cy="274320"/>
          </a:xfrm>
          <a:prstGeom prst="rect">
            <a:avLst/>
          </a:prstGeom>
          <a:noFill/>
          <a:ln/>
        </p:spPr>
        <p:txBody>
          <a:bodyPr wrap="square" lIns="0" tIns="0" rIns="0" bIns="0" rtlCol="0" anchor="t"/>
          <a:lstStyle/>
          <a:p>
            <a:pPr marL="0" indent="0">
              <a:buNone/>
            </a:pPr>
            <a:r>
              <a:rPr lang="en-US" sz="1100" b="1" kern="0" spc="100" dirty="0">
                <a:solidFill>
                  <a:srgbClr val="2E5C8F"/>
                </a:solidFill>
                <a:latin typeface="Calibri" pitchFamily="34" charset="0"/>
                <a:ea typeface="Calibri" pitchFamily="34" charset="-122"/>
                <a:cs typeface="Calibri" pitchFamily="34" charset="-120"/>
              </a:rPr>
              <a:t>A CHAT ASSISTANT</a:t>
            </a:r>
            <a:endParaRPr lang="en-US" sz="1100" dirty="0"/>
          </a:p>
        </p:txBody>
      </p:sp>
      <p:sp>
        <p:nvSpPr>
          <p:cNvPr id="20" name="Text 15"/>
          <p:cNvSpPr/>
          <p:nvPr/>
        </p:nvSpPr>
        <p:spPr>
          <a:xfrm>
            <a:off x="914400" y="2743200"/>
            <a:ext cx="475488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B2E36"/>
                </a:solidFill>
                <a:latin typeface="Calibri" pitchFamily="34" charset="0"/>
                <a:ea typeface="Calibri" pitchFamily="34" charset="-122"/>
                <a:cs typeface="Calibri" pitchFamily="34" charset="-120"/>
              </a:rPr>
              <a:t>You paste data in, and copy answers out</a:t>
            </a:r>
            <a:endParaRPr lang="en-US" sz="1500" dirty="0"/>
          </a:p>
          <a:p>
            <a:pPr marL="203200" indent="-203200">
              <a:spcAft>
                <a:spcPts val="800"/>
              </a:spcAft>
              <a:buSzPct val="100000"/>
              <a:buChar char="•"/>
            </a:pPr>
            <a:r>
              <a:rPr lang="en-US" sz="1500" dirty="0">
                <a:solidFill>
                  <a:srgbClr val="2B2E36"/>
                </a:solidFill>
                <a:latin typeface="Calibri" pitchFamily="34" charset="0"/>
                <a:ea typeface="Calibri" pitchFamily="34" charset="-122"/>
                <a:cs typeface="Calibri" pitchFamily="34" charset="-120"/>
              </a:rPr>
              <a:t>Forgets the project between conversations</a:t>
            </a:r>
            <a:endParaRPr lang="en-US" sz="1500" dirty="0"/>
          </a:p>
          <a:p>
            <a:pPr marL="203200" indent="-203200">
              <a:spcAft>
                <a:spcPts val="800"/>
              </a:spcAft>
              <a:buSzPct val="100000"/>
              <a:buChar char="•"/>
            </a:pPr>
            <a:r>
              <a:rPr lang="en-US" sz="1500" dirty="0">
                <a:solidFill>
                  <a:srgbClr val="2B2E36"/>
                </a:solidFill>
                <a:latin typeface="Calibri" pitchFamily="34" charset="0"/>
                <a:ea typeface="Calibri" pitchFamily="34" charset="-122"/>
                <a:cs typeface="Calibri" pitchFamily="34" charset="-120"/>
              </a:rPr>
              <a:t>Describes code, but you have to run it</a:t>
            </a:r>
            <a:endParaRPr lang="en-US" sz="1500" dirty="0"/>
          </a:p>
          <a:p>
            <a:pPr marL="203200" indent="-203200">
              <a:spcAft>
                <a:spcPts val="800"/>
              </a:spcAft>
              <a:buSzPct val="100000"/>
              <a:buChar char="•"/>
            </a:pPr>
            <a:r>
              <a:rPr lang="en-US" sz="1500" dirty="0">
                <a:solidFill>
                  <a:srgbClr val="2B2E36"/>
                </a:solidFill>
                <a:latin typeface="Calibri" pitchFamily="34" charset="0"/>
                <a:ea typeface="Calibri" pitchFamily="34" charset="-122"/>
                <a:cs typeface="Calibri" pitchFamily="34" charset="-120"/>
              </a:rPr>
              <a:t>Results live in the chat history</a:t>
            </a:r>
            <a:endParaRPr lang="en-US" sz="1500" dirty="0"/>
          </a:p>
        </p:txBody>
      </p:sp>
      <p:sp>
        <p:nvSpPr>
          <p:cNvPr id="21" name="Text 16"/>
          <p:cNvSpPr txBox="1"/>
          <p:nvPr/>
        </p:nvSpPr>
        <p:spPr>
          <a:xfrm>
            <a:off x="6629400" y="2377440"/>
            <a:ext cx="4572000" cy="274320"/>
          </a:xfrm>
          <a:prstGeom prst="rect">
            <a:avLst/>
          </a:prstGeom>
          <a:noFill/>
          <a:ln/>
        </p:spPr>
        <p:txBody>
          <a:bodyPr wrap="square" lIns="0" tIns="0" rIns="0" bIns="0" rtlCol="0" anchor="t"/>
          <a:lstStyle/>
          <a:p>
            <a:pPr marL="0" indent="0">
              <a:buNone/>
            </a:pPr>
            <a:r>
              <a:rPr lang="en-US" sz="1100" b="1" kern="0" spc="100" dirty="0">
                <a:solidFill>
                  <a:srgbClr val="5F8FAF"/>
                </a:solidFill>
                <a:latin typeface="Calibri" pitchFamily="34" charset="0"/>
                <a:ea typeface="Calibri" pitchFamily="34" charset="-122"/>
                <a:cs typeface="Calibri" pitchFamily="34" charset="-120"/>
              </a:rPr>
              <a:t>CLAUDE CODE</a:t>
            </a:r>
            <a:endParaRPr lang="en-US" sz="1100" dirty="0"/>
          </a:p>
        </p:txBody>
      </p:sp>
      <p:sp>
        <p:nvSpPr>
          <p:cNvPr id="22" name="Text 17"/>
          <p:cNvSpPr/>
          <p:nvPr/>
        </p:nvSpPr>
        <p:spPr>
          <a:xfrm>
            <a:off x="6629400" y="2743200"/>
            <a:ext cx="475488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B2E36"/>
                </a:solidFill>
                <a:latin typeface="Calibri" pitchFamily="34" charset="0"/>
                <a:ea typeface="Calibri" pitchFamily="34" charset="-122"/>
                <a:cs typeface="Calibri" pitchFamily="34" charset="-120"/>
              </a:rPr>
              <a:t>Reads and writes the files in your repository</a:t>
            </a:r>
            <a:endParaRPr lang="en-US" sz="1500" dirty="0"/>
          </a:p>
          <a:p>
            <a:pPr marL="203200" indent="-203200">
              <a:spcAft>
                <a:spcPts val="800"/>
              </a:spcAft>
              <a:buSzPct val="100000"/>
              <a:buChar char="•"/>
            </a:pPr>
            <a:r>
              <a:rPr lang="en-US" sz="1500" dirty="0">
                <a:solidFill>
                  <a:srgbClr val="2B2E36"/>
                </a:solidFill>
                <a:latin typeface="Calibri" pitchFamily="34" charset="0"/>
                <a:ea typeface="Calibri" pitchFamily="34" charset="-122"/>
                <a:cs typeface="Calibri" pitchFamily="34" charset="-120"/>
              </a:rPr>
              <a:t>Reads project rules from CLAUDE.md in every session</a:t>
            </a:r>
            <a:endParaRPr lang="en-US" sz="1500" dirty="0"/>
          </a:p>
          <a:p>
            <a:pPr marL="203200" indent="-203200">
              <a:spcAft>
                <a:spcPts val="800"/>
              </a:spcAft>
              <a:buSzPct val="100000"/>
              <a:buChar char="•"/>
            </a:pPr>
            <a:r>
              <a:rPr lang="en-US" sz="1500" dirty="0">
                <a:solidFill>
                  <a:srgbClr val="2B2E36"/>
                </a:solidFill>
                <a:latin typeface="Calibri" pitchFamily="34" charset="0"/>
                <a:ea typeface="Calibri" pitchFamily="34" charset="-122"/>
                <a:cs typeface="Calibri" pitchFamily="34" charset="-120"/>
              </a:rPr>
              <a:t>Writes scripts, runs them, and reads the output</a:t>
            </a:r>
            <a:endParaRPr lang="en-US" sz="1500" dirty="0"/>
          </a:p>
          <a:p>
            <a:pPr marL="203200" indent="-203200">
              <a:spcAft>
                <a:spcPts val="800"/>
              </a:spcAft>
              <a:buSzPct val="100000"/>
              <a:buChar char="•"/>
            </a:pPr>
            <a:r>
              <a:rPr lang="en-US" sz="1500" dirty="0">
                <a:solidFill>
                  <a:srgbClr val="2B2E36"/>
                </a:solidFill>
                <a:latin typeface="Calibri" pitchFamily="34" charset="0"/>
                <a:ea typeface="Calibri" pitchFamily="34" charset="-122"/>
                <a:cs typeface="Calibri" pitchFamily="34" charset="-120"/>
              </a:rPr>
              <a:t>Asks before it edits files or runs commands</a:t>
            </a:r>
            <a:endParaRPr lang="en-US" sz="1500" dirty="0"/>
          </a:p>
          <a:p>
            <a:pPr marL="203200" indent="-203200">
              <a:spcAft>
                <a:spcPts val="800"/>
              </a:spcAft>
              <a:buSzPct val="100000"/>
              <a:buChar char="•"/>
            </a:pPr>
            <a:r>
              <a:rPr lang="en-US" sz="1500" dirty="0">
                <a:solidFill>
                  <a:srgbClr val="2B2E36"/>
                </a:solidFill>
                <a:latin typeface="Calibri" pitchFamily="34" charset="0"/>
                <a:ea typeface="Calibri" pitchFamily="34" charset="-122"/>
                <a:cs typeface="Calibri" pitchFamily="34" charset="-120"/>
              </a:rPr>
              <a:t>Results are files: stages, scripts, reports</a:t>
            </a:r>
            <a:endParaRPr lang="en-US" sz="1500" dirty="0"/>
          </a:p>
        </p:txBody>
      </p:sp>
      <p:sp>
        <p:nvSpPr>
          <p:cNvPr id="23" name="Text 18"/>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D939D"/>
                </a:solidFill>
                <a:latin typeface="Calibri" pitchFamily="34" charset="0"/>
                <a:ea typeface="Calibri" pitchFamily="34" charset="-122"/>
                <a:cs typeface="Calibri" pitchFamily="34" charset="-120"/>
              </a:rPr>
              <a:t>WKS10  ·  Building a Repeatable AI Pipeline</a:t>
            </a:r>
            <a:endParaRPr lang="en-US" sz="1000" dirty="0"/>
          </a:p>
        </p:txBody>
      </p:sp>
      <p:sp>
        <p:nvSpPr>
          <p:cNvPr id="24" name="Text 19"/>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8D939D"/>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A98B3C"/>
                </a:solidFill>
                <a:latin typeface="Calibri" pitchFamily="34" charset="0"/>
                <a:ea typeface="Calibri" pitchFamily="34" charset="-122"/>
                <a:cs typeface="Calibri" pitchFamily="34" charset="-120"/>
              </a:rPr>
              <a:t>SOURCE AND TARGET</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B2E36"/>
                </a:solidFill>
                <a:latin typeface="Raleway" pitchFamily="34" charset="0"/>
                <a:ea typeface="Raleway" pitchFamily="34" charset="-122"/>
                <a:cs typeface="Raleway" pitchFamily="34" charset="-120"/>
              </a:rPr>
              <a:t>The workshop repository</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0555F"/>
                </a:solidFill>
                <a:latin typeface="Calibri" pitchFamily="34" charset="0"/>
                <a:ea typeface="Calibri" pitchFamily="34" charset="-122"/>
                <a:cs typeface="Calibri" pitchFamily="34" charset="-120"/>
              </a:rPr>
              <a:t>The source is never changed. Every step writes a new numbered file and a report.</a:t>
            </a:r>
            <a:endParaRPr lang="en-US" sz="1500" dirty="0"/>
          </a:p>
        </p:txBody>
      </p:sp>
      <p:sp>
        <p:nvSpPr>
          <p:cNvPr id="5" name="Shape 3"/>
          <p:cNvSpPr/>
          <p:nvPr/>
        </p:nvSpPr>
        <p:spPr>
          <a:xfrm>
            <a:off x="548640" y="2286000"/>
            <a:ext cx="3429000" cy="1737360"/>
          </a:xfrm>
          <a:prstGeom prst="roundRect">
            <a:avLst>
              <a:gd name="adj" fmla="val 4211"/>
            </a:avLst>
          </a:prstGeom>
          <a:solidFill>
            <a:srgbClr val="EEF3F7"/>
          </a:solidFill>
          <a:ln w="12700">
            <a:solidFill>
              <a:srgbClr val="EEF3F7"/>
            </a:solidFill>
            <a:prstDash val="solid"/>
          </a:ln>
        </p:spPr>
        <p:txBody>
          <a:bodyPr/>
          <a:lstStyle/>
          <a:p>
            <a:endParaRPr lang="en-US"/>
          </a:p>
        </p:txBody>
      </p:sp>
      <p:sp>
        <p:nvSpPr>
          <p:cNvPr id="6" name="Shape 4"/>
          <p:cNvSpPr/>
          <p:nvPr/>
        </p:nvSpPr>
        <p:spPr>
          <a:xfrm>
            <a:off x="822960" y="2514600"/>
            <a:ext cx="502920" cy="502920"/>
          </a:xfrm>
          <a:prstGeom prst="ellipse">
            <a:avLst/>
          </a:prstGeom>
          <a:solidFill>
            <a:srgbClr val="2E5C8F"/>
          </a:solidFill>
          <a:ln w="12700">
            <a:solidFill>
              <a:srgbClr val="2E5C8F"/>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48690" y="2640330"/>
            <a:ext cx="251460" cy="251460"/>
          </a:xfrm>
          <a:prstGeom prst="rect">
            <a:avLst/>
          </a:prstGeom>
        </p:spPr>
      </p:pic>
      <p:sp>
        <p:nvSpPr>
          <p:cNvPr id="8" name="Text 5"/>
          <p:cNvSpPr txBox="1"/>
          <p:nvPr/>
        </p:nvSpPr>
        <p:spPr>
          <a:xfrm>
            <a:off x="1463040" y="2514600"/>
            <a:ext cx="2468880" cy="502920"/>
          </a:xfrm>
          <a:prstGeom prst="rect">
            <a:avLst/>
          </a:prstGeom>
          <a:noFill/>
          <a:ln/>
        </p:spPr>
        <p:txBody>
          <a:bodyPr wrap="square" lIns="0" tIns="0" rIns="0" bIns="0" rtlCol="0" anchor="ctr"/>
          <a:lstStyle/>
          <a:p>
            <a:pPr marL="0" indent="0">
              <a:buNone/>
            </a:pPr>
            <a:r>
              <a:rPr lang="en-US" sz="1300" b="1" dirty="0">
                <a:solidFill>
                  <a:srgbClr val="2B2E36"/>
                </a:solidFill>
                <a:latin typeface="Courier New" pitchFamily="34" charset="0"/>
                <a:ea typeface="Courier New" pitchFamily="34" charset="-122"/>
                <a:cs typeface="Courier New" pitchFamily="34" charset="-120"/>
              </a:rPr>
              <a:t>data/input/</a:t>
            </a:r>
            <a:endParaRPr lang="en-US" sz="1300" dirty="0"/>
          </a:p>
        </p:txBody>
      </p:sp>
      <p:sp>
        <p:nvSpPr>
          <p:cNvPr id="9" name="Text 6"/>
          <p:cNvSpPr txBox="1"/>
          <p:nvPr/>
        </p:nvSpPr>
        <p:spPr>
          <a:xfrm>
            <a:off x="822960" y="3200400"/>
            <a:ext cx="3017520" cy="731520"/>
          </a:xfrm>
          <a:prstGeom prst="rect">
            <a:avLst/>
          </a:prstGeom>
          <a:noFill/>
          <a:ln/>
        </p:spPr>
        <p:txBody>
          <a:bodyPr wrap="square" lIns="0" tIns="0" rIns="0" bIns="0" rtlCol="0" anchor="t"/>
          <a:lstStyle/>
          <a:p>
            <a:pPr marL="0" indent="0">
              <a:buNone/>
            </a:pPr>
            <a:r>
              <a:rPr lang="en-US" sz="1350" dirty="0">
                <a:solidFill>
                  <a:srgbClr val="50555F"/>
                </a:solidFill>
                <a:latin typeface="Calibri" pitchFamily="34" charset="0"/>
                <a:ea typeface="Calibri" pitchFamily="34" charset="-122"/>
                <a:cs typeface="Calibri" pitchFamily="34" charset="-120"/>
              </a:rPr>
              <a:t>Verbatim source files</a:t>
            </a:r>
            <a:endParaRPr lang="en-US" sz="1350" dirty="0"/>
          </a:p>
        </p:txBody>
      </p:sp>
      <p:pic>
        <p:nvPicPr>
          <p:cNvPr id="10" name="Image 1" descr="preencoded.png"/>
          <p:cNvPicPr>
            <a:picLocks noChangeAspect="1"/>
          </p:cNvPicPr>
          <p:nvPr/>
        </p:nvPicPr>
        <p:blipFill>
          <a:blip r:embed="rId4"/>
          <a:stretch>
            <a:fillRect/>
          </a:stretch>
        </p:blipFill>
        <p:spPr>
          <a:xfrm>
            <a:off x="4059936" y="2971800"/>
            <a:ext cx="292608" cy="292608"/>
          </a:xfrm>
          <a:prstGeom prst="rect">
            <a:avLst/>
          </a:prstGeom>
        </p:spPr>
      </p:pic>
      <p:sp>
        <p:nvSpPr>
          <p:cNvPr id="11" name="Shape 7"/>
          <p:cNvSpPr/>
          <p:nvPr/>
        </p:nvSpPr>
        <p:spPr>
          <a:xfrm>
            <a:off x="4434840" y="2286000"/>
            <a:ext cx="3429000" cy="1737360"/>
          </a:xfrm>
          <a:prstGeom prst="roundRect">
            <a:avLst>
              <a:gd name="adj" fmla="val 4211"/>
            </a:avLst>
          </a:prstGeom>
          <a:solidFill>
            <a:srgbClr val="EEF3F7"/>
          </a:solidFill>
          <a:ln w="12700">
            <a:solidFill>
              <a:srgbClr val="EEF3F7"/>
            </a:solidFill>
            <a:prstDash val="solid"/>
          </a:ln>
        </p:spPr>
        <p:txBody>
          <a:bodyPr/>
          <a:lstStyle/>
          <a:p>
            <a:endParaRPr lang="en-US"/>
          </a:p>
        </p:txBody>
      </p:sp>
      <p:sp>
        <p:nvSpPr>
          <p:cNvPr id="12" name="Shape 8"/>
          <p:cNvSpPr/>
          <p:nvPr/>
        </p:nvSpPr>
        <p:spPr>
          <a:xfrm>
            <a:off x="4709160" y="2514600"/>
            <a:ext cx="502920" cy="502920"/>
          </a:xfrm>
          <a:prstGeom prst="ellipse">
            <a:avLst/>
          </a:prstGeom>
          <a:solidFill>
            <a:srgbClr val="5F8FAF"/>
          </a:solidFill>
          <a:ln w="12700">
            <a:solidFill>
              <a:srgbClr val="5F8FAF"/>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4834890" y="2640330"/>
            <a:ext cx="251460" cy="251460"/>
          </a:xfrm>
          <a:prstGeom prst="rect">
            <a:avLst/>
          </a:prstGeom>
        </p:spPr>
      </p:pic>
      <p:sp>
        <p:nvSpPr>
          <p:cNvPr id="14" name="Text 9"/>
          <p:cNvSpPr txBox="1"/>
          <p:nvPr/>
        </p:nvSpPr>
        <p:spPr>
          <a:xfrm>
            <a:off x="5349240" y="2514600"/>
            <a:ext cx="2468880" cy="502920"/>
          </a:xfrm>
          <a:prstGeom prst="rect">
            <a:avLst/>
          </a:prstGeom>
          <a:noFill/>
          <a:ln/>
        </p:spPr>
        <p:txBody>
          <a:bodyPr wrap="square" lIns="0" tIns="0" rIns="0" bIns="0" rtlCol="0" anchor="ctr"/>
          <a:lstStyle/>
          <a:p>
            <a:pPr marL="0" indent="0">
              <a:buNone/>
            </a:pPr>
            <a:r>
              <a:rPr lang="en-US" sz="1300" b="1" dirty="0">
                <a:solidFill>
                  <a:srgbClr val="2B2E36"/>
                </a:solidFill>
                <a:latin typeface="Courier New" pitchFamily="34" charset="0"/>
                <a:ea typeface="Courier New" pitchFamily="34" charset="-122"/>
                <a:cs typeface="Courier New" pitchFamily="34" charset="-120"/>
              </a:rPr>
              <a:t>data/output/&lt;dataset&gt;/</a:t>
            </a:r>
            <a:endParaRPr lang="en-US" sz="1300" dirty="0"/>
          </a:p>
        </p:txBody>
      </p:sp>
      <p:sp>
        <p:nvSpPr>
          <p:cNvPr id="15" name="Text 10"/>
          <p:cNvSpPr txBox="1"/>
          <p:nvPr/>
        </p:nvSpPr>
        <p:spPr>
          <a:xfrm>
            <a:off x="4709160" y="3200400"/>
            <a:ext cx="3017520" cy="731520"/>
          </a:xfrm>
          <a:prstGeom prst="rect">
            <a:avLst/>
          </a:prstGeom>
          <a:noFill/>
          <a:ln/>
        </p:spPr>
        <p:txBody>
          <a:bodyPr wrap="square" lIns="0" tIns="0" rIns="0" bIns="0" rtlCol="0" anchor="t"/>
          <a:lstStyle/>
          <a:p>
            <a:pPr marL="0" indent="0">
              <a:buNone/>
            </a:pPr>
            <a:r>
              <a:rPr lang="en-US" sz="1350" dirty="0">
                <a:solidFill>
                  <a:srgbClr val="50555F"/>
                </a:solidFill>
                <a:latin typeface="Calibri" pitchFamily="34" charset="0"/>
                <a:ea typeface="Calibri" pitchFamily="34" charset="-122"/>
                <a:cs typeface="Calibri" pitchFamily="34" charset="-120"/>
              </a:rPr>
              <a:t>_00 → _01 → _02 → _03</a:t>
            </a:r>
            <a:endParaRPr lang="en-US" sz="1350" dirty="0"/>
          </a:p>
          <a:p>
            <a:pPr marL="0" indent="0">
              <a:buNone/>
            </a:pPr>
            <a:r>
              <a:rPr lang="en-US" sz="1350" dirty="0">
                <a:solidFill>
                  <a:srgbClr val="50555F"/>
                </a:solidFill>
                <a:latin typeface="Calibri" pitchFamily="34" charset="0"/>
                <a:ea typeface="Calibri" pitchFamily="34" charset="-122"/>
                <a:cs typeface="Calibri" pitchFamily="34" charset="-120"/>
              </a:rPr>
              <a:t>plus a report for each step</a:t>
            </a:r>
            <a:endParaRPr lang="en-US" sz="1350" dirty="0"/>
          </a:p>
        </p:txBody>
      </p:sp>
      <p:pic>
        <p:nvPicPr>
          <p:cNvPr id="16" name="Image 3" descr="preencoded.png"/>
          <p:cNvPicPr>
            <a:picLocks noChangeAspect="1"/>
          </p:cNvPicPr>
          <p:nvPr/>
        </p:nvPicPr>
        <p:blipFill>
          <a:blip r:embed="rId4"/>
          <a:stretch>
            <a:fillRect/>
          </a:stretch>
        </p:blipFill>
        <p:spPr>
          <a:xfrm>
            <a:off x="7946136" y="2971800"/>
            <a:ext cx="292608" cy="292608"/>
          </a:xfrm>
          <a:prstGeom prst="rect">
            <a:avLst/>
          </a:prstGeom>
        </p:spPr>
      </p:pic>
      <p:sp>
        <p:nvSpPr>
          <p:cNvPr id="17" name="Shape 11"/>
          <p:cNvSpPr/>
          <p:nvPr/>
        </p:nvSpPr>
        <p:spPr>
          <a:xfrm>
            <a:off x="8321040" y="2286000"/>
            <a:ext cx="3429000" cy="1737360"/>
          </a:xfrm>
          <a:prstGeom prst="roundRect">
            <a:avLst>
              <a:gd name="adj" fmla="val 4211"/>
            </a:avLst>
          </a:prstGeom>
          <a:solidFill>
            <a:srgbClr val="EEF3F7"/>
          </a:solidFill>
          <a:ln w="12700">
            <a:solidFill>
              <a:srgbClr val="EEF3F7"/>
            </a:solidFill>
            <a:prstDash val="solid"/>
          </a:ln>
        </p:spPr>
        <p:txBody>
          <a:bodyPr/>
          <a:lstStyle/>
          <a:p>
            <a:endParaRPr lang="en-US"/>
          </a:p>
        </p:txBody>
      </p:sp>
      <p:sp>
        <p:nvSpPr>
          <p:cNvPr id="18" name="Shape 12"/>
          <p:cNvSpPr/>
          <p:nvPr/>
        </p:nvSpPr>
        <p:spPr>
          <a:xfrm>
            <a:off x="8595360" y="2514600"/>
            <a:ext cx="502920" cy="502920"/>
          </a:xfrm>
          <a:prstGeom prst="ellipse">
            <a:avLst/>
          </a:prstGeom>
          <a:solidFill>
            <a:srgbClr val="A98B3C"/>
          </a:solidFill>
          <a:ln w="12700">
            <a:solidFill>
              <a:srgbClr val="A98B3C"/>
            </a:solidFill>
            <a:prstDash val="solid"/>
          </a:ln>
        </p:spPr>
        <p:txBody>
          <a:bodyPr/>
          <a:lstStyle/>
          <a:p>
            <a:endParaRPr lang="en-US"/>
          </a:p>
        </p:txBody>
      </p:sp>
      <p:pic>
        <p:nvPicPr>
          <p:cNvPr id="19" name="Image 4" descr="preencoded.png"/>
          <p:cNvPicPr>
            <a:picLocks noChangeAspect="1"/>
          </p:cNvPicPr>
          <p:nvPr/>
        </p:nvPicPr>
        <p:blipFill>
          <a:blip r:embed="rId6"/>
          <a:stretch>
            <a:fillRect/>
          </a:stretch>
        </p:blipFill>
        <p:spPr>
          <a:xfrm>
            <a:off x="8721090" y="2640330"/>
            <a:ext cx="251460" cy="251460"/>
          </a:xfrm>
          <a:prstGeom prst="rect">
            <a:avLst/>
          </a:prstGeom>
        </p:spPr>
      </p:pic>
      <p:sp>
        <p:nvSpPr>
          <p:cNvPr id="20" name="Text 13"/>
          <p:cNvSpPr txBox="1"/>
          <p:nvPr/>
        </p:nvSpPr>
        <p:spPr>
          <a:xfrm>
            <a:off x="9235440" y="2514600"/>
            <a:ext cx="2468880" cy="502920"/>
          </a:xfrm>
          <a:prstGeom prst="rect">
            <a:avLst/>
          </a:prstGeom>
          <a:noFill/>
          <a:ln/>
        </p:spPr>
        <p:txBody>
          <a:bodyPr wrap="square" lIns="0" tIns="0" rIns="0" bIns="0" rtlCol="0" anchor="ctr"/>
          <a:lstStyle/>
          <a:p>
            <a:pPr marL="0" indent="0">
              <a:buNone/>
            </a:pPr>
            <a:r>
              <a:rPr lang="en-US" sz="1300" b="1" dirty="0">
                <a:solidFill>
                  <a:srgbClr val="2B2E36"/>
                </a:solidFill>
                <a:latin typeface="Courier New" pitchFamily="34" charset="0"/>
                <a:ea typeface="Courier New" pitchFamily="34" charset="-122"/>
                <a:cs typeface="Courier New" pitchFamily="34" charset="-120"/>
              </a:rPr>
              <a:t>data/dist/&lt;dataset&gt;/</a:t>
            </a:r>
            <a:endParaRPr lang="en-US" sz="1300" dirty="0"/>
          </a:p>
        </p:txBody>
      </p:sp>
      <p:sp>
        <p:nvSpPr>
          <p:cNvPr id="21" name="Text 14"/>
          <p:cNvSpPr txBox="1"/>
          <p:nvPr/>
        </p:nvSpPr>
        <p:spPr>
          <a:xfrm>
            <a:off x="8595360" y="3200400"/>
            <a:ext cx="3017520" cy="731520"/>
          </a:xfrm>
          <a:prstGeom prst="rect">
            <a:avLst/>
          </a:prstGeom>
          <a:noFill/>
          <a:ln/>
        </p:spPr>
        <p:txBody>
          <a:bodyPr wrap="square" lIns="0" tIns="0" rIns="0" bIns="0" rtlCol="0" anchor="t"/>
          <a:lstStyle/>
          <a:p>
            <a:pPr marL="0" indent="0">
              <a:buNone/>
            </a:pPr>
            <a:r>
              <a:rPr lang="en-US" sz="1350" dirty="0">
                <a:solidFill>
                  <a:srgbClr val="50555F"/>
                </a:solidFill>
                <a:latin typeface="Calibri" pitchFamily="34" charset="0"/>
                <a:ea typeface="Calibri" pitchFamily="34" charset="-122"/>
                <a:cs typeface="Calibri" pitchFamily="34" charset="-120"/>
              </a:rPr>
              <a:t>Result, unresolved values,</a:t>
            </a:r>
            <a:endParaRPr lang="en-US" sz="1350" dirty="0"/>
          </a:p>
          <a:p>
            <a:pPr marL="0" indent="0">
              <a:buNone/>
            </a:pPr>
            <a:r>
              <a:rPr lang="en-US" sz="1350" dirty="0">
                <a:solidFill>
                  <a:srgbClr val="50555F"/>
                </a:solidFill>
                <a:latin typeface="Calibri" pitchFamily="34" charset="0"/>
                <a:ea typeface="Calibri" pitchFamily="34" charset="-122"/>
                <a:cs typeface="Calibri" pitchFamily="34" charset="-120"/>
              </a:rPr>
              <a:t>summary report</a:t>
            </a:r>
            <a:endParaRPr lang="en-US" sz="1350" dirty="0"/>
          </a:p>
        </p:txBody>
      </p:sp>
      <p:sp>
        <p:nvSpPr>
          <p:cNvPr id="22" name="Text 15"/>
          <p:cNvSpPr txBox="1"/>
          <p:nvPr/>
        </p:nvSpPr>
        <p:spPr>
          <a:xfrm>
            <a:off x="548640" y="4434840"/>
            <a:ext cx="2194560" cy="365760"/>
          </a:xfrm>
          <a:prstGeom prst="rect">
            <a:avLst/>
          </a:prstGeom>
          <a:noFill/>
          <a:ln/>
        </p:spPr>
        <p:txBody>
          <a:bodyPr wrap="square" lIns="0" tIns="0" rIns="0" bIns="0" rtlCol="0" anchor="ctr"/>
          <a:lstStyle/>
          <a:p>
            <a:pPr marL="0" indent="0">
              <a:buNone/>
            </a:pPr>
            <a:r>
              <a:rPr lang="en-US" sz="1250" b="1" dirty="0">
                <a:solidFill>
                  <a:srgbClr val="5F8FAF"/>
                </a:solidFill>
                <a:latin typeface="Courier New" pitchFamily="34" charset="0"/>
                <a:ea typeface="Courier New" pitchFamily="34" charset="-122"/>
                <a:cs typeface="Courier New" pitchFamily="34" charset="-120"/>
              </a:rPr>
              <a:t>data/authorities/</a:t>
            </a:r>
            <a:endParaRPr lang="en-US" sz="1250" dirty="0"/>
          </a:p>
        </p:txBody>
      </p:sp>
      <p:sp>
        <p:nvSpPr>
          <p:cNvPr id="23" name="Text 16"/>
          <p:cNvSpPr txBox="1"/>
          <p:nvPr/>
        </p:nvSpPr>
        <p:spPr>
          <a:xfrm>
            <a:off x="2788920" y="4434840"/>
            <a:ext cx="3291840" cy="73152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Mineral names, varieties, geopolitical divisions. Used as context or for validation</a:t>
            </a:r>
            <a:endParaRPr lang="en-US" sz="1250" dirty="0"/>
          </a:p>
        </p:txBody>
      </p:sp>
      <p:sp>
        <p:nvSpPr>
          <p:cNvPr id="24" name="Text 17"/>
          <p:cNvSpPr txBox="1"/>
          <p:nvPr/>
        </p:nvSpPr>
        <p:spPr>
          <a:xfrm>
            <a:off x="6263640" y="4434840"/>
            <a:ext cx="2194560" cy="365760"/>
          </a:xfrm>
          <a:prstGeom prst="rect">
            <a:avLst/>
          </a:prstGeom>
          <a:noFill/>
          <a:ln/>
        </p:spPr>
        <p:txBody>
          <a:bodyPr wrap="square" lIns="0" tIns="0" rIns="0" bIns="0" rtlCol="0" anchor="ctr"/>
          <a:lstStyle/>
          <a:p>
            <a:pPr marL="0" indent="0">
              <a:buNone/>
            </a:pPr>
            <a:r>
              <a:rPr lang="en-US" sz="1250" b="1" dirty="0">
                <a:solidFill>
                  <a:srgbClr val="5F8FAF"/>
                </a:solidFill>
                <a:latin typeface="Courier New" pitchFamily="34" charset="0"/>
                <a:ea typeface="Courier New" pitchFamily="34" charset="-122"/>
                <a:cs typeface="Courier New" pitchFamily="34" charset="-120"/>
              </a:rPr>
              <a:t>docs/</a:t>
            </a:r>
            <a:endParaRPr lang="en-US" sz="1250" dirty="0"/>
          </a:p>
        </p:txBody>
      </p:sp>
      <p:sp>
        <p:nvSpPr>
          <p:cNvPr id="25" name="Text 18"/>
          <p:cNvSpPr txBox="1"/>
          <p:nvPr/>
        </p:nvSpPr>
        <p:spPr>
          <a:xfrm>
            <a:off x="8503920" y="4434840"/>
            <a:ext cx="3291840" cy="73152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Workshop notes, dataset profiles, transformation specs and your plans</a:t>
            </a:r>
            <a:endParaRPr lang="en-US" sz="1250" dirty="0"/>
          </a:p>
        </p:txBody>
      </p:sp>
      <p:sp>
        <p:nvSpPr>
          <p:cNvPr id="26" name="Text 19"/>
          <p:cNvSpPr txBox="1"/>
          <p:nvPr/>
        </p:nvSpPr>
        <p:spPr>
          <a:xfrm>
            <a:off x="548640" y="5303520"/>
            <a:ext cx="2194560" cy="365760"/>
          </a:xfrm>
          <a:prstGeom prst="rect">
            <a:avLst/>
          </a:prstGeom>
          <a:noFill/>
          <a:ln/>
        </p:spPr>
        <p:txBody>
          <a:bodyPr wrap="square" lIns="0" tIns="0" rIns="0" bIns="0" rtlCol="0" anchor="ctr"/>
          <a:lstStyle/>
          <a:p>
            <a:pPr marL="0" indent="0">
              <a:buNone/>
            </a:pPr>
            <a:r>
              <a:rPr lang="en-US" sz="1250" b="1" dirty="0">
                <a:solidFill>
                  <a:srgbClr val="5F8FAF"/>
                </a:solidFill>
                <a:latin typeface="Courier New" pitchFamily="34" charset="0"/>
                <a:ea typeface="Courier New" pitchFamily="34" charset="-122"/>
                <a:cs typeface="Courier New" pitchFamily="34" charset="-120"/>
              </a:rPr>
              <a:t>schemas/</a:t>
            </a:r>
            <a:endParaRPr lang="en-US" sz="1250" dirty="0"/>
          </a:p>
        </p:txBody>
      </p:sp>
      <p:sp>
        <p:nvSpPr>
          <p:cNvPr id="27" name="Text 20"/>
          <p:cNvSpPr txBox="1"/>
          <p:nvPr/>
        </p:nvSpPr>
        <p:spPr>
          <a:xfrm>
            <a:off x="2788920" y="5303520"/>
            <a:ext cx="3291840" cy="73152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Import template and data dictionary for the compound specimen model</a:t>
            </a:r>
            <a:endParaRPr lang="en-US" sz="1250" dirty="0"/>
          </a:p>
        </p:txBody>
      </p:sp>
      <p:sp>
        <p:nvSpPr>
          <p:cNvPr id="28" name="Text 21"/>
          <p:cNvSpPr txBox="1"/>
          <p:nvPr/>
        </p:nvSpPr>
        <p:spPr>
          <a:xfrm>
            <a:off x="6263640" y="5303520"/>
            <a:ext cx="2194560" cy="365760"/>
          </a:xfrm>
          <a:prstGeom prst="rect">
            <a:avLst/>
          </a:prstGeom>
          <a:noFill/>
          <a:ln/>
        </p:spPr>
        <p:txBody>
          <a:bodyPr wrap="square" lIns="0" tIns="0" rIns="0" bIns="0" rtlCol="0" anchor="ctr"/>
          <a:lstStyle/>
          <a:p>
            <a:pPr marL="0" indent="0">
              <a:buNone/>
            </a:pPr>
            <a:r>
              <a:rPr lang="en-US" sz="1250" b="1" dirty="0">
                <a:solidFill>
                  <a:srgbClr val="5F8FAF"/>
                </a:solidFill>
                <a:latin typeface="Courier New" pitchFamily="34" charset="0"/>
                <a:ea typeface="Courier New" pitchFamily="34" charset="-122"/>
                <a:cs typeface="Courier New" pitchFamily="34" charset="-120"/>
              </a:rPr>
              <a:t>src/transform/</a:t>
            </a:r>
            <a:endParaRPr lang="en-US" sz="1250" dirty="0"/>
          </a:p>
        </p:txBody>
      </p:sp>
      <p:sp>
        <p:nvSpPr>
          <p:cNvPr id="29" name="Text 22"/>
          <p:cNvSpPr txBox="1"/>
          <p:nvPr/>
        </p:nvSpPr>
        <p:spPr>
          <a:xfrm>
            <a:off x="8503920" y="5303520"/>
            <a:ext cx="3291840" cy="73152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One small script per step: &lt;dataset&gt;_&lt;from&gt;_to_&lt;to&gt;.py</a:t>
            </a:r>
            <a:endParaRPr lang="en-US" sz="1250" dirty="0"/>
          </a:p>
        </p:txBody>
      </p:sp>
      <p:sp>
        <p:nvSpPr>
          <p:cNvPr id="30" name="Text 23"/>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D939D"/>
                </a:solidFill>
                <a:latin typeface="Calibri" pitchFamily="34" charset="0"/>
                <a:ea typeface="Calibri" pitchFamily="34" charset="-122"/>
                <a:cs typeface="Calibri" pitchFamily="34" charset="-120"/>
              </a:rPr>
              <a:t>WKS10  ·  Building a Repeatable AI Pipeline</a:t>
            </a:r>
            <a:endParaRPr lang="en-US" sz="1000" dirty="0"/>
          </a:p>
        </p:txBody>
      </p:sp>
      <p:sp>
        <p:nvSpPr>
          <p:cNvPr id="31" name="Text 24"/>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8D939D"/>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A98B3C"/>
                </a:solidFill>
                <a:latin typeface="Calibri" pitchFamily="34" charset="0"/>
                <a:ea typeface="Calibri" pitchFamily="34" charset="-122"/>
                <a:cs typeface="Calibri" pitchFamily="34" charset="-120"/>
              </a:rPr>
              <a:t>SOURCE AND TARGET</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B2E36"/>
                </a:solidFill>
                <a:latin typeface="Raleway" pitchFamily="34" charset="0"/>
                <a:ea typeface="Raleway" pitchFamily="34" charset="-122"/>
                <a:cs typeface="Raleway" pitchFamily="34" charset="-120"/>
              </a:rPr>
              <a:t>Four source datasets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0555F"/>
                </a:solidFill>
                <a:latin typeface="Calibri" pitchFamily="34" charset="0"/>
                <a:ea typeface="Calibri" pitchFamily="34" charset="-122"/>
                <a:cs typeface="Calibri" pitchFamily="34" charset="-120"/>
              </a:rPr>
              <a:t>Real exports, with the problems real exports have.</a:t>
            </a:r>
            <a:endParaRPr lang="en-US" sz="1500" dirty="0"/>
          </a:p>
        </p:txBody>
      </p:sp>
      <p:sp>
        <p:nvSpPr>
          <p:cNvPr id="5" name="Shape 3"/>
          <p:cNvSpPr/>
          <p:nvPr/>
        </p:nvSpPr>
        <p:spPr>
          <a:xfrm>
            <a:off x="548640" y="2148840"/>
            <a:ext cx="2651760" cy="3931920"/>
          </a:xfrm>
          <a:prstGeom prst="roundRect">
            <a:avLst>
              <a:gd name="adj" fmla="val 2759"/>
            </a:avLst>
          </a:prstGeom>
          <a:solidFill>
            <a:srgbClr val="EEF3F7"/>
          </a:solidFill>
          <a:ln w="12700">
            <a:solidFill>
              <a:srgbClr val="EEF3F7"/>
            </a:solidFill>
            <a:prstDash val="solid"/>
          </a:ln>
        </p:spPr>
        <p:txBody>
          <a:bodyPr/>
          <a:lstStyle/>
          <a:p>
            <a:endParaRPr lang="en-US"/>
          </a:p>
        </p:txBody>
      </p:sp>
      <p:sp>
        <p:nvSpPr>
          <p:cNvPr id="6" name="Text 4"/>
          <p:cNvSpPr txBox="1"/>
          <p:nvPr/>
        </p:nvSpPr>
        <p:spPr>
          <a:xfrm>
            <a:off x="822960" y="2377440"/>
            <a:ext cx="2194560" cy="274320"/>
          </a:xfrm>
          <a:prstGeom prst="rect">
            <a:avLst/>
          </a:prstGeom>
          <a:noFill/>
          <a:ln/>
        </p:spPr>
        <p:txBody>
          <a:bodyPr wrap="square" lIns="0" tIns="0" rIns="0" bIns="0" rtlCol="0" anchor="t"/>
          <a:lstStyle/>
          <a:p>
            <a:pPr marL="0" indent="0">
              <a:buNone/>
            </a:pPr>
            <a:r>
              <a:rPr lang="en-US" sz="1100" b="1" kern="0" spc="100" dirty="0">
                <a:solidFill>
                  <a:srgbClr val="A98B3C"/>
                </a:solidFill>
                <a:latin typeface="Calibri" pitchFamily="34" charset="0"/>
                <a:ea typeface="Calibri" pitchFamily="34" charset="-122"/>
                <a:cs typeface="Calibri" pitchFamily="34" charset="-120"/>
              </a:rPr>
              <a:t>PART A</a:t>
            </a:r>
            <a:endParaRPr lang="en-US" sz="1100" dirty="0"/>
          </a:p>
        </p:txBody>
      </p:sp>
      <p:sp>
        <p:nvSpPr>
          <p:cNvPr id="7" name="Text 5"/>
          <p:cNvSpPr txBox="1"/>
          <p:nvPr/>
        </p:nvSpPr>
        <p:spPr>
          <a:xfrm>
            <a:off x="822960" y="2651760"/>
            <a:ext cx="2194560" cy="640080"/>
          </a:xfrm>
          <a:prstGeom prst="rect">
            <a:avLst/>
          </a:prstGeom>
          <a:noFill/>
          <a:ln/>
        </p:spPr>
        <p:txBody>
          <a:bodyPr wrap="square" lIns="0" tIns="0" rIns="0" bIns="0" rtlCol="0" anchor="t"/>
          <a:lstStyle/>
          <a:p>
            <a:pPr marL="0" indent="0">
              <a:buNone/>
            </a:pPr>
            <a:r>
              <a:rPr lang="en-US" sz="1600" b="1" dirty="0">
                <a:solidFill>
                  <a:srgbClr val="2B2E36"/>
                </a:solidFill>
                <a:latin typeface="Calibri" pitchFamily="34" charset="0"/>
                <a:ea typeface="Calibri" pitchFamily="34" charset="-122"/>
                <a:cs typeface="Calibri" pitchFamily="34" charset="-120"/>
              </a:rPr>
              <a:t>German mineral names</a:t>
            </a:r>
            <a:endParaRPr lang="en-US" sz="1600" dirty="0"/>
          </a:p>
        </p:txBody>
      </p:sp>
      <p:sp>
        <p:nvSpPr>
          <p:cNvPr id="8" name="Text 6"/>
          <p:cNvSpPr txBox="1"/>
          <p:nvPr/>
        </p:nvSpPr>
        <p:spPr>
          <a:xfrm>
            <a:off x="822960" y="3291840"/>
            <a:ext cx="2194560" cy="731520"/>
          </a:xfrm>
          <a:prstGeom prst="rect">
            <a:avLst/>
          </a:prstGeom>
          <a:noFill/>
          <a:ln/>
        </p:spPr>
        <p:txBody>
          <a:bodyPr wrap="square" lIns="0" tIns="0" rIns="0" bIns="0" rtlCol="0" anchor="ctr"/>
          <a:lstStyle/>
          <a:p>
            <a:pPr marL="0" indent="0">
              <a:buNone/>
            </a:pPr>
            <a:r>
              <a:rPr lang="en-US" sz="3800" b="1" dirty="0">
                <a:solidFill>
                  <a:srgbClr val="5F8FAF"/>
                </a:solidFill>
                <a:latin typeface="Raleway" pitchFamily="34" charset="0"/>
                <a:ea typeface="Raleway" pitchFamily="34" charset="-122"/>
                <a:cs typeface="Raleway" pitchFamily="34" charset="-120"/>
              </a:rPr>
              <a:t>2,191</a:t>
            </a:r>
            <a:endParaRPr lang="en-US" sz="3800" dirty="0"/>
          </a:p>
        </p:txBody>
      </p:sp>
      <p:sp>
        <p:nvSpPr>
          <p:cNvPr id="9" name="Text 7"/>
          <p:cNvSpPr txBox="1"/>
          <p:nvPr/>
        </p:nvSpPr>
        <p:spPr>
          <a:xfrm>
            <a:off x="822960" y="4069080"/>
            <a:ext cx="2194560" cy="594360"/>
          </a:xfrm>
          <a:prstGeom prst="rect">
            <a:avLst/>
          </a:prstGeom>
          <a:noFill/>
          <a:ln/>
        </p:spPr>
        <p:txBody>
          <a:bodyPr wrap="square" lIns="0" tIns="0" rIns="0" bIns="0" rtlCol="0" anchor="t"/>
          <a:lstStyle/>
          <a:p>
            <a:pPr marL="0" indent="0">
              <a:buNone/>
            </a:pPr>
            <a:r>
              <a:rPr lang="en-US" sz="1300" dirty="0">
                <a:solidFill>
                  <a:srgbClr val="50555F"/>
                </a:solidFill>
                <a:latin typeface="Calibri" pitchFamily="34" charset="0"/>
                <a:ea typeface="Calibri" pitchFamily="34" charset="-122"/>
                <a:cs typeface="Calibri" pitchFamily="34" charset="-120"/>
              </a:rPr>
              <a:t>unique names; 1,748 end in -it</a:t>
            </a:r>
            <a:endParaRPr lang="en-US" sz="1300" dirty="0"/>
          </a:p>
        </p:txBody>
      </p:sp>
      <p:sp>
        <p:nvSpPr>
          <p:cNvPr id="10" name="Text 8"/>
          <p:cNvSpPr txBox="1"/>
          <p:nvPr/>
        </p:nvSpPr>
        <p:spPr>
          <a:xfrm>
            <a:off x="822960" y="4754880"/>
            <a:ext cx="2194560" cy="1097280"/>
          </a:xfrm>
          <a:prstGeom prst="rect">
            <a:avLst/>
          </a:prstGeom>
          <a:noFill/>
          <a:ln/>
        </p:spPr>
        <p:txBody>
          <a:bodyPr wrap="square" lIns="0" tIns="0" rIns="0" bIns="0" rtlCol="0" anchor="t"/>
          <a:lstStyle/>
          <a:p>
            <a:pPr marL="0" indent="0">
              <a:buNone/>
            </a:pPr>
            <a:r>
              <a:rPr lang="en-US" sz="1250" dirty="0">
                <a:solidFill>
                  <a:srgbClr val="8D939D"/>
                </a:solidFill>
                <a:latin typeface="Calibri" pitchFamily="34" charset="0"/>
                <a:ea typeface="Calibri" pitchFamily="34" charset="-122"/>
                <a:cs typeface="Calibri" pitchFamily="34" charset="-120"/>
              </a:rPr>
              <a:t>e.g. </a:t>
            </a:r>
            <a:r>
              <a:rPr lang="en-US" sz="1250" i="1" dirty="0">
                <a:solidFill>
                  <a:srgbClr val="2B2E36"/>
                </a:solidFill>
                <a:latin typeface="Calibri" pitchFamily="34" charset="0"/>
                <a:ea typeface="Calibri" pitchFamily="34" charset="-122"/>
                <a:cs typeface="Calibri" pitchFamily="34" charset="-120"/>
              </a:rPr>
              <a:t>Quarz, Schwefel, Rotgültigerz, unbestimmt</a:t>
            </a:r>
            <a:endParaRPr lang="en-US" sz="1250" dirty="0"/>
          </a:p>
        </p:txBody>
      </p:sp>
      <p:sp>
        <p:nvSpPr>
          <p:cNvPr id="11" name="Shape 9"/>
          <p:cNvSpPr/>
          <p:nvPr/>
        </p:nvSpPr>
        <p:spPr>
          <a:xfrm>
            <a:off x="3364992" y="2148840"/>
            <a:ext cx="2651760" cy="3931920"/>
          </a:xfrm>
          <a:prstGeom prst="roundRect">
            <a:avLst>
              <a:gd name="adj" fmla="val 2759"/>
            </a:avLst>
          </a:prstGeom>
          <a:solidFill>
            <a:srgbClr val="EEF3F7"/>
          </a:solidFill>
          <a:ln w="12700">
            <a:solidFill>
              <a:srgbClr val="EEF3F7"/>
            </a:solidFill>
            <a:prstDash val="solid"/>
          </a:ln>
        </p:spPr>
        <p:txBody>
          <a:bodyPr/>
          <a:lstStyle/>
          <a:p>
            <a:endParaRPr lang="en-US"/>
          </a:p>
        </p:txBody>
      </p:sp>
      <p:sp>
        <p:nvSpPr>
          <p:cNvPr id="12" name="Text 10"/>
          <p:cNvSpPr txBox="1"/>
          <p:nvPr/>
        </p:nvSpPr>
        <p:spPr>
          <a:xfrm>
            <a:off x="3639312" y="2377440"/>
            <a:ext cx="2194560" cy="274320"/>
          </a:xfrm>
          <a:prstGeom prst="rect">
            <a:avLst/>
          </a:prstGeom>
          <a:noFill/>
          <a:ln/>
        </p:spPr>
        <p:txBody>
          <a:bodyPr wrap="square" lIns="0" tIns="0" rIns="0" bIns="0" rtlCol="0" anchor="t"/>
          <a:lstStyle/>
          <a:p>
            <a:pPr marL="0" indent="0">
              <a:buNone/>
            </a:pPr>
            <a:r>
              <a:rPr lang="en-US" sz="1100" b="1" kern="0" spc="100" dirty="0">
                <a:solidFill>
                  <a:srgbClr val="A98B3C"/>
                </a:solidFill>
                <a:latin typeface="Calibri" pitchFamily="34" charset="0"/>
                <a:ea typeface="Calibri" pitchFamily="34" charset="-122"/>
                <a:cs typeface="Calibri" pitchFamily="34" charset="-120"/>
              </a:rPr>
              <a:t>PART B</a:t>
            </a:r>
            <a:endParaRPr lang="en-US" sz="1100" dirty="0"/>
          </a:p>
        </p:txBody>
      </p:sp>
      <p:sp>
        <p:nvSpPr>
          <p:cNvPr id="13" name="Text 11"/>
          <p:cNvSpPr txBox="1"/>
          <p:nvPr/>
        </p:nvSpPr>
        <p:spPr>
          <a:xfrm>
            <a:off x="3639312" y="2651760"/>
            <a:ext cx="2194560" cy="640080"/>
          </a:xfrm>
          <a:prstGeom prst="rect">
            <a:avLst/>
          </a:prstGeom>
          <a:noFill/>
          <a:ln/>
        </p:spPr>
        <p:txBody>
          <a:bodyPr wrap="square" lIns="0" tIns="0" rIns="0" bIns="0" rtlCol="0" anchor="t"/>
          <a:lstStyle/>
          <a:p>
            <a:pPr marL="0" indent="0">
              <a:buNone/>
            </a:pPr>
            <a:r>
              <a:rPr lang="en-US" sz="1600" b="1" dirty="0">
                <a:solidFill>
                  <a:srgbClr val="2B2E36"/>
                </a:solidFill>
                <a:latin typeface="Calibri" pitchFamily="34" charset="0"/>
                <a:ea typeface="Calibri" pitchFamily="34" charset="-122"/>
                <a:cs typeface="Calibri" pitchFamily="34" charset="-120"/>
              </a:rPr>
              <a:t>French mineral names</a:t>
            </a:r>
            <a:endParaRPr lang="en-US" sz="1600" dirty="0"/>
          </a:p>
        </p:txBody>
      </p:sp>
      <p:sp>
        <p:nvSpPr>
          <p:cNvPr id="14" name="Text 12"/>
          <p:cNvSpPr txBox="1"/>
          <p:nvPr/>
        </p:nvSpPr>
        <p:spPr>
          <a:xfrm>
            <a:off x="3639312" y="3291840"/>
            <a:ext cx="2194560" cy="731520"/>
          </a:xfrm>
          <a:prstGeom prst="rect">
            <a:avLst/>
          </a:prstGeom>
          <a:noFill/>
          <a:ln/>
        </p:spPr>
        <p:txBody>
          <a:bodyPr wrap="square" lIns="0" tIns="0" rIns="0" bIns="0" rtlCol="0" anchor="ctr"/>
          <a:lstStyle/>
          <a:p>
            <a:pPr marL="0" indent="0">
              <a:buNone/>
            </a:pPr>
            <a:r>
              <a:rPr lang="en-US" sz="3800" b="1" dirty="0">
                <a:solidFill>
                  <a:srgbClr val="5F8FAF"/>
                </a:solidFill>
                <a:latin typeface="Raleway" pitchFamily="34" charset="0"/>
                <a:ea typeface="Raleway" pitchFamily="34" charset="-122"/>
                <a:cs typeface="Raleway" pitchFamily="34" charset="-120"/>
              </a:rPr>
              <a:t>21,460</a:t>
            </a:r>
            <a:endParaRPr lang="en-US" sz="3800" dirty="0"/>
          </a:p>
        </p:txBody>
      </p:sp>
      <p:sp>
        <p:nvSpPr>
          <p:cNvPr id="15" name="Text 13"/>
          <p:cNvSpPr txBox="1"/>
          <p:nvPr/>
        </p:nvSpPr>
        <p:spPr>
          <a:xfrm>
            <a:off x="3639312" y="4069080"/>
            <a:ext cx="2194560" cy="594360"/>
          </a:xfrm>
          <a:prstGeom prst="rect">
            <a:avLst/>
          </a:prstGeom>
          <a:noFill/>
          <a:ln/>
        </p:spPr>
        <p:txBody>
          <a:bodyPr wrap="square" lIns="0" tIns="0" rIns="0" bIns="0" rtlCol="0" anchor="t"/>
          <a:lstStyle/>
          <a:p>
            <a:pPr marL="0" indent="0">
              <a:buNone/>
            </a:pPr>
            <a:r>
              <a:rPr lang="en-US" sz="1300" dirty="0">
                <a:solidFill>
                  <a:srgbClr val="50555F"/>
                </a:solidFill>
                <a:latin typeface="Calibri" pitchFamily="34" charset="0"/>
                <a:ea typeface="Calibri" pitchFamily="34" charset="-122"/>
                <a:cs typeface="Calibri" pitchFamily="34" charset="-120"/>
              </a:rPr>
              <a:t>specimen rows; 3,663 distinct names</a:t>
            </a:r>
            <a:endParaRPr lang="en-US" sz="1300" dirty="0"/>
          </a:p>
        </p:txBody>
      </p:sp>
      <p:sp>
        <p:nvSpPr>
          <p:cNvPr id="16" name="Text 14"/>
          <p:cNvSpPr txBox="1"/>
          <p:nvPr/>
        </p:nvSpPr>
        <p:spPr>
          <a:xfrm>
            <a:off x="3639312" y="4754880"/>
            <a:ext cx="2194560" cy="1097280"/>
          </a:xfrm>
          <a:prstGeom prst="rect">
            <a:avLst/>
          </a:prstGeom>
          <a:noFill/>
          <a:ln/>
        </p:spPr>
        <p:txBody>
          <a:bodyPr wrap="square" lIns="0" tIns="0" rIns="0" bIns="0" rtlCol="0" anchor="t"/>
          <a:lstStyle/>
          <a:p>
            <a:pPr marL="0" indent="0">
              <a:buNone/>
            </a:pPr>
            <a:r>
              <a:rPr lang="en-US" sz="1250" dirty="0">
                <a:solidFill>
                  <a:srgbClr val="8D939D"/>
                </a:solidFill>
                <a:latin typeface="Calibri" pitchFamily="34" charset="0"/>
                <a:ea typeface="Calibri" pitchFamily="34" charset="-122"/>
                <a:cs typeface="Calibri" pitchFamily="34" charset="-120"/>
              </a:rPr>
              <a:t>e.g. </a:t>
            </a:r>
            <a:r>
              <a:rPr lang="en-US" sz="1250" i="1" dirty="0">
                <a:solidFill>
                  <a:srgbClr val="2B2E36"/>
                </a:solidFill>
                <a:latin typeface="Calibri" pitchFamily="34" charset="0"/>
                <a:ea typeface="Calibri" pitchFamily="34" charset="-122"/>
                <a:cs typeface="Calibri" pitchFamily="34" charset="-120"/>
              </a:rPr>
              <a:t>Allevardite = Rectorite, Adulaire/titanite, à identifier</a:t>
            </a:r>
            <a:endParaRPr lang="en-US" sz="1250" dirty="0"/>
          </a:p>
        </p:txBody>
      </p:sp>
      <p:sp>
        <p:nvSpPr>
          <p:cNvPr id="17" name="Shape 15"/>
          <p:cNvSpPr/>
          <p:nvPr/>
        </p:nvSpPr>
        <p:spPr>
          <a:xfrm>
            <a:off x="6181344" y="2148840"/>
            <a:ext cx="2651760" cy="3931920"/>
          </a:xfrm>
          <a:prstGeom prst="roundRect">
            <a:avLst>
              <a:gd name="adj" fmla="val 2759"/>
            </a:avLst>
          </a:prstGeom>
          <a:solidFill>
            <a:srgbClr val="EEF3F7"/>
          </a:solidFill>
          <a:ln w="12700">
            <a:solidFill>
              <a:srgbClr val="EEF3F7"/>
            </a:solidFill>
            <a:prstDash val="solid"/>
          </a:ln>
        </p:spPr>
        <p:txBody>
          <a:bodyPr/>
          <a:lstStyle/>
          <a:p>
            <a:endParaRPr lang="en-US"/>
          </a:p>
        </p:txBody>
      </p:sp>
      <p:sp>
        <p:nvSpPr>
          <p:cNvPr id="18" name="Text 16"/>
          <p:cNvSpPr txBox="1"/>
          <p:nvPr/>
        </p:nvSpPr>
        <p:spPr>
          <a:xfrm>
            <a:off x="6455664" y="2377440"/>
            <a:ext cx="2194560" cy="274320"/>
          </a:xfrm>
          <a:prstGeom prst="rect">
            <a:avLst/>
          </a:prstGeom>
          <a:noFill/>
          <a:ln/>
        </p:spPr>
        <p:txBody>
          <a:bodyPr wrap="square" lIns="0" tIns="0" rIns="0" bIns="0" rtlCol="0" anchor="t"/>
          <a:lstStyle/>
          <a:p>
            <a:pPr marL="0" indent="0">
              <a:buNone/>
            </a:pPr>
            <a:r>
              <a:rPr lang="en-US" sz="1100" b="1" kern="0" spc="100" dirty="0">
                <a:solidFill>
                  <a:srgbClr val="A98B3C"/>
                </a:solidFill>
                <a:latin typeface="Calibri" pitchFamily="34" charset="0"/>
                <a:ea typeface="Calibri" pitchFamily="34" charset="-122"/>
                <a:cs typeface="Calibri" pitchFamily="34" charset="-120"/>
              </a:rPr>
              <a:t>PART C</a:t>
            </a:r>
            <a:endParaRPr lang="en-US" sz="1100" dirty="0"/>
          </a:p>
        </p:txBody>
      </p:sp>
      <p:sp>
        <p:nvSpPr>
          <p:cNvPr id="19" name="Text 17"/>
          <p:cNvSpPr txBox="1"/>
          <p:nvPr/>
        </p:nvSpPr>
        <p:spPr>
          <a:xfrm>
            <a:off x="6455664" y="2651760"/>
            <a:ext cx="2194560" cy="640080"/>
          </a:xfrm>
          <a:prstGeom prst="rect">
            <a:avLst/>
          </a:prstGeom>
          <a:noFill/>
          <a:ln/>
        </p:spPr>
        <p:txBody>
          <a:bodyPr wrap="square" lIns="0" tIns="0" rIns="0" bIns="0" rtlCol="0" anchor="t"/>
          <a:lstStyle/>
          <a:p>
            <a:pPr marL="0" indent="0">
              <a:buNone/>
            </a:pPr>
            <a:r>
              <a:rPr lang="en-US" sz="1600" b="1" dirty="0">
                <a:solidFill>
                  <a:srgbClr val="2B2E36"/>
                </a:solidFill>
                <a:latin typeface="Calibri" pitchFamily="34" charset="0"/>
                <a:ea typeface="Calibri" pitchFamily="34" charset="-122"/>
                <a:cs typeface="Calibri" pitchFamily="34" charset="-120"/>
              </a:rPr>
              <a:t>German localities</a:t>
            </a:r>
            <a:endParaRPr lang="en-US" sz="1600" dirty="0"/>
          </a:p>
        </p:txBody>
      </p:sp>
      <p:sp>
        <p:nvSpPr>
          <p:cNvPr id="20" name="Text 18"/>
          <p:cNvSpPr txBox="1"/>
          <p:nvPr/>
        </p:nvSpPr>
        <p:spPr>
          <a:xfrm>
            <a:off x="6455664" y="3291840"/>
            <a:ext cx="2194560" cy="731520"/>
          </a:xfrm>
          <a:prstGeom prst="rect">
            <a:avLst/>
          </a:prstGeom>
          <a:noFill/>
          <a:ln/>
        </p:spPr>
        <p:txBody>
          <a:bodyPr wrap="square" lIns="0" tIns="0" rIns="0" bIns="0" rtlCol="0" anchor="ctr"/>
          <a:lstStyle/>
          <a:p>
            <a:pPr marL="0" indent="0">
              <a:buNone/>
            </a:pPr>
            <a:r>
              <a:rPr lang="en-US" sz="3800" b="1" dirty="0">
                <a:solidFill>
                  <a:srgbClr val="5F8FAF"/>
                </a:solidFill>
                <a:latin typeface="Raleway" pitchFamily="34" charset="0"/>
                <a:ea typeface="Raleway" pitchFamily="34" charset="-122"/>
                <a:cs typeface="Raleway" pitchFamily="34" charset="-120"/>
              </a:rPr>
              <a:t>14,092</a:t>
            </a:r>
            <a:endParaRPr lang="en-US" sz="3800" dirty="0"/>
          </a:p>
        </p:txBody>
      </p:sp>
      <p:sp>
        <p:nvSpPr>
          <p:cNvPr id="21" name="Text 19"/>
          <p:cNvSpPr txBox="1"/>
          <p:nvPr/>
        </p:nvSpPr>
        <p:spPr>
          <a:xfrm>
            <a:off x="6455664" y="4069080"/>
            <a:ext cx="2194560" cy="594360"/>
          </a:xfrm>
          <a:prstGeom prst="rect">
            <a:avLst/>
          </a:prstGeom>
          <a:noFill/>
          <a:ln/>
        </p:spPr>
        <p:txBody>
          <a:bodyPr wrap="square" lIns="0" tIns="0" rIns="0" bIns="0" rtlCol="0" anchor="t"/>
          <a:lstStyle/>
          <a:p>
            <a:pPr marL="0" indent="0">
              <a:buNone/>
            </a:pPr>
            <a:r>
              <a:rPr lang="en-US" sz="1300" dirty="0">
                <a:solidFill>
                  <a:srgbClr val="50555F"/>
                </a:solidFill>
                <a:latin typeface="Calibri" pitchFamily="34" charset="0"/>
                <a:ea typeface="Calibri" pitchFamily="34" charset="-122"/>
                <a:cs typeface="Calibri" pitchFamily="34" charset="-120"/>
              </a:rPr>
              <a:t>locality strings with 1–9 values each</a:t>
            </a:r>
            <a:endParaRPr lang="en-US" sz="1300" dirty="0"/>
          </a:p>
        </p:txBody>
      </p:sp>
      <p:sp>
        <p:nvSpPr>
          <p:cNvPr id="22" name="Text 20"/>
          <p:cNvSpPr txBox="1"/>
          <p:nvPr/>
        </p:nvSpPr>
        <p:spPr>
          <a:xfrm>
            <a:off x="6455664" y="4754880"/>
            <a:ext cx="2194560" cy="1097280"/>
          </a:xfrm>
          <a:prstGeom prst="rect">
            <a:avLst/>
          </a:prstGeom>
          <a:noFill/>
          <a:ln/>
        </p:spPr>
        <p:txBody>
          <a:bodyPr wrap="square" lIns="0" tIns="0" rIns="0" bIns="0" rtlCol="0" anchor="t"/>
          <a:lstStyle/>
          <a:p>
            <a:pPr marL="0" indent="0">
              <a:buNone/>
            </a:pPr>
            <a:r>
              <a:rPr lang="en-US" sz="1250" dirty="0">
                <a:solidFill>
                  <a:srgbClr val="8D939D"/>
                </a:solidFill>
                <a:latin typeface="Calibri" pitchFamily="34" charset="0"/>
                <a:ea typeface="Calibri" pitchFamily="34" charset="-122"/>
                <a:cs typeface="Calibri" pitchFamily="34" charset="-120"/>
              </a:rPr>
              <a:t>e.g. </a:t>
            </a:r>
            <a:r>
              <a:rPr lang="en-US" sz="1250" i="1" dirty="0">
                <a:solidFill>
                  <a:srgbClr val="2B2E36"/>
                </a:solidFill>
                <a:latin typeface="Calibri" pitchFamily="34" charset="0"/>
                <a:ea typeface="Calibri" pitchFamily="34" charset="-122"/>
                <a:cs typeface="Calibri" pitchFamily="34" charset="-120"/>
              </a:rPr>
              <a:t>zw. Paphos und Limasol, Czechoslovakia, bei, ?</a:t>
            </a:r>
            <a:endParaRPr lang="en-US" sz="1250" dirty="0"/>
          </a:p>
        </p:txBody>
      </p:sp>
      <p:sp>
        <p:nvSpPr>
          <p:cNvPr id="23" name="Shape 21"/>
          <p:cNvSpPr/>
          <p:nvPr/>
        </p:nvSpPr>
        <p:spPr>
          <a:xfrm>
            <a:off x="8997696" y="2148840"/>
            <a:ext cx="2651760" cy="3931920"/>
          </a:xfrm>
          <a:prstGeom prst="roundRect">
            <a:avLst>
              <a:gd name="adj" fmla="val 2759"/>
            </a:avLst>
          </a:prstGeom>
          <a:solidFill>
            <a:srgbClr val="EEF3F7"/>
          </a:solidFill>
          <a:ln w="12700">
            <a:solidFill>
              <a:srgbClr val="EEF3F7"/>
            </a:solidFill>
            <a:prstDash val="solid"/>
          </a:ln>
        </p:spPr>
        <p:txBody>
          <a:bodyPr/>
          <a:lstStyle/>
          <a:p>
            <a:endParaRPr lang="en-US"/>
          </a:p>
        </p:txBody>
      </p:sp>
      <p:sp>
        <p:nvSpPr>
          <p:cNvPr id="24" name="Text 22"/>
          <p:cNvSpPr txBox="1"/>
          <p:nvPr/>
        </p:nvSpPr>
        <p:spPr>
          <a:xfrm>
            <a:off x="9272016" y="2377440"/>
            <a:ext cx="2194560" cy="274320"/>
          </a:xfrm>
          <a:prstGeom prst="rect">
            <a:avLst/>
          </a:prstGeom>
          <a:noFill/>
          <a:ln/>
        </p:spPr>
        <p:txBody>
          <a:bodyPr wrap="square" lIns="0" tIns="0" rIns="0" bIns="0" rtlCol="0" anchor="t"/>
          <a:lstStyle/>
          <a:p>
            <a:pPr marL="0" indent="0">
              <a:buNone/>
            </a:pPr>
            <a:r>
              <a:rPr lang="en-US" sz="1100" b="1" kern="0" spc="100" dirty="0">
                <a:solidFill>
                  <a:srgbClr val="A98B3C"/>
                </a:solidFill>
                <a:latin typeface="Calibri" pitchFamily="34" charset="0"/>
                <a:ea typeface="Calibri" pitchFamily="34" charset="-122"/>
                <a:cs typeface="Calibri" pitchFamily="34" charset="-120"/>
              </a:rPr>
              <a:t>PART D</a:t>
            </a:r>
            <a:endParaRPr lang="en-US" sz="1100" dirty="0"/>
          </a:p>
        </p:txBody>
      </p:sp>
      <p:sp>
        <p:nvSpPr>
          <p:cNvPr id="25" name="Text 23"/>
          <p:cNvSpPr txBox="1"/>
          <p:nvPr/>
        </p:nvSpPr>
        <p:spPr>
          <a:xfrm>
            <a:off x="9272016" y="2651760"/>
            <a:ext cx="2194560" cy="640080"/>
          </a:xfrm>
          <a:prstGeom prst="rect">
            <a:avLst/>
          </a:prstGeom>
          <a:noFill/>
          <a:ln/>
        </p:spPr>
        <p:txBody>
          <a:bodyPr wrap="square" lIns="0" tIns="0" rIns="0" bIns="0" rtlCol="0" anchor="t"/>
          <a:lstStyle/>
          <a:p>
            <a:pPr marL="0" indent="0">
              <a:buNone/>
            </a:pPr>
            <a:r>
              <a:rPr lang="en-US" sz="1600" b="1" dirty="0">
                <a:solidFill>
                  <a:srgbClr val="2B2E36"/>
                </a:solidFill>
                <a:latin typeface="Calibri" pitchFamily="34" charset="0"/>
                <a:ea typeface="Calibri" pitchFamily="34" charset="-122"/>
                <a:cs typeface="Calibri" pitchFamily="34" charset="-120"/>
              </a:rPr>
              <a:t>Peabody mineral samples</a:t>
            </a:r>
            <a:endParaRPr lang="en-US" sz="1600" dirty="0"/>
          </a:p>
        </p:txBody>
      </p:sp>
      <p:sp>
        <p:nvSpPr>
          <p:cNvPr id="26" name="Text 24"/>
          <p:cNvSpPr txBox="1"/>
          <p:nvPr/>
        </p:nvSpPr>
        <p:spPr>
          <a:xfrm>
            <a:off x="9272016" y="3291840"/>
            <a:ext cx="2194560" cy="731520"/>
          </a:xfrm>
          <a:prstGeom prst="rect">
            <a:avLst/>
          </a:prstGeom>
          <a:noFill/>
          <a:ln/>
        </p:spPr>
        <p:txBody>
          <a:bodyPr wrap="square" lIns="0" tIns="0" rIns="0" bIns="0" rtlCol="0" anchor="ctr"/>
          <a:lstStyle/>
          <a:p>
            <a:pPr marL="0" indent="0">
              <a:buNone/>
            </a:pPr>
            <a:r>
              <a:rPr lang="en-US" sz="3800" b="1" dirty="0">
                <a:solidFill>
                  <a:srgbClr val="5F8FAF"/>
                </a:solidFill>
                <a:latin typeface="Raleway" pitchFamily="34" charset="0"/>
                <a:ea typeface="Raleway" pitchFamily="34" charset="-122"/>
                <a:cs typeface="Raleway" pitchFamily="34" charset="-120"/>
              </a:rPr>
              <a:t>67</a:t>
            </a:r>
            <a:endParaRPr lang="en-US" sz="3800" dirty="0"/>
          </a:p>
        </p:txBody>
      </p:sp>
      <p:sp>
        <p:nvSpPr>
          <p:cNvPr id="27" name="Text 25"/>
          <p:cNvSpPr txBox="1"/>
          <p:nvPr/>
        </p:nvSpPr>
        <p:spPr>
          <a:xfrm>
            <a:off x="9272016" y="4069080"/>
            <a:ext cx="2194560" cy="594360"/>
          </a:xfrm>
          <a:prstGeom prst="rect">
            <a:avLst/>
          </a:prstGeom>
          <a:noFill/>
          <a:ln/>
        </p:spPr>
        <p:txBody>
          <a:bodyPr wrap="square" lIns="0" tIns="0" rIns="0" bIns="0" rtlCol="0" anchor="t"/>
          <a:lstStyle/>
          <a:p>
            <a:pPr marL="0" indent="0">
              <a:buNone/>
            </a:pPr>
            <a:r>
              <a:rPr lang="en-US" sz="1300" dirty="0">
                <a:solidFill>
                  <a:srgbClr val="50555F"/>
                </a:solidFill>
                <a:latin typeface="Calibri" pitchFamily="34" charset="0"/>
                <a:ea typeface="Calibri" pitchFamily="34" charset="-122"/>
                <a:cs typeface="Calibri" pitchFamily="34" charset="-120"/>
              </a:rPr>
              <a:t>specimens made of 245 mineral parts</a:t>
            </a:r>
            <a:endParaRPr lang="en-US" sz="1300" dirty="0"/>
          </a:p>
        </p:txBody>
      </p:sp>
      <p:sp>
        <p:nvSpPr>
          <p:cNvPr id="28" name="Text 26"/>
          <p:cNvSpPr txBox="1"/>
          <p:nvPr/>
        </p:nvSpPr>
        <p:spPr>
          <a:xfrm>
            <a:off x="9272016" y="4754880"/>
            <a:ext cx="2194560" cy="1097280"/>
          </a:xfrm>
          <a:prstGeom prst="rect">
            <a:avLst/>
          </a:prstGeom>
          <a:noFill/>
          <a:ln/>
        </p:spPr>
        <p:txBody>
          <a:bodyPr wrap="square" lIns="0" tIns="0" rIns="0" bIns="0" rtlCol="0" anchor="t"/>
          <a:lstStyle/>
          <a:p>
            <a:pPr marL="0" indent="0">
              <a:buNone/>
            </a:pPr>
            <a:r>
              <a:rPr lang="en-US" sz="1250" dirty="0">
                <a:solidFill>
                  <a:srgbClr val="8D939D"/>
                </a:solidFill>
                <a:latin typeface="Calibri" pitchFamily="34" charset="0"/>
                <a:ea typeface="Calibri" pitchFamily="34" charset="-122"/>
                <a:cs typeface="Calibri" pitchFamily="34" charset="-120"/>
              </a:rPr>
              <a:t>e.g. </a:t>
            </a:r>
            <a:r>
              <a:rPr lang="en-US" sz="1250" i="1" dirty="0">
                <a:solidFill>
                  <a:srgbClr val="2B2E36"/>
                </a:solidFill>
                <a:latin typeface="Calibri" pitchFamily="34" charset="0"/>
                <a:ea typeface="Calibri" pitchFamily="34" charset="-122"/>
                <a:cs typeface="Calibri" pitchFamily="34" charset="-120"/>
              </a:rPr>
              <a:t>Corundum var. ruby, Garnet, Mica</a:t>
            </a:r>
            <a:endParaRPr lang="en-US" sz="1250" dirty="0"/>
          </a:p>
        </p:txBody>
      </p:sp>
      <p:sp>
        <p:nvSpPr>
          <p:cNvPr id="29" name="Text 27"/>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D939D"/>
                </a:solidFill>
                <a:latin typeface="Calibri" pitchFamily="34" charset="0"/>
                <a:ea typeface="Calibri" pitchFamily="34" charset="-122"/>
                <a:cs typeface="Calibri" pitchFamily="34" charset="-120"/>
              </a:rPr>
              <a:t>WKS10  ·  Building a Repeatable AI Pipeline</a:t>
            </a:r>
            <a:endParaRPr lang="en-US" sz="1000" dirty="0"/>
          </a:p>
        </p:txBody>
      </p:sp>
      <p:sp>
        <p:nvSpPr>
          <p:cNvPr id="30" name="Text 28"/>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8D939D"/>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DCCAD96-8816-34AB-1C29-623C21016195}"/>
            </a:ext>
          </a:extLst>
        </p:cNvPr>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buNone/>
            </a:pPr>
            <a:r>
              <a:rPr sz="1100" b="1" i="0">
                <a:solidFill>
                  <a:srgbClr val="A98B3C"/>
                </a:solidFill>
                <a:latin typeface="Calibri"/>
                <a:ea typeface="Calibri"/>
                <a:cs typeface="Calibri"/>
              </a:rPr>
              <a:t>SOURCE AND TARGET</a:t>
            </a:r>
          </a:p>
        </p:txBody>
      </p:sp>
      <p:sp>
        <p:nvSpPr>
          <p:cNvPr id="3" name="TextBox 2"/>
          <p:cNvSpPr txBox="1"/>
          <p:nvPr/>
        </p:nvSpPr>
        <p:spPr>
          <a:xfrm>
            <a:off x="548640" y="731520"/>
            <a:ext cx="11091672" cy="731520"/>
          </a:xfrm>
          <a:prstGeom prst="rect">
            <a:avLst/>
          </a:prstGeom>
          <a:noFill/>
        </p:spPr>
        <p:txBody>
          <a:bodyPr wrap="square" lIns="0" tIns="0" rIns="0" bIns="0" anchor="t">
            <a:spAutoFit/>
          </a:bodyPr>
          <a:lstStyle/>
          <a:p>
            <a:pPr>
              <a:buNone/>
            </a:pPr>
            <a:r>
              <a:rPr sz="3400" b="1" i="0">
                <a:solidFill>
                  <a:srgbClr val="2B2E36"/>
                </a:solidFill>
                <a:latin typeface="Raleway"/>
                <a:ea typeface="Raleway"/>
                <a:cs typeface="Raleway"/>
              </a:rPr>
              <a:t>One table that points to itself</a:t>
            </a:r>
          </a:p>
        </p:txBody>
      </p:sp>
      <p:sp>
        <p:nvSpPr>
          <p:cNvPr id="4" name="TextBox 3"/>
          <p:cNvSpPr txBox="1"/>
          <p:nvPr/>
        </p:nvSpPr>
        <p:spPr>
          <a:xfrm>
            <a:off x="548640" y="1463040"/>
            <a:ext cx="11091672" cy="365760"/>
          </a:xfrm>
          <a:prstGeom prst="rect">
            <a:avLst/>
          </a:prstGeom>
          <a:noFill/>
        </p:spPr>
        <p:txBody>
          <a:bodyPr wrap="square" lIns="0" tIns="0" rIns="0" bIns="0" anchor="t">
            <a:spAutoFit/>
          </a:bodyPr>
          <a:lstStyle/>
          <a:p>
            <a:pPr>
              <a:buNone/>
            </a:pPr>
            <a:r>
              <a:rPr sz="1500" b="0" i="0">
                <a:solidFill>
                  <a:srgbClr val="50555F"/>
                </a:solidFill>
                <a:latin typeface="Calibri"/>
                <a:ea typeface="Calibri"/>
                <a:cs typeface="Calibri"/>
              </a:rPr>
              <a:t>A compound specimen and each of its parts are all dwc:Material records. A part names its parent in isPartOfMaterialEntityID.</a:t>
            </a:r>
          </a:p>
        </p:txBody>
      </p:sp>
      <p:sp>
        <p:nvSpPr>
          <p:cNvPr id="5" name="Rounded Rectangle 4"/>
          <p:cNvSpPr/>
          <p:nvPr/>
        </p:nvSpPr>
        <p:spPr>
          <a:xfrm>
            <a:off x="548640" y="2148840"/>
            <a:ext cx="3566160" cy="2148840"/>
          </a:xfrm>
          <a:prstGeom prst="roundRect">
            <a:avLst>
              <a:gd name="adj" fmla="val 1859"/>
            </a:avLst>
          </a:prstGeom>
          <a:solidFill>
            <a:srgbClr val="EEF3F7"/>
          </a:solidFill>
          <a:ln w="12700">
            <a:solidFill>
              <a:srgbClr val="EEF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304288"/>
            <a:ext cx="3017520" cy="320040"/>
          </a:xfrm>
          <a:prstGeom prst="rect">
            <a:avLst/>
          </a:prstGeom>
          <a:noFill/>
        </p:spPr>
        <p:txBody>
          <a:bodyPr wrap="square" lIns="0" tIns="0" rIns="0" bIns="0" anchor="t">
            <a:spAutoFit/>
          </a:bodyPr>
          <a:lstStyle/>
          <a:p>
            <a:pPr>
              <a:buNone/>
            </a:pPr>
            <a:r>
              <a:rPr sz="1500" b="1" i="0">
                <a:solidFill>
                  <a:srgbClr val="2E5C8F"/>
                </a:solidFill>
                <a:latin typeface="Calibri"/>
                <a:ea typeface="Calibri"/>
                <a:cs typeface="Calibri"/>
              </a:rPr>
              <a:t>dwc:Material</a:t>
            </a:r>
          </a:p>
        </p:txBody>
      </p:sp>
      <p:sp>
        <p:nvSpPr>
          <p:cNvPr id="7" name="TextBox 6"/>
          <p:cNvSpPr txBox="1"/>
          <p:nvPr/>
        </p:nvSpPr>
        <p:spPr>
          <a:xfrm>
            <a:off x="822960" y="2724912"/>
            <a:ext cx="3108960" cy="274320"/>
          </a:xfrm>
          <a:prstGeom prst="rect">
            <a:avLst/>
          </a:prstGeom>
          <a:noFill/>
        </p:spPr>
        <p:txBody>
          <a:bodyPr wrap="square" lIns="0" tIns="0" rIns="0" bIns="0" anchor="t">
            <a:spAutoFit/>
          </a:bodyPr>
          <a:lstStyle/>
          <a:p>
            <a:pPr>
              <a:buNone/>
            </a:pPr>
            <a:r>
              <a:rPr sz="1250" b="1" i="0">
                <a:solidFill>
                  <a:srgbClr val="2E5C8F"/>
                </a:solidFill>
                <a:latin typeface="Courier New"/>
                <a:ea typeface="Courier New"/>
                <a:cs typeface="Courier New"/>
              </a:rPr>
              <a:t>materialEntityID</a:t>
            </a:r>
          </a:p>
        </p:txBody>
      </p:sp>
      <p:sp>
        <p:nvSpPr>
          <p:cNvPr id="8" name="TextBox 7"/>
          <p:cNvSpPr txBox="1"/>
          <p:nvPr/>
        </p:nvSpPr>
        <p:spPr>
          <a:xfrm>
            <a:off x="822960" y="3026664"/>
            <a:ext cx="3108960" cy="274320"/>
          </a:xfrm>
          <a:prstGeom prst="rect">
            <a:avLst/>
          </a:prstGeom>
          <a:noFill/>
        </p:spPr>
        <p:txBody>
          <a:bodyPr wrap="square" lIns="0" tIns="0" rIns="0" bIns="0" anchor="t">
            <a:spAutoFit/>
          </a:bodyPr>
          <a:lstStyle/>
          <a:p>
            <a:pPr>
              <a:buNone/>
            </a:pPr>
            <a:r>
              <a:rPr sz="1250" b="0" i="0">
                <a:solidFill>
                  <a:srgbClr val="2B2E36"/>
                </a:solidFill>
                <a:latin typeface="Courier New"/>
                <a:ea typeface="Courier New"/>
                <a:cs typeface="Courier New"/>
              </a:rPr>
              <a:t>materialEntityType</a:t>
            </a:r>
          </a:p>
        </p:txBody>
      </p:sp>
      <p:sp>
        <p:nvSpPr>
          <p:cNvPr id="9" name="TextBox 8"/>
          <p:cNvSpPr txBox="1"/>
          <p:nvPr/>
        </p:nvSpPr>
        <p:spPr>
          <a:xfrm>
            <a:off x="822960" y="3328416"/>
            <a:ext cx="3108960" cy="274320"/>
          </a:xfrm>
          <a:prstGeom prst="rect">
            <a:avLst/>
          </a:prstGeom>
          <a:noFill/>
        </p:spPr>
        <p:txBody>
          <a:bodyPr wrap="square" lIns="0" tIns="0" rIns="0" bIns="0" anchor="t">
            <a:spAutoFit/>
          </a:bodyPr>
          <a:lstStyle/>
          <a:p>
            <a:pPr>
              <a:buNone/>
            </a:pPr>
            <a:r>
              <a:rPr sz="1250" b="0" i="0">
                <a:solidFill>
                  <a:srgbClr val="2B2E36"/>
                </a:solidFill>
                <a:latin typeface="Courier New"/>
                <a:ea typeface="Courier New"/>
                <a:cs typeface="Courier New"/>
              </a:rPr>
              <a:t>verbatimIdentification</a:t>
            </a:r>
          </a:p>
        </p:txBody>
      </p:sp>
      <p:sp>
        <p:nvSpPr>
          <p:cNvPr id="10" name="TextBox 9"/>
          <p:cNvSpPr txBox="1"/>
          <p:nvPr/>
        </p:nvSpPr>
        <p:spPr>
          <a:xfrm>
            <a:off x="822960" y="3630168"/>
            <a:ext cx="3108960" cy="274320"/>
          </a:xfrm>
          <a:prstGeom prst="rect">
            <a:avLst/>
          </a:prstGeom>
          <a:noFill/>
        </p:spPr>
        <p:txBody>
          <a:bodyPr wrap="square" lIns="0" tIns="0" rIns="0" bIns="0" anchor="t">
            <a:spAutoFit/>
          </a:bodyPr>
          <a:lstStyle/>
          <a:p>
            <a:pPr>
              <a:buNone/>
            </a:pPr>
            <a:r>
              <a:rPr sz="1250" b="0" i="0">
                <a:solidFill>
                  <a:srgbClr val="2B2E36"/>
                </a:solidFill>
                <a:latin typeface="Courier New"/>
                <a:ea typeface="Courier New"/>
                <a:cs typeface="Courier New"/>
              </a:rPr>
              <a:t>geoName</a:t>
            </a:r>
          </a:p>
        </p:txBody>
      </p:sp>
      <p:sp>
        <p:nvSpPr>
          <p:cNvPr id="11" name="TextBox 10"/>
          <p:cNvSpPr txBox="1"/>
          <p:nvPr/>
        </p:nvSpPr>
        <p:spPr>
          <a:xfrm>
            <a:off x="822960" y="3931920"/>
            <a:ext cx="3108960" cy="274320"/>
          </a:xfrm>
          <a:prstGeom prst="rect">
            <a:avLst/>
          </a:prstGeom>
          <a:noFill/>
        </p:spPr>
        <p:txBody>
          <a:bodyPr wrap="square" lIns="0" tIns="0" rIns="0" bIns="0" anchor="t">
            <a:spAutoFit/>
          </a:bodyPr>
          <a:lstStyle/>
          <a:p>
            <a:pPr>
              <a:buNone/>
            </a:pPr>
            <a:r>
              <a:rPr sz="1250" b="1" i="0">
                <a:solidFill>
                  <a:srgbClr val="2E5C8F"/>
                </a:solidFill>
                <a:latin typeface="Courier New"/>
                <a:ea typeface="Courier New"/>
                <a:cs typeface="Courier New"/>
              </a:rPr>
              <a:t>isPartOfMaterialEntityID</a:t>
            </a:r>
          </a:p>
        </p:txBody>
      </p:sp>
      <p:cxnSp>
        <p:nvCxnSpPr>
          <p:cNvPr id="12" name="Connector 11"/>
          <p:cNvCxnSpPr/>
          <p:nvPr/>
        </p:nvCxnSpPr>
        <p:spPr>
          <a:xfrm>
            <a:off x="4160520" y="2843784"/>
            <a:ext cx="365760" cy="0"/>
          </a:xfrm>
          <a:prstGeom prst="line">
            <a:avLst/>
          </a:prstGeom>
          <a:ln w="19050">
            <a:solidFill>
              <a:srgbClr val="2E5C8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526280" y="2843784"/>
            <a:ext cx="0" cy="1207007"/>
          </a:xfrm>
          <a:prstGeom prst="line">
            <a:avLst/>
          </a:prstGeom>
          <a:ln w="19050">
            <a:solidFill>
              <a:srgbClr val="2E5C8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4160520" y="4050791"/>
            <a:ext cx="365760" cy="0"/>
          </a:xfrm>
          <a:prstGeom prst="line">
            <a:avLst/>
          </a:prstGeom>
          <a:ln w="19050">
            <a:solidFill>
              <a:srgbClr val="2E5C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617720" y="3310127"/>
            <a:ext cx="548640" cy="274320"/>
          </a:xfrm>
          <a:prstGeom prst="rect">
            <a:avLst/>
          </a:prstGeom>
          <a:noFill/>
        </p:spPr>
        <p:txBody>
          <a:bodyPr wrap="square" lIns="0" tIns="0" rIns="0" bIns="0" anchor="t">
            <a:spAutoFit/>
          </a:bodyPr>
          <a:lstStyle/>
          <a:p>
            <a:pPr>
              <a:buNone/>
            </a:pPr>
            <a:r>
              <a:rPr sz="1050" b="0" i="1">
                <a:solidFill>
                  <a:srgbClr val="2E5C8F"/>
                </a:solidFill>
                <a:latin typeface="Calibri"/>
                <a:ea typeface="Calibri"/>
                <a:cs typeface="Calibri"/>
              </a:rPr>
              <a:t>is part of</a:t>
            </a:r>
          </a:p>
        </p:txBody>
      </p:sp>
      <p:sp>
        <p:nvSpPr>
          <p:cNvPr id="16" name="Oval 15"/>
          <p:cNvSpPr/>
          <p:nvPr/>
        </p:nvSpPr>
        <p:spPr>
          <a:xfrm>
            <a:off x="5486400" y="2148840"/>
            <a:ext cx="411480" cy="411480"/>
          </a:xfrm>
          <a:prstGeom prst="ellipse">
            <a:avLst/>
          </a:prstGeom>
          <a:solidFill>
            <a:srgbClr val="2E5C8F"/>
          </a:solidFill>
          <a:ln>
            <a:solidFill>
              <a:srgbClr val="2E5C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0" y="2148840"/>
            <a:ext cx="411480" cy="411480"/>
          </a:xfrm>
          <a:prstGeom prst="rect">
            <a:avLst/>
          </a:prstGeom>
          <a:noFill/>
        </p:spPr>
        <p:txBody>
          <a:bodyPr wrap="square" lIns="0" tIns="0" rIns="0" bIns="0" anchor="ctr">
            <a:spAutoFit/>
          </a:bodyPr>
          <a:lstStyle/>
          <a:p>
            <a:pPr algn="ctr">
              <a:buNone/>
            </a:pPr>
            <a:r>
              <a:rPr sz="1600" b="1" i="0">
                <a:solidFill>
                  <a:srgbClr val="FFFFFF"/>
                </a:solidFill>
                <a:latin typeface="Raleway"/>
                <a:ea typeface="Raleway"/>
                <a:cs typeface="Raleway"/>
              </a:rPr>
              <a:t>1</a:t>
            </a:r>
          </a:p>
        </p:txBody>
      </p:sp>
      <p:sp>
        <p:nvSpPr>
          <p:cNvPr id="18" name="TextBox 17"/>
          <p:cNvSpPr txBox="1"/>
          <p:nvPr/>
        </p:nvSpPr>
        <p:spPr>
          <a:xfrm>
            <a:off x="6080760" y="2121408"/>
            <a:ext cx="5486400" cy="274320"/>
          </a:xfrm>
          <a:prstGeom prst="rect">
            <a:avLst/>
          </a:prstGeom>
          <a:noFill/>
        </p:spPr>
        <p:txBody>
          <a:bodyPr wrap="square" lIns="0" tIns="0" rIns="0" bIns="0" anchor="t">
            <a:spAutoFit/>
          </a:bodyPr>
          <a:lstStyle/>
          <a:p>
            <a:pPr>
              <a:buNone/>
            </a:pPr>
            <a:r>
              <a:rPr sz="1500" b="1" i="0">
                <a:solidFill>
                  <a:srgbClr val="2B2E36"/>
                </a:solidFill>
                <a:latin typeface="Calibri"/>
                <a:ea typeface="Calibri"/>
                <a:cs typeface="Calibri"/>
              </a:rPr>
              <a:t>The compound specimen</a:t>
            </a:r>
          </a:p>
        </p:txBody>
      </p:sp>
      <p:sp>
        <p:nvSpPr>
          <p:cNvPr id="19" name="TextBox 18"/>
          <p:cNvSpPr txBox="1"/>
          <p:nvPr/>
        </p:nvSpPr>
        <p:spPr>
          <a:xfrm>
            <a:off x="6080760" y="2404872"/>
            <a:ext cx="5486400" cy="320040"/>
          </a:xfrm>
          <a:prstGeom prst="rect">
            <a:avLst/>
          </a:prstGeom>
          <a:noFill/>
        </p:spPr>
        <p:txBody>
          <a:bodyPr wrap="square" lIns="0" tIns="0" rIns="0" bIns="0" anchor="t">
            <a:spAutoFit/>
          </a:bodyPr>
          <a:lstStyle/>
          <a:p>
            <a:pPr>
              <a:buNone/>
            </a:pPr>
            <a:r>
              <a:rPr sz="1250" b="0" i="0">
                <a:solidFill>
                  <a:srgbClr val="50555F"/>
                </a:solidFill>
                <a:latin typeface="Calibri"/>
                <a:ea typeface="Calibri"/>
                <a:cs typeface="Calibri"/>
              </a:rPr>
              <a:t>The physical object you catalogue: an almandine schist. It has no parent.</a:t>
            </a:r>
          </a:p>
        </p:txBody>
      </p:sp>
      <p:sp>
        <p:nvSpPr>
          <p:cNvPr id="20" name="Oval 19"/>
          <p:cNvSpPr/>
          <p:nvPr/>
        </p:nvSpPr>
        <p:spPr>
          <a:xfrm>
            <a:off x="5486400" y="2880360"/>
            <a:ext cx="411480" cy="411480"/>
          </a:xfrm>
          <a:prstGeom prst="ellipse">
            <a:avLst/>
          </a:prstGeom>
          <a:solidFill>
            <a:srgbClr val="5F8FAF"/>
          </a:solidFill>
          <a:ln>
            <a:solidFill>
              <a:srgbClr val="5F8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0" y="2880360"/>
            <a:ext cx="411480" cy="411480"/>
          </a:xfrm>
          <a:prstGeom prst="rect">
            <a:avLst/>
          </a:prstGeom>
          <a:noFill/>
        </p:spPr>
        <p:txBody>
          <a:bodyPr wrap="square" lIns="0" tIns="0" rIns="0" bIns="0" anchor="ctr">
            <a:spAutoFit/>
          </a:bodyPr>
          <a:lstStyle/>
          <a:p>
            <a:pPr algn="ctr">
              <a:buNone/>
            </a:pPr>
            <a:r>
              <a:rPr sz="1600" b="1" i="0">
                <a:solidFill>
                  <a:srgbClr val="FFFFFF"/>
                </a:solidFill>
                <a:latin typeface="Raleway"/>
                <a:ea typeface="Raleway"/>
                <a:cs typeface="Raleway"/>
              </a:rPr>
              <a:t>2</a:t>
            </a:r>
          </a:p>
        </p:txBody>
      </p:sp>
      <p:sp>
        <p:nvSpPr>
          <p:cNvPr id="22" name="TextBox 21"/>
          <p:cNvSpPr txBox="1"/>
          <p:nvPr/>
        </p:nvSpPr>
        <p:spPr>
          <a:xfrm>
            <a:off x="6080760" y="2852928"/>
            <a:ext cx="5486400" cy="274320"/>
          </a:xfrm>
          <a:prstGeom prst="rect">
            <a:avLst/>
          </a:prstGeom>
          <a:noFill/>
        </p:spPr>
        <p:txBody>
          <a:bodyPr wrap="square" lIns="0" tIns="0" rIns="0" bIns="0" anchor="t">
            <a:spAutoFit/>
          </a:bodyPr>
          <a:lstStyle/>
          <a:p>
            <a:pPr>
              <a:buNone/>
            </a:pPr>
            <a:r>
              <a:rPr sz="1500" b="1" i="0">
                <a:solidFill>
                  <a:srgbClr val="2B2E36"/>
                </a:solidFill>
                <a:latin typeface="Calibri"/>
                <a:ea typeface="Calibri"/>
                <a:cs typeface="Calibri"/>
              </a:rPr>
              <a:t>Its parts</a:t>
            </a:r>
          </a:p>
        </p:txBody>
      </p:sp>
      <p:sp>
        <p:nvSpPr>
          <p:cNvPr id="23" name="TextBox 22"/>
          <p:cNvSpPr txBox="1"/>
          <p:nvPr/>
        </p:nvSpPr>
        <p:spPr>
          <a:xfrm>
            <a:off x="6080760" y="3136392"/>
            <a:ext cx="5486400" cy="320040"/>
          </a:xfrm>
          <a:prstGeom prst="rect">
            <a:avLst/>
          </a:prstGeom>
          <a:noFill/>
        </p:spPr>
        <p:txBody>
          <a:bodyPr wrap="square" lIns="0" tIns="0" rIns="0" bIns="0" anchor="t">
            <a:spAutoFit/>
          </a:bodyPr>
          <a:lstStyle/>
          <a:p>
            <a:pPr>
              <a:buNone/>
            </a:pPr>
            <a:r>
              <a:rPr sz="1250" b="0" i="0">
                <a:solidFill>
                  <a:srgbClr val="50555F"/>
                </a:solidFill>
                <a:latin typeface="Calibri"/>
                <a:ea typeface="Calibri"/>
                <a:cs typeface="Calibri"/>
              </a:rPr>
              <a:t>Each identifiable mineral or rock becomes its own record: the garnet and the schist.</a:t>
            </a:r>
          </a:p>
        </p:txBody>
      </p:sp>
      <p:sp>
        <p:nvSpPr>
          <p:cNvPr id="24" name="Oval 23"/>
          <p:cNvSpPr/>
          <p:nvPr/>
        </p:nvSpPr>
        <p:spPr>
          <a:xfrm>
            <a:off x="5486400" y="3611880"/>
            <a:ext cx="411480" cy="411480"/>
          </a:xfrm>
          <a:prstGeom prst="ellipse">
            <a:avLst/>
          </a:prstGeom>
          <a:solidFill>
            <a:srgbClr val="A98B3C"/>
          </a:solidFill>
          <a:ln>
            <a:solidFill>
              <a:srgbClr val="A98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0" y="3611880"/>
            <a:ext cx="411480" cy="411480"/>
          </a:xfrm>
          <a:prstGeom prst="rect">
            <a:avLst/>
          </a:prstGeom>
          <a:noFill/>
        </p:spPr>
        <p:txBody>
          <a:bodyPr wrap="square" lIns="0" tIns="0" rIns="0" bIns="0" anchor="ctr">
            <a:spAutoFit/>
          </a:bodyPr>
          <a:lstStyle/>
          <a:p>
            <a:pPr algn="ctr">
              <a:buNone/>
            </a:pPr>
            <a:r>
              <a:rPr sz="1600" b="1" i="0">
                <a:solidFill>
                  <a:srgbClr val="FFFFFF"/>
                </a:solidFill>
                <a:latin typeface="Raleway"/>
                <a:ea typeface="Raleway"/>
                <a:cs typeface="Raleway"/>
              </a:rPr>
              <a:t>3</a:t>
            </a:r>
          </a:p>
        </p:txBody>
      </p:sp>
      <p:sp>
        <p:nvSpPr>
          <p:cNvPr id="26" name="TextBox 25"/>
          <p:cNvSpPr txBox="1"/>
          <p:nvPr/>
        </p:nvSpPr>
        <p:spPr>
          <a:xfrm>
            <a:off x="6080760" y="3584448"/>
            <a:ext cx="5486400" cy="274320"/>
          </a:xfrm>
          <a:prstGeom prst="rect">
            <a:avLst/>
          </a:prstGeom>
          <a:noFill/>
        </p:spPr>
        <p:txBody>
          <a:bodyPr wrap="square" lIns="0" tIns="0" rIns="0" bIns="0" anchor="t">
            <a:spAutoFit/>
          </a:bodyPr>
          <a:lstStyle/>
          <a:p>
            <a:pPr>
              <a:buNone/>
            </a:pPr>
            <a:r>
              <a:rPr sz="1500" b="1" i="0">
                <a:solidFill>
                  <a:srgbClr val="2B2E36"/>
                </a:solidFill>
                <a:latin typeface="Calibri"/>
                <a:ea typeface="Calibri"/>
                <a:cs typeface="Calibri"/>
              </a:rPr>
              <a:t>The link</a:t>
            </a:r>
          </a:p>
        </p:txBody>
      </p:sp>
      <p:sp>
        <p:nvSpPr>
          <p:cNvPr id="27" name="TextBox 26"/>
          <p:cNvSpPr txBox="1"/>
          <p:nvPr/>
        </p:nvSpPr>
        <p:spPr>
          <a:xfrm>
            <a:off x="6080760" y="3867912"/>
            <a:ext cx="5486400" cy="320040"/>
          </a:xfrm>
          <a:prstGeom prst="rect">
            <a:avLst/>
          </a:prstGeom>
          <a:noFill/>
        </p:spPr>
        <p:txBody>
          <a:bodyPr wrap="square" lIns="0" tIns="0" rIns="0" bIns="0" anchor="t">
            <a:spAutoFit/>
          </a:bodyPr>
          <a:lstStyle/>
          <a:p>
            <a:pPr>
              <a:buNone/>
            </a:pPr>
            <a:r>
              <a:rPr sz="1250" b="0" i="0">
                <a:solidFill>
                  <a:srgbClr val="50555F"/>
                </a:solidFill>
                <a:latin typeface="Calibri"/>
                <a:ea typeface="Calibri"/>
                <a:cs typeface="Calibri"/>
              </a:rPr>
              <a:t>A part’s isPartOfMaterialEntityID holds the parent’s materialEntityID.</a:t>
            </a:r>
          </a:p>
        </p:txBody>
      </p:sp>
      <p:graphicFrame>
        <p:nvGraphicFramePr>
          <p:cNvPr id="28" name="Table 27"/>
          <p:cNvGraphicFramePr>
            <a:graphicFrameLocks noGrp="1"/>
          </p:cNvGraphicFramePr>
          <p:nvPr/>
        </p:nvGraphicFramePr>
        <p:xfrm>
          <a:off x="548640" y="4572000"/>
          <a:ext cx="11091672" cy="1371600"/>
        </p:xfrm>
        <a:graphic>
          <a:graphicData uri="http://schemas.openxmlformats.org/drawingml/2006/table">
            <a:tbl>
              <a:tblPr>
                <a:tableStyleId>{5C22544A-7EE6-4342-B048-85BDC9FD1C3A}</a:tableStyleId>
              </a:tblPr>
              <a:tblGrid>
                <a:gridCol w="20116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gridCol w="2404872">
                  <a:extLst>
                    <a:ext uri="{9D8B030D-6E8A-4147-A177-3AD203B41FA5}">
                      <a16:colId xmlns:a16="http://schemas.microsoft.com/office/drawing/2014/main" val="20004"/>
                    </a:ext>
                  </a:extLst>
                </a:gridCol>
              </a:tblGrid>
              <a:tr h="342900">
                <a:tc>
                  <a:txBody>
                    <a:bodyPr/>
                    <a:lstStyle/>
                    <a:p>
                      <a:pPr algn="ctr"/>
                      <a:r>
                        <a:rPr sz="1150" b="1" i="0">
                          <a:solidFill>
                            <a:srgbClr val="FFFFFF"/>
                          </a:solidFill>
                          <a:latin typeface="Courier New"/>
                          <a:ea typeface="Courier New"/>
                          <a:cs typeface="Courier New"/>
                        </a:rPr>
                        <a:t>materialEntityID</a:t>
                      </a: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2E5C8F"/>
                    </a:solidFill>
                  </a:tcPr>
                </a:tc>
                <a:tc>
                  <a:txBody>
                    <a:bodyPr/>
                    <a:lstStyle/>
                    <a:p>
                      <a:pPr algn="ctr"/>
                      <a:r>
                        <a:rPr sz="1150" b="1" i="0">
                          <a:solidFill>
                            <a:srgbClr val="FFFFFF"/>
                          </a:solidFill>
                          <a:latin typeface="Courier New"/>
                          <a:ea typeface="Courier New"/>
                          <a:cs typeface="Courier New"/>
                        </a:rPr>
                        <a:t>materialEntityType</a:t>
                      </a: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2E5C8F"/>
                    </a:solidFill>
                  </a:tcPr>
                </a:tc>
                <a:tc>
                  <a:txBody>
                    <a:bodyPr/>
                    <a:lstStyle/>
                    <a:p>
                      <a:pPr algn="ctr"/>
                      <a:r>
                        <a:rPr sz="1150" b="1" i="0">
                          <a:solidFill>
                            <a:srgbClr val="FFFFFF"/>
                          </a:solidFill>
                          <a:latin typeface="Courier New"/>
                          <a:ea typeface="Courier New"/>
                          <a:cs typeface="Courier New"/>
                        </a:rPr>
                        <a:t>verbatimIdentification</a:t>
                      </a: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2E5C8F"/>
                    </a:solidFill>
                  </a:tcPr>
                </a:tc>
                <a:tc>
                  <a:txBody>
                    <a:bodyPr/>
                    <a:lstStyle/>
                    <a:p>
                      <a:pPr algn="ctr"/>
                      <a:r>
                        <a:rPr sz="1150" b="1" i="0">
                          <a:solidFill>
                            <a:srgbClr val="FFFFFF"/>
                          </a:solidFill>
                          <a:latin typeface="Courier New"/>
                          <a:ea typeface="Courier New"/>
                          <a:cs typeface="Courier New"/>
                        </a:rPr>
                        <a:t>geoName</a:t>
                      </a: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2E5C8F"/>
                    </a:solidFill>
                  </a:tcPr>
                </a:tc>
                <a:tc>
                  <a:txBody>
                    <a:bodyPr/>
                    <a:lstStyle/>
                    <a:p>
                      <a:pPr algn="ctr"/>
                      <a:r>
                        <a:rPr sz="1150" b="1" i="0">
                          <a:solidFill>
                            <a:srgbClr val="FFFFFF"/>
                          </a:solidFill>
                          <a:latin typeface="Courier New"/>
                          <a:ea typeface="Courier New"/>
                          <a:cs typeface="Courier New"/>
                        </a:rPr>
                        <a:t>isPartOfMaterialEntityID</a:t>
                      </a: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2E5C8F"/>
                    </a:solidFill>
                  </a:tcPr>
                </a:tc>
                <a:extLst>
                  <a:ext uri="{0D108BD9-81ED-4DB2-BD59-A6C34878D82A}">
                    <a16:rowId xmlns:a16="http://schemas.microsoft.com/office/drawing/2014/main" val="10000"/>
                  </a:ext>
                </a:extLst>
              </a:tr>
              <a:tr h="342900">
                <a:tc>
                  <a:txBody>
                    <a:bodyPr/>
                    <a:lstStyle/>
                    <a:p>
                      <a:pPr algn="ctr"/>
                      <a:r>
                        <a:rPr sz="1300" b="1" i="0">
                          <a:solidFill>
                            <a:srgbClr val="2E5C8F"/>
                          </a:solidFill>
                          <a:latin typeface="Calibri"/>
                          <a:ea typeface="Calibri"/>
                          <a:cs typeface="Calibri"/>
                        </a:rPr>
                        <a:t>1</a:t>
                      </a: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FFFFFF"/>
                    </a:solidFill>
                  </a:tcPr>
                </a:tc>
                <a:tc>
                  <a:txBody>
                    <a:bodyPr/>
                    <a:lstStyle/>
                    <a:p>
                      <a:pPr algn="ctr"/>
                      <a:r>
                        <a:rPr sz="1300" b="0" i="0">
                          <a:solidFill>
                            <a:srgbClr val="2B2E36"/>
                          </a:solidFill>
                          <a:latin typeface="Calibri"/>
                          <a:ea typeface="Calibri"/>
                          <a:cs typeface="Calibri"/>
                        </a:rPr>
                        <a:t>Compound Specimen</a:t>
                      </a: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FFFFFF"/>
                    </a:solidFill>
                  </a:tcPr>
                </a:tc>
                <a:tc>
                  <a:txBody>
                    <a:bodyPr/>
                    <a:lstStyle/>
                    <a:p>
                      <a:pPr algn="ctr"/>
                      <a:r>
                        <a:rPr sz="1300" b="0" i="0">
                          <a:solidFill>
                            <a:srgbClr val="2B2E36"/>
                          </a:solidFill>
                          <a:latin typeface="Calibri"/>
                          <a:ea typeface="Calibri"/>
                          <a:cs typeface="Calibri"/>
                        </a:rPr>
                        <a:t>Almandine Schist</a:t>
                      </a: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FFFFFF"/>
                    </a:solidFill>
                  </a:tcPr>
                </a:tc>
                <a:tc>
                  <a:txBody>
                    <a:bodyPr/>
                    <a:lstStyle/>
                    <a:p>
                      <a:pPr algn="ctr"/>
                      <a:endParaRP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FFFFFF"/>
                    </a:solidFill>
                  </a:tcPr>
                </a:tc>
                <a:tc>
                  <a:txBody>
                    <a:bodyPr/>
                    <a:lstStyle/>
                    <a:p>
                      <a:pPr algn="ctr"/>
                      <a:endParaRP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FFFFFF"/>
                    </a:solidFill>
                  </a:tcPr>
                </a:tc>
                <a:extLst>
                  <a:ext uri="{0D108BD9-81ED-4DB2-BD59-A6C34878D82A}">
                    <a16:rowId xmlns:a16="http://schemas.microsoft.com/office/drawing/2014/main" val="10001"/>
                  </a:ext>
                </a:extLst>
              </a:tr>
              <a:tr h="342900">
                <a:tc>
                  <a:txBody>
                    <a:bodyPr/>
                    <a:lstStyle/>
                    <a:p>
                      <a:pPr algn="ctr"/>
                      <a:r>
                        <a:rPr sz="1300" b="1" i="0">
                          <a:solidFill>
                            <a:srgbClr val="2E5C8F"/>
                          </a:solidFill>
                          <a:latin typeface="Calibri"/>
                          <a:ea typeface="Calibri"/>
                          <a:cs typeface="Calibri"/>
                        </a:rPr>
                        <a:t>2</a:t>
                      </a: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EEF3F7"/>
                    </a:solidFill>
                  </a:tcPr>
                </a:tc>
                <a:tc>
                  <a:txBody>
                    <a:bodyPr/>
                    <a:lstStyle/>
                    <a:p>
                      <a:pPr algn="ctr"/>
                      <a:r>
                        <a:rPr sz="1300" b="0" i="0">
                          <a:solidFill>
                            <a:srgbClr val="2B2E36"/>
                          </a:solidFill>
                          <a:latin typeface="Calibri"/>
                          <a:ea typeface="Calibri"/>
                          <a:cs typeface="Calibri"/>
                        </a:rPr>
                        <a:t>Mineral</a:t>
                      </a: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EEF3F7"/>
                    </a:solidFill>
                  </a:tcPr>
                </a:tc>
                <a:tc>
                  <a:txBody>
                    <a:bodyPr/>
                    <a:lstStyle/>
                    <a:p>
                      <a:pPr algn="ctr"/>
                      <a:r>
                        <a:rPr sz="1300" b="0" i="0">
                          <a:solidFill>
                            <a:srgbClr val="2B2E36"/>
                          </a:solidFill>
                          <a:latin typeface="Calibri"/>
                          <a:ea typeface="Calibri"/>
                          <a:cs typeface="Calibri"/>
                        </a:rPr>
                        <a:t>Garnet</a:t>
                      </a: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EEF3F7"/>
                    </a:solidFill>
                  </a:tcPr>
                </a:tc>
                <a:tc>
                  <a:txBody>
                    <a:bodyPr/>
                    <a:lstStyle/>
                    <a:p>
                      <a:pPr algn="ctr"/>
                      <a:r>
                        <a:rPr sz="1300" b="0" i="0">
                          <a:solidFill>
                            <a:srgbClr val="2B2E36"/>
                          </a:solidFill>
                          <a:latin typeface="Calibri"/>
                          <a:ea typeface="Calibri"/>
                          <a:cs typeface="Calibri"/>
                        </a:rPr>
                        <a:t>Almandine</a:t>
                      </a: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EEF3F7"/>
                    </a:solidFill>
                  </a:tcPr>
                </a:tc>
                <a:tc>
                  <a:txBody>
                    <a:bodyPr/>
                    <a:lstStyle/>
                    <a:p>
                      <a:pPr algn="ctr"/>
                      <a:r>
                        <a:rPr sz="1300" b="1" i="0">
                          <a:solidFill>
                            <a:srgbClr val="2E5C8F"/>
                          </a:solidFill>
                          <a:latin typeface="Calibri"/>
                          <a:ea typeface="Calibri"/>
                          <a:cs typeface="Calibri"/>
                        </a:rPr>
                        <a:t>1</a:t>
                      </a: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EEF3F7"/>
                    </a:solidFill>
                  </a:tcPr>
                </a:tc>
                <a:extLst>
                  <a:ext uri="{0D108BD9-81ED-4DB2-BD59-A6C34878D82A}">
                    <a16:rowId xmlns:a16="http://schemas.microsoft.com/office/drawing/2014/main" val="10002"/>
                  </a:ext>
                </a:extLst>
              </a:tr>
              <a:tr h="342900">
                <a:tc>
                  <a:txBody>
                    <a:bodyPr/>
                    <a:lstStyle/>
                    <a:p>
                      <a:pPr algn="ctr"/>
                      <a:r>
                        <a:rPr sz="1300" b="1" i="0">
                          <a:solidFill>
                            <a:srgbClr val="2E5C8F"/>
                          </a:solidFill>
                          <a:latin typeface="Calibri"/>
                          <a:ea typeface="Calibri"/>
                          <a:cs typeface="Calibri"/>
                        </a:rPr>
                        <a:t>3</a:t>
                      </a: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FFFFFF"/>
                    </a:solidFill>
                  </a:tcPr>
                </a:tc>
                <a:tc>
                  <a:txBody>
                    <a:bodyPr/>
                    <a:lstStyle/>
                    <a:p>
                      <a:pPr algn="ctr"/>
                      <a:r>
                        <a:rPr sz="1300" b="0" i="0">
                          <a:solidFill>
                            <a:srgbClr val="2B2E36"/>
                          </a:solidFill>
                          <a:latin typeface="Calibri"/>
                          <a:ea typeface="Calibri"/>
                          <a:cs typeface="Calibri"/>
                        </a:rPr>
                        <a:t>Rock</a:t>
                      </a: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FFFFFF"/>
                    </a:solidFill>
                  </a:tcPr>
                </a:tc>
                <a:tc>
                  <a:txBody>
                    <a:bodyPr/>
                    <a:lstStyle/>
                    <a:p>
                      <a:pPr algn="ctr"/>
                      <a:r>
                        <a:rPr sz="1300" b="0" i="0">
                          <a:solidFill>
                            <a:srgbClr val="2B2E36"/>
                          </a:solidFill>
                          <a:latin typeface="Calibri"/>
                          <a:ea typeface="Calibri"/>
                          <a:cs typeface="Calibri"/>
                        </a:rPr>
                        <a:t>Schist</a:t>
                      </a: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FFFFFF"/>
                    </a:solidFill>
                  </a:tcPr>
                </a:tc>
                <a:tc>
                  <a:txBody>
                    <a:bodyPr/>
                    <a:lstStyle/>
                    <a:p>
                      <a:pPr algn="ctr"/>
                      <a:r>
                        <a:rPr sz="1300" b="0" i="0">
                          <a:solidFill>
                            <a:srgbClr val="2B2E36"/>
                          </a:solidFill>
                          <a:latin typeface="Calibri"/>
                          <a:ea typeface="Calibri"/>
                          <a:cs typeface="Calibri"/>
                        </a:rPr>
                        <a:t>Garnet-mica Schist</a:t>
                      </a: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FFFFFF"/>
                    </a:solidFill>
                  </a:tcPr>
                </a:tc>
                <a:tc>
                  <a:txBody>
                    <a:bodyPr/>
                    <a:lstStyle/>
                    <a:p>
                      <a:pPr algn="ctr"/>
                      <a:r>
                        <a:rPr sz="1300" b="1" i="0">
                          <a:solidFill>
                            <a:srgbClr val="2E5C8F"/>
                          </a:solidFill>
                          <a:latin typeface="Calibri"/>
                          <a:ea typeface="Calibri"/>
                          <a:cs typeface="Calibri"/>
                        </a:rPr>
                        <a:t>1</a:t>
                      </a:r>
                    </a:p>
                  </a:txBody>
                  <a:tcPr marL="73152" marR="73152" marT="27432" marB="27432" anchor="ctr">
                    <a:lnL w="9525">
                      <a:solidFill>
                        <a:srgbClr val="D5DEE7"/>
                      </a:solidFill>
                    </a:lnL>
                    <a:lnR w="9525">
                      <a:solidFill>
                        <a:srgbClr val="D5DEE7"/>
                      </a:solidFill>
                    </a:lnR>
                    <a:lnT w="9525">
                      <a:solidFill>
                        <a:srgbClr val="D5DEE7"/>
                      </a:solidFill>
                    </a:lnT>
                    <a:lnB w="9525">
                      <a:solidFill>
                        <a:srgbClr val="D5DEE7"/>
                      </a:solidFill>
                    </a:lnB>
                    <a:solidFill>
                      <a:srgbClr val="FFFFFF"/>
                    </a:solidFill>
                  </a:tcPr>
                </a:tc>
                <a:extLst>
                  <a:ext uri="{0D108BD9-81ED-4DB2-BD59-A6C34878D82A}">
                    <a16:rowId xmlns:a16="http://schemas.microsoft.com/office/drawing/2014/main" val="10003"/>
                  </a:ext>
                </a:extLst>
              </a:tr>
            </a:tbl>
          </a:graphicData>
        </a:graphic>
      </p:graphicFrame>
      <p:sp>
        <p:nvSpPr>
          <p:cNvPr id="29" name="TextBox 28"/>
          <p:cNvSpPr txBox="1"/>
          <p:nvPr/>
        </p:nvSpPr>
        <p:spPr>
          <a:xfrm>
            <a:off x="548640" y="6400800"/>
            <a:ext cx="7315200" cy="274320"/>
          </a:xfrm>
          <a:prstGeom prst="rect">
            <a:avLst/>
          </a:prstGeom>
          <a:noFill/>
        </p:spPr>
        <p:txBody>
          <a:bodyPr wrap="square" lIns="0" tIns="0" rIns="0" bIns="0" anchor="t">
            <a:spAutoFit/>
          </a:bodyPr>
          <a:lstStyle/>
          <a:p>
            <a:pPr>
              <a:buNone/>
            </a:pPr>
            <a:r>
              <a:rPr sz="1000" b="0" i="0">
                <a:solidFill>
                  <a:srgbClr val="8D939D"/>
                </a:solidFill>
                <a:latin typeface="Calibri"/>
                <a:ea typeface="Calibri"/>
                <a:cs typeface="Calibri"/>
              </a:rPr>
              <a:t>WKS10  ·  Building a Repeatable AI Pipeline</a:t>
            </a:r>
          </a:p>
        </p:txBody>
      </p:sp>
      <p:sp>
        <p:nvSpPr>
          <p:cNvPr id="30" name="TextBox 29"/>
          <p:cNvSpPr txBox="1"/>
          <p:nvPr/>
        </p:nvSpPr>
        <p:spPr>
          <a:xfrm>
            <a:off x="10725912" y="6400800"/>
            <a:ext cx="914400" cy="274320"/>
          </a:xfrm>
          <a:prstGeom prst="rect">
            <a:avLst/>
          </a:prstGeom>
          <a:noFill/>
        </p:spPr>
        <p:txBody>
          <a:bodyPr wrap="square" lIns="0" tIns="0" rIns="0" bIns="0" anchor="t">
            <a:spAutoFit/>
          </a:bodyPr>
          <a:lstStyle/>
          <a:p>
            <a:pPr algn="r">
              <a:buNone/>
            </a:pPr>
            <a:r>
              <a:rPr sz="1000" b="0" i="0">
                <a:solidFill>
                  <a:srgbClr val="8D939D"/>
                </a:solidFill>
                <a:latin typeface="Calibri"/>
                <a:ea typeface="Calibri"/>
                <a:cs typeface="Calibri"/>
              </a:rPr>
              <a:t>26</a:t>
            </a:r>
          </a:p>
        </p:txBody>
      </p:sp>
    </p:spTree>
    <p:extLst>
      <p:ext uri="{BB962C8B-B14F-4D97-AF65-F5344CB8AC3E}">
        <p14:creationId xmlns:p14="http://schemas.microsoft.com/office/powerpoint/2010/main" val="16268049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A98B3C"/>
                </a:solidFill>
                <a:latin typeface="Calibri" pitchFamily="34" charset="0"/>
                <a:ea typeface="Calibri" pitchFamily="34" charset="-122"/>
                <a:cs typeface="Calibri" pitchFamily="34" charset="-120"/>
              </a:rPr>
              <a:t>SOURCE AND TARGET</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B2E36"/>
                </a:solidFill>
                <a:latin typeface="Raleway" pitchFamily="34" charset="0"/>
                <a:ea typeface="Raleway" pitchFamily="34" charset="-122"/>
                <a:cs typeface="Raleway" pitchFamily="34" charset="-120"/>
              </a:rPr>
              <a:t>Target: the compound specimen model</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0555F"/>
                </a:solidFill>
                <a:latin typeface="Calibri" pitchFamily="34" charset="0"/>
                <a:ea typeface="Calibri" pitchFamily="34" charset="-122"/>
                <a:cs typeface="Calibri" pitchFamily="34" charset="-120"/>
              </a:rPr>
              <a:t>One physical specimen, several identifiable parts, each linked to its parent.</a:t>
            </a:r>
            <a:endParaRPr lang="en-US" sz="1500" dirty="0"/>
          </a:p>
        </p:txBody>
      </p:sp>
      <p:sp>
        <p:nvSpPr>
          <p:cNvPr id="5" name="Text 3"/>
          <p:cNvSpPr txBox="1"/>
          <p:nvPr/>
        </p:nvSpPr>
        <p:spPr>
          <a:xfrm>
            <a:off x="548640" y="2103120"/>
            <a:ext cx="5486400" cy="274320"/>
          </a:xfrm>
          <a:prstGeom prst="rect">
            <a:avLst/>
          </a:prstGeom>
          <a:noFill/>
          <a:ln/>
        </p:spPr>
        <p:txBody>
          <a:bodyPr wrap="square" lIns="0" tIns="0" rIns="0" bIns="0" rtlCol="0" anchor="t"/>
          <a:lstStyle/>
          <a:p>
            <a:pPr marL="0" indent="0">
              <a:buNone/>
            </a:pPr>
            <a:r>
              <a:rPr lang="en-US" sz="1100" b="1" kern="0" spc="100" dirty="0">
                <a:solidFill>
                  <a:srgbClr val="A98B3C"/>
                </a:solidFill>
                <a:latin typeface="Calibri" pitchFamily="34" charset="0"/>
                <a:ea typeface="Calibri" pitchFamily="34" charset="-122"/>
                <a:cs typeface="Calibri" pitchFamily="34" charset="-120"/>
              </a:rPr>
              <a:t>SOURCE (ONE ROW)</a:t>
            </a:r>
            <a:endParaRPr lang="en-US" sz="1100" dirty="0"/>
          </a:p>
        </p:txBody>
      </p:sp>
      <p:sp>
        <p:nvSpPr>
          <p:cNvPr id="6" name="Text 4"/>
          <p:cNvSpPr txBox="1"/>
          <p:nvPr/>
        </p:nvSpPr>
        <p:spPr>
          <a:xfrm>
            <a:off x="548640" y="2423160"/>
            <a:ext cx="5669280" cy="777240"/>
          </a:xfrm>
          <a:prstGeom prst="rect">
            <a:avLst/>
          </a:prstGeom>
          <a:solidFill>
            <a:srgbClr val="EEF3F7"/>
          </a:solidFill>
          <a:ln/>
        </p:spPr>
        <p:txBody>
          <a:bodyPr wrap="square" lIns="1905" tIns="1905" rIns="1905" bIns="1905" rtlCol="0" anchor="ctr"/>
          <a:lstStyle/>
          <a:p>
            <a:pPr marL="0" indent="0">
              <a:buNone/>
            </a:pPr>
            <a:r>
              <a:rPr lang="en-US" sz="1300" dirty="0">
                <a:solidFill>
                  <a:srgbClr val="2B2E36"/>
                </a:solidFill>
                <a:latin typeface="Courier New" pitchFamily="34" charset="0"/>
                <a:ea typeface="Courier New" pitchFamily="34" charset="-122"/>
                <a:cs typeface="Courier New" pitchFamily="34" charset="-120"/>
              </a:rPr>
              <a:t>MIN.058343: Beryl, Tourmaline, Muscovite, Quartz</a:t>
            </a:r>
            <a:endParaRPr lang="en-US" sz="1300" dirty="0"/>
          </a:p>
          <a:p>
            <a:pPr marL="0" indent="0">
              <a:buNone/>
            </a:pPr>
            <a:r>
              <a:rPr lang="en-US" sz="1300" dirty="0">
                <a:solidFill>
                  <a:srgbClr val="2B2E36"/>
                </a:solidFill>
                <a:latin typeface="Courier New" pitchFamily="34" charset="0"/>
                <a:ea typeface="Courier New" pitchFamily="34" charset="-122"/>
                <a:cs typeface="Courier New" pitchFamily="34" charset="-120"/>
              </a:rPr>
              <a:t>USA. Connecticut. Middlesex County.</a:t>
            </a:r>
            <a:endParaRPr lang="en-US" sz="1300" dirty="0"/>
          </a:p>
        </p:txBody>
      </p:sp>
      <p:sp>
        <p:nvSpPr>
          <p:cNvPr id="7" name="Shape 5"/>
          <p:cNvSpPr/>
          <p:nvPr/>
        </p:nvSpPr>
        <p:spPr>
          <a:xfrm>
            <a:off x="3017520" y="3611880"/>
            <a:ext cx="3017520" cy="731520"/>
          </a:xfrm>
          <a:prstGeom prst="roundRect">
            <a:avLst>
              <a:gd name="adj" fmla="val 10000"/>
            </a:avLst>
          </a:prstGeom>
          <a:solidFill>
            <a:srgbClr val="5F8FAF"/>
          </a:solidFill>
          <a:ln w="12700">
            <a:solidFill>
              <a:srgbClr val="5F8FAF"/>
            </a:solidFill>
            <a:prstDash val="solid"/>
          </a:ln>
        </p:spPr>
        <p:txBody>
          <a:bodyPr/>
          <a:lstStyle/>
          <a:p>
            <a:endParaRPr lang="en-US"/>
          </a:p>
        </p:txBody>
      </p:sp>
      <p:sp>
        <p:nvSpPr>
          <p:cNvPr id="8" name="Text 6"/>
          <p:cNvSpPr txBox="1"/>
          <p:nvPr/>
        </p:nvSpPr>
        <p:spPr>
          <a:xfrm>
            <a:off x="3017520" y="3611880"/>
            <a:ext cx="3017520" cy="7315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MIN.058343</a:t>
            </a:r>
            <a:endParaRPr lang="en-US" sz="1250" dirty="0"/>
          </a:p>
          <a:p>
            <a:pPr marL="0" indent="0" algn="ctr">
              <a:buNone/>
            </a:pPr>
            <a:r>
              <a:rPr lang="en-US" sz="1250" dirty="0">
                <a:solidFill>
                  <a:srgbClr val="FFFFFF"/>
                </a:solidFill>
                <a:latin typeface="Calibri" pitchFamily="34" charset="0"/>
                <a:ea typeface="Calibri" pitchFamily="34" charset="-122"/>
                <a:cs typeface="Calibri" pitchFamily="34" charset="-120"/>
              </a:rPr>
              <a:t>parent · cataloged_name: Beryl</a:t>
            </a:r>
            <a:endParaRPr lang="en-US" sz="1250" dirty="0"/>
          </a:p>
        </p:txBody>
      </p:sp>
      <p:sp>
        <p:nvSpPr>
          <p:cNvPr id="9" name="Shape 7"/>
          <p:cNvSpPr/>
          <p:nvPr/>
        </p:nvSpPr>
        <p:spPr>
          <a:xfrm flipH="1">
            <a:off x="1463040" y="4343400"/>
            <a:ext cx="3063240" cy="685800"/>
          </a:xfrm>
          <a:prstGeom prst="line">
            <a:avLst/>
          </a:prstGeom>
          <a:noFill/>
          <a:ln w="12700">
            <a:solidFill>
              <a:srgbClr val="8D939D"/>
            </a:solidFill>
            <a:prstDash val="solid"/>
          </a:ln>
        </p:spPr>
        <p:txBody>
          <a:bodyPr/>
          <a:lstStyle/>
          <a:p>
            <a:endParaRPr lang="en-US"/>
          </a:p>
        </p:txBody>
      </p:sp>
      <p:sp>
        <p:nvSpPr>
          <p:cNvPr id="10" name="Shape 8"/>
          <p:cNvSpPr/>
          <p:nvPr/>
        </p:nvSpPr>
        <p:spPr>
          <a:xfrm>
            <a:off x="548640" y="5029200"/>
            <a:ext cx="1828800" cy="777240"/>
          </a:xfrm>
          <a:prstGeom prst="roundRect">
            <a:avLst>
              <a:gd name="adj" fmla="val 9412"/>
            </a:avLst>
          </a:prstGeom>
          <a:solidFill>
            <a:srgbClr val="EEF3F7"/>
          </a:solidFill>
          <a:ln w="12700">
            <a:solidFill>
              <a:srgbClr val="EEF3F7"/>
            </a:solidFill>
            <a:prstDash val="solid"/>
          </a:ln>
        </p:spPr>
        <p:txBody>
          <a:bodyPr/>
          <a:lstStyle/>
          <a:p>
            <a:endParaRPr lang="en-US"/>
          </a:p>
        </p:txBody>
      </p:sp>
      <p:sp>
        <p:nvSpPr>
          <p:cNvPr id="11" name="Text 9"/>
          <p:cNvSpPr txBox="1"/>
          <p:nvPr/>
        </p:nvSpPr>
        <p:spPr>
          <a:xfrm>
            <a:off x="548640" y="5029200"/>
            <a:ext cx="1828800" cy="777240"/>
          </a:xfrm>
          <a:prstGeom prst="rect">
            <a:avLst/>
          </a:prstGeom>
          <a:noFill/>
          <a:ln/>
        </p:spPr>
        <p:txBody>
          <a:bodyPr wrap="square" lIns="0" tIns="0" rIns="0" bIns="0" rtlCol="0" anchor="ctr"/>
          <a:lstStyle/>
          <a:p>
            <a:pPr marL="0" indent="0" algn="ctr">
              <a:buNone/>
            </a:pPr>
            <a:r>
              <a:rPr lang="en-US" sz="1300" b="1" dirty="0">
                <a:solidFill>
                  <a:srgbClr val="2B2E36"/>
                </a:solidFill>
                <a:latin typeface="Calibri" pitchFamily="34" charset="0"/>
                <a:ea typeface="Calibri" pitchFamily="34" charset="-122"/>
                <a:cs typeface="Calibri" pitchFamily="34" charset="-120"/>
              </a:rPr>
              <a:t>Beryl</a:t>
            </a:r>
            <a:endParaRPr lang="en-US" sz="1300" dirty="0"/>
          </a:p>
          <a:p>
            <a:pPr marL="0" indent="0" algn="ctr">
              <a:buNone/>
            </a:pPr>
            <a:r>
              <a:rPr lang="en-US" sz="1000" dirty="0">
                <a:solidFill>
                  <a:srgbClr val="50555F"/>
                </a:solidFill>
                <a:latin typeface="Calibri" pitchFamily="34" charset="0"/>
                <a:ea typeface="Calibri" pitchFamily="34" charset="-122"/>
                <a:cs typeface="Calibri" pitchFamily="34" charset="-120"/>
              </a:rPr>
              <a:t>is_part_of: MIN.058343</a:t>
            </a:r>
            <a:endParaRPr lang="en-US" sz="1300" dirty="0"/>
          </a:p>
        </p:txBody>
      </p:sp>
      <p:sp>
        <p:nvSpPr>
          <p:cNvPr id="12" name="Shape 10"/>
          <p:cNvSpPr/>
          <p:nvPr/>
        </p:nvSpPr>
        <p:spPr>
          <a:xfrm flipH="1">
            <a:off x="3611880" y="4343400"/>
            <a:ext cx="914400" cy="685800"/>
          </a:xfrm>
          <a:prstGeom prst="line">
            <a:avLst/>
          </a:prstGeom>
          <a:noFill/>
          <a:ln w="12700">
            <a:solidFill>
              <a:srgbClr val="8D939D"/>
            </a:solidFill>
            <a:prstDash val="solid"/>
          </a:ln>
        </p:spPr>
        <p:txBody>
          <a:bodyPr/>
          <a:lstStyle/>
          <a:p>
            <a:endParaRPr lang="en-US"/>
          </a:p>
        </p:txBody>
      </p:sp>
      <p:sp>
        <p:nvSpPr>
          <p:cNvPr id="13" name="Shape 11"/>
          <p:cNvSpPr/>
          <p:nvPr/>
        </p:nvSpPr>
        <p:spPr>
          <a:xfrm>
            <a:off x="2697480" y="5029200"/>
            <a:ext cx="1828800" cy="777240"/>
          </a:xfrm>
          <a:prstGeom prst="roundRect">
            <a:avLst>
              <a:gd name="adj" fmla="val 9412"/>
            </a:avLst>
          </a:prstGeom>
          <a:solidFill>
            <a:srgbClr val="EEF3F7"/>
          </a:solidFill>
          <a:ln w="12700">
            <a:solidFill>
              <a:srgbClr val="EEF3F7"/>
            </a:solidFill>
            <a:prstDash val="solid"/>
          </a:ln>
        </p:spPr>
        <p:txBody>
          <a:bodyPr/>
          <a:lstStyle/>
          <a:p>
            <a:endParaRPr lang="en-US"/>
          </a:p>
        </p:txBody>
      </p:sp>
      <p:sp>
        <p:nvSpPr>
          <p:cNvPr id="14" name="Text 12"/>
          <p:cNvSpPr txBox="1"/>
          <p:nvPr/>
        </p:nvSpPr>
        <p:spPr>
          <a:xfrm>
            <a:off x="2697480" y="5029200"/>
            <a:ext cx="1828800" cy="777240"/>
          </a:xfrm>
          <a:prstGeom prst="rect">
            <a:avLst/>
          </a:prstGeom>
          <a:noFill/>
          <a:ln/>
        </p:spPr>
        <p:txBody>
          <a:bodyPr wrap="square" lIns="0" tIns="0" rIns="0" bIns="0" rtlCol="0" anchor="ctr"/>
          <a:lstStyle/>
          <a:p>
            <a:pPr marL="0" indent="0" algn="ctr">
              <a:buNone/>
            </a:pPr>
            <a:r>
              <a:rPr lang="en-US" sz="1300" b="1" dirty="0">
                <a:solidFill>
                  <a:srgbClr val="2B2E36"/>
                </a:solidFill>
                <a:latin typeface="Calibri" pitchFamily="34" charset="0"/>
                <a:ea typeface="Calibri" pitchFamily="34" charset="-122"/>
                <a:cs typeface="Calibri" pitchFamily="34" charset="-120"/>
              </a:rPr>
              <a:t>Tourmaline</a:t>
            </a:r>
            <a:endParaRPr lang="en-US" sz="1300" dirty="0"/>
          </a:p>
          <a:p>
            <a:pPr marL="0" indent="0" algn="ctr">
              <a:buNone/>
            </a:pPr>
            <a:r>
              <a:rPr lang="en-US" sz="1000" dirty="0">
                <a:solidFill>
                  <a:srgbClr val="50555F"/>
                </a:solidFill>
                <a:latin typeface="Calibri" pitchFamily="34" charset="0"/>
                <a:ea typeface="Calibri" pitchFamily="34" charset="-122"/>
                <a:cs typeface="Calibri" pitchFamily="34" charset="-120"/>
              </a:rPr>
              <a:t>is_part_of: MIN.058343</a:t>
            </a:r>
            <a:endParaRPr lang="en-US" sz="1300" dirty="0"/>
          </a:p>
        </p:txBody>
      </p:sp>
      <p:sp>
        <p:nvSpPr>
          <p:cNvPr id="15" name="Shape 13"/>
          <p:cNvSpPr/>
          <p:nvPr/>
        </p:nvSpPr>
        <p:spPr>
          <a:xfrm>
            <a:off x="4526280" y="4343400"/>
            <a:ext cx="1234440" cy="685800"/>
          </a:xfrm>
          <a:prstGeom prst="line">
            <a:avLst/>
          </a:prstGeom>
          <a:noFill/>
          <a:ln w="12700">
            <a:solidFill>
              <a:srgbClr val="8D939D"/>
            </a:solidFill>
            <a:prstDash val="solid"/>
          </a:ln>
        </p:spPr>
        <p:txBody>
          <a:bodyPr/>
          <a:lstStyle/>
          <a:p>
            <a:endParaRPr lang="en-US"/>
          </a:p>
        </p:txBody>
      </p:sp>
      <p:sp>
        <p:nvSpPr>
          <p:cNvPr id="16" name="Shape 14"/>
          <p:cNvSpPr/>
          <p:nvPr/>
        </p:nvSpPr>
        <p:spPr>
          <a:xfrm>
            <a:off x="4846320" y="5029200"/>
            <a:ext cx="1828800" cy="777240"/>
          </a:xfrm>
          <a:prstGeom prst="roundRect">
            <a:avLst>
              <a:gd name="adj" fmla="val 9412"/>
            </a:avLst>
          </a:prstGeom>
          <a:solidFill>
            <a:srgbClr val="EEF3F7"/>
          </a:solidFill>
          <a:ln w="12700">
            <a:solidFill>
              <a:srgbClr val="EEF3F7"/>
            </a:solidFill>
            <a:prstDash val="solid"/>
          </a:ln>
        </p:spPr>
        <p:txBody>
          <a:bodyPr/>
          <a:lstStyle/>
          <a:p>
            <a:endParaRPr lang="en-US"/>
          </a:p>
        </p:txBody>
      </p:sp>
      <p:sp>
        <p:nvSpPr>
          <p:cNvPr id="17" name="Text 15"/>
          <p:cNvSpPr txBox="1"/>
          <p:nvPr/>
        </p:nvSpPr>
        <p:spPr>
          <a:xfrm>
            <a:off x="4846320" y="5029200"/>
            <a:ext cx="1828800" cy="777240"/>
          </a:xfrm>
          <a:prstGeom prst="rect">
            <a:avLst/>
          </a:prstGeom>
          <a:noFill/>
          <a:ln/>
        </p:spPr>
        <p:txBody>
          <a:bodyPr wrap="square" lIns="0" tIns="0" rIns="0" bIns="0" rtlCol="0" anchor="ctr"/>
          <a:lstStyle/>
          <a:p>
            <a:pPr marL="0" indent="0" algn="ctr">
              <a:buNone/>
            </a:pPr>
            <a:r>
              <a:rPr lang="en-US" sz="1300" b="1" dirty="0">
                <a:solidFill>
                  <a:srgbClr val="2B2E36"/>
                </a:solidFill>
                <a:latin typeface="Calibri" pitchFamily="34" charset="0"/>
                <a:ea typeface="Calibri" pitchFamily="34" charset="-122"/>
                <a:cs typeface="Calibri" pitchFamily="34" charset="-120"/>
              </a:rPr>
              <a:t>Muscovite</a:t>
            </a:r>
            <a:endParaRPr lang="en-US" sz="1300" dirty="0"/>
          </a:p>
          <a:p>
            <a:pPr marL="0" indent="0" algn="ctr">
              <a:buNone/>
            </a:pPr>
            <a:r>
              <a:rPr lang="en-US" sz="1000" dirty="0">
                <a:solidFill>
                  <a:srgbClr val="50555F"/>
                </a:solidFill>
                <a:latin typeface="Calibri" pitchFamily="34" charset="0"/>
                <a:ea typeface="Calibri" pitchFamily="34" charset="-122"/>
                <a:cs typeface="Calibri" pitchFamily="34" charset="-120"/>
              </a:rPr>
              <a:t>is_part_of: MIN.058343</a:t>
            </a:r>
            <a:endParaRPr lang="en-US" sz="1300" dirty="0"/>
          </a:p>
        </p:txBody>
      </p:sp>
      <p:sp>
        <p:nvSpPr>
          <p:cNvPr id="18" name="Shape 16"/>
          <p:cNvSpPr/>
          <p:nvPr/>
        </p:nvSpPr>
        <p:spPr>
          <a:xfrm>
            <a:off x="4526280" y="4343400"/>
            <a:ext cx="3383280" cy="685800"/>
          </a:xfrm>
          <a:prstGeom prst="line">
            <a:avLst/>
          </a:prstGeom>
          <a:noFill/>
          <a:ln w="12700">
            <a:solidFill>
              <a:srgbClr val="8D939D"/>
            </a:solidFill>
            <a:prstDash val="solid"/>
          </a:ln>
        </p:spPr>
        <p:txBody>
          <a:bodyPr/>
          <a:lstStyle/>
          <a:p>
            <a:endParaRPr lang="en-US"/>
          </a:p>
        </p:txBody>
      </p:sp>
      <p:sp>
        <p:nvSpPr>
          <p:cNvPr id="19" name="Shape 17"/>
          <p:cNvSpPr/>
          <p:nvPr/>
        </p:nvSpPr>
        <p:spPr>
          <a:xfrm>
            <a:off x="6995160" y="5029200"/>
            <a:ext cx="1828800" cy="777240"/>
          </a:xfrm>
          <a:prstGeom prst="roundRect">
            <a:avLst>
              <a:gd name="adj" fmla="val 9412"/>
            </a:avLst>
          </a:prstGeom>
          <a:solidFill>
            <a:srgbClr val="EEF3F7"/>
          </a:solidFill>
          <a:ln w="12700">
            <a:solidFill>
              <a:srgbClr val="EEF3F7"/>
            </a:solidFill>
            <a:prstDash val="solid"/>
          </a:ln>
        </p:spPr>
        <p:txBody>
          <a:bodyPr/>
          <a:lstStyle/>
          <a:p>
            <a:endParaRPr lang="en-US"/>
          </a:p>
        </p:txBody>
      </p:sp>
      <p:sp>
        <p:nvSpPr>
          <p:cNvPr id="20" name="Text 18"/>
          <p:cNvSpPr txBox="1"/>
          <p:nvPr/>
        </p:nvSpPr>
        <p:spPr>
          <a:xfrm>
            <a:off x="6995160" y="5029200"/>
            <a:ext cx="1828800" cy="777240"/>
          </a:xfrm>
          <a:prstGeom prst="rect">
            <a:avLst/>
          </a:prstGeom>
          <a:noFill/>
          <a:ln/>
        </p:spPr>
        <p:txBody>
          <a:bodyPr wrap="square" lIns="0" tIns="0" rIns="0" bIns="0" rtlCol="0" anchor="ctr"/>
          <a:lstStyle/>
          <a:p>
            <a:pPr marL="0" indent="0" algn="ctr">
              <a:buNone/>
            </a:pPr>
            <a:r>
              <a:rPr lang="en-US" sz="1300" b="1" dirty="0">
                <a:solidFill>
                  <a:srgbClr val="2B2E36"/>
                </a:solidFill>
                <a:latin typeface="Calibri" pitchFamily="34" charset="0"/>
                <a:ea typeface="Calibri" pitchFamily="34" charset="-122"/>
                <a:cs typeface="Calibri" pitchFamily="34" charset="-120"/>
              </a:rPr>
              <a:t>Quartz</a:t>
            </a:r>
            <a:endParaRPr lang="en-US" sz="1300" dirty="0"/>
          </a:p>
          <a:p>
            <a:pPr marL="0" indent="0" algn="ctr">
              <a:buNone/>
            </a:pPr>
            <a:r>
              <a:rPr lang="en-US" sz="1000" dirty="0">
                <a:solidFill>
                  <a:srgbClr val="50555F"/>
                </a:solidFill>
                <a:latin typeface="Calibri" pitchFamily="34" charset="0"/>
                <a:ea typeface="Calibri" pitchFamily="34" charset="-122"/>
                <a:cs typeface="Calibri" pitchFamily="34" charset="-120"/>
              </a:rPr>
              <a:t>is_part_of: MIN.058343</a:t>
            </a:r>
            <a:endParaRPr lang="en-US" sz="1300" dirty="0"/>
          </a:p>
        </p:txBody>
      </p:sp>
      <p:sp>
        <p:nvSpPr>
          <p:cNvPr id="21" name="Shape 19"/>
          <p:cNvSpPr/>
          <p:nvPr/>
        </p:nvSpPr>
        <p:spPr>
          <a:xfrm>
            <a:off x="8869680" y="2103120"/>
            <a:ext cx="2770632" cy="3977640"/>
          </a:xfrm>
          <a:prstGeom prst="roundRect">
            <a:avLst>
              <a:gd name="adj" fmla="val 2640"/>
            </a:avLst>
          </a:prstGeom>
          <a:solidFill>
            <a:srgbClr val="EEF3F7"/>
          </a:solidFill>
          <a:ln w="12700">
            <a:solidFill>
              <a:srgbClr val="EEF3F7"/>
            </a:solidFill>
            <a:prstDash val="solid"/>
          </a:ln>
        </p:spPr>
        <p:txBody>
          <a:bodyPr/>
          <a:lstStyle/>
          <a:p>
            <a:endParaRPr lang="en-US"/>
          </a:p>
        </p:txBody>
      </p:sp>
      <p:sp>
        <p:nvSpPr>
          <p:cNvPr id="22" name="Text 20"/>
          <p:cNvSpPr txBox="1"/>
          <p:nvPr/>
        </p:nvSpPr>
        <p:spPr>
          <a:xfrm>
            <a:off x="9098280" y="2286000"/>
            <a:ext cx="2377440" cy="274320"/>
          </a:xfrm>
          <a:prstGeom prst="rect">
            <a:avLst/>
          </a:prstGeom>
          <a:noFill/>
          <a:ln/>
        </p:spPr>
        <p:txBody>
          <a:bodyPr wrap="square" lIns="0" tIns="0" rIns="0" bIns="0" rtlCol="0" anchor="t"/>
          <a:lstStyle/>
          <a:p>
            <a:pPr marL="0" indent="0">
              <a:buNone/>
            </a:pPr>
            <a:r>
              <a:rPr lang="en-US" sz="1100" b="1" kern="0" spc="100" dirty="0">
                <a:solidFill>
                  <a:srgbClr val="727885"/>
                </a:solidFill>
                <a:latin typeface="Calibri" pitchFamily="34" charset="0"/>
                <a:ea typeface="Calibri" pitchFamily="34" charset="-122"/>
                <a:cs typeface="Calibri" pitchFamily="34" charset="-120"/>
              </a:rPr>
              <a:t>PROCEDURE</a:t>
            </a:r>
            <a:endParaRPr lang="en-US" sz="1100" dirty="0"/>
          </a:p>
        </p:txBody>
      </p:sp>
      <p:sp>
        <p:nvSpPr>
          <p:cNvPr id="23" name="Text 21"/>
          <p:cNvSpPr/>
          <p:nvPr/>
        </p:nvSpPr>
        <p:spPr>
          <a:xfrm>
            <a:off x="9098280" y="2651760"/>
            <a:ext cx="2377440" cy="3291840"/>
          </a:xfrm>
          <a:prstGeom prst="rect">
            <a:avLst/>
          </a:prstGeom>
          <a:noFill/>
          <a:ln/>
        </p:spPr>
        <p:txBody>
          <a:bodyPr wrap="square" lIns="0" tIns="0" rIns="0" bIns="0" rtlCol="0" anchor="t"/>
          <a:lstStyle/>
          <a:p>
            <a:pPr marL="342900" indent="-342900">
              <a:spcAft>
                <a:spcPts val="600"/>
              </a:spcAft>
              <a:buSzPct val="100000"/>
              <a:buFont typeface="+mj-lt"/>
              <a:buAutoNum type="arabicPeriod"/>
            </a:pPr>
            <a:r>
              <a:rPr lang="en-US" sz="1300" dirty="0">
                <a:solidFill>
                  <a:srgbClr val="2B2E36"/>
                </a:solidFill>
                <a:latin typeface="Calibri" pitchFamily="34" charset="0"/>
                <a:ea typeface="Calibri" pitchFamily="34" charset="-122"/>
                <a:cs typeface="Calibri" pitchFamily="34" charset="-120"/>
              </a:rPr>
              <a:t>Find the fields holding part names</a:t>
            </a:r>
            <a:endParaRPr lang="en-US" sz="1300" dirty="0"/>
          </a:p>
          <a:p>
            <a:pPr marL="342900" indent="-342900">
              <a:spcAft>
                <a:spcPts val="600"/>
              </a:spcAft>
              <a:buSzPct val="100000"/>
              <a:buFont typeface="+mj-lt"/>
              <a:buAutoNum type="arabicPeriod"/>
            </a:pPr>
            <a:r>
              <a:rPr lang="en-US" sz="1300" dirty="0">
                <a:solidFill>
                  <a:srgbClr val="2B2E36"/>
                </a:solidFill>
                <a:latin typeface="Calibri" pitchFamily="34" charset="0"/>
                <a:ea typeface="Calibri" pitchFamily="34" charset="-122"/>
                <a:cs typeface="Calibri" pitchFamily="34" charset="-120"/>
              </a:rPr>
              <a:t>Define material category criteria</a:t>
            </a:r>
            <a:endParaRPr lang="en-US" sz="1300" dirty="0"/>
          </a:p>
          <a:p>
            <a:pPr marL="342900" indent="-342900">
              <a:spcAft>
                <a:spcPts val="600"/>
              </a:spcAft>
              <a:buSzPct val="100000"/>
              <a:buFont typeface="+mj-lt"/>
              <a:buAutoNum type="arabicPeriod"/>
            </a:pPr>
            <a:r>
              <a:rPr lang="en-US" sz="1300" dirty="0">
                <a:solidFill>
                  <a:srgbClr val="2B2E36"/>
                </a:solidFill>
                <a:latin typeface="Calibri" pitchFamily="34" charset="0"/>
                <a:ea typeface="Calibri" pitchFamily="34" charset="-122"/>
                <a:cs typeface="Calibri" pitchFamily="34" charset="-120"/>
              </a:rPr>
              <a:t>List the changes to transpose repeating columns</a:t>
            </a:r>
            <a:endParaRPr lang="en-US" sz="1300" dirty="0"/>
          </a:p>
          <a:p>
            <a:pPr marL="342900" indent="-342900">
              <a:spcAft>
                <a:spcPts val="600"/>
              </a:spcAft>
              <a:buSzPct val="100000"/>
              <a:buFont typeface="+mj-lt"/>
              <a:buAutoNum type="arabicPeriod"/>
            </a:pPr>
            <a:r>
              <a:rPr lang="en-US" sz="1300" dirty="0">
                <a:solidFill>
                  <a:srgbClr val="2B2E36"/>
                </a:solidFill>
                <a:latin typeface="Calibri" pitchFamily="34" charset="0"/>
                <a:ea typeface="Calibri" pitchFamily="34" charset="-122"/>
                <a:cs typeface="Calibri" pitchFamily="34" charset="-120"/>
              </a:rPr>
              <a:t>Create the join: is_part_of</a:t>
            </a:r>
            <a:endParaRPr lang="en-US" sz="1300" dirty="0"/>
          </a:p>
          <a:p>
            <a:pPr marL="342900" indent="-342900">
              <a:spcAft>
                <a:spcPts val="600"/>
              </a:spcAft>
              <a:buSzPct val="100000"/>
              <a:buFont typeface="+mj-lt"/>
              <a:buAutoNum type="arabicPeriod"/>
            </a:pPr>
            <a:r>
              <a:rPr lang="en-US" sz="1300" dirty="0">
                <a:solidFill>
                  <a:srgbClr val="2B2E36"/>
                </a:solidFill>
                <a:latin typeface="Calibri" pitchFamily="34" charset="0"/>
                <a:ea typeface="Calibri" pitchFamily="34" charset="-122"/>
                <a:cs typeface="Calibri" pitchFamily="34" charset="-120"/>
              </a:rPr>
              <a:t>Stack the dataset</a:t>
            </a:r>
            <a:endParaRPr lang="en-US" sz="1300" dirty="0"/>
          </a:p>
        </p:txBody>
      </p:sp>
      <p:sp>
        <p:nvSpPr>
          <p:cNvPr id="24" name="Text 22"/>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D939D"/>
                </a:solidFill>
                <a:latin typeface="Calibri" pitchFamily="34" charset="0"/>
                <a:ea typeface="Calibri" pitchFamily="34" charset="-122"/>
                <a:cs typeface="Calibri" pitchFamily="34" charset="-120"/>
              </a:rPr>
              <a:t>WKS10  ·  Building a Repeatable AI Pipeline</a:t>
            </a:r>
            <a:endParaRPr lang="en-US" sz="1000" dirty="0"/>
          </a:p>
        </p:txBody>
      </p:sp>
      <p:sp>
        <p:nvSpPr>
          <p:cNvPr id="25" name="Text 23"/>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8D939D"/>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9">
    <p:bg>
      <p:bgPr>
        <a:solidFill>
          <a:srgbClr val="2B2E36"/>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9CBFD6"/>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FFFFFF"/>
                </a:solidFill>
                <a:latin typeface="Raleway" pitchFamily="34" charset="0"/>
                <a:ea typeface="Raleway" pitchFamily="34" charset="-122"/>
                <a:cs typeface="Raleway" pitchFamily="34" charset="-120"/>
              </a:rPr>
              <a:t>The Standard Process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B3B8C2"/>
                </a:solidFill>
                <a:latin typeface="Calibri" pitchFamily="34" charset="0"/>
                <a:ea typeface="Calibri" pitchFamily="34" charset="-122"/>
                <a:cs typeface="Calibri" pitchFamily="34" charset="-120"/>
              </a:rPr>
              <a:t>The core ETL procedure used for every dataset today. Each step becomes one prompt.</a:t>
            </a:r>
            <a:endParaRPr lang="en-US" sz="1500" dirty="0"/>
          </a:p>
        </p:txBody>
      </p:sp>
      <p:sp>
        <p:nvSpPr>
          <p:cNvPr id="5" name="Shape 3"/>
          <p:cNvSpPr/>
          <p:nvPr/>
        </p:nvSpPr>
        <p:spPr>
          <a:xfrm>
            <a:off x="548640" y="2103120"/>
            <a:ext cx="2651760" cy="1783080"/>
          </a:xfrm>
          <a:prstGeom prst="roundRect">
            <a:avLst>
              <a:gd name="adj" fmla="val 4103"/>
            </a:avLst>
          </a:prstGeom>
          <a:solidFill>
            <a:srgbClr val="383C46"/>
          </a:solidFill>
          <a:ln w="12700">
            <a:solidFill>
              <a:srgbClr val="383C46"/>
            </a:solidFill>
            <a:prstDash val="solid"/>
          </a:ln>
        </p:spPr>
        <p:txBody>
          <a:bodyPr/>
          <a:lstStyle/>
          <a:p>
            <a:endParaRPr lang="en-US"/>
          </a:p>
        </p:txBody>
      </p:sp>
      <p:sp>
        <p:nvSpPr>
          <p:cNvPr id="6" name="Text 4"/>
          <p:cNvSpPr txBox="1"/>
          <p:nvPr/>
        </p:nvSpPr>
        <p:spPr>
          <a:xfrm>
            <a:off x="777240" y="2240280"/>
            <a:ext cx="731520" cy="640080"/>
          </a:xfrm>
          <a:prstGeom prst="rect">
            <a:avLst/>
          </a:prstGeom>
          <a:noFill/>
          <a:ln/>
        </p:spPr>
        <p:txBody>
          <a:bodyPr wrap="square" lIns="0" tIns="0" rIns="0" bIns="0" rtlCol="0" anchor="ctr"/>
          <a:lstStyle/>
          <a:p>
            <a:pPr marL="0" indent="0">
              <a:buNone/>
            </a:pPr>
            <a:r>
              <a:rPr lang="en-US" sz="3200" b="1" dirty="0">
                <a:solidFill>
                  <a:srgbClr val="9CBFD6"/>
                </a:solidFill>
                <a:latin typeface="Raleway" pitchFamily="34" charset="0"/>
                <a:ea typeface="Raleway" pitchFamily="34" charset="-122"/>
                <a:cs typeface="Raleway" pitchFamily="34" charset="-120"/>
              </a:rPr>
              <a:t>1</a:t>
            </a:r>
            <a:endParaRPr lang="en-US" sz="3200" dirty="0"/>
          </a:p>
        </p:txBody>
      </p:sp>
      <p:sp>
        <p:nvSpPr>
          <p:cNvPr id="7" name="Text 5"/>
          <p:cNvSpPr txBox="1"/>
          <p:nvPr/>
        </p:nvSpPr>
        <p:spPr>
          <a:xfrm>
            <a:off x="777240" y="288036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Profile</a:t>
            </a:r>
            <a:endParaRPr lang="en-US" sz="1500" dirty="0"/>
          </a:p>
        </p:txBody>
      </p:sp>
      <p:sp>
        <p:nvSpPr>
          <p:cNvPr id="8" name="Text 6"/>
          <p:cNvSpPr txBox="1"/>
          <p:nvPr/>
        </p:nvSpPr>
        <p:spPr>
          <a:xfrm>
            <a:off x="777240" y="3200400"/>
            <a:ext cx="2286000" cy="640080"/>
          </a:xfrm>
          <a:prstGeom prst="rect">
            <a:avLst/>
          </a:prstGeom>
          <a:noFill/>
          <a:ln/>
        </p:spPr>
        <p:txBody>
          <a:bodyPr wrap="square" lIns="0" tIns="0" rIns="0" bIns="0" rtlCol="0" anchor="t"/>
          <a:lstStyle/>
          <a:p>
            <a:pPr marL="0" indent="0">
              <a:buNone/>
            </a:pPr>
            <a:r>
              <a:rPr lang="en-US" sz="1200" dirty="0">
                <a:solidFill>
                  <a:srgbClr val="B3B8C2"/>
                </a:solidFill>
                <a:latin typeface="Calibri" pitchFamily="34" charset="0"/>
                <a:ea typeface="Calibri" pitchFamily="34" charset="-122"/>
                <a:cs typeface="Calibri" pitchFamily="34" charset="-120"/>
              </a:rPr>
              <a:t>Columns, languages, delimiters, unique values, qualifiers, vocabularies</a:t>
            </a:r>
            <a:endParaRPr lang="en-US" sz="1200" dirty="0"/>
          </a:p>
        </p:txBody>
      </p:sp>
      <p:sp>
        <p:nvSpPr>
          <p:cNvPr id="9" name="Shape 7"/>
          <p:cNvSpPr/>
          <p:nvPr/>
        </p:nvSpPr>
        <p:spPr>
          <a:xfrm>
            <a:off x="3364992" y="2103120"/>
            <a:ext cx="2651760" cy="1783080"/>
          </a:xfrm>
          <a:prstGeom prst="roundRect">
            <a:avLst>
              <a:gd name="adj" fmla="val 4103"/>
            </a:avLst>
          </a:prstGeom>
          <a:solidFill>
            <a:srgbClr val="383C46"/>
          </a:solidFill>
          <a:ln w="12700">
            <a:solidFill>
              <a:srgbClr val="383C46"/>
            </a:solidFill>
            <a:prstDash val="solid"/>
          </a:ln>
        </p:spPr>
        <p:txBody>
          <a:bodyPr/>
          <a:lstStyle/>
          <a:p>
            <a:endParaRPr lang="en-US"/>
          </a:p>
        </p:txBody>
      </p:sp>
      <p:sp>
        <p:nvSpPr>
          <p:cNvPr id="10" name="Text 8"/>
          <p:cNvSpPr txBox="1"/>
          <p:nvPr/>
        </p:nvSpPr>
        <p:spPr>
          <a:xfrm>
            <a:off x="3593592" y="2240280"/>
            <a:ext cx="731520" cy="640080"/>
          </a:xfrm>
          <a:prstGeom prst="rect">
            <a:avLst/>
          </a:prstGeom>
          <a:noFill/>
          <a:ln/>
        </p:spPr>
        <p:txBody>
          <a:bodyPr wrap="square" lIns="0" tIns="0" rIns="0" bIns="0" rtlCol="0" anchor="ctr"/>
          <a:lstStyle/>
          <a:p>
            <a:pPr marL="0" indent="0">
              <a:buNone/>
            </a:pPr>
            <a:r>
              <a:rPr lang="en-US" sz="3200" b="1" dirty="0">
                <a:solidFill>
                  <a:srgbClr val="9CBFD6"/>
                </a:solidFill>
                <a:latin typeface="Raleway" pitchFamily="34" charset="0"/>
                <a:ea typeface="Raleway" pitchFamily="34" charset="-122"/>
                <a:cs typeface="Raleway" pitchFamily="34" charset="-120"/>
              </a:rPr>
              <a:t>2</a:t>
            </a:r>
            <a:endParaRPr lang="en-US" sz="3200" dirty="0"/>
          </a:p>
        </p:txBody>
      </p:sp>
      <p:sp>
        <p:nvSpPr>
          <p:cNvPr id="11" name="Text 9"/>
          <p:cNvSpPr txBox="1"/>
          <p:nvPr/>
        </p:nvSpPr>
        <p:spPr>
          <a:xfrm>
            <a:off x="3593592" y="288036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Define the target</a:t>
            </a:r>
            <a:endParaRPr lang="en-US" sz="1500" dirty="0"/>
          </a:p>
        </p:txBody>
      </p:sp>
      <p:sp>
        <p:nvSpPr>
          <p:cNvPr id="12" name="Text 10"/>
          <p:cNvSpPr txBox="1"/>
          <p:nvPr/>
        </p:nvSpPr>
        <p:spPr>
          <a:xfrm>
            <a:off x="3593592" y="3200400"/>
            <a:ext cx="2286000" cy="640080"/>
          </a:xfrm>
          <a:prstGeom prst="rect">
            <a:avLst/>
          </a:prstGeom>
          <a:noFill/>
          <a:ln/>
        </p:spPr>
        <p:txBody>
          <a:bodyPr wrap="square" lIns="0" tIns="0" rIns="0" bIns="0" rtlCol="0" anchor="t"/>
          <a:lstStyle/>
          <a:p>
            <a:pPr marL="0" indent="0">
              <a:buNone/>
            </a:pPr>
            <a:r>
              <a:rPr lang="en-US" sz="1200" dirty="0">
                <a:solidFill>
                  <a:srgbClr val="B3B8C2"/>
                </a:solidFill>
                <a:latin typeface="Calibri" pitchFamily="34" charset="0"/>
                <a:ea typeface="Calibri" pitchFamily="34" charset="-122"/>
                <a:cs typeface="Calibri" pitchFamily="34" charset="-120"/>
              </a:rPr>
              <a:t>What should the end result look like?</a:t>
            </a:r>
            <a:endParaRPr lang="en-US" sz="1200" dirty="0"/>
          </a:p>
        </p:txBody>
      </p:sp>
      <p:sp>
        <p:nvSpPr>
          <p:cNvPr id="13" name="Shape 11"/>
          <p:cNvSpPr/>
          <p:nvPr/>
        </p:nvSpPr>
        <p:spPr>
          <a:xfrm>
            <a:off x="6181344" y="2103120"/>
            <a:ext cx="2651760" cy="1783080"/>
          </a:xfrm>
          <a:prstGeom prst="roundRect">
            <a:avLst>
              <a:gd name="adj" fmla="val 4103"/>
            </a:avLst>
          </a:prstGeom>
          <a:solidFill>
            <a:srgbClr val="383C46"/>
          </a:solidFill>
          <a:ln w="12700">
            <a:solidFill>
              <a:srgbClr val="383C46"/>
            </a:solidFill>
            <a:prstDash val="solid"/>
          </a:ln>
        </p:spPr>
        <p:txBody>
          <a:bodyPr/>
          <a:lstStyle/>
          <a:p>
            <a:endParaRPr lang="en-US"/>
          </a:p>
        </p:txBody>
      </p:sp>
      <p:sp>
        <p:nvSpPr>
          <p:cNvPr id="14" name="Text 12"/>
          <p:cNvSpPr txBox="1"/>
          <p:nvPr/>
        </p:nvSpPr>
        <p:spPr>
          <a:xfrm>
            <a:off x="6409944" y="2240280"/>
            <a:ext cx="731520" cy="640080"/>
          </a:xfrm>
          <a:prstGeom prst="rect">
            <a:avLst/>
          </a:prstGeom>
          <a:noFill/>
          <a:ln/>
        </p:spPr>
        <p:txBody>
          <a:bodyPr wrap="square" lIns="0" tIns="0" rIns="0" bIns="0" rtlCol="0" anchor="ctr"/>
          <a:lstStyle/>
          <a:p>
            <a:pPr marL="0" indent="0">
              <a:buNone/>
            </a:pPr>
            <a:r>
              <a:rPr lang="en-US" sz="3200" b="1" dirty="0">
                <a:solidFill>
                  <a:srgbClr val="9CBFD6"/>
                </a:solidFill>
                <a:latin typeface="Raleway" pitchFamily="34" charset="0"/>
                <a:ea typeface="Raleway" pitchFamily="34" charset="-122"/>
                <a:cs typeface="Raleway" pitchFamily="34" charset="-120"/>
              </a:rPr>
              <a:t>3</a:t>
            </a:r>
            <a:endParaRPr lang="en-US" sz="3200" dirty="0"/>
          </a:p>
        </p:txBody>
      </p:sp>
      <p:sp>
        <p:nvSpPr>
          <p:cNvPr id="15" name="Text 13"/>
          <p:cNvSpPr txBox="1"/>
          <p:nvPr/>
        </p:nvSpPr>
        <p:spPr>
          <a:xfrm>
            <a:off x="6409944" y="288036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List the changes</a:t>
            </a:r>
            <a:endParaRPr lang="en-US" sz="1500" dirty="0"/>
          </a:p>
        </p:txBody>
      </p:sp>
      <p:sp>
        <p:nvSpPr>
          <p:cNvPr id="16" name="Text 14"/>
          <p:cNvSpPr txBox="1"/>
          <p:nvPr/>
        </p:nvSpPr>
        <p:spPr>
          <a:xfrm>
            <a:off x="6409944" y="3200400"/>
            <a:ext cx="2286000" cy="640080"/>
          </a:xfrm>
          <a:prstGeom prst="rect">
            <a:avLst/>
          </a:prstGeom>
          <a:noFill/>
          <a:ln/>
        </p:spPr>
        <p:txBody>
          <a:bodyPr wrap="square" lIns="0" tIns="0" rIns="0" bIns="0" rtlCol="0" anchor="t"/>
          <a:lstStyle/>
          <a:p>
            <a:pPr marL="0" indent="0">
              <a:buNone/>
            </a:pPr>
            <a:r>
              <a:rPr lang="en-US" sz="1200" dirty="0">
                <a:solidFill>
                  <a:srgbClr val="B3B8C2"/>
                </a:solidFill>
                <a:latin typeface="Calibri" pitchFamily="34" charset="0"/>
                <a:ea typeface="Calibri" pitchFamily="34" charset="-122"/>
                <a:cs typeface="Calibri" pitchFamily="34" charset="-120"/>
              </a:rPr>
              <a:t>Every transformation from source to target</a:t>
            </a:r>
            <a:endParaRPr lang="en-US" sz="1200" dirty="0"/>
          </a:p>
        </p:txBody>
      </p:sp>
      <p:sp>
        <p:nvSpPr>
          <p:cNvPr id="17" name="Shape 15"/>
          <p:cNvSpPr/>
          <p:nvPr/>
        </p:nvSpPr>
        <p:spPr>
          <a:xfrm>
            <a:off x="8997696" y="2103120"/>
            <a:ext cx="2651760" cy="1783080"/>
          </a:xfrm>
          <a:prstGeom prst="roundRect">
            <a:avLst>
              <a:gd name="adj" fmla="val 4103"/>
            </a:avLst>
          </a:prstGeom>
          <a:solidFill>
            <a:srgbClr val="383C46"/>
          </a:solidFill>
          <a:ln w="12700">
            <a:solidFill>
              <a:srgbClr val="383C46"/>
            </a:solidFill>
            <a:prstDash val="solid"/>
          </a:ln>
        </p:spPr>
        <p:txBody>
          <a:bodyPr/>
          <a:lstStyle/>
          <a:p>
            <a:endParaRPr lang="en-US"/>
          </a:p>
        </p:txBody>
      </p:sp>
      <p:sp>
        <p:nvSpPr>
          <p:cNvPr id="18" name="Text 16"/>
          <p:cNvSpPr txBox="1"/>
          <p:nvPr/>
        </p:nvSpPr>
        <p:spPr>
          <a:xfrm>
            <a:off x="9226296" y="2240280"/>
            <a:ext cx="731520" cy="640080"/>
          </a:xfrm>
          <a:prstGeom prst="rect">
            <a:avLst/>
          </a:prstGeom>
          <a:noFill/>
          <a:ln/>
        </p:spPr>
        <p:txBody>
          <a:bodyPr wrap="square" lIns="0" tIns="0" rIns="0" bIns="0" rtlCol="0" anchor="ctr"/>
          <a:lstStyle/>
          <a:p>
            <a:pPr marL="0" indent="0">
              <a:buNone/>
            </a:pPr>
            <a:r>
              <a:rPr lang="en-US" sz="3200" b="1" dirty="0">
                <a:solidFill>
                  <a:srgbClr val="9CBFD6"/>
                </a:solidFill>
                <a:latin typeface="Raleway" pitchFamily="34" charset="0"/>
                <a:ea typeface="Raleway" pitchFamily="34" charset="-122"/>
                <a:cs typeface="Raleway" pitchFamily="34" charset="-120"/>
              </a:rPr>
              <a:t>4</a:t>
            </a:r>
            <a:endParaRPr lang="en-US" sz="3200" dirty="0"/>
          </a:p>
        </p:txBody>
      </p:sp>
      <p:sp>
        <p:nvSpPr>
          <p:cNvPr id="19" name="Text 17"/>
          <p:cNvSpPr txBox="1"/>
          <p:nvPr/>
        </p:nvSpPr>
        <p:spPr>
          <a:xfrm>
            <a:off x="9226296" y="288036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Provide resources</a:t>
            </a:r>
            <a:endParaRPr lang="en-US" sz="1500" dirty="0"/>
          </a:p>
        </p:txBody>
      </p:sp>
      <p:sp>
        <p:nvSpPr>
          <p:cNvPr id="20" name="Text 18"/>
          <p:cNvSpPr txBox="1"/>
          <p:nvPr/>
        </p:nvSpPr>
        <p:spPr>
          <a:xfrm>
            <a:off x="9226296" y="3200400"/>
            <a:ext cx="2286000" cy="640080"/>
          </a:xfrm>
          <a:prstGeom prst="rect">
            <a:avLst/>
          </a:prstGeom>
          <a:noFill/>
          <a:ln/>
        </p:spPr>
        <p:txBody>
          <a:bodyPr wrap="square" lIns="0" tIns="0" rIns="0" bIns="0" rtlCol="0" anchor="t"/>
          <a:lstStyle/>
          <a:p>
            <a:pPr marL="0" indent="0">
              <a:buNone/>
            </a:pPr>
            <a:r>
              <a:rPr lang="en-US" sz="1200" dirty="0">
                <a:solidFill>
                  <a:srgbClr val="B3B8C2"/>
                </a:solidFill>
                <a:latin typeface="Calibri" pitchFamily="34" charset="0"/>
                <a:ea typeface="Calibri" pitchFamily="34" charset="-122"/>
                <a:cs typeface="Calibri" pitchFamily="34" charset="-120"/>
              </a:rPr>
              <a:t>Documentation, authorities (GADM), definitions</a:t>
            </a:r>
            <a:endParaRPr lang="en-US" sz="1200" dirty="0"/>
          </a:p>
        </p:txBody>
      </p:sp>
      <p:sp>
        <p:nvSpPr>
          <p:cNvPr id="21" name="Shape 19"/>
          <p:cNvSpPr/>
          <p:nvPr/>
        </p:nvSpPr>
        <p:spPr>
          <a:xfrm>
            <a:off x="548640" y="4069080"/>
            <a:ext cx="2651760" cy="1783080"/>
          </a:xfrm>
          <a:prstGeom prst="roundRect">
            <a:avLst>
              <a:gd name="adj" fmla="val 4103"/>
            </a:avLst>
          </a:prstGeom>
          <a:solidFill>
            <a:srgbClr val="383C46"/>
          </a:solidFill>
          <a:ln w="12700">
            <a:solidFill>
              <a:srgbClr val="383C46"/>
            </a:solidFill>
            <a:prstDash val="solid"/>
          </a:ln>
        </p:spPr>
        <p:txBody>
          <a:bodyPr/>
          <a:lstStyle/>
          <a:p>
            <a:endParaRPr lang="en-US"/>
          </a:p>
        </p:txBody>
      </p:sp>
      <p:sp>
        <p:nvSpPr>
          <p:cNvPr id="22" name="Text 20"/>
          <p:cNvSpPr txBox="1"/>
          <p:nvPr/>
        </p:nvSpPr>
        <p:spPr>
          <a:xfrm>
            <a:off x="777240" y="4206240"/>
            <a:ext cx="731520" cy="640080"/>
          </a:xfrm>
          <a:prstGeom prst="rect">
            <a:avLst/>
          </a:prstGeom>
          <a:noFill/>
          <a:ln/>
        </p:spPr>
        <p:txBody>
          <a:bodyPr wrap="square" lIns="0" tIns="0" rIns="0" bIns="0" rtlCol="0" anchor="ctr"/>
          <a:lstStyle/>
          <a:p>
            <a:pPr marL="0" indent="0">
              <a:buNone/>
            </a:pPr>
            <a:r>
              <a:rPr lang="en-US" sz="3200" b="1" dirty="0">
                <a:solidFill>
                  <a:srgbClr val="DCC37A"/>
                </a:solidFill>
                <a:latin typeface="Raleway" pitchFamily="34" charset="0"/>
                <a:ea typeface="Raleway" pitchFamily="34" charset="-122"/>
                <a:cs typeface="Raleway" pitchFamily="34" charset="-120"/>
              </a:rPr>
              <a:t>5</a:t>
            </a:r>
            <a:endParaRPr lang="en-US" sz="3200" dirty="0"/>
          </a:p>
        </p:txBody>
      </p:sp>
      <p:sp>
        <p:nvSpPr>
          <p:cNvPr id="23" name="Text 21"/>
          <p:cNvSpPr txBox="1"/>
          <p:nvPr/>
        </p:nvSpPr>
        <p:spPr>
          <a:xfrm>
            <a:off x="777240" y="484632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Write a plan</a:t>
            </a:r>
            <a:endParaRPr lang="en-US" sz="1500" dirty="0"/>
          </a:p>
        </p:txBody>
      </p:sp>
      <p:sp>
        <p:nvSpPr>
          <p:cNvPr id="24" name="Text 22"/>
          <p:cNvSpPr txBox="1"/>
          <p:nvPr/>
        </p:nvSpPr>
        <p:spPr>
          <a:xfrm>
            <a:off x="777240" y="5166360"/>
            <a:ext cx="2286000" cy="640080"/>
          </a:xfrm>
          <a:prstGeom prst="rect">
            <a:avLst/>
          </a:prstGeom>
          <a:noFill/>
          <a:ln/>
        </p:spPr>
        <p:txBody>
          <a:bodyPr wrap="square" lIns="0" tIns="0" rIns="0" bIns="0" rtlCol="0" anchor="t"/>
          <a:lstStyle/>
          <a:p>
            <a:pPr marL="0" indent="0">
              <a:buNone/>
            </a:pPr>
            <a:r>
              <a:rPr lang="en-US" sz="1200" dirty="0">
                <a:solidFill>
                  <a:srgbClr val="B3B8C2"/>
                </a:solidFill>
                <a:latin typeface="Calibri" pitchFamily="34" charset="0"/>
                <a:ea typeface="Calibri" pitchFamily="34" charset="-122"/>
                <a:cs typeface="Calibri" pitchFamily="34" charset="-120"/>
              </a:rPr>
              <a:t>Stages and reports. Then have Claude review it</a:t>
            </a:r>
            <a:endParaRPr lang="en-US" sz="1200" dirty="0"/>
          </a:p>
        </p:txBody>
      </p:sp>
      <p:sp>
        <p:nvSpPr>
          <p:cNvPr id="25" name="Shape 23"/>
          <p:cNvSpPr/>
          <p:nvPr/>
        </p:nvSpPr>
        <p:spPr>
          <a:xfrm>
            <a:off x="3364992" y="4069080"/>
            <a:ext cx="2651760" cy="1783080"/>
          </a:xfrm>
          <a:prstGeom prst="roundRect">
            <a:avLst>
              <a:gd name="adj" fmla="val 4103"/>
            </a:avLst>
          </a:prstGeom>
          <a:solidFill>
            <a:srgbClr val="383C46"/>
          </a:solidFill>
          <a:ln w="12700">
            <a:solidFill>
              <a:srgbClr val="383C46"/>
            </a:solidFill>
            <a:prstDash val="solid"/>
          </a:ln>
        </p:spPr>
        <p:txBody>
          <a:bodyPr/>
          <a:lstStyle/>
          <a:p>
            <a:endParaRPr lang="en-US"/>
          </a:p>
        </p:txBody>
      </p:sp>
      <p:sp>
        <p:nvSpPr>
          <p:cNvPr id="26" name="Text 24"/>
          <p:cNvSpPr txBox="1"/>
          <p:nvPr/>
        </p:nvSpPr>
        <p:spPr>
          <a:xfrm>
            <a:off x="3593592" y="4206240"/>
            <a:ext cx="731520" cy="640080"/>
          </a:xfrm>
          <a:prstGeom prst="rect">
            <a:avLst/>
          </a:prstGeom>
          <a:noFill/>
          <a:ln/>
        </p:spPr>
        <p:txBody>
          <a:bodyPr wrap="square" lIns="0" tIns="0" rIns="0" bIns="0" rtlCol="0" anchor="ctr"/>
          <a:lstStyle/>
          <a:p>
            <a:pPr marL="0" indent="0">
              <a:buNone/>
            </a:pPr>
            <a:r>
              <a:rPr lang="en-US" sz="3200" b="1" dirty="0">
                <a:solidFill>
                  <a:srgbClr val="9CBFD6"/>
                </a:solidFill>
                <a:latin typeface="Raleway" pitchFamily="34" charset="0"/>
                <a:ea typeface="Raleway" pitchFamily="34" charset="-122"/>
                <a:cs typeface="Raleway" pitchFamily="34" charset="-120"/>
              </a:rPr>
              <a:t>6</a:t>
            </a:r>
            <a:endParaRPr lang="en-US" sz="3200" dirty="0"/>
          </a:p>
        </p:txBody>
      </p:sp>
      <p:sp>
        <p:nvSpPr>
          <p:cNvPr id="27" name="Text 25"/>
          <p:cNvSpPr txBox="1"/>
          <p:nvPr/>
        </p:nvSpPr>
        <p:spPr>
          <a:xfrm>
            <a:off x="3593592" y="484632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Generate the script</a:t>
            </a:r>
            <a:endParaRPr lang="en-US" sz="1500" dirty="0"/>
          </a:p>
        </p:txBody>
      </p:sp>
      <p:sp>
        <p:nvSpPr>
          <p:cNvPr id="28" name="Text 26"/>
          <p:cNvSpPr txBox="1"/>
          <p:nvPr/>
        </p:nvSpPr>
        <p:spPr>
          <a:xfrm>
            <a:off x="3593592" y="5166360"/>
            <a:ext cx="2286000" cy="640080"/>
          </a:xfrm>
          <a:prstGeom prst="rect">
            <a:avLst/>
          </a:prstGeom>
          <a:noFill/>
          <a:ln/>
        </p:spPr>
        <p:txBody>
          <a:bodyPr wrap="square" lIns="0" tIns="0" rIns="0" bIns="0" rtlCol="0" anchor="t"/>
          <a:lstStyle/>
          <a:p>
            <a:pPr marL="0" indent="0">
              <a:buNone/>
            </a:pPr>
            <a:r>
              <a:rPr lang="en-US" sz="1200" dirty="0">
                <a:solidFill>
                  <a:srgbClr val="B3B8C2"/>
                </a:solidFill>
                <a:latin typeface="Calibri" pitchFamily="34" charset="0"/>
                <a:ea typeface="Calibri" pitchFamily="34" charset="-122"/>
                <a:cs typeface="Calibri" pitchFamily="34" charset="-120"/>
              </a:rPr>
              <a:t>One small script per stage</a:t>
            </a:r>
            <a:endParaRPr lang="en-US" sz="1200" dirty="0"/>
          </a:p>
        </p:txBody>
      </p:sp>
      <p:sp>
        <p:nvSpPr>
          <p:cNvPr id="29" name="Shape 27"/>
          <p:cNvSpPr/>
          <p:nvPr/>
        </p:nvSpPr>
        <p:spPr>
          <a:xfrm>
            <a:off x="6181344" y="4069080"/>
            <a:ext cx="2651760" cy="1783080"/>
          </a:xfrm>
          <a:prstGeom prst="roundRect">
            <a:avLst>
              <a:gd name="adj" fmla="val 4103"/>
            </a:avLst>
          </a:prstGeom>
          <a:solidFill>
            <a:srgbClr val="383C46"/>
          </a:solidFill>
          <a:ln w="12700">
            <a:solidFill>
              <a:srgbClr val="383C46"/>
            </a:solidFill>
            <a:prstDash val="solid"/>
          </a:ln>
        </p:spPr>
        <p:txBody>
          <a:bodyPr/>
          <a:lstStyle/>
          <a:p>
            <a:endParaRPr lang="en-US"/>
          </a:p>
        </p:txBody>
      </p:sp>
      <p:sp>
        <p:nvSpPr>
          <p:cNvPr id="30" name="Text 28"/>
          <p:cNvSpPr txBox="1"/>
          <p:nvPr/>
        </p:nvSpPr>
        <p:spPr>
          <a:xfrm>
            <a:off x="6409944" y="4206240"/>
            <a:ext cx="731520" cy="640080"/>
          </a:xfrm>
          <a:prstGeom prst="rect">
            <a:avLst/>
          </a:prstGeom>
          <a:noFill/>
          <a:ln/>
        </p:spPr>
        <p:txBody>
          <a:bodyPr wrap="square" lIns="0" tIns="0" rIns="0" bIns="0" rtlCol="0" anchor="ctr"/>
          <a:lstStyle/>
          <a:p>
            <a:pPr marL="0" indent="0">
              <a:buNone/>
            </a:pPr>
            <a:r>
              <a:rPr lang="en-US" sz="3200" b="1" dirty="0">
                <a:solidFill>
                  <a:srgbClr val="9CBFD6"/>
                </a:solidFill>
                <a:latin typeface="Raleway" pitchFamily="34" charset="0"/>
                <a:ea typeface="Raleway" pitchFamily="34" charset="-122"/>
                <a:cs typeface="Raleway" pitchFamily="34" charset="-120"/>
              </a:rPr>
              <a:t>7</a:t>
            </a:r>
            <a:endParaRPr lang="en-US" sz="3200" dirty="0"/>
          </a:p>
        </p:txBody>
      </p:sp>
      <p:sp>
        <p:nvSpPr>
          <p:cNvPr id="31" name="Text 29"/>
          <p:cNvSpPr txBox="1"/>
          <p:nvPr/>
        </p:nvSpPr>
        <p:spPr>
          <a:xfrm>
            <a:off x="6409944" y="484632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Run the process</a:t>
            </a:r>
            <a:endParaRPr lang="en-US" sz="1500" dirty="0"/>
          </a:p>
        </p:txBody>
      </p:sp>
      <p:sp>
        <p:nvSpPr>
          <p:cNvPr id="32" name="Text 30"/>
          <p:cNvSpPr txBox="1"/>
          <p:nvPr/>
        </p:nvSpPr>
        <p:spPr>
          <a:xfrm>
            <a:off x="6409944" y="5166360"/>
            <a:ext cx="2286000" cy="640080"/>
          </a:xfrm>
          <a:prstGeom prst="rect">
            <a:avLst/>
          </a:prstGeom>
          <a:noFill/>
          <a:ln/>
        </p:spPr>
        <p:txBody>
          <a:bodyPr wrap="square" lIns="0" tIns="0" rIns="0" bIns="0" rtlCol="0" anchor="t"/>
          <a:lstStyle/>
          <a:p>
            <a:pPr marL="0" indent="0">
              <a:buNone/>
            </a:pPr>
            <a:r>
              <a:rPr lang="en-US" sz="1200" dirty="0">
                <a:solidFill>
                  <a:srgbClr val="B3B8C2"/>
                </a:solidFill>
                <a:latin typeface="Calibri" pitchFamily="34" charset="0"/>
                <a:ea typeface="Calibri" pitchFamily="34" charset="-122"/>
                <a:cs typeface="Calibri" pitchFamily="34" charset="-120"/>
              </a:rPr>
              <a:t>Numbered outputs, never overwritten</a:t>
            </a:r>
            <a:endParaRPr lang="en-US" sz="1200" dirty="0"/>
          </a:p>
        </p:txBody>
      </p:sp>
      <p:sp>
        <p:nvSpPr>
          <p:cNvPr id="33" name="Shape 31"/>
          <p:cNvSpPr/>
          <p:nvPr/>
        </p:nvSpPr>
        <p:spPr>
          <a:xfrm>
            <a:off x="8997696" y="4069080"/>
            <a:ext cx="2651760" cy="1783080"/>
          </a:xfrm>
          <a:prstGeom prst="roundRect">
            <a:avLst>
              <a:gd name="adj" fmla="val 4103"/>
            </a:avLst>
          </a:prstGeom>
          <a:solidFill>
            <a:srgbClr val="383C46"/>
          </a:solidFill>
          <a:ln w="12700">
            <a:solidFill>
              <a:srgbClr val="383C46"/>
            </a:solidFill>
            <a:prstDash val="solid"/>
          </a:ln>
        </p:spPr>
        <p:txBody>
          <a:bodyPr/>
          <a:lstStyle/>
          <a:p>
            <a:endParaRPr lang="en-US"/>
          </a:p>
        </p:txBody>
      </p:sp>
      <p:sp>
        <p:nvSpPr>
          <p:cNvPr id="34" name="Text 32"/>
          <p:cNvSpPr txBox="1"/>
          <p:nvPr/>
        </p:nvSpPr>
        <p:spPr>
          <a:xfrm>
            <a:off x="9226296" y="4206240"/>
            <a:ext cx="731520" cy="640080"/>
          </a:xfrm>
          <a:prstGeom prst="rect">
            <a:avLst/>
          </a:prstGeom>
          <a:noFill/>
          <a:ln/>
        </p:spPr>
        <p:txBody>
          <a:bodyPr wrap="square" lIns="0" tIns="0" rIns="0" bIns="0" rtlCol="0" anchor="ctr"/>
          <a:lstStyle/>
          <a:p>
            <a:pPr marL="0" indent="0">
              <a:buNone/>
            </a:pPr>
            <a:r>
              <a:rPr lang="en-US" sz="3200" b="1" dirty="0">
                <a:solidFill>
                  <a:srgbClr val="9CBFD6"/>
                </a:solidFill>
                <a:latin typeface="Raleway" pitchFamily="34" charset="0"/>
                <a:ea typeface="Raleway" pitchFamily="34" charset="-122"/>
                <a:cs typeface="Raleway" pitchFamily="34" charset="-120"/>
              </a:rPr>
              <a:t>8</a:t>
            </a:r>
            <a:endParaRPr lang="en-US" sz="3200" dirty="0"/>
          </a:p>
        </p:txBody>
      </p:sp>
      <p:sp>
        <p:nvSpPr>
          <p:cNvPr id="35" name="Text 33"/>
          <p:cNvSpPr txBox="1"/>
          <p:nvPr/>
        </p:nvSpPr>
        <p:spPr>
          <a:xfrm>
            <a:off x="9226296" y="484632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Review the results</a:t>
            </a:r>
            <a:endParaRPr lang="en-US" sz="1500" dirty="0"/>
          </a:p>
        </p:txBody>
      </p:sp>
      <p:sp>
        <p:nvSpPr>
          <p:cNvPr id="36" name="Text 34"/>
          <p:cNvSpPr txBox="1"/>
          <p:nvPr/>
        </p:nvSpPr>
        <p:spPr>
          <a:xfrm>
            <a:off x="9226296" y="5166360"/>
            <a:ext cx="2286000" cy="640080"/>
          </a:xfrm>
          <a:prstGeom prst="rect">
            <a:avLst/>
          </a:prstGeom>
          <a:noFill/>
          <a:ln/>
        </p:spPr>
        <p:txBody>
          <a:bodyPr wrap="square" lIns="0" tIns="0" rIns="0" bIns="0" rtlCol="0" anchor="t"/>
          <a:lstStyle/>
          <a:p>
            <a:pPr marL="0" indent="0">
              <a:buNone/>
            </a:pPr>
            <a:r>
              <a:rPr lang="en-US" sz="1200" dirty="0">
                <a:solidFill>
                  <a:srgbClr val="B3B8C2"/>
                </a:solidFill>
                <a:latin typeface="Calibri" pitchFamily="34" charset="0"/>
                <a:ea typeface="Calibri" pitchFamily="34" charset="-122"/>
                <a:cs typeface="Calibri" pitchFamily="34" charset="-120"/>
              </a:rPr>
              <a:t>Always generate a report</a:t>
            </a:r>
            <a:endParaRPr lang="en-US" sz="1200" dirty="0"/>
          </a:p>
        </p:txBody>
      </p:sp>
      <p:sp>
        <p:nvSpPr>
          <p:cNvPr id="37" name="Text 35"/>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B3B8C2"/>
                </a:solidFill>
                <a:latin typeface="Calibri" pitchFamily="34" charset="0"/>
                <a:ea typeface="Calibri" pitchFamily="34" charset="-122"/>
                <a:cs typeface="Calibri" pitchFamily="34" charset="-120"/>
              </a:rPr>
              <a:t>WKS10  ·  Building a Repeatable AI Pipeline</a:t>
            </a:r>
            <a:endParaRPr lang="en-US" sz="1000" dirty="0"/>
          </a:p>
        </p:txBody>
      </p:sp>
      <p:sp>
        <p:nvSpPr>
          <p:cNvPr id="38" name="Text 3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B3B8C2"/>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A98B3C"/>
                </a:solidFill>
                <a:latin typeface="Calibri" pitchFamily="34" charset="0"/>
                <a:ea typeface="Calibri" pitchFamily="34" charset="-122"/>
                <a:cs typeface="Calibri" pitchFamily="34" charset="-120"/>
              </a:rPr>
              <a:t>THE KEY TECHNIQUE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B2E36"/>
                </a:solidFill>
                <a:latin typeface="Raleway" pitchFamily="34" charset="0"/>
                <a:ea typeface="Raleway" pitchFamily="34" charset="-122"/>
                <a:cs typeface="Raleway" pitchFamily="34" charset="-120"/>
              </a:rPr>
              <a:t>AI translates. Authorities validate.</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0555F"/>
                </a:solidFill>
                <a:latin typeface="Calibri" pitchFamily="34" charset="0"/>
                <a:ea typeface="Calibri" pitchFamily="34" charset="-122"/>
                <a:cs typeface="Calibri" pitchFamily="34" charset="-120"/>
              </a:rPr>
              <a:t>Every name the model produces is checked against a trusted list before it is accepted.</a:t>
            </a:r>
            <a:endParaRPr lang="en-US" sz="1500" dirty="0"/>
          </a:p>
        </p:txBody>
      </p:sp>
      <p:sp>
        <p:nvSpPr>
          <p:cNvPr id="5" name="Shape 3"/>
          <p:cNvSpPr/>
          <p:nvPr/>
        </p:nvSpPr>
        <p:spPr>
          <a:xfrm>
            <a:off x="548640" y="2240280"/>
            <a:ext cx="2240280" cy="1417320"/>
          </a:xfrm>
          <a:prstGeom prst="roundRect">
            <a:avLst>
              <a:gd name="adj" fmla="val 5161"/>
            </a:avLst>
          </a:prstGeom>
          <a:solidFill>
            <a:srgbClr val="EEF3F7"/>
          </a:solidFill>
          <a:ln w="12700">
            <a:solidFill>
              <a:srgbClr val="EEF3F7"/>
            </a:solidFill>
            <a:prstDash val="solid"/>
          </a:ln>
        </p:spPr>
        <p:txBody>
          <a:bodyPr/>
          <a:lstStyle/>
          <a:p>
            <a:endParaRPr lang="en-US"/>
          </a:p>
        </p:txBody>
      </p:sp>
      <p:sp>
        <p:nvSpPr>
          <p:cNvPr id="6" name="Text 4"/>
          <p:cNvSpPr txBox="1"/>
          <p:nvPr/>
        </p:nvSpPr>
        <p:spPr>
          <a:xfrm>
            <a:off x="777240" y="2423160"/>
            <a:ext cx="1828800" cy="320040"/>
          </a:xfrm>
          <a:prstGeom prst="rect">
            <a:avLst/>
          </a:prstGeom>
          <a:noFill/>
          <a:ln/>
        </p:spPr>
        <p:txBody>
          <a:bodyPr wrap="square" lIns="0" tIns="0" rIns="0" bIns="0" rtlCol="0" anchor="t"/>
          <a:lstStyle/>
          <a:p>
            <a:pPr marL="0" indent="0">
              <a:buNone/>
            </a:pPr>
            <a:r>
              <a:rPr lang="en-US" sz="1500" b="1" dirty="0">
                <a:solidFill>
                  <a:srgbClr val="2E5C8F"/>
                </a:solidFill>
                <a:latin typeface="Calibri" pitchFamily="34" charset="0"/>
                <a:ea typeface="Calibri" pitchFamily="34" charset="-122"/>
                <a:cs typeface="Calibri" pitchFamily="34" charset="-120"/>
              </a:rPr>
              <a:t>Rule</a:t>
            </a:r>
            <a:endParaRPr lang="en-US" sz="1500" dirty="0"/>
          </a:p>
        </p:txBody>
      </p:sp>
      <p:sp>
        <p:nvSpPr>
          <p:cNvPr id="7" name="Text 5"/>
          <p:cNvSpPr txBox="1"/>
          <p:nvPr/>
        </p:nvSpPr>
        <p:spPr>
          <a:xfrm>
            <a:off x="777240" y="2788920"/>
            <a:ext cx="1828800" cy="77724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Hämatit → Hematite</a:t>
            </a:r>
            <a:endParaRPr lang="en-US" sz="1250" dirty="0"/>
          </a:p>
        </p:txBody>
      </p:sp>
      <p:pic>
        <p:nvPicPr>
          <p:cNvPr id="8" name="Image 0" descr="preencoded.png"/>
          <p:cNvPicPr>
            <a:picLocks noChangeAspect="1"/>
          </p:cNvPicPr>
          <p:nvPr/>
        </p:nvPicPr>
        <p:blipFill>
          <a:blip r:embed="rId3"/>
          <a:stretch>
            <a:fillRect/>
          </a:stretch>
        </p:blipFill>
        <p:spPr>
          <a:xfrm>
            <a:off x="2825496" y="2788920"/>
            <a:ext cx="219456" cy="219456"/>
          </a:xfrm>
          <a:prstGeom prst="rect">
            <a:avLst/>
          </a:prstGeom>
        </p:spPr>
      </p:pic>
      <p:sp>
        <p:nvSpPr>
          <p:cNvPr id="9" name="Shape 6"/>
          <p:cNvSpPr/>
          <p:nvPr/>
        </p:nvSpPr>
        <p:spPr>
          <a:xfrm>
            <a:off x="3063240" y="2240280"/>
            <a:ext cx="2240280" cy="1417320"/>
          </a:xfrm>
          <a:prstGeom prst="roundRect">
            <a:avLst>
              <a:gd name="adj" fmla="val 5161"/>
            </a:avLst>
          </a:prstGeom>
          <a:solidFill>
            <a:srgbClr val="EEF3F7"/>
          </a:solidFill>
          <a:ln w="12700">
            <a:solidFill>
              <a:srgbClr val="EEF3F7"/>
            </a:solidFill>
            <a:prstDash val="solid"/>
          </a:ln>
        </p:spPr>
        <p:txBody>
          <a:bodyPr/>
          <a:lstStyle/>
          <a:p>
            <a:endParaRPr lang="en-US"/>
          </a:p>
        </p:txBody>
      </p:sp>
      <p:sp>
        <p:nvSpPr>
          <p:cNvPr id="10" name="Text 7"/>
          <p:cNvSpPr txBox="1"/>
          <p:nvPr/>
        </p:nvSpPr>
        <p:spPr>
          <a:xfrm>
            <a:off x="3291840" y="2423160"/>
            <a:ext cx="1828800" cy="320040"/>
          </a:xfrm>
          <a:prstGeom prst="rect">
            <a:avLst/>
          </a:prstGeom>
          <a:noFill/>
          <a:ln/>
        </p:spPr>
        <p:txBody>
          <a:bodyPr wrap="square" lIns="0" tIns="0" rIns="0" bIns="0" rtlCol="0" anchor="t"/>
          <a:lstStyle/>
          <a:p>
            <a:pPr marL="0" indent="0">
              <a:buNone/>
            </a:pPr>
            <a:r>
              <a:rPr lang="en-US" sz="1500" b="1" dirty="0">
                <a:solidFill>
                  <a:srgbClr val="727885"/>
                </a:solidFill>
                <a:latin typeface="Calibri" pitchFamily="34" charset="0"/>
                <a:ea typeface="Calibri" pitchFamily="34" charset="-122"/>
                <a:cs typeface="Calibri" pitchFamily="34" charset="-120"/>
              </a:rPr>
              <a:t>Model</a:t>
            </a:r>
            <a:endParaRPr lang="en-US" sz="1500" dirty="0"/>
          </a:p>
        </p:txBody>
      </p:sp>
      <p:sp>
        <p:nvSpPr>
          <p:cNvPr id="11" name="Text 8"/>
          <p:cNvSpPr txBox="1"/>
          <p:nvPr/>
        </p:nvSpPr>
        <p:spPr>
          <a:xfrm>
            <a:off x="3291840" y="2788920"/>
            <a:ext cx="1828800" cy="77724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Quarz → Quartz</a:t>
            </a:r>
            <a:endParaRPr lang="en-US" sz="1250" dirty="0"/>
          </a:p>
        </p:txBody>
      </p:sp>
      <p:pic>
        <p:nvPicPr>
          <p:cNvPr id="12" name="Image 1" descr="preencoded.png"/>
          <p:cNvPicPr>
            <a:picLocks noChangeAspect="1"/>
          </p:cNvPicPr>
          <p:nvPr/>
        </p:nvPicPr>
        <p:blipFill>
          <a:blip r:embed="rId3"/>
          <a:stretch>
            <a:fillRect/>
          </a:stretch>
        </p:blipFill>
        <p:spPr>
          <a:xfrm>
            <a:off x="5340096" y="2788920"/>
            <a:ext cx="219456" cy="219456"/>
          </a:xfrm>
          <a:prstGeom prst="rect">
            <a:avLst/>
          </a:prstGeom>
        </p:spPr>
      </p:pic>
      <p:sp>
        <p:nvSpPr>
          <p:cNvPr id="13" name="Shape 9"/>
          <p:cNvSpPr/>
          <p:nvPr/>
        </p:nvSpPr>
        <p:spPr>
          <a:xfrm>
            <a:off x="5577840" y="2240280"/>
            <a:ext cx="2240280" cy="1417320"/>
          </a:xfrm>
          <a:prstGeom prst="roundRect">
            <a:avLst>
              <a:gd name="adj" fmla="val 5161"/>
            </a:avLst>
          </a:prstGeom>
          <a:solidFill>
            <a:srgbClr val="EEF3F7"/>
          </a:solidFill>
          <a:ln w="12700">
            <a:solidFill>
              <a:srgbClr val="EEF3F7"/>
            </a:solidFill>
            <a:prstDash val="solid"/>
          </a:ln>
        </p:spPr>
        <p:txBody>
          <a:bodyPr/>
          <a:lstStyle/>
          <a:p>
            <a:endParaRPr lang="en-US"/>
          </a:p>
        </p:txBody>
      </p:sp>
      <p:sp>
        <p:nvSpPr>
          <p:cNvPr id="14" name="Text 10"/>
          <p:cNvSpPr txBox="1"/>
          <p:nvPr/>
        </p:nvSpPr>
        <p:spPr>
          <a:xfrm>
            <a:off x="5806440" y="2423160"/>
            <a:ext cx="1828800" cy="320040"/>
          </a:xfrm>
          <a:prstGeom prst="rect">
            <a:avLst/>
          </a:prstGeom>
          <a:noFill/>
          <a:ln/>
        </p:spPr>
        <p:txBody>
          <a:bodyPr wrap="square" lIns="0" tIns="0" rIns="0" bIns="0" rtlCol="0" anchor="t"/>
          <a:lstStyle/>
          <a:p>
            <a:pPr marL="0" indent="0">
              <a:buNone/>
            </a:pPr>
            <a:r>
              <a:rPr lang="en-US" sz="1500" b="1" dirty="0">
                <a:solidFill>
                  <a:srgbClr val="5F8FAF"/>
                </a:solidFill>
                <a:latin typeface="Calibri" pitchFamily="34" charset="0"/>
                <a:ea typeface="Calibri" pitchFamily="34" charset="-122"/>
                <a:cs typeface="Calibri" pitchFamily="34" charset="-120"/>
              </a:rPr>
              <a:t>Authority check</a:t>
            </a:r>
            <a:endParaRPr lang="en-US" sz="1500" dirty="0"/>
          </a:p>
        </p:txBody>
      </p:sp>
      <p:sp>
        <p:nvSpPr>
          <p:cNvPr id="15" name="Text 11"/>
          <p:cNvSpPr txBox="1"/>
          <p:nvPr/>
        </p:nvSpPr>
        <p:spPr>
          <a:xfrm>
            <a:off x="5806440" y="2788920"/>
            <a:ext cx="1828800" cy="777240"/>
          </a:xfrm>
          <a:prstGeom prst="rect">
            <a:avLst/>
          </a:prstGeom>
          <a:noFill/>
          <a:ln/>
        </p:spPr>
        <p:txBody>
          <a:bodyPr wrap="square" lIns="0" tIns="0" rIns="0" bIns="0" rtlCol="0" anchor="t"/>
          <a:lstStyle/>
          <a:p>
            <a:pPr marL="0" indent="0">
              <a:buNone/>
            </a:pPr>
            <a:r>
              <a:rPr lang="en-US" sz="1250" dirty="0">
                <a:solidFill>
                  <a:srgbClr val="50555F"/>
                </a:solidFill>
                <a:latin typeface="Calibri" pitchFamily="34" charset="0"/>
                <a:ea typeface="Calibri" pitchFamily="34" charset="-122"/>
                <a:cs typeface="Calibri" pitchFamily="34" charset="-120"/>
              </a:rPr>
              <a:t>mineral_names_en.tsv, varieties_en.csv</a:t>
            </a:r>
            <a:endParaRPr lang="en-US" sz="1250" dirty="0"/>
          </a:p>
        </p:txBody>
      </p:sp>
      <p:pic>
        <p:nvPicPr>
          <p:cNvPr id="16" name="Image 2" descr="preencoded.png"/>
          <p:cNvPicPr>
            <a:picLocks noChangeAspect="1"/>
          </p:cNvPicPr>
          <p:nvPr/>
        </p:nvPicPr>
        <p:blipFill>
          <a:blip r:embed="rId3"/>
          <a:stretch>
            <a:fillRect/>
          </a:stretch>
        </p:blipFill>
        <p:spPr>
          <a:xfrm>
            <a:off x="7854696" y="2788920"/>
            <a:ext cx="219456" cy="219456"/>
          </a:xfrm>
          <a:prstGeom prst="rect">
            <a:avLst/>
          </a:prstGeom>
        </p:spPr>
      </p:pic>
      <p:sp>
        <p:nvSpPr>
          <p:cNvPr id="17" name="Shape 12"/>
          <p:cNvSpPr/>
          <p:nvPr/>
        </p:nvSpPr>
        <p:spPr>
          <a:xfrm>
            <a:off x="8092440" y="2240280"/>
            <a:ext cx="3547872" cy="640080"/>
          </a:xfrm>
          <a:prstGeom prst="roundRect">
            <a:avLst>
              <a:gd name="adj" fmla="val 11429"/>
            </a:avLst>
          </a:prstGeom>
          <a:solidFill>
            <a:srgbClr val="5F8FAF"/>
          </a:solidFill>
          <a:ln w="12700">
            <a:solidFill>
              <a:srgbClr val="5F8FAF"/>
            </a:solidFill>
            <a:prstDash val="solid"/>
          </a:ln>
        </p:spPr>
        <p:txBody>
          <a:bodyPr/>
          <a:lstStyle/>
          <a:p>
            <a:endParaRPr lang="en-US"/>
          </a:p>
        </p:txBody>
      </p:sp>
      <p:sp>
        <p:nvSpPr>
          <p:cNvPr id="18" name="Text 13"/>
          <p:cNvSpPr txBox="1"/>
          <p:nvPr/>
        </p:nvSpPr>
        <p:spPr>
          <a:xfrm>
            <a:off x="8275320" y="2240280"/>
            <a:ext cx="3291840" cy="6400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Found → dictionary in data/dist</a:t>
            </a:r>
            <a:endParaRPr lang="en-US" sz="1350" dirty="0"/>
          </a:p>
        </p:txBody>
      </p:sp>
      <p:sp>
        <p:nvSpPr>
          <p:cNvPr id="19" name="Shape 14"/>
          <p:cNvSpPr/>
          <p:nvPr/>
        </p:nvSpPr>
        <p:spPr>
          <a:xfrm>
            <a:off x="8092440" y="3017520"/>
            <a:ext cx="3547872" cy="640080"/>
          </a:xfrm>
          <a:prstGeom prst="roundRect">
            <a:avLst>
              <a:gd name="adj" fmla="val 11429"/>
            </a:avLst>
          </a:prstGeom>
          <a:solidFill>
            <a:srgbClr val="A98B3C"/>
          </a:solidFill>
          <a:ln w="12700">
            <a:solidFill>
              <a:srgbClr val="A98B3C"/>
            </a:solidFill>
            <a:prstDash val="solid"/>
          </a:ln>
        </p:spPr>
        <p:txBody>
          <a:bodyPr/>
          <a:lstStyle/>
          <a:p>
            <a:endParaRPr lang="en-US"/>
          </a:p>
        </p:txBody>
      </p:sp>
      <p:sp>
        <p:nvSpPr>
          <p:cNvPr id="20" name="Text 15"/>
          <p:cNvSpPr txBox="1"/>
          <p:nvPr/>
        </p:nvSpPr>
        <p:spPr>
          <a:xfrm>
            <a:off x="8275320" y="3017520"/>
            <a:ext cx="3291840" cy="6400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Not found → unresolved, for review</a:t>
            </a:r>
            <a:endParaRPr lang="en-US" sz="1350" dirty="0"/>
          </a:p>
        </p:txBody>
      </p:sp>
      <p:sp>
        <p:nvSpPr>
          <p:cNvPr id="21" name="Text 16"/>
          <p:cNvSpPr txBox="1"/>
          <p:nvPr/>
        </p:nvSpPr>
        <p:spPr>
          <a:xfrm>
            <a:off x="548640" y="4114800"/>
            <a:ext cx="3520440" cy="777240"/>
          </a:xfrm>
          <a:prstGeom prst="rect">
            <a:avLst/>
          </a:prstGeom>
          <a:noFill/>
          <a:ln/>
        </p:spPr>
        <p:txBody>
          <a:bodyPr wrap="square" lIns="0" tIns="0" rIns="0" bIns="0" rtlCol="0" anchor="ctr"/>
          <a:lstStyle/>
          <a:p>
            <a:pPr marL="0" indent="0">
              <a:buNone/>
            </a:pPr>
            <a:r>
              <a:rPr lang="en-US" sz="4000" b="1" dirty="0">
                <a:solidFill>
                  <a:srgbClr val="A98B3C"/>
                </a:solidFill>
                <a:latin typeface="Raleway" pitchFamily="34" charset="0"/>
                <a:ea typeface="Raleway" pitchFamily="34" charset="-122"/>
                <a:cs typeface="Raleway" pitchFamily="34" charset="-120"/>
              </a:rPr>
              <a:t>~2/3</a:t>
            </a:r>
            <a:endParaRPr lang="en-US" sz="4000" dirty="0"/>
          </a:p>
        </p:txBody>
      </p:sp>
      <p:sp>
        <p:nvSpPr>
          <p:cNvPr id="22" name="Text 17"/>
          <p:cNvSpPr txBox="1"/>
          <p:nvPr/>
        </p:nvSpPr>
        <p:spPr>
          <a:xfrm>
            <a:off x="548640" y="4937760"/>
            <a:ext cx="3474720" cy="1005840"/>
          </a:xfrm>
          <a:prstGeom prst="rect">
            <a:avLst/>
          </a:prstGeom>
          <a:noFill/>
          <a:ln/>
        </p:spPr>
        <p:txBody>
          <a:bodyPr wrap="square" lIns="0" tIns="0" rIns="0" bIns="0" rtlCol="0" anchor="t"/>
          <a:lstStyle/>
          <a:p>
            <a:pPr marL="0" indent="0">
              <a:buNone/>
            </a:pPr>
            <a:r>
              <a:rPr lang="en-US" sz="1300" dirty="0">
                <a:solidFill>
                  <a:srgbClr val="50555F"/>
                </a:solidFill>
                <a:latin typeface="Calibri" pitchFamily="34" charset="0"/>
                <a:ea typeface="Calibri" pitchFamily="34" charset="-122"/>
                <a:cs typeface="Calibri" pitchFamily="34" charset="-120"/>
              </a:rPr>
              <a:t>of the German list validates with a simple -it → -ite rule. The model is only needed for the rest.</a:t>
            </a:r>
            <a:endParaRPr lang="en-US" sz="1300" dirty="0"/>
          </a:p>
        </p:txBody>
      </p:sp>
      <p:sp>
        <p:nvSpPr>
          <p:cNvPr id="23" name="Text 18"/>
          <p:cNvSpPr txBox="1"/>
          <p:nvPr/>
        </p:nvSpPr>
        <p:spPr>
          <a:xfrm>
            <a:off x="4297680" y="4114800"/>
            <a:ext cx="3520440" cy="777240"/>
          </a:xfrm>
          <a:prstGeom prst="rect">
            <a:avLst/>
          </a:prstGeom>
          <a:noFill/>
          <a:ln/>
        </p:spPr>
        <p:txBody>
          <a:bodyPr wrap="square" lIns="0" tIns="0" rIns="0" bIns="0" rtlCol="0" anchor="ctr"/>
          <a:lstStyle/>
          <a:p>
            <a:pPr marL="0" indent="0">
              <a:buNone/>
            </a:pPr>
            <a:r>
              <a:rPr lang="en-US" sz="4000" b="1" dirty="0">
                <a:solidFill>
                  <a:srgbClr val="A98B3C"/>
                </a:solidFill>
                <a:latin typeface="Raleway" pitchFamily="34" charset="0"/>
                <a:ea typeface="Raleway" pitchFamily="34" charset="-122"/>
                <a:cs typeface="Raleway" pitchFamily="34" charset="-120"/>
              </a:rPr>
              <a:t>12 → 1,756</a:t>
            </a:r>
            <a:endParaRPr lang="en-US" sz="4000" dirty="0"/>
          </a:p>
        </p:txBody>
      </p:sp>
      <p:sp>
        <p:nvSpPr>
          <p:cNvPr id="24" name="Text 19"/>
          <p:cNvSpPr txBox="1"/>
          <p:nvPr/>
        </p:nvSpPr>
        <p:spPr>
          <a:xfrm>
            <a:off x="4297680" y="4937760"/>
            <a:ext cx="3474720" cy="1005840"/>
          </a:xfrm>
          <a:prstGeom prst="rect">
            <a:avLst/>
          </a:prstGeom>
          <a:noFill/>
          <a:ln/>
        </p:spPr>
        <p:txBody>
          <a:bodyPr wrap="square" lIns="0" tIns="0" rIns="0" bIns="0" rtlCol="0" anchor="t"/>
          <a:lstStyle/>
          <a:p>
            <a:pPr marL="0" indent="0">
              <a:buNone/>
            </a:pPr>
            <a:r>
              <a:rPr lang="en-US" sz="1300" dirty="0">
                <a:solidFill>
                  <a:srgbClr val="50555F"/>
                </a:solidFill>
                <a:latin typeface="Calibri" pitchFamily="34" charset="0"/>
                <a:ea typeface="Calibri" pitchFamily="34" charset="-122"/>
                <a:cs typeface="Calibri" pitchFamily="34" charset="-120"/>
              </a:rPr>
              <a:t>French names whose Strunz number agrees with the authority, before and after removing one leading zero.</a:t>
            </a:r>
            <a:endParaRPr lang="en-US" sz="1300" dirty="0"/>
          </a:p>
        </p:txBody>
      </p:sp>
      <p:sp>
        <p:nvSpPr>
          <p:cNvPr id="25" name="Text 20"/>
          <p:cNvSpPr txBox="1"/>
          <p:nvPr/>
        </p:nvSpPr>
        <p:spPr>
          <a:xfrm>
            <a:off x="8046720" y="4114800"/>
            <a:ext cx="3520440" cy="777240"/>
          </a:xfrm>
          <a:prstGeom prst="rect">
            <a:avLst/>
          </a:prstGeom>
          <a:noFill/>
          <a:ln/>
        </p:spPr>
        <p:txBody>
          <a:bodyPr wrap="square" lIns="0" tIns="0" rIns="0" bIns="0" rtlCol="0" anchor="ctr"/>
          <a:lstStyle/>
          <a:p>
            <a:pPr marL="0" indent="0">
              <a:buNone/>
            </a:pPr>
            <a:r>
              <a:rPr lang="en-US" sz="4000" b="1" dirty="0">
                <a:solidFill>
                  <a:srgbClr val="A98B3C"/>
                </a:solidFill>
                <a:latin typeface="Raleway" pitchFamily="34" charset="0"/>
                <a:ea typeface="Raleway" pitchFamily="34" charset="-122"/>
                <a:cs typeface="Raleway" pitchFamily="34" charset="-120"/>
              </a:rPr>
              <a:t>16 of 367</a:t>
            </a:r>
            <a:endParaRPr lang="en-US" sz="4000" dirty="0"/>
          </a:p>
        </p:txBody>
      </p:sp>
      <p:sp>
        <p:nvSpPr>
          <p:cNvPr id="26" name="Text 21"/>
          <p:cNvSpPr txBox="1"/>
          <p:nvPr/>
        </p:nvSpPr>
        <p:spPr>
          <a:xfrm>
            <a:off x="8046720" y="4937760"/>
            <a:ext cx="3474720" cy="1005840"/>
          </a:xfrm>
          <a:prstGeom prst="rect">
            <a:avLst/>
          </a:prstGeom>
          <a:noFill/>
          <a:ln/>
        </p:spPr>
        <p:txBody>
          <a:bodyPr wrap="square" lIns="0" tIns="0" rIns="0" bIns="0" rtlCol="0" anchor="t"/>
          <a:lstStyle/>
          <a:p>
            <a:pPr marL="0" indent="0">
              <a:buNone/>
            </a:pPr>
            <a:r>
              <a:rPr lang="en-US" sz="1300" dirty="0">
                <a:solidFill>
                  <a:srgbClr val="50555F"/>
                </a:solidFill>
                <a:latin typeface="Calibri" pitchFamily="34" charset="0"/>
                <a:ea typeface="Calibri" pitchFamily="34" charset="-122"/>
                <a:cs typeface="Calibri" pitchFamily="34" charset="-120"/>
              </a:rPr>
              <a:t>Austrian locality terms match the geopolitical authority exactly. So there it is used as context, not as a pass/fail check.</a:t>
            </a:r>
            <a:endParaRPr lang="en-US" sz="1300" dirty="0"/>
          </a:p>
        </p:txBody>
      </p:sp>
      <p:sp>
        <p:nvSpPr>
          <p:cNvPr id="27" name="Text 22"/>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D939D"/>
                </a:solidFill>
                <a:latin typeface="Calibri" pitchFamily="34" charset="0"/>
                <a:ea typeface="Calibri" pitchFamily="34" charset="-122"/>
                <a:cs typeface="Calibri" pitchFamily="34" charset="-120"/>
              </a:rPr>
              <a:t>WKS10  ·  Building a Repeatable AI Pipeline</a:t>
            </a:r>
            <a:endParaRPr lang="en-US" sz="1000" dirty="0"/>
          </a:p>
        </p:txBody>
      </p:sp>
      <p:sp>
        <p:nvSpPr>
          <p:cNvPr id="28" name="Text 23"/>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8D939D"/>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1">
    <p:bg>
      <p:bgPr>
        <a:solidFill>
          <a:srgbClr val="2B2E36"/>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9CBFD6"/>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FFFFFF"/>
                </a:solidFill>
                <a:latin typeface="Raleway" pitchFamily="34" charset="0"/>
                <a:ea typeface="Raleway" pitchFamily="34" charset="-122"/>
                <a:cs typeface="Raleway" pitchFamily="34" charset="-120"/>
              </a:rPr>
              <a:t>Hands-on: your turn</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B3B8C2"/>
                </a:solidFill>
                <a:latin typeface="Calibri" pitchFamily="34" charset="0"/>
                <a:ea typeface="Calibri" pitchFamily="34" charset="-122"/>
                <a:cs typeface="Calibri" pitchFamily="34" charset="-120"/>
              </a:rPr>
              <a:t>Open the Exercise Guide. Every prompt is written out for you to copy.</a:t>
            </a:r>
            <a:endParaRPr lang="en-US" sz="1500" dirty="0"/>
          </a:p>
        </p:txBody>
      </p:sp>
      <p:sp>
        <p:nvSpPr>
          <p:cNvPr id="5" name="Shape 3"/>
          <p:cNvSpPr/>
          <p:nvPr/>
        </p:nvSpPr>
        <p:spPr>
          <a:xfrm>
            <a:off x="548640" y="2057400"/>
            <a:ext cx="11091672" cy="603504"/>
          </a:xfrm>
          <a:prstGeom prst="roundRect">
            <a:avLst>
              <a:gd name="adj" fmla="val 12121"/>
            </a:avLst>
          </a:prstGeom>
          <a:solidFill>
            <a:srgbClr val="383C46"/>
          </a:solidFill>
          <a:ln w="12700">
            <a:solidFill>
              <a:srgbClr val="383C46"/>
            </a:solidFill>
            <a:prstDash val="solid"/>
          </a:ln>
        </p:spPr>
        <p:txBody>
          <a:bodyPr/>
          <a:lstStyle/>
          <a:p>
            <a:endParaRPr lang="en-US"/>
          </a:p>
        </p:txBody>
      </p:sp>
      <p:sp>
        <p:nvSpPr>
          <p:cNvPr id="6" name="Text 4"/>
          <p:cNvSpPr txBox="1"/>
          <p:nvPr/>
        </p:nvSpPr>
        <p:spPr>
          <a:xfrm>
            <a:off x="822960" y="2057400"/>
            <a:ext cx="1463040" cy="60350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Setup</a:t>
            </a:r>
            <a:endParaRPr lang="en-US" sz="1600" dirty="0"/>
          </a:p>
        </p:txBody>
      </p:sp>
      <p:sp>
        <p:nvSpPr>
          <p:cNvPr id="7" name="Text 5"/>
          <p:cNvSpPr txBox="1"/>
          <p:nvPr/>
        </p:nvSpPr>
        <p:spPr>
          <a:xfrm>
            <a:off x="2286000" y="2057400"/>
            <a:ext cx="1097280" cy="603504"/>
          </a:xfrm>
          <a:prstGeom prst="rect">
            <a:avLst/>
          </a:prstGeom>
          <a:noFill/>
          <a:ln/>
        </p:spPr>
        <p:txBody>
          <a:bodyPr wrap="square" lIns="0" tIns="0" rIns="0" bIns="0" rtlCol="0" anchor="ctr"/>
          <a:lstStyle/>
          <a:p>
            <a:pPr marL="0" indent="0">
              <a:buNone/>
            </a:pPr>
            <a:r>
              <a:rPr lang="en-US" sz="1400" b="1" dirty="0">
                <a:solidFill>
                  <a:srgbClr val="DCC37A"/>
                </a:solidFill>
                <a:latin typeface="Calibri" pitchFamily="34" charset="0"/>
                <a:ea typeface="Calibri" pitchFamily="34" charset="-122"/>
                <a:cs typeface="Calibri" pitchFamily="34" charset="-120"/>
              </a:rPr>
              <a:t>5 min</a:t>
            </a:r>
            <a:endParaRPr lang="en-US" sz="1400" dirty="0"/>
          </a:p>
        </p:txBody>
      </p:sp>
      <p:sp>
        <p:nvSpPr>
          <p:cNvPr id="8" name="Text 6"/>
          <p:cNvSpPr txBox="1"/>
          <p:nvPr/>
        </p:nvSpPr>
        <p:spPr>
          <a:xfrm>
            <a:off x="3383280" y="2057400"/>
            <a:ext cx="8046720" cy="603504"/>
          </a:xfrm>
          <a:prstGeom prst="rect">
            <a:avLst/>
          </a:prstGeom>
          <a:noFill/>
          <a:ln/>
        </p:spPr>
        <p:txBody>
          <a:bodyPr wrap="square" lIns="0" tIns="0" rIns="0" bIns="0" rtlCol="0" anchor="ctr"/>
          <a:lstStyle/>
          <a:p>
            <a:pPr marL="0" indent="0">
              <a:buNone/>
            </a:pPr>
            <a:r>
              <a:rPr lang="en-US" sz="1400" dirty="0">
                <a:solidFill>
                  <a:srgbClr val="D4D8DE"/>
                </a:solidFill>
                <a:latin typeface="Calibri" pitchFamily="34" charset="0"/>
                <a:ea typeface="Calibri" pitchFamily="34" charset="-122"/>
                <a:cs typeface="Calibri" pitchFamily="34" charset="-120"/>
              </a:rPr>
              <a:t>Clone the repository, open it in Claude Code, run Prompt 0 to create CLAUDE.md</a:t>
            </a:r>
            <a:endParaRPr lang="en-US" sz="1400" dirty="0"/>
          </a:p>
        </p:txBody>
      </p:sp>
      <p:sp>
        <p:nvSpPr>
          <p:cNvPr id="9" name="Shape 7"/>
          <p:cNvSpPr/>
          <p:nvPr/>
        </p:nvSpPr>
        <p:spPr>
          <a:xfrm>
            <a:off x="548640" y="2788920"/>
            <a:ext cx="11091672" cy="603504"/>
          </a:xfrm>
          <a:prstGeom prst="roundRect">
            <a:avLst>
              <a:gd name="adj" fmla="val 12121"/>
            </a:avLst>
          </a:prstGeom>
          <a:solidFill>
            <a:srgbClr val="383C46"/>
          </a:solidFill>
          <a:ln w="12700">
            <a:solidFill>
              <a:srgbClr val="383C46"/>
            </a:solidFill>
            <a:prstDash val="solid"/>
          </a:ln>
        </p:spPr>
        <p:txBody>
          <a:bodyPr/>
          <a:lstStyle/>
          <a:p>
            <a:endParaRPr lang="en-US"/>
          </a:p>
        </p:txBody>
      </p:sp>
      <p:sp>
        <p:nvSpPr>
          <p:cNvPr id="10" name="Text 8"/>
          <p:cNvSpPr txBox="1"/>
          <p:nvPr/>
        </p:nvSpPr>
        <p:spPr>
          <a:xfrm>
            <a:off x="822960" y="2788920"/>
            <a:ext cx="1463040" cy="60350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Part A</a:t>
            </a:r>
            <a:endParaRPr lang="en-US" sz="1600" dirty="0"/>
          </a:p>
        </p:txBody>
      </p:sp>
      <p:sp>
        <p:nvSpPr>
          <p:cNvPr id="11" name="Text 9"/>
          <p:cNvSpPr txBox="1"/>
          <p:nvPr/>
        </p:nvSpPr>
        <p:spPr>
          <a:xfrm>
            <a:off x="2286000" y="2788920"/>
            <a:ext cx="1097280" cy="603504"/>
          </a:xfrm>
          <a:prstGeom prst="rect">
            <a:avLst/>
          </a:prstGeom>
          <a:noFill/>
          <a:ln/>
        </p:spPr>
        <p:txBody>
          <a:bodyPr wrap="square" lIns="0" tIns="0" rIns="0" bIns="0" rtlCol="0" anchor="ctr"/>
          <a:lstStyle/>
          <a:p>
            <a:pPr marL="0" indent="0">
              <a:buNone/>
            </a:pPr>
            <a:r>
              <a:rPr lang="en-US" sz="1400" b="1" dirty="0">
                <a:solidFill>
                  <a:srgbClr val="DCC37A"/>
                </a:solidFill>
                <a:latin typeface="Calibri" pitchFamily="34" charset="0"/>
                <a:ea typeface="Calibri" pitchFamily="34" charset="-122"/>
                <a:cs typeface="Calibri" pitchFamily="34" charset="-120"/>
              </a:rPr>
              <a:t>15 min</a:t>
            </a:r>
            <a:endParaRPr lang="en-US" sz="1400" dirty="0"/>
          </a:p>
        </p:txBody>
      </p:sp>
      <p:sp>
        <p:nvSpPr>
          <p:cNvPr id="12" name="Text 10"/>
          <p:cNvSpPr txBox="1"/>
          <p:nvPr/>
        </p:nvSpPr>
        <p:spPr>
          <a:xfrm>
            <a:off x="3383280" y="2788920"/>
            <a:ext cx="8046720" cy="603504"/>
          </a:xfrm>
          <a:prstGeom prst="rect">
            <a:avLst/>
          </a:prstGeom>
          <a:noFill/>
          <a:ln/>
        </p:spPr>
        <p:txBody>
          <a:bodyPr wrap="square" lIns="0" tIns="0" rIns="0" bIns="0" rtlCol="0" anchor="ctr"/>
          <a:lstStyle/>
          <a:p>
            <a:pPr marL="0" indent="0">
              <a:buNone/>
            </a:pPr>
            <a:r>
              <a:rPr lang="en-US" sz="1400" dirty="0">
                <a:solidFill>
                  <a:srgbClr val="D4D8DE"/>
                </a:solidFill>
                <a:latin typeface="Calibri" pitchFamily="34" charset="0"/>
                <a:ea typeface="Calibri" pitchFamily="34" charset="-122"/>
                <a:cs typeface="Calibri" pitchFamily="34" charset="-120"/>
              </a:rPr>
              <a:t>German mineral names, together: profile, plan, review, build, validate, review unresolved</a:t>
            </a:r>
            <a:endParaRPr lang="en-US" sz="1400" dirty="0"/>
          </a:p>
        </p:txBody>
      </p:sp>
      <p:sp>
        <p:nvSpPr>
          <p:cNvPr id="13" name="Shape 11"/>
          <p:cNvSpPr/>
          <p:nvPr/>
        </p:nvSpPr>
        <p:spPr>
          <a:xfrm>
            <a:off x="548640" y="3520440"/>
            <a:ext cx="11091672" cy="603504"/>
          </a:xfrm>
          <a:prstGeom prst="roundRect">
            <a:avLst>
              <a:gd name="adj" fmla="val 12121"/>
            </a:avLst>
          </a:prstGeom>
          <a:solidFill>
            <a:srgbClr val="383C46"/>
          </a:solidFill>
          <a:ln w="12700">
            <a:solidFill>
              <a:srgbClr val="383C46"/>
            </a:solidFill>
            <a:prstDash val="solid"/>
          </a:ln>
        </p:spPr>
        <p:txBody>
          <a:bodyPr/>
          <a:lstStyle/>
          <a:p>
            <a:endParaRPr lang="en-US"/>
          </a:p>
        </p:txBody>
      </p:sp>
      <p:sp>
        <p:nvSpPr>
          <p:cNvPr id="14" name="Text 12"/>
          <p:cNvSpPr txBox="1"/>
          <p:nvPr/>
        </p:nvSpPr>
        <p:spPr>
          <a:xfrm>
            <a:off x="822960" y="3520440"/>
            <a:ext cx="1463040" cy="60350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Part B</a:t>
            </a:r>
            <a:endParaRPr lang="en-US" sz="1600" dirty="0"/>
          </a:p>
        </p:txBody>
      </p:sp>
      <p:sp>
        <p:nvSpPr>
          <p:cNvPr id="15" name="Text 13"/>
          <p:cNvSpPr txBox="1"/>
          <p:nvPr/>
        </p:nvSpPr>
        <p:spPr>
          <a:xfrm>
            <a:off x="2286000" y="3520440"/>
            <a:ext cx="1097280" cy="603504"/>
          </a:xfrm>
          <a:prstGeom prst="rect">
            <a:avLst/>
          </a:prstGeom>
          <a:noFill/>
          <a:ln/>
        </p:spPr>
        <p:txBody>
          <a:bodyPr wrap="square" lIns="0" tIns="0" rIns="0" bIns="0" rtlCol="0" anchor="ctr"/>
          <a:lstStyle/>
          <a:p>
            <a:pPr marL="0" indent="0">
              <a:buNone/>
            </a:pPr>
            <a:r>
              <a:rPr lang="en-US" sz="1400" b="1" dirty="0">
                <a:solidFill>
                  <a:srgbClr val="DCC37A"/>
                </a:solidFill>
                <a:latin typeface="Calibri" pitchFamily="34" charset="0"/>
                <a:ea typeface="Calibri" pitchFamily="34" charset="-122"/>
                <a:cs typeface="Calibri" pitchFamily="34" charset="-120"/>
              </a:rPr>
              <a:t>12 min</a:t>
            </a:r>
            <a:endParaRPr lang="en-US" sz="1400" dirty="0"/>
          </a:p>
        </p:txBody>
      </p:sp>
      <p:sp>
        <p:nvSpPr>
          <p:cNvPr id="16" name="Text 14"/>
          <p:cNvSpPr txBox="1"/>
          <p:nvPr/>
        </p:nvSpPr>
        <p:spPr>
          <a:xfrm>
            <a:off x="3383280" y="3520440"/>
            <a:ext cx="8046720" cy="603504"/>
          </a:xfrm>
          <a:prstGeom prst="rect">
            <a:avLst/>
          </a:prstGeom>
          <a:noFill/>
          <a:ln/>
        </p:spPr>
        <p:txBody>
          <a:bodyPr wrap="square" lIns="0" tIns="0" rIns="0" bIns="0" rtlCol="0" anchor="ctr"/>
          <a:lstStyle/>
          <a:p>
            <a:pPr marL="0" indent="0">
              <a:buNone/>
            </a:pPr>
            <a:r>
              <a:rPr lang="en-US" sz="1400" dirty="0">
                <a:solidFill>
                  <a:srgbClr val="D4D8DE"/>
                </a:solidFill>
                <a:latin typeface="Calibri" pitchFamily="34" charset="0"/>
                <a:ea typeface="Calibri" pitchFamily="34" charset="-122"/>
                <a:cs typeface="Calibri" pitchFamily="34" charset="-120"/>
              </a:rPr>
              <a:t>French mineral names: distinct values, synonyms, Strunz check</a:t>
            </a:r>
            <a:endParaRPr lang="en-US" sz="1400" dirty="0"/>
          </a:p>
        </p:txBody>
      </p:sp>
      <p:sp>
        <p:nvSpPr>
          <p:cNvPr id="17" name="Shape 15"/>
          <p:cNvSpPr/>
          <p:nvPr/>
        </p:nvSpPr>
        <p:spPr>
          <a:xfrm>
            <a:off x="548640" y="4251960"/>
            <a:ext cx="11091672" cy="603504"/>
          </a:xfrm>
          <a:prstGeom prst="roundRect">
            <a:avLst>
              <a:gd name="adj" fmla="val 12121"/>
            </a:avLst>
          </a:prstGeom>
          <a:solidFill>
            <a:srgbClr val="383C46"/>
          </a:solidFill>
          <a:ln w="12700">
            <a:solidFill>
              <a:srgbClr val="383C46"/>
            </a:solidFill>
            <a:prstDash val="solid"/>
          </a:ln>
        </p:spPr>
        <p:txBody>
          <a:bodyPr/>
          <a:lstStyle/>
          <a:p>
            <a:endParaRPr lang="en-US"/>
          </a:p>
        </p:txBody>
      </p:sp>
      <p:sp>
        <p:nvSpPr>
          <p:cNvPr id="18" name="Text 16"/>
          <p:cNvSpPr txBox="1"/>
          <p:nvPr/>
        </p:nvSpPr>
        <p:spPr>
          <a:xfrm>
            <a:off x="822960" y="4251960"/>
            <a:ext cx="1463040" cy="60350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Part C</a:t>
            </a:r>
            <a:endParaRPr lang="en-US" sz="1600" dirty="0"/>
          </a:p>
        </p:txBody>
      </p:sp>
      <p:sp>
        <p:nvSpPr>
          <p:cNvPr id="19" name="Text 17"/>
          <p:cNvSpPr txBox="1"/>
          <p:nvPr/>
        </p:nvSpPr>
        <p:spPr>
          <a:xfrm>
            <a:off x="2286000" y="4251960"/>
            <a:ext cx="1097280" cy="603504"/>
          </a:xfrm>
          <a:prstGeom prst="rect">
            <a:avLst/>
          </a:prstGeom>
          <a:noFill/>
          <a:ln/>
        </p:spPr>
        <p:txBody>
          <a:bodyPr wrap="square" lIns="0" tIns="0" rIns="0" bIns="0" rtlCol="0" anchor="ctr"/>
          <a:lstStyle/>
          <a:p>
            <a:pPr marL="0" indent="0">
              <a:buNone/>
            </a:pPr>
            <a:r>
              <a:rPr lang="en-US" sz="1400" b="1" dirty="0">
                <a:solidFill>
                  <a:srgbClr val="DCC37A"/>
                </a:solidFill>
                <a:latin typeface="Calibri" pitchFamily="34" charset="0"/>
                <a:ea typeface="Calibri" pitchFamily="34" charset="-122"/>
                <a:cs typeface="Calibri" pitchFamily="34" charset="-120"/>
              </a:rPr>
              <a:t>13 min</a:t>
            </a:r>
            <a:endParaRPr lang="en-US" sz="1400" dirty="0"/>
          </a:p>
        </p:txBody>
      </p:sp>
      <p:sp>
        <p:nvSpPr>
          <p:cNvPr id="20" name="Text 18"/>
          <p:cNvSpPr txBox="1"/>
          <p:nvPr/>
        </p:nvSpPr>
        <p:spPr>
          <a:xfrm>
            <a:off x="3383280" y="4251960"/>
            <a:ext cx="8046720" cy="603504"/>
          </a:xfrm>
          <a:prstGeom prst="rect">
            <a:avLst/>
          </a:prstGeom>
          <a:noFill/>
          <a:ln/>
        </p:spPr>
        <p:txBody>
          <a:bodyPr wrap="square" lIns="0" tIns="0" rIns="0" bIns="0" rtlCol="0" anchor="ctr"/>
          <a:lstStyle/>
          <a:p>
            <a:pPr marL="0" indent="0">
              <a:buNone/>
            </a:pPr>
            <a:r>
              <a:rPr lang="en-US" sz="1400" dirty="0">
                <a:solidFill>
                  <a:srgbClr val="D4D8DE"/>
                </a:solidFill>
                <a:latin typeface="Calibri" pitchFamily="34" charset="0"/>
                <a:ea typeface="Calibri" pitchFamily="34" charset="-122"/>
                <a:cs typeface="Calibri" pitchFamily="34" charset="-120"/>
              </a:rPr>
              <a:t>German localities: split, rank, translate (model pass on Austria)</a:t>
            </a:r>
            <a:endParaRPr lang="en-US" sz="1400" dirty="0"/>
          </a:p>
        </p:txBody>
      </p:sp>
      <p:sp>
        <p:nvSpPr>
          <p:cNvPr id="21" name="Shape 19"/>
          <p:cNvSpPr/>
          <p:nvPr/>
        </p:nvSpPr>
        <p:spPr>
          <a:xfrm>
            <a:off x="548640" y="4983480"/>
            <a:ext cx="11091672" cy="603504"/>
          </a:xfrm>
          <a:prstGeom prst="roundRect">
            <a:avLst>
              <a:gd name="adj" fmla="val 12121"/>
            </a:avLst>
          </a:prstGeom>
          <a:solidFill>
            <a:srgbClr val="383C46"/>
          </a:solidFill>
          <a:ln w="12700">
            <a:solidFill>
              <a:srgbClr val="383C46"/>
            </a:solidFill>
            <a:prstDash val="solid"/>
          </a:ln>
        </p:spPr>
        <p:txBody>
          <a:bodyPr/>
          <a:lstStyle/>
          <a:p>
            <a:endParaRPr lang="en-US"/>
          </a:p>
        </p:txBody>
      </p:sp>
      <p:sp>
        <p:nvSpPr>
          <p:cNvPr id="22" name="Text 20"/>
          <p:cNvSpPr txBox="1"/>
          <p:nvPr/>
        </p:nvSpPr>
        <p:spPr>
          <a:xfrm>
            <a:off x="822960" y="4983480"/>
            <a:ext cx="1463040" cy="60350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Part D</a:t>
            </a:r>
            <a:endParaRPr lang="en-US" sz="1600" dirty="0"/>
          </a:p>
        </p:txBody>
      </p:sp>
      <p:sp>
        <p:nvSpPr>
          <p:cNvPr id="23" name="Text 21"/>
          <p:cNvSpPr txBox="1"/>
          <p:nvPr/>
        </p:nvSpPr>
        <p:spPr>
          <a:xfrm>
            <a:off x="2286000" y="4983480"/>
            <a:ext cx="1097280" cy="603504"/>
          </a:xfrm>
          <a:prstGeom prst="rect">
            <a:avLst/>
          </a:prstGeom>
          <a:noFill/>
          <a:ln/>
        </p:spPr>
        <p:txBody>
          <a:bodyPr wrap="square" lIns="0" tIns="0" rIns="0" bIns="0" rtlCol="0" anchor="ctr"/>
          <a:lstStyle/>
          <a:p>
            <a:pPr marL="0" indent="0">
              <a:buNone/>
            </a:pPr>
            <a:r>
              <a:rPr lang="en-US" sz="1400" b="1" dirty="0">
                <a:solidFill>
                  <a:srgbClr val="DCC37A"/>
                </a:solidFill>
                <a:latin typeface="Calibri" pitchFamily="34" charset="0"/>
                <a:ea typeface="Calibri" pitchFamily="34" charset="-122"/>
                <a:cs typeface="Calibri" pitchFamily="34" charset="-120"/>
              </a:rPr>
              <a:t>10 min</a:t>
            </a:r>
            <a:endParaRPr lang="en-US" sz="1400" dirty="0"/>
          </a:p>
        </p:txBody>
      </p:sp>
      <p:sp>
        <p:nvSpPr>
          <p:cNvPr id="24" name="Text 22"/>
          <p:cNvSpPr txBox="1"/>
          <p:nvPr/>
        </p:nvSpPr>
        <p:spPr>
          <a:xfrm>
            <a:off x="3383280" y="4983480"/>
            <a:ext cx="8046720" cy="603504"/>
          </a:xfrm>
          <a:prstGeom prst="rect">
            <a:avLst/>
          </a:prstGeom>
          <a:noFill/>
          <a:ln/>
        </p:spPr>
        <p:txBody>
          <a:bodyPr wrap="square" lIns="0" tIns="0" rIns="0" bIns="0" rtlCol="0" anchor="ctr"/>
          <a:lstStyle/>
          <a:p>
            <a:pPr marL="0" indent="0">
              <a:buNone/>
            </a:pPr>
            <a:r>
              <a:rPr lang="en-US" sz="1400" dirty="0">
                <a:solidFill>
                  <a:srgbClr val="D4D8DE"/>
                </a:solidFill>
                <a:latin typeface="Calibri" pitchFamily="34" charset="0"/>
                <a:ea typeface="Calibri" pitchFamily="34" charset="-122"/>
                <a:cs typeface="Calibri" pitchFamily="34" charset="-120"/>
              </a:rPr>
              <a:t>Peabody samples: spec → script → compound specimen model</a:t>
            </a:r>
            <a:endParaRPr lang="en-US" sz="1400" dirty="0"/>
          </a:p>
        </p:txBody>
      </p:sp>
      <p:sp>
        <p:nvSpPr>
          <p:cNvPr id="25" name="Text 23"/>
          <p:cNvSpPr txBox="1"/>
          <p:nvPr/>
        </p:nvSpPr>
        <p:spPr>
          <a:xfrm>
            <a:off x="548640" y="6035040"/>
            <a:ext cx="7315200" cy="320040"/>
          </a:xfrm>
          <a:prstGeom prst="rect">
            <a:avLst/>
          </a:prstGeom>
          <a:noFill/>
          <a:ln/>
        </p:spPr>
        <p:txBody>
          <a:bodyPr wrap="square" lIns="0" tIns="0" rIns="0" bIns="0" rtlCol="0" anchor="ctr"/>
          <a:lstStyle/>
          <a:p>
            <a:pPr marL="0" indent="0">
              <a:buNone/>
            </a:pPr>
            <a:r>
              <a:rPr lang="en-US" sz="1400" b="1" dirty="0">
                <a:solidFill>
                  <a:srgbClr val="9CBFD6"/>
                </a:solidFill>
                <a:latin typeface="Courier New" pitchFamily="34" charset="0"/>
                <a:ea typeface="Courier New" pitchFamily="34" charset="-122"/>
                <a:cs typeface="Courier New" pitchFamily="34" charset="-120"/>
              </a:rPr>
              <a:t>github.com/ben-norton/tdwg2026-wks10</a:t>
            </a:r>
            <a:endParaRPr lang="en-US" sz="1400" dirty="0"/>
          </a:p>
        </p:txBody>
      </p:sp>
      <p:sp>
        <p:nvSpPr>
          <p:cNvPr id="26" name="Text 24"/>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B3B8C2"/>
                </a:solidFill>
                <a:latin typeface="Calibri" pitchFamily="34" charset="0"/>
                <a:ea typeface="Calibri" pitchFamily="34" charset="-122"/>
                <a:cs typeface="Calibri" pitchFamily="34" charset="-120"/>
              </a:rPr>
              <a:t>WKS10  ·  Building a Repeatable AI Pipeline</a:t>
            </a:r>
            <a:endParaRPr lang="en-US" sz="1000" dirty="0"/>
          </a:p>
        </p:txBody>
      </p:sp>
      <p:sp>
        <p:nvSpPr>
          <p:cNvPr id="27" name="Text 25"/>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B3B8C2"/>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A98B3C"/>
                </a:solidFill>
                <a:latin typeface="Calibri" pitchFamily="34" charset="0"/>
                <a:ea typeface="Calibri" pitchFamily="34" charset="-122"/>
                <a:cs typeface="Calibri" pitchFamily="34" charset="-120"/>
              </a:rPr>
              <a:t>REVIEW</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B2E36"/>
                </a:solidFill>
                <a:latin typeface="Raleway" pitchFamily="34" charset="0"/>
                <a:ea typeface="Raleway" pitchFamily="34" charset="-122"/>
                <a:cs typeface="Raleway" pitchFamily="34" charset="-120"/>
              </a:rPr>
              <a:t>How do we know it’s accurate?</a:t>
            </a:r>
            <a:endParaRPr lang="en-US" sz="3400" dirty="0"/>
          </a:p>
        </p:txBody>
      </p:sp>
      <p:sp>
        <p:nvSpPr>
          <p:cNvPr id="4" name="Shape 2"/>
          <p:cNvSpPr/>
          <p:nvPr/>
        </p:nvSpPr>
        <p:spPr>
          <a:xfrm>
            <a:off x="548640" y="1691640"/>
            <a:ext cx="5394960" cy="1965960"/>
          </a:xfrm>
          <a:prstGeom prst="roundRect">
            <a:avLst>
              <a:gd name="adj" fmla="val 3721"/>
            </a:avLst>
          </a:prstGeom>
          <a:solidFill>
            <a:srgbClr val="EEF3F7"/>
          </a:solidFill>
          <a:ln w="12700">
            <a:solidFill>
              <a:srgbClr val="EEF3F7"/>
            </a:solidFill>
            <a:prstDash val="solid"/>
          </a:ln>
        </p:spPr>
        <p:txBody>
          <a:bodyPr/>
          <a:lstStyle/>
          <a:p>
            <a:endParaRPr lang="en-US"/>
          </a:p>
        </p:txBody>
      </p:sp>
      <p:sp>
        <p:nvSpPr>
          <p:cNvPr id="5" name="Shape 3"/>
          <p:cNvSpPr/>
          <p:nvPr/>
        </p:nvSpPr>
        <p:spPr>
          <a:xfrm>
            <a:off x="868680" y="2011680"/>
            <a:ext cx="594360" cy="594360"/>
          </a:xfrm>
          <a:prstGeom prst="ellipse">
            <a:avLst/>
          </a:prstGeom>
          <a:solidFill>
            <a:srgbClr val="5F8FAF"/>
          </a:solidFill>
          <a:ln w="12700">
            <a:solidFill>
              <a:srgbClr val="5F8FA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17270" y="2160270"/>
            <a:ext cx="297180" cy="297180"/>
          </a:xfrm>
          <a:prstGeom prst="rect">
            <a:avLst/>
          </a:prstGeom>
        </p:spPr>
      </p:pic>
      <p:sp>
        <p:nvSpPr>
          <p:cNvPr id="7" name="Text 4"/>
          <p:cNvSpPr txBox="1"/>
          <p:nvPr/>
        </p:nvSpPr>
        <p:spPr>
          <a:xfrm>
            <a:off x="1691640" y="2011680"/>
            <a:ext cx="4023360" cy="594360"/>
          </a:xfrm>
          <a:prstGeom prst="rect">
            <a:avLst/>
          </a:prstGeom>
          <a:noFill/>
          <a:ln/>
        </p:spPr>
        <p:txBody>
          <a:bodyPr wrap="square" lIns="0" tIns="0" rIns="0" bIns="0" rtlCol="0" anchor="ctr"/>
          <a:lstStyle/>
          <a:p>
            <a:pPr marL="0" indent="0">
              <a:buNone/>
            </a:pPr>
            <a:r>
              <a:rPr lang="en-US" sz="1700" b="1" dirty="0">
                <a:solidFill>
                  <a:srgbClr val="2B2E36"/>
                </a:solidFill>
                <a:latin typeface="Calibri" pitchFamily="34" charset="0"/>
                <a:ea typeface="Calibri" pitchFamily="34" charset="-122"/>
                <a:cs typeface="Calibri" pitchFamily="34" charset="-120"/>
              </a:rPr>
              <a:t>Compare with human error</a:t>
            </a:r>
            <a:endParaRPr lang="en-US" sz="1700" dirty="0"/>
          </a:p>
        </p:txBody>
      </p:sp>
      <p:sp>
        <p:nvSpPr>
          <p:cNvPr id="8" name="Text 5"/>
          <p:cNvSpPr txBox="1"/>
          <p:nvPr/>
        </p:nvSpPr>
        <p:spPr>
          <a:xfrm>
            <a:off x="1691640" y="2651760"/>
            <a:ext cx="4023360" cy="914400"/>
          </a:xfrm>
          <a:prstGeom prst="rect">
            <a:avLst/>
          </a:prstGeom>
          <a:noFill/>
          <a:ln/>
        </p:spPr>
        <p:txBody>
          <a:bodyPr wrap="square" lIns="0" tIns="0" rIns="0" bIns="0" rtlCol="0" anchor="t"/>
          <a:lstStyle/>
          <a:p>
            <a:pPr marL="0" indent="0">
              <a:buNone/>
            </a:pPr>
            <a:r>
              <a:rPr lang="en-US" sz="1400" dirty="0">
                <a:solidFill>
                  <a:srgbClr val="50555F"/>
                </a:solidFill>
                <a:latin typeface="Calibri" pitchFamily="34" charset="0"/>
                <a:ea typeface="Calibri" pitchFamily="34" charset="-122"/>
                <a:cs typeface="Calibri" pitchFamily="34" charset="-120"/>
              </a:rPr>
              <a:t>Manual digitization is not error-free either. What error rate would you accept from a new colleague?</a:t>
            </a:r>
            <a:endParaRPr lang="en-US" sz="1400" dirty="0"/>
          </a:p>
        </p:txBody>
      </p:sp>
      <p:sp>
        <p:nvSpPr>
          <p:cNvPr id="9" name="Shape 6"/>
          <p:cNvSpPr/>
          <p:nvPr/>
        </p:nvSpPr>
        <p:spPr>
          <a:xfrm>
            <a:off x="6263640" y="1691640"/>
            <a:ext cx="5394960" cy="1965960"/>
          </a:xfrm>
          <a:prstGeom prst="roundRect">
            <a:avLst>
              <a:gd name="adj" fmla="val 3721"/>
            </a:avLst>
          </a:prstGeom>
          <a:solidFill>
            <a:srgbClr val="EEF3F7"/>
          </a:solidFill>
          <a:ln w="12700">
            <a:solidFill>
              <a:srgbClr val="EEF3F7"/>
            </a:solidFill>
            <a:prstDash val="solid"/>
          </a:ln>
        </p:spPr>
        <p:txBody>
          <a:bodyPr/>
          <a:lstStyle/>
          <a:p>
            <a:endParaRPr lang="en-US"/>
          </a:p>
        </p:txBody>
      </p:sp>
      <p:sp>
        <p:nvSpPr>
          <p:cNvPr id="10" name="Shape 7"/>
          <p:cNvSpPr/>
          <p:nvPr/>
        </p:nvSpPr>
        <p:spPr>
          <a:xfrm>
            <a:off x="6583680" y="2011680"/>
            <a:ext cx="594360" cy="594360"/>
          </a:xfrm>
          <a:prstGeom prst="ellipse">
            <a:avLst/>
          </a:prstGeom>
          <a:solidFill>
            <a:srgbClr val="A98B3C"/>
          </a:solidFill>
          <a:ln w="12700">
            <a:solidFill>
              <a:srgbClr val="A98B3C"/>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6732270" y="2160270"/>
            <a:ext cx="297180" cy="297180"/>
          </a:xfrm>
          <a:prstGeom prst="rect">
            <a:avLst/>
          </a:prstGeom>
        </p:spPr>
      </p:pic>
      <p:sp>
        <p:nvSpPr>
          <p:cNvPr id="12" name="Text 8"/>
          <p:cNvSpPr txBox="1"/>
          <p:nvPr/>
        </p:nvSpPr>
        <p:spPr>
          <a:xfrm>
            <a:off x="7406640" y="2011680"/>
            <a:ext cx="4023360" cy="594360"/>
          </a:xfrm>
          <a:prstGeom prst="rect">
            <a:avLst/>
          </a:prstGeom>
          <a:noFill/>
          <a:ln/>
        </p:spPr>
        <p:txBody>
          <a:bodyPr wrap="square" lIns="0" tIns="0" rIns="0" bIns="0" rtlCol="0" anchor="ctr"/>
          <a:lstStyle/>
          <a:p>
            <a:pPr marL="0" indent="0">
              <a:buNone/>
            </a:pPr>
            <a:r>
              <a:rPr lang="en-US" sz="1700" b="1" dirty="0">
                <a:solidFill>
                  <a:srgbClr val="2B2E36"/>
                </a:solidFill>
                <a:latin typeface="Calibri" pitchFamily="34" charset="0"/>
                <a:ea typeface="Calibri" pitchFamily="34" charset="-122"/>
                <a:cs typeface="Calibri" pitchFamily="34" charset="-120"/>
              </a:rPr>
              <a:t>Use the latest models</a:t>
            </a:r>
            <a:endParaRPr lang="en-US" sz="1700" dirty="0"/>
          </a:p>
        </p:txBody>
      </p:sp>
      <p:sp>
        <p:nvSpPr>
          <p:cNvPr id="13" name="Text 9"/>
          <p:cNvSpPr txBox="1"/>
          <p:nvPr/>
        </p:nvSpPr>
        <p:spPr>
          <a:xfrm>
            <a:off x="7406640" y="2651760"/>
            <a:ext cx="4023360" cy="914400"/>
          </a:xfrm>
          <a:prstGeom prst="rect">
            <a:avLst/>
          </a:prstGeom>
          <a:noFill/>
          <a:ln/>
        </p:spPr>
        <p:txBody>
          <a:bodyPr wrap="square" lIns="0" tIns="0" rIns="0" bIns="0" rtlCol="0" anchor="t"/>
          <a:lstStyle/>
          <a:p>
            <a:pPr marL="0" indent="0">
              <a:buNone/>
            </a:pPr>
            <a:r>
              <a:rPr lang="en-US" sz="1350" dirty="0">
                <a:solidFill>
                  <a:srgbClr val="50555F"/>
                </a:solidFill>
                <a:latin typeface="Calibri" pitchFamily="34" charset="0"/>
                <a:ea typeface="Calibri" pitchFamily="34" charset="-122"/>
                <a:cs typeface="Calibri" pitchFamily="34" charset="-120"/>
              </a:rPr>
              <a:t>Reliability improves quickly from one generation to the next.</a:t>
            </a:r>
            <a:endParaRPr lang="en-US" sz="1350" dirty="0"/>
          </a:p>
        </p:txBody>
      </p:sp>
      <p:sp>
        <p:nvSpPr>
          <p:cNvPr id="14" name="Shape 10"/>
          <p:cNvSpPr/>
          <p:nvPr/>
        </p:nvSpPr>
        <p:spPr>
          <a:xfrm>
            <a:off x="548640" y="3886200"/>
            <a:ext cx="5394960" cy="1965960"/>
          </a:xfrm>
          <a:prstGeom prst="roundRect">
            <a:avLst>
              <a:gd name="adj" fmla="val 3721"/>
            </a:avLst>
          </a:prstGeom>
          <a:solidFill>
            <a:srgbClr val="EEF3F7"/>
          </a:solidFill>
          <a:ln w="12700">
            <a:solidFill>
              <a:srgbClr val="EEF3F7"/>
            </a:solidFill>
            <a:prstDash val="solid"/>
          </a:ln>
        </p:spPr>
        <p:txBody>
          <a:bodyPr/>
          <a:lstStyle/>
          <a:p>
            <a:endParaRPr lang="en-US"/>
          </a:p>
        </p:txBody>
      </p:sp>
      <p:sp>
        <p:nvSpPr>
          <p:cNvPr id="15" name="Shape 11"/>
          <p:cNvSpPr/>
          <p:nvPr/>
        </p:nvSpPr>
        <p:spPr>
          <a:xfrm>
            <a:off x="868680" y="4206240"/>
            <a:ext cx="594360" cy="594360"/>
          </a:xfrm>
          <a:prstGeom prst="ellipse">
            <a:avLst/>
          </a:prstGeom>
          <a:solidFill>
            <a:srgbClr val="5F8FAF"/>
          </a:solidFill>
          <a:ln w="12700">
            <a:solidFill>
              <a:srgbClr val="5F8FAF"/>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1017270" y="4354830"/>
            <a:ext cx="297180" cy="297180"/>
          </a:xfrm>
          <a:prstGeom prst="rect">
            <a:avLst/>
          </a:prstGeom>
        </p:spPr>
      </p:pic>
      <p:sp>
        <p:nvSpPr>
          <p:cNvPr id="17" name="Text 12"/>
          <p:cNvSpPr txBox="1"/>
          <p:nvPr/>
        </p:nvSpPr>
        <p:spPr>
          <a:xfrm>
            <a:off x="1691640" y="4206240"/>
            <a:ext cx="4023360" cy="594360"/>
          </a:xfrm>
          <a:prstGeom prst="rect">
            <a:avLst/>
          </a:prstGeom>
          <a:noFill/>
          <a:ln/>
        </p:spPr>
        <p:txBody>
          <a:bodyPr wrap="square" lIns="0" tIns="0" rIns="0" bIns="0" rtlCol="0" anchor="ctr"/>
          <a:lstStyle/>
          <a:p>
            <a:pPr marL="0" indent="0">
              <a:buNone/>
            </a:pPr>
            <a:r>
              <a:rPr lang="en-US" sz="1700" b="1" dirty="0">
                <a:solidFill>
                  <a:srgbClr val="2B2E36"/>
                </a:solidFill>
                <a:latin typeface="Calibri" pitchFamily="34" charset="0"/>
                <a:ea typeface="Calibri" pitchFamily="34" charset="-122"/>
                <a:cs typeface="Calibri" pitchFamily="34" charset="-120"/>
              </a:rPr>
              <a:t>Build in verification</a:t>
            </a:r>
            <a:endParaRPr lang="en-US" sz="1700" dirty="0"/>
          </a:p>
        </p:txBody>
      </p:sp>
      <p:sp>
        <p:nvSpPr>
          <p:cNvPr id="18" name="Text 13"/>
          <p:cNvSpPr txBox="1"/>
          <p:nvPr/>
        </p:nvSpPr>
        <p:spPr>
          <a:xfrm>
            <a:off x="1691640" y="4846320"/>
            <a:ext cx="4023360" cy="914400"/>
          </a:xfrm>
          <a:prstGeom prst="rect">
            <a:avLst/>
          </a:prstGeom>
          <a:noFill/>
          <a:ln/>
        </p:spPr>
        <p:txBody>
          <a:bodyPr wrap="square" lIns="0" tIns="0" rIns="0" bIns="0" rtlCol="0" anchor="t"/>
          <a:lstStyle/>
          <a:p>
            <a:pPr marL="0" indent="0">
              <a:buNone/>
            </a:pPr>
            <a:r>
              <a:rPr lang="en-US" sz="1350" dirty="0">
                <a:solidFill>
                  <a:srgbClr val="50555F"/>
                </a:solidFill>
                <a:latin typeface="Calibri" pitchFamily="34" charset="0"/>
                <a:ea typeface="Calibri" pitchFamily="34" charset="-122"/>
                <a:cs typeface="Calibri" pitchFamily="34" charset="-120"/>
              </a:rPr>
              <a:t>Authority checks, row counts in every report, and a reviewed unresolved list.</a:t>
            </a:r>
            <a:endParaRPr lang="en-US" sz="1350" dirty="0"/>
          </a:p>
        </p:txBody>
      </p:sp>
      <p:sp>
        <p:nvSpPr>
          <p:cNvPr id="19" name="Shape 14"/>
          <p:cNvSpPr/>
          <p:nvPr/>
        </p:nvSpPr>
        <p:spPr>
          <a:xfrm>
            <a:off x="6263640" y="3886200"/>
            <a:ext cx="5394960" cy="1965960"/>
          </a:xfrm>
          <a:prstGeom prst="roundRect">
            <a:avLst>
              <a:gd name="adj" fmla="val 3721"/>
            </a:avLst>
          </a:prstGeom>
          <a:solidFill>
            <a:srgbClr val="EEF3F7"/>
          </a:solidFill>
          <a:ln w="12700">
            <a:solidFill>
              <a:srgbClr val="EEF3F7"/>
            </a:solidFill>
            <a:prstDash val="solid"/>
          </a:ln>
        </p:spPr>
        <p:txBody>
          <a:bodyPr/>
          <a:lstStyle/>
          <a:p>
            <a:endParaRPr lang="en-US"/>
          </a:p>
        </p:txBody>
      </p:sp>
      <p:sp>
        <p:nvSpPr>
          <p:cNvPr id="20" name="Shape 15"/>
          <p:cNvSpPr/>
          <p:nvPr/>
        </p:nvSpPr>
        <p:spPr>
          <a:xfrm>
            <a:off x="6583680" y="4206240"/>
            <a:ext cx="594360" cy="594360"/>
          </a:xfrm>
          <a:prstGeom prst="ellipse">
            <a:avLst/>
          </a:prstGeom>
          <a:solidFill>
            <a:srgbClr val="A98B3C"/>
          </a:solidFill>
          <a:ln w="12700">
            <a:solidFill>
              <a:srgbClr val="A98B3C"/>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732270" y="4354830"/>
            <a:ext cx="297180" cy="297180"/>
          </a:xfrm>
          <a:prstGeom prst="rect">
            <a:avLst/>
          </a:prstGeom>
        </p:spPr>
      </p:pic>
      <p:sp>
        <p:nvSpPr>
          <p:cNvPr id="22" name="Text 16"/>
          <p:cNvSpPr txBox="1"/>
          <p:nvPr/>
        </p:nvSpPr>
        <p:spPr>
          <a:xfrm>
            <a:off x="7406640" y="4206240"/>
            <a:ext cx="4023360" cy="594360"/>
          </a:xfrm>
          <a:prstGeom prst="rect">
            <a:avLst/>
          </a:prstGeom>
          <a:noFill/>
          <a:ln/>
        </p:spPr>
        <p:txBody>
          <a:bodyPr wrap="square" lIns="0" tIns="0" rIns="0" bIns="0" rtlCol="0" anchor="ctr"/>
          <a:lstStyle/>
          <a:p>
            <a:pPr marL="0" indent="0">
              <a:buNone/>
            </a:pPr>
            <a:r>
              <a:rPr lang="en-US" sz="1700" b="1" dirty="0">
                <a:solidFill>
                  <a:srgbClr val="2B2E36"/>
                </a:solidFill>
                <a:latin typeface="Calibri" pitchFamily="34" charset="0"/>
                <a:ea typeface="Calibri" pitchFamily="34" charset="-122"/>
                <a:cs typeface="Calibri" pitchFamily="34" charset="-120"/>
              </a:rPr>
              <a:t>Compare runs</a:t>
            </a:r>
            <a:endParaRPr lang="en-US" sz="1700" dirty="0"/>
          </a:p>
        </p:txBody>
      </p:sp>
      <p:sp>
        <p:nvSpPr>
          <p:cNvPr id="23" name="Text 17"/>
          <p:cNvSpPr txBox="1"/>
          <p:nvPr/>
        </p:nvSpPr>
        <p:spPr>
          <a:xfrm>
            <a:off x="7406640" y="4846320"/>
            <a:ext cx="4023360" cy="914400"/>
          </a:xfrm>
          <a:prstGeom prst="rect">
            <a:avLst/>
          </a:prstGeom>
          <a:noFill/>
          <a:ln/>
        </p:spPr>
        <p:txBody>
          <a:bodyPr wrap="square" lIns="0" tIns="0" rIns="0" bIns="0" rtlCol="0" anchor="t"/>
          <a:lstStyle/>
          <a:p>
            <a:pPr marL="0" indent="0">
              <a:buNone/>
            </a:pPr>
            <a:r>
              <a:rPr lang="en-US" sz="1350" dirty="0">
                <a:solidFill>
                  <a:srgbClr val="50555F"/>
                </a:solidFill>
                <a:latin typeface="Calibri" pitchFamily="34" charset="0"/>
                <a:ea typeface="Calibri" pitchFamily="34" charset="-122"/>
                <a:cs typeface="Calibri" pitchFamily="34" charset="-120"/>
              </a:rPr>
              <a:t>Run the same task with different levels of context and instruction, and compare.</a:t>
            </a:r>
            <a:endParaRPr lang="en-US" sz="1350" dirty="0"/>
          </a:p>
        </p:txBody>
      </p:sp>
      <p:sp>
        <p:nvSpPr>
          <p:cNvPr id="24" name="Text 18"/>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D939D"/>
                </a:solidFill>
                <a:latin typeface="Calibri" pitchFamily="34" charset="0"/>
                <a:ea typeface="Calibri" pitchFamily="34" charset="-122"/>
                <a:cs typeface="Calibri" pitchFamily="34" charset="-120"/>
              </a:rPr>
              <a:t>WKS10  ·  Building a Repeatable AI Pipeline</a:t>
            </a:r>
            <a:endParaRPr lang="en-US" sz="1000" dirty="0"/>
          </a:p>
        </p:txBody>
      </p:sp>
      <p:sp>
        <p:nvSpPr>
          <p:cNvPr id="25" name="Text 19"/>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8D939D"/>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3">
    <p:bg>
      <p:bgPr>
        <a:solidFill>
          <a:srgbClr val="2B2E36"/>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t"/>
          <a:lstStyle/>
          <a:p>
            <a:pPr marL="0" indent="0">
              <a:buNone/>
            </a:pPr>
            <a:r>
              <a:rPr lang="en-US" sz="1200" b="1" kern="0" spc="100" dirty="0">
                <a:solidFill>
                  <a:srgbClr val="DCC37A"/>
                </a:solidFill>
                <a:latin typeface="Calibri" pitchFamily="34" charset="0"/>
                <a:ea typeface="Calibri" pitchFamily="34" charset="-122"/>
                <a:cs typeface="Calibri" pitchFamily="34" charset="-120"/>
              </a:rPr>
              <a:t>WRAP-UP</a:t>
            </a:r>
            <a:endParaRPr lang="en-US" sz="1200" dirty="0"/>
          </a:p>
        </p:txBody>
      </p:sp>
      <p:sp>
        <p:nvSpPr>
          <p:cNvPr id="3" name="Text 1"/>
          <p:cNvSpPr txBox="1"/>
          <p:nvPr/>
        </p:nvSpPr>
        <p:spPr>
          <a:xfrm>
            <a:off x="548640" y="822960"/>
            <a:ext cx="10972800" cy="731520"/>
          </a:xfrm>
          <a:prstGeom prst="rect">
            <a:avLst/>
          </a:prstGeom>
          <a:noFill/>
          <a:ln/>
        </p:spPr>
        <p:txBody>
          <a:bodyPr wrap="square" lIns="0" tIns="0" rIns="0" bIns="0" rtlCol="0" anchor="ctr"/>
          <a:lstStyle/>
          <a:p>
            <a:pPr marL="0" indent="0">
              <a:buNone/>
            </a:pPr>
            <a:r>
              <a:rPr lang="en-US" sz="3600" b="1" dirty="0">
                <a:solidFill>
                  <a:srgbClr val="FFFFFF"/>
                </a:solidFill>
                <a:latin typeface="Raleway" pitchFamily="34" charset="0"/>
                <a:ea typeface="Raleway" pitchFamily="34" charset="-122"/>
                <a:cs typeface="Raleway" pitchFamily="34" charset="-120"/>
              </a:rPr>
              <a:t>Back to your questions</a:t>
            </a:r>
            <a:endParaRPr lang="en-US" sz="3600" dirty="0"/>
          </a:p>
        </p:txBody>
      </p:sp>
      <p:sp>
        <p:nvSpPr>
          <p:cNvPr id="4" name="Shape 2"/>
          <p:cNvSpPr/>
          <p:nvPr/>
        </p:nvSpPr>
        <p:spPr>
          <a:xfrm>
            <a:off x="548640" y="1828800"/>
            <a:ext cx="5394960" cy="3291840"/>
          </a:xfrm>
          <a:prstGeom prst="roundRect">
            <a:avLst>
              <a:gd name="adj" fmla="val 2222"/>
            </a:avLst>
          </a:prstGeom>
          <a:solidFill>
            <a:srgbClr val="383C46"/>
          </a:solidFill>
          <a:ln w="12700">
            <a:solidFill>
              <a:srgbClr val="383C46"/>
            </a:solidFill>
            <a:prstDash val="solid"/>
          </a:ln>
        </p:spPr>
        <p:txBody>
          <a:bodyPr/>
          <a:lstStyle/>
          <a:p>
            <a:endParaRPr lang="en-US"/>
          </a:p>
        </p:txBody>
      </p:sp>
      <p:sp>
        <p:nvSpPr>
          <p:cNvPr id="5" name="Shape 3"/>
          <p:cNvSpPr/>
          <p:nvPr/>
        </p:nvSpPr>
        <p:spPr>
          <a:xfrm>
            <a:off x="6263640" y="1828800"/>
            <a:ext cx="5376672" cy="3291840"/>
          </a:xfrm>
          <a:prstGeom prst="roundRect">
            <a:avLst>
              <a:gd name="adj" fmla="val 2222"/>
            </a:avLst>
          </a:prstGeom>
          <a:solidFill>
            <a:srgbClr val="383C46"/>
          </a:solidFill>
          <a:ln w="12700">
            <a:solidFill>
              <a:srgbClr val="383C46"/>
            </a:solidFill>
            <a:prstDash val="solid"/>
          </a:ln>
        </p:spPr>
        <p:txBody>
          <a:bodyPr/>
          <a:lstStyle/>
          <a:p>
            <a:endParaRPr lang="en-US"/>
          </a:p>
        </p:txBody>
      </p:sp>
      <p:sp>
        <p:nvSpPr>
          <p:cNvPr id="6" name="Text 4"/>
          <p:cNvSpPr txBox="1"/>
          <p:nvPr/>
        </p:nvSpPr>
        <p:spPr>
          <a:xfrm>
            <a:off x="914400" y="2103120"/>
            <a:ext cx="4572000" cy="274320"/>
          </a:xfrm>
          <a:prstGeom prst="rect">
            <a:avLst/>
          </a:prstGeom>
          <a:noFill/>
          <a:ln/>
        </p:spPr>
        <p:txBody>
          <a:bodyPr wrap="square" lIns="0" tIns="0" rIns="0" bIns="0" rtlCol="0" anchor="t"/>
          <a:lstStyle/>
          <a:p>
            <a:pPr marL="0" indent="0">
              <a:buNone/>
            </a:pPr>
            <a:r>
              <a:rPr lang="en-US" sz="1100" b="1" kern="0" spc="100" dirty="0">
                <a:solidFill>
                  <a:srgbClr val="9CBFD6"/>
                </a:solidFill>
                <a:latin typeface="Calibri" pitchFamily="34" charset="0"/>
                <a:ea typeface="Calibri" pitchFamily="34" charset="-122"/>
                <a:cs typeface="Calibri" pitchFamily="34" charset="-120"/>
              </a:rPr>
              <a:t>WHAT YOU TAKE HOME</a:t>
            </a:r>
            <a:endParaRPr lang="en-US" sz="1100" dirty="0"/>
          </a:p>
        </p:txBody>
      </p:sp>
      <p:sp>
        <p:nvSpPr>
          <p:cNvPr id="7" name="Text 5"/>
          <p:cNvSpPr/>
          <p:nvPr/>
        </p:nvSpPr>
        <p:spPr>
          <a:xfrm>
            <a:off x="914400" y="2468880"/>
            <a:ext cx="4754880" cy="31089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D4D8DE"/>
                </a:solidFill>
                <a:latin typeface="Calibri" pitchFamily="34" charset="0"/>
                <a:ea typeface="Calibri" pitchFamily="34" charset="-122"/>
                <a:cs typeface="Calibri" pitchFamily="34" charset="-120"/>
              </a:rPr>
              <a:t>A repeatable pipeline, not a one-off result</a:t>
            </a:r>
            <a:endParaRPr lang="en-US" sz="1500" dirty="0"/>
          </a:p>
          <a:p>
            <a:pPr marL="203200" indent="-203200">
              <a:spcAft>
                <a:spcPts val="800"/>
              </a:spcAft>
              <a:buSzPct val="100000"/>
              <a:buChar char="•"/>
            </a:pPr>
            <a:r>
              <a:rPr lang="en-US" sz="1500" dirty="0">
                <a:solidFill>
                  <a:srgbClr val="D4D8DE"/>
                </a:solidFill>
                <a:latin typeface="Calibri" pitchFamily="34" charset="0"/>
                <a:ea typeface="Calibri" pitchFamily="34" charset="-122"/>
                <a:cs typeface="Calibri" pitchFamily="34" charset="-120"/>
              </a:rPr>
              <a:t>The Standard Process, as eight prompts you can reuse</a:t>
            </a:r>
            <a:endParaRPr lang="en-US" sz="1500" dirty="0"/>
          </a:p>
          <a:p>
            <a:pPr marL="203200" indent="-203200">
              <a:spcAft>
                <a:spcPts val="800"/>
              </a:spcAft>
              <a:buSzPct val="100000"/>
              <a:buChar char="•"/>
            </a:pPr>
            <a:r>
              <a:rPr lang="en-US" sz="1500" dirty="0">
                <a:solidFill>
                  <a:srgbClr val="D4D8DE"/>
                </a:solidFill>
                <a:latin typeface="Calibri" pitchFamily="34" charset="0"/>
                <a:ea typeface="Calibri" pitchFamily="34" charset="-122"/>
                <a:cs typeface="Calibri" pitchFamily="34" charset="-120"/>
              </a:rPr>
              <a:t>Mapping files and reports that record every AI decision</a:t>
            </a:r>
            <a:endParaRPr lang="en-US" sz="1500" dirty="0"/>
          </a:p>
          <a:p>
            <a:pPr marL="203200" indent="-203200">
              <a:spcAft>
                <a:spcPts val="800"/>
              </a:spcAft>
              <a:buSzPct val="100000"/>
              <a:buChar char="•"/>
            </a:pPr>
            <a:r>
              <a:rPr lang="en-US" sz="1500" dirty="0">
                <a:solidFill>
                  <a:srgbClr val="D4D8DE"/>
                </a:solidFill>
                <a:latin typeface="Calibri" pitchFamily="34" charset="0"/>
                <a:ea typeface="Calibri" pitchFamily="34" charset="-122"/>
                <a:cs typeface="Calibri" pitchFamily="34" charset="-120"/>
              </a:rPr>
              <a:t>Unresolved lists that show where people are still needed</a:t>
            </a:r>
            <a:endParaRPr lang="en-US" sz="1500" dirty="0"/>
          </a:p>
        </p:txBody>
      </p:sp>
      <p:sp>
        <p:nvSpPr>
          <p:cNvPr id="8" name="Text 6"/>
          <p:cNvSpPr txBox="1"/>
          <p:nvPr/>
        </p:nvSpPr>
        <p:spPr>
          <a:xfrm>
            <a:off x="6629400" y="2103120"/>
            <a:ext cx="4572000" cy="274320"/>
          </a:xfrm>
          <a:prstGeom prst="rect">
            <a:avLst/>
          </a:prstGeom>
          <a:noFill/>
          <a:ln/>
        </p:spPr>
        <p:txBody>
          <a:bodyPr wrap="square" lIns="0" tIns="0" rIns="0" bIns="0" rtlCol="0" anchor="t"/>
          <a:lstStyle/>
          <a:p>
            <a:pPr marL="0" indent="0">
              <a:buNone/>
            </a:pPr>
            <a:r>
              <a:rPr lang="en-US" sz="1100" b="1" kern="0" spc="100" dirty="0">
                <a:solidFill>
                  <a:srgbClr val="DCC37A"/>
                </a:solidFill>
                <a:latin typeface="Calibri" pitchFamily="34" charset="0"/>
                <a:ea typeface="Calibri" pitchFamily="34" charset="-122"/>
                <a:cs typeface="Calibri" pitchFamily="34" charset="-120"/>
              </a:rPr>
              <a:t>YOUR QUESTIONS FROM THE START</a:t>
            </a:r>
            <a:endParaRPr lang="en-US" sz="1100" dirty="0"/>
          </a:p>
        </p:txBody>
      </p:sp>
      <p:sp>
        <p:nvSpPr>
          <p:cNvPr id="9" name="Text 7"/>
          <p:cNvSpPr/>
          <p:nvPr/>
        </p:nvSpPr>
        <p:spPr>
          <a:xfrm>
            <a:off x="6629400" y="2468880"/>
            <a:ext cx="4663440" cy="20116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D4D8DE"/>
                </a:solidFill>
                <a:latin typeface="Calibri" pitchFamily="34" charset="0"/>
                <a:ea typeface="Calibri" pitchFamily="34" charset="-122"/>
                <a:cs typeface="Calibri" pitchFamily="34" charset="-120"/>
              </a:rPr>
              <a:t>Which did today’s exercise answer?</a:t>
            </a:r>
            <a:endParaRPr lang="en-US" sz="1500" dirty="0"/>
          </a:p>
          <a:p>
            <a:pPr marL="203200" indent="-203200">
              <a:spcAft>
                <a:spcPts val="800"/>
              </a:spcAft>
              <a:buSzPct val="100000"/>
              <a:buChar char="•"/>
            </a:pPr>
            <a:r>
              <a:rPr lang="en-US" sz="1500" dirty="0">
                <a:solidFill>
                  <a:srgbClr val="D4D8DE"/>
                </a:solidFill>
                <a:latin typeface="Calibri" pitchFamily="34" charset="0"/>
                <a:ea typeface="Calibri" pitchFamily="34" charset="-122"/>
                <a:cs typeface="Calibri" pitchFamily="34" charset="-120"/>
              </a:rPr>
              <a:t>Which need a different kind of test?</a:t>
            </a:r>
            <a:endParaRPr lang="en-US" sz="1500" dirty="0"/>
          </a:p>
          <a:p>
            <a:pPr marL="203200" indent="-203200">
              <a:spcAft>
                <a:spcPts val="800"/>
              </a:spcAft>
              <a:buSzPct val="100000"/>
              <a:buChar char="•"/>
            </a:pPr>
            <a:r>
              <a:rPr lang="en-US" sz="1500" dirty="0">
                <a:solidFill>
                  <a:srgbClr val="D4D8DE"/>
                </a:solidFill>
                <a:latin typeface="Calibri" pitchFamily="34" charset="0"/>
                <a:ea typeface="Calibri" pitchFamily="34" charset="-122"/>
                <a:cs typeface="Calibri" pitchFamily="34" charset="-120"/>
              </a:rPr>
              <a:t>Which should the community explore together?</a:t>
            </a:r>
            <a:endParaRPr lang="en-US" sz="1500" dirty="0"/>
          </a:p>
        </p:txBody>
      </p:sp>
      <p:sp>
        <p:nvSpPr>
          <p:cNvPr id="10" name="Text 8"/>
          <p:cNvSpPr txBox="1"/>
          <p:nvPr/>
        </p:nvSpPr>
        <p:spPr>
          <a:xfrm>
            <a:off x="6629400" y="3977640"/>
            <a:ext cx="4663440" cy="914400"/>
          </a:xfrm>
          <a:prstGeom prst="rect">
            <a:avLst/>
          </a:prstGeom>
          <a:noFill/>
          <a:ln/>
        </p:spPr>
        <p:txBody>
          <a:bodyPr wrap="square" lIns="0" tIns="0" rIns="0" bIns="0" rtlCol="0" anchor="t"/>
          <a:lstStyle/>
          <a:p>
            <a:pPr marL="0" indent="0">
              <a:buNone/>
            </a:pPr>
            <a:r>
              <a:rPr lang="en-US" sz="1300" i="1" dirty="0">
                <a:solidFill>
                  <a:srgbClr val="B3B8C2"/>
                </a:solidFill>
                <a:latin typeface="Calibri" pitchFamily="34" charset="0"/>
                <a:ea typeface="Calibri" pitchFamily="34" charset="-122"/>
                <a:cs typeface="Calibri" pitchFamily="34" charset="-120"/>
              </a:rPr>
              <a:t>The Mineralogy Extension is heading for ratification: your feedback on the compound specimen model is welcome.</a:t>
            </a:r>
            <a:endParaRPr lang="en-US" sz="1300" dirty="0"/>
          </a:p>
        </p:txBody>
      </p:sp>
      <p:sp>
        <p:nvSpPr>
          <p:cNvPr id="12" name="Text 10"/>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B3B8C2"/>
                </a:solidFill>
                <a:latin typeface="Calibri" pitchFamily="34" charset="0"/>
                <a:ea typeface="Calibri" pitchFamily="34" charset="-122"/>
                <a:cs typeface="Calibri" pitchFamily="34" charset="-120"/>
              </a:rPr>
              <a:t>WKS10  ·  Building a Repeatable AI Pipeline</a:t>
            </a:r>
            <a:endParaRPr lang="en-US" sz="1000" dirty="0"/>
          </a:p>
        </p:txBody>
      </p:sp>
      <p:sp>
        <p:nvSpPr>
          <p:cNvPr id="13" name="Text 1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B3B8C2"/>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4">
    <p:bg>
      <p:bgPr>
        <a:solidFill>
          <a:srgbClr val="2B2E36"/>
        </a:solidFill>
        <a:effectLst/>
      </p:bgPr>
    </p:bg>
    <p:spTree>
      <p:nvGrpSpPr>
        <p:cNvPr id="1" name=""/>
        <p:cNvGrpSpPr/>
        <p:nvPr/>
      </p:nvGrpSpPr>
      <p:grpSpPr>
        <a:xfrm>
          <a:off x="0" y="0"/>
          <a:ext cx="0" cy="0"/>
          <a:chOff x="0" y="0"/>
          <a:chExt cx="0" cy="0"/>
        </a:xfrm>
      </p:grpSpPr>
      <p:pic>
        <p:nvPicPr>
          <p:cNvPr id="2" name="Image 0" descr="/home/claude/oslo_logo.png"/>
          <p:cNvPicPr>
            <a:picLocks noChangeAspect="1"/>
          </p:cNvPicPr>
          <p:nvPr/>
        </p:nvPicPr>
        <p:blipFill>
          <a:blip r:embed="rId3"/>
          <a:stretch>
            <a:fillRect/>
          </a:stretch>
        </p:blipFill>
        <p:spPr>
          <a:xfrm>
            <a:off x="10500055" y="365760"/>
            <a:ext cx="1143000" cy="1143000"/>
          </a:xfrm>
          <a:prstGeom prst="rect">
            <a:avLst/>
          </a:prstGeom>
        </p:spPr>
      </p:pic>
      <p:sp>
        <p:nvSpPr>
          <p:cNvPr id="3" name="Text 0"/>
          <p:cNvSpPr txBox="1"/>
          <p:nvPr/>
        </p:nvSpPr>
        <p:spPr>
          <a:xfrm>
            <a:off x="548640" y="1188720"/>
            <a:ext cx="9144000" cy="914400"/>
          </a:xfrm>
          <a:prstGeom prst="rect">
            <a:avLst/>
          </a:prstGeom>
          <a:noFill/>
          <a:ln/>
        </p:spPr>
        <p:txBody>
          <a:bodyPr wrap="square" lIns="0" tIns="0" rIns="0" bIns="0" rtlCol="0" anchor="ctr"/>
          <a:lstStyle/>
          <a:p>
            <a:pPr marL="0" indent="0">
              <a:buNone/>
            </a:pPr>
            <a:r>
              <a:rPr lang="en-US" sz="4800" b="1" dirty="0">
                <a:solidFill>
                  <a:srgbClr val="FFFFFF"/>
                </a:solidFill>
                <a:latin typeface="Raleway" pitchFamily="34" charset="0"/>
                <a:ea typeface="Raleway" pitchFamily="34" charset="-122"/>
                <a:cs typeface="Raleway" pitchFamily="34" charset="-120"/>
              </a:rPr>
              <a:t>Thank you</a:t>
            </a:r>
            <a:endParaRPr lang="en-US" sz="4800" dirty="0"/>
          </a:p>
        </p:txBody>
      </p:sp>
      <p:sp>
        <p:nvSpPr>
          <p:cNvPr id="5" name="Shape 2"/>
          <p:cNvSpPr/>
          <p:nvPr/>
        </p:nvSpPr>
        <p:spPr>
          <a:xfrm>
            <a:off x="548640" y="3154680"/>
            <a:ext cx="548640" cy="548640"/>
          </a:xfrm>
          <a:prstGeom prst="ellipse">
            <a:avLst/>
          </a:prstGeom>
          <a:solidFill>
            <a:srgbClr val="5F8FAF"/>
          </a:solidFill>
          <a:ln w="12700">
            <a:solidFill>
              <a:srgbClr val="5F8FAF"/>
            </a:solidFill>
            <a:prstDash val="solid"/>
          </a:ln>
        </p:spPr>
        <p:txBody>
          <a:bodyPr/>
          <a:lstStyle/>
          <a:p>
            <a:endParaRPr lang="en-US"/>
          </a:p>
        </p:txBody>
      </p:sp>
      <p:pic>
        <p:nvPicPr>
          <p:cNvPr id="6" name="Image 1" descr="preencoded.png"/>
          <p:cNvPicPr>
            <a:picLocks noChangeAspect="1"/>
          </p:cNvPicPr>
          <p:nvPr/>
        </p:nvPicPr>
        <p:blipFill>
          <a:blip r:embed="rId4"/>
          <a:stretch>
            <a:fillRect/>
          </a:stretch>
        </p:blipFill>
        <p:spPr>
          <a:xfrm>
            <a:off x="685800" y="3291840"/>
            <a:ext cx="274320" cy="274320"/>
          </a:xfrm>
          <a:prstGeom prst="rect">
            <a:avLst/>
          </a:prstGeom>
        </p:spPr>
      </p:pic>
      <p:sp>
        <p:nvSpPr>
          <p:cNvPr id="7" name="Text 3"/>
          <p:cNvSpPr txBox="1"/>
          <p:nvPr/>
        </p:nvSpPr>
        <p:spPr>
          <a:xfrm>
            <a:off x="1325880" y="3136392"/>
            <a:ext cx="5486400" cy="292608"/>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Workshop repository</a:t>
            </a:r>
            <a:endParaRPr lang="en-US" sz="1400" dirty="0"/>
          </a:p>
        </p:txBody>
      </p:sp>
      <p:sp>
        <p:nvSpPr>
          <p:cNvPr id="8" name="Text 4"/>
          <p:cNvSpPr txBox="1"/>
          <p:nvPr/>
        </p:nvSpPr>
        <p:spPr>
          <a:xfrm>
            <a:off x="1325880" y="3429000"/>
            <a:ext cx="7315200" cy="292608"/>
          </a:xfrm>
          <a:prstGeom prst="rect">
            <a:avLst/>
          </a:prstGeom>
          <a:noFill/>
          <a:ln/>
        </p:spPr>
        <p:txBody>
          <a:bodyPr wrap="square" lIns="0" tIns="0" rIns="0" bIns="0" rtlCol="0" anchor="t"/>
          <a:lstStyle/>
          <a:p>
            <a:pPr marL="0" indent="0">
              <a:buNone/>
            </a:pPr>
            <a:r>
              <a:rPr lang="en-US" sz="1400" dirty="0">
                <a:solidFill>
                  <a:srgbClr val="B3B8C2"/>
                </a:solidFill>
                <a:latin typeface="Calibri" pitchFamily="34" charset="0"/>
                <a:ea typeface="Calibri" pitchFamily="34" charset="-122"/>
                <a:cs typeface="Calibri" pitchFamily="34" charset="-120"/>
              </a:rPr>
              <a:t>github.com/ben-norton/tdwg2026-wks10</a:t>
            </a:r>
            <a:endParaRPr lang="en-US" sz="1400" dirty="0"/>
          </a:p>
        </p:txBody>
      </p:sp>
      <p:sp>
        <p:nvSpPr>
          <p:cNvPr id="9" name="Shape 5"/>
          <p:cNvSpPr/>
          <p:nvPr/>
        </p:nvSpPr>
        <p:spPr>
          <a:xfrm>
            <a:off x="548640" y="4023360"/>
            <a:ext cx="548640" cy="548640"/>
          </a:xfrm>
          <a:prstGeom prst="ellipse">
            <a:avLst/>
          </a:prstGeom>
          <a:solidFill>
            <a:srgbClr val="C4A654"/>
          </a:solidFill>
          <a:ln w="12700">
            <a:solidFill>
              <a:srgbClr val="C4A654"/>
            </a:solidFill>
            <a:prstDash val="solid"/>
          </a:ln>
        </p:spPr>
        <p:txBody>
          <a:bodyPr/>
          <a:lstStyle/>
          <a:p>
            <a:endParaRPr lang="en-US"/>
          </a:p>
        </p:txBody>
      </p:sp>
      <p:pic>
        <p:nvPicPr>
          <p:cNvPr id="10" name="Image 2" descr="preencoded.png"/>
          <p:cNvPicPr>
            <a:picLocks noChangeAspect="1"/>
          </p:cNvPicPr>
          <p:nvPr/>
        </p:nvPicPr>
        <p:blipFill>
          <a:blip r:embed="rId5"/>
          <a:stretch>
            <a:fillRect/>
          </a:stretch>
        </p:blipFill>
        <p:spPr>
          <a:xfrm>
            <a:off x="685800" y="4160520"/>
            <a:ext cx="274320" cy="274320"/>
          </a:xfrm>
          <a:prstGeom prst="rect">
            <a:avLst/>
          </a:prstGeom>
        </p:spPr>
      </p:pic>
      <p:sp>
        <p:nvSpPr>
          <p:cNvPr id="11" name="Text 6"/>
          <p:cNvSpPr txBox="1"/>
          <p:nvPr/>
        </p:nvSpPr>
        <p:spPr>
          <a:xfrm>
            <a:off x="1325880" y="4005072"/>
            <a:ext cx="5486400" cy="292608"/>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Exercise Guide</a:t>
            </a:r>
            <a:endParaRPr lang="en-US" sz="1400" dirty="0"/>
          </a:p>
        </p:txBody>
      </p:sp>
      <p:sp>
        <p:nvSpPr>
          <p:cNvPr id="12" name="Text 7"/>
          <p:cNvSpPr txBox="1"/>
          <p:nvPr/>
        </p:nvSpPr>
        <p:spPr>
          <a:xfrm>
            <a:off x="1325880" y="4297680"/>
            <a:ext cx="7315200" cy="292608"/>
          </a:xfrm>
          <a:prstGeom prst="rect">
            <a:avLst/>
          </a:prstGeom>
          <a:noFill/>
          <a:ln/>
        </p:spPr>
        <p:txBody>
          <a:bodyPr wrap="square" lIns="0" tIns="0" rIns="0" bIns="0" rtlCol="0" anchor="t"/>
          <a:lstStyle/>
          <a:p>
            <a:pPr marL="0" indent="0">
              <a:buNone/>
            </a:pPr>
            <a:r>
              <a:rPr lang="en-US" sz="1400" dirty="0">
                <a:solidFill>
                  <a:srgbClr val="B3B8C2"/>
                </a:solidFill>
                <a:latin typeface="Calibri" pitchFamily="34" charset="0"/>
                <a:ea typeface="Calibri" pitchFamily="34" charset="-122"/>
                <a:cs typeface="Calibri" pitchFamily="34" charset="-120"/>
              </a:rPr>
              <a:t>docs/WKS10_Exercise_Guide.docx</a:t>
            </a:r>
            <a:endParaRPr lang="en-US" sz="1400" dirty="0"/>
          </a:p>
        </p:txBody>
      </p:sp>
      <p:sp>
        <p:nvSpPr>
          <p:cNvPr id="13" name="Shape 8"/>
          <p:cNvSpPr/>
          <p:nvPr/>
        </p:nvSpPr>
        <p:spPr>
          <a:xfrm>
            <a:off x="548640" y="4892040"/>
            <a:ext cx="548640" cy="548640"/>
          </a:xfrm>
          <a:prstGeom prst="ellipse">
            <a:avLst/>
          </a:prstGeom>
          <a:solidFill>
            <a:srgbClr val="5F8FAF"/>
          </a:solidFill>
          <a:ln w="12700">
            <a:solidFill>
              <a:srgbClr val="5F8FAF"/>
            </a:solidFill>
            <a:prstDash val="solid"/>
          </a:ln>
        </p:spPr>
        <p:txBody>
          <a:bodyPr/>
          <a:lstStyle/>
          <a:p>
            <a:endParaRPr lang="en-US"/>
          </a:p>
        </p:txBody>
      </p:sp>
      <p:pic>
        <p:nvPicPr>
          <p:cNvPr id="14" name="Image 3" descr="preencoded.png"/>
          <p:cNvPicPr>
            <a:picLocks noChangeAspect="1"/>
          </p:cNvPicPr>
          <p:nvPr/>
        </p:nvPicPr>
        <p:blipFill>
          <a:blip r:embed="rId6"/>
          <a:stretch>
            <a:fillRect/>
          </a:stretch>
        </p:blipFill>
        <p:spPr>
          <a:xfrm>
            <a:off x="685800" y="5029200"/>
            <a:ext cx="274320" cy="274320"/>
          </a:xfrm>
          <a:prstGeom prst="rect">
            <a:avLst/>
          </a:prstGeom>
        </p:spPr>
      </p:pic>
      <p:sp>
        <p:nvSpPr>
          <p:cNvPr id="15" name="Text 9"/>
          <p:cNvSpPr txBox="1"/>
          <p:nvPr/>
        </p:nvSpPr>
        <p:spPr>
          <a:xfrm>
            <a:off x="1325880" y="4873752"/>
            <a:ext cx="5486400" cy="292608"/>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Contact</a:t>
            </a:r>
            <a:endParaRPr lang="en-US" sz="1400" dirty="0"/>
          </a:p>
        </p:txBody>
      </p:sp>
      <p:sp>
        <p:nvSpPr>
          <p:cNvPr id="16" name="Text 10"/>
          <p:cNvSpPr txBox="1"/>
          <p:nvPr/>
        </p:nvSpPr>
        <p:spPr>
          <a:xfrm>
            <a:off x="1325880" y="5166360"/>
            <a:ext cx="7315200" cy="292608"/>
          </a:xfrm>
          <a:prstGeom prst="rect">
            <a:avLst/>
          </a:prstGeom>
          <a:noFill/>
          <a:ln/>
        </p:spPr>
        <p:txBody>
          <a:bodyPr wrap="square" lIns="0" tIns="0" rIns="0" bIns="0" rtlCol="0" anchor="t"/>
          <a:lstStyle/>
          <a:p>
            <a:pPr marL="0" indent="0">
              <a:buNone/>
            </a:pPr>
            <a:r>
              <a:rPr lang="en-US" sz="1400" dirty="0">
                <a:solidFill>
                  <a:srgbClr val="B3B8C2"/>
                </a:solidFill>
                <a:latin typeface="Calibri" pitchFamily="34" charset="0"/>
                <a:ea typeface="Calibri" pitchFamily="34" charset="-122"/>
                <a:cs typeface="Calibri" pitchFamily="34" charset="-120"/>
              </a:rPr>
              <a:t>ben.norton@yale.edu</a:t>
            </a:r>
            <a:endParaRPr lang="en-US" sz="1400" dirty="0"/>
          </a:p>
        </p:txBody>
      </p:sp>
      <p:sp>
        <p:nvSpPr>
          <p:cNvPr id="17" name="Text 11"/>
          <p:cNvSpPr txBox="1"/>
          <p:nvPr/>
        </p:nvSpPr>
        <p:spPr>
          <a:xfrm>
            <a:off x="548640" y="6080760"/>
            <a:ext cx="8229600" cy="274320"/>
          </a:xfrm>
          <a:prstGeom prst="rect">
            <a:avLst/>
          </a:prstGeom>
          <a:noFill/>
          <a:ln/>
        </p:spPr>
        <p:txBody>
          <a:bodyPr wrap="square" lIns="0" tIns="0" rIns="0" bIns="0" rtlCol="0" anchor="t"/>
          <a:lstStyle/>
          <a:p>
            <a:pPr marL="0" indent="0">
              <a:buNone/>
            </a:pPr>
            <a:r>
              <a:rPr lang="en-US" sz="1100" dirty="0">
                <a:solidFill>
                  <a:srgbClr val="8D939D"/>
                </a:solidFill>
                <a:latin typeface="Calibri" pitchFamily="34" charset="0"/>
                <a:ea typeface="Calibri" pitchFamily="34" charset="-122"/>
                <a:cs typeface="Calibri" pitchFamily="34" charset="-120"/>
              </a:rPr>
              <a:t>Ben Norton (Yale University)   |   TDWG 2026, Oslo   |   September 2026</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93192"/>
            <a:ext cx="1356360" cy="274320"/>
          </a:xfrm>
          <a:prstGeom prst="rect">
            <a:avLst/>
          </a:prstGeom>
          <a:noFill/>
          <a:ln/>
        </p:spPr>
        <p:txBody>
          <a:bodyPr wrap="square" lIns="0" tIns="0" rIns="0" bIns="0" rtlCol="0" anchor="ctr"/>
          <a:lstStyle/>
          <a:p>
            <a:pPr marL="0" indent="0">
              <a:buNone/>
            </a:pPr>
            <a:r>
              <a:rPr lang="en-US" sz="1100" b="1" kern="0" spc="100" dirty="0">
                <a:solidFill>
                  <a:srgbClr val="A98B3C"/>
                </a:solidFill>
                <a:latin typeface="Calibri" pitchFamily="34" charset="0"/>
                <a:ea typeface="Calibri" pitchFamily="34" charset="-122"/>
                <a:cs typeface="Calibri" pitchFamily="34" charset="-120"/>
              </a:rPr>
              <a:t>CREDITS</a:t>
            </a:r>
            <a:endParaRPr lang="en-US" sz="1100" dirty="0"/>
          </a:p>
        </p:txBody>
      </p:sp>
      <p:sp>
        <p:nvSpPr>
          <p:cNvPr id="3" name="Text 1"/>
          <p:cNvSpPr txBox="1"/>
          <p:nvPr/>
        </p:nvSpPr>
        <p:spPr>
          <a:xfrm>
            <a:off x="548641" y="731520"/>
            <a:ext cx="4912360" cy="731520"/>
          </a:xfrm>
          <a:prstGeom prst="rect">
            <a:avLst/>
          </a:prstGeom>
          <a:noFill/>
          <a:ln/>
        </p:spPr>
        <p:txBody>
          <a:bodyPr wrap="square" lIns="0" tIns="0" rIns="0" bIns="0" rtlCol="0" anchor="ctr"/>
          <a:lstStyle/>
          <a:p>
            <a:pPr marL="0" indent="0">
              <a:buNone/>
            </a:pPr>
            <a:r>
              <a:rPr lang="en-US" sz="3400" b="1" dirty="0">
                <a:solidFill>
                  <a:srgbClr val="2B2E36"/>
                </a:solidFill>
                <a:latin typeface="Raleway" pitchFamily="34" charset="0"/>
                <a:ea typeface="Raleway" pitchFamily="34" charset="-122"/>
                <a:cs typeface="Raleway" pitchFamily="34" charset="-120"/>
              </a:rPr>
              <a:t>Attributions</a:t>
            </a:r>
            <a:endParaRPr lang="en-US" sz="3400" dirty="0"/>
          </a:p>
        </p:txBody>
      </p:sp>
      <p:sp>
        <p:nvSpPr>
          <p:cNvPr id="4" name="Text 2"/>
          <p:cNvSpPr txBox="1"/>
          <p:nvPr/>
        </p:nvSpPr>
        <p:spPr>
          <a:xfrm>
            <a:off x="526628" y="1463040"/>
            <a:ext cx="4934373" cy="365760"/>
          </a:xfrm>
          <a:prstGeom prst="rect">
            <a:avLst/>
          </a:prstGeom>
          <a:noFill/>
          <a:ln/>
        </p:spPr>
        <p:txBody>
          <a:bodyPr wrap="square" lIns="0" tIns="0" rIns="0" bIns="0" rtlCol="0" anchor="ctr"/>
          <a:lstStyle/>
          <a:p>
            <a:pPr marL="0" indent="0">
              <a:buNone/>
            </a:pPr>
            <a:r>
              <a:rPr lang="en-US" sz="1500" dirty="0">
                <a:solidFill>
                  <a:srgbClr val="50555F"/>
                </a:solidFill>
                <a:latin typeface="Calibri" pitchFamily="34" charset="0"/>
                <a:ea typeface="Calibri" pitchFamily="34" charset="-122"/>
                <a:cs typeface="Calibri" pitchFamily="34" charset="-120"/>
              </a:rPr>
              <a:t>Graphical assets, typefaces and tools used in this presentation.</a:t>
            </a:r>
            <a:endParaRPr lang="en-US" sz="1500" dirty="0"/>
          </a:p>
        </p:txBody>
      </p:sp>
      <p:sp>
        <p:nvSpPr>
          <p:cNvPr id="5" name="Shape 3"/>
          <p:cNvSpPr/>
          <p:nvPr/>
        </p:nvSpPr>
        <p:spPr>
          <a:xfrm>
            <a:off x="548641" y="2140567"/>
            <a:ext cx="6720840" cy="3200400"/>
          </a:xfrm>
          <a:prstGeom prst="roundRect">
            <a:avLst>
              <a:gd name="adj" fmla="val 2286"/>
            </a:avLst>
          </a:prstGeom>
          <a:solidFill>
            <a:srgbClr val="EEF3F7"/>
          </a:solidFill>
          <a:ln w="12700">
            <a:solidFill>
              <a:srgbClr val="EEF3F7"/>
            </a:solidFill>
            <a:prstDash val="solid"/>
          </a:ln>
        </p:spPr>
        <p:txBody>
          <a:bodyPr/>
          <a:lstStyle/>
          <a:p>
            <a:endParaRPr lang="en-US"/>
          </a:p>
        </p:txBody>
      </p:sp>
      <p:sp>
        <p:nvSpPr>
          <p:cNvPr id="6" name="Text 4"/>
          <p:cNvSpPr txBox="1"/>
          <p:nvPr/>
        </p:nvSpPr>
        <p:spPr>
          <a:xfrm>
            <a:off x="548640" y="5532120"/>
            <a:ext cx="6720840" cy="548640"/>
          </a:xfrm>
          <a:prstGeom prst="rect">
            <a:avLst/>
          </a:prstGeom>
          <a:noFill/>
          <a:ln/>
        </p:spPr>
        <p:txBody>
          <a:bodyPr wrap="square" lIns="0" tIns="0" rIns="0" bIns="0" rtlCol="0" anchor="t"/>
          <a:lstStyle/>
          <a:p>
            <a:pPr marL="0" indent="0">
              <a:buNone/>
            </a:pPr>
            <a:r>
              <a:rPr lang="en-US" sz="1250" i="1" dirty="0">
                <a:solidFill>
                  <a:srgbClr val="50555F"/>
                </a:solidFill>
                <a:latin typeface="Calibri" pitchFamily="34" charset="0"/>
                <a:ea typeface="Calibri" pitchFamily="34" charset="-122"/>
                <a:cs typeface="Calibri" pitchFamily="34" charset="-120"/>
              </a:rPr>
              <a:t>Icon and code licences permit reuse with attribution. Please keep this slide in any shared copy of the deck.</a:t>
            </a:r>
            <a:endParaRPr lang="en-US" sz="1250" dirty="0"/>
          </a:p>
        </p:txBody>
      </p:sp>
      <p:sp>
        <p:nvSpPr>
          <p:cNvPr id="7" name="Shape 5"/>
          <p:cNvSpPr/>
          <p:nvPr/>
        </p:nvSpPr>
        <p:spPr>
          <a:xfrm>
            <a:off x="822960" y="2331720"/>
            <a:ext cx="502920" cy="502920"/>
          </a:xfrm>
          <a:prstGeom prst="ellipse">
            <a:avLst/>
          </a:prstGeom>
          <a:solidFill>
            <a:srgbClr val="5F8FAF"/>
          </a:solidFill>
          <a:ln w="12700">
            <a:solidFill>
              <a:srgbClr val="5F8FAF"/>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48690" y="2457450"/>
            <a:ext cx="251460" cy="251460"/>
          </a:xfrm>
          <a:prstGeom prst="rect">
            <a:avLst/>
          </a:prstGeom>
        </p:spPr>
      </p:pic>
      <p:sp>
        <p:nvSpPr>
          <p:cNvPr id="9" name="Text 6"/>
          <p:cNvSpPr txBox="1"/>
          <p:nvPr/>
        </p:nvSpPr>
        <p:spPr>
          <a:xfrm>
            <a:off x="1508760" y="2377440"/>
            <a:ext cx="5486400" cy="365760"/>
          </a:xfrm>
          <a:prstGeom prst="rect">
            <a:avLst/>
          </a:prstGeom>
          <a:noFill/>
          <a:ln/>
        </p:spPr>
        <p:txBody>
          <a:bodyPr wrap="square" lIns="0" tIns="0" rIns="0" bIns="0" rtlCol="0" anchor="ctr"/>
          <a:lstStyle/>
          <a:p>
            <a:pPr marL="0" indent="0">
              <a:buNone/>
            </a:pPr>
            <a:r>
              <a:rPr lang="en-US" sz="1700" b="1" dirty="0">
                <a:solidFill>
                  <a:srgbClr val="2B2E36"/>
                </a:solidFill>
                <a:latin typeface="Calibri" pitchFamily="34" charset="0"/>
                <a:ea typeface="Calibri" pitchFamily="34" charset="-122"/>
                <a:cs typeface="Calibri" pitchFamily="34" charset="-120"/>
              </a:rPr>
              <a:t>Icons: Lucide</a:t>
            </a:r>
            <a:endParaRPr lang="en-US" sz="1700" dirty="0"/>
          </a:p>
        </p:txBody>
      </p:sp>
      <p:sp>
        <p:nvSpPr>
          <p:cNvPr id="10" name="Text 7"/>
          <p:cNvSpPr txBox="1"/>
          <p:nvPr/>
        </p:nvSpPr>
        <p:spPr>
          <a:xfrm>
            <a:off x="822960" y="3017520"/>
            <a:ext cx="6172200" cy="2194560"/>
          </a:xfrm>
          <a:prstGeom prst="rect">
            <a:avLst/>
          </a:prstGeom>
          <a:noFill/>
          <a:ln/>
        </p:spPr>
        <p:txBody>
          <a:bodyPr wrap="square" lIns="0" tIns="0" rIns="0" bIns="0" rtlCol="0" anchor="t"/>
          <a:lstStyle/>
          <a:p>
            <a:pPr marL="0" indent="0">
              <a:lnSpc>
                <a:spcPct val="110000"/>
              </a:lnSpc>
              <a:buNone/>
            </a:pPr>
            <a:r>
              <a:rPr lang="en-US" sz="1250" b="1" dirty="0">
                <a:solidFill>
                  <a:srgbClr val="2B2E36"/>
                </a:solidFill>
                <a:ea typeface="Open Sans" pitchFamily="2" charset="0"/>
                <a:cs typeface="Open Sans" pitchFamily="2" charset="0"/>
              </a:rPr>
              <a:t>Lucide icon set, lucide.dev. </a:t>
            </a:r>
            <a:r>
              <a:rPr lang="en-US" sz="1250" dirty="0">
                <a:solidFill>
                  <a:srgbClr val="50555F"/>
                </a:solidFill>
                <a:ea typeface="Open Sans" pitchFamily="2" charset="0"/>
                <a:cs typeface="Open Sans" pitchFamily="2" charset="0"/>
              </a:rPr>
              <a:t>ISC License, © Lucide Contributors. Portions derived from Feather (MIT License, © Cole Bemis). Rendered through the react-icons package (v5.6.0, MIT License) and recoloured for this deck.</a:t>
            </a:r>
            <a:endParaRPr lang="en-US" sz="1250" dirty="0">
              <a:ea typeface="Open Sans" pitchFamily="2" charset="0"/>
              <a:cs typeface="Open Sans" pitchFamily="2" charset="0"/>
            </a:endParaRPr>
          </a:p>
          <a:p>
            <a:pPr marL="0" indent="0">
              <a:lnSpc>
                <a:spcPct val="110000"/>
              </a:lnSpc>
              <a:buNone/>
            </a:pPr>
            <a:r>
              <a:rPr lang="en-US" sz="600" dirty="0">
                <a:solidFill>
                  <a:srgbClr val="000000"/>
                </a:solidFill>
                <a:ea typeface="Open Sans" pitchFamily="2" charset="0"/>
                <a:cs typeface="Open Sans" pitchFamily="2" charset="0"/>
              </a:rPr>
              <a:t> </a:t>
            </a:r>
            <a:endParaRPr lang="en-US" sz="1250" dirty="0">
              <a:ea typeface="Open Sans" pitchFamily="2" charset="0"/>
              <a:cs typeface="Open Sans" pitchFamily="2" charset="0"/>
            </a:endParaRPr>
          </a:p>
          <a:p>
            <a:pPr marL="0" indent="0">
              <a:lnSpc>
                <a:spcPct val="110000"/>
              </a:lnSpc>
              <a:buNone/>
            </a:pPr>
            <a:r>
              <a:rPr lang="en-US" sz="1250" b="1" dirty="0">
                <a:solidFill>
                  <a:srgbClr val="2B2E36"/>
                </a:solidFill>
                <a:ea typeface="Open Sans" pitchFamily="2" charset="0"/>
                <a:cs typeface="Open Sans" pitchFamily="2" charset="0"/>
              </a:rPr>
              <a:t>Icons used: </a:t>
            </a:r>
            <a:r>
              <a:rPr lang="en-US" sz="1250" dirty="0">
                <a:solidFill>
                  <a:srgbClr val="50555F"/>
                </a:solidFill>
                <a:ea typeface="Open Sans" pitchFamily="2" charset="0"/>
                <a:cs typeface="Open Sans" pitchFamily="2" charset="0"/>
              </a:rPr>
              <a:t>arrow-down, arrow-right, arrow-up-right, book-open, boxes, check, clock, code, coins, compass, download, eye, file-check, filter, folder-input, folder-open, gem, git-branch, graduation-cap, hand, handshake, image, key-round, languages, layers, list-checks, mail, map-pin, message-circle-question, messages-square, palette, package-check, pencil, puzzle, recycle, repeat, scale, search, search-check, shield-check, shuffle, sparkles, sprout, table, timer, type, trending-up, upload, user-check, users, wrench, x.</a:t>
            </a:r>
            <a:endParaRPr lang="en-US" sz="1250" dirty="0">
              <a:ea typeface="Open Sans" pitchFamily="2" charset="0"/>
              <a:cs typeface="Open Sans" pitchFamily="2" charset="0"/>
            </a:endParaRPr>
          </a:p>
        </p:txBody>
      </p:sp>
      <p:sp>
        <p:nvSpPr>
          <p:cNvPr id="11" name="Shape 8"/>
          <p:cNvSpPr/>
          <p:nvPr/>
        </p:nvSpPr>
        <p:spPr>
          <a:xfrm>
            <a:off x="7589520" y="2148840"/>
            <a:ext cx="457200" cy="457200"/>
          </a:xfrm>
          <a:prstGeom prst="ellipse">
            <a:avLst/>
          </a:prstGeom>
          <a:solidFill>
            <a:srgbClr val="A98B3C"/>
          </a:solidFill>
          <a:ln w="12700">
            <a:solidFill>
              <a:srgbClr val="A98B3C"/>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7703820" y="2263140"/>
            <a:ext cx="228600" cy="228600"/>
          </a:xfrm>
          <a:prstGeom prst="rect">
            <a:avLst/>
          </a:prstGeom>
        </p:spPr>
      </p:pic>
      <p:sp>
        <p:nvSpPr>
          <p:cNvPr id="13" name="Text 9"/>
          <p:cNvSpPr txBox="1"/>
          <p:nvPr/>
        </p:nvSpPr>
        <p:spPr>
          <a:xfrm>
            <a:off x="8183880" y="2103120"/>
            <a:ext cx="3474720" cy="292608"/>
          </a:xfrm>
          <a:prstGeom prst="rect">
            <a:avLst/>
          </a:prstGeom>
          <a:noFill/>
          <a:ln/>
        </p:spPr>
        <p:txBody>
          <a:bodyPr wrap="square" lIns="0" tIns="0" rIns="0" bIns="0" rtlCol="0" anchor="t"/>
          <a:lstStyle/>
          <a:p>
            <a:pPr marL="0" indent="0">
              <a:buNone/>
            </a:pPr>
            <a:r>
              <a:rPr lang="en-US" sz="1400" b="1" dirty="0">
                <a:solidFill>
                  <a:srgbClr val="2B2E36"/>
                </a:solidFill>
                <a:latin typeface="Raleway" pitchFamily="2" charset="0"/>
                <a:ea typeface="Calibri" pitchFamily="34" charset="-122"/>
                <a:cs typeface="Calibri" pitchFamily="34" charset="-120"/>
              </a:rPr>
              <a:t>TDWG 2026 Oslo logo</a:t>
            </a:r>
            <a:endParaRPr lang="en-US" sz="1400" dirty="0">
              <a:latin typeface="Raleway" pitchFamily="2" charset="0"/>
            </a:endParaRPr>
          </a:p>
        </p:txBody>
      </p:sp>
      <p:sp>
        <p:nvSpPr>
          <p:cNvPr id="14" name="Text 10"/>
          <p:cNvSpPr txBox="1"/>
          <p:nvPr/>
        </p:nvSpPr>
        <p:spPr>
          <a:xfrm>
            <a:off x="8183880" y="2404872"/>
            <a:ext cx="3474720" cy="685800"/>
          </a:xfrm>
          <a:prstGeom prst="rect">
            <a:avLst/>
          </a:prstGeom>
          <a:noFill/>
          <a:ln/>
        </p:spPr>
        <p:txBody>
          <a:bodyPr wrap="square" lIns="0" tIns="0" rIns="0" bIns="0" rtlCol="0" anchor="t"/>
          <a:lstStyle/>
          <a:p>
            <a:pPr marL="0" indent="0">
              <a:buNone/>
            </a:pPr>
            <a:r>
              <a:rPr lang="en-US" sz="1150" dirty="0">
                <a:solidFill>
                  <a:srgbClr val="50555F"/>
                </a:solidFill>
                <a:latin typeface="Calibri" pitchFamily="34" charset="0"/>
                <a:ea typeface="Calibri" pitchFamily="34" charset="-122"/>
                <a:cs typeface="Calibri" pitchFamily="34" charset="-120"/>
              </a:rPr>
              <a:t>Conference logo of TDWG 2026 (Biodiversity Information Standards), used on the title and closing slides.</a:t>
            </a:r>
            <a:endParaRPr lang="en-US" sz="1150" dirty="0"/>
          </a:p>
        </p:txBody>
      </p:sp>
      <p:sp>
        <p:nvSpPr>
          <p:cNvPr id="15" name="Shape 11"/>
          <p:cNvSpPr/>
          <p:nvPr/>
        </p:nvSpPr>
        <p:spPr>
          <a:xfrm>
            <a:off x="7589520" y="3172968"/>
            <a:ext cx="457200" cy="457200"/>
          </a:xfrm>
          <a:prstGeom prst="ellipse">
            <a:avLst/>
          </a:prstGeom>
          <a:solidFill>
            <a:srgbClr val="2E5C8F"/>
          </a:solidFill>
          <a:ln w="12700">
            <a:solidFill>
              <a:srgbClr val="2E5C8F"/>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7703820" y="3287268"/>
            <a:ext cx="228600" cy="228600"/>
          </a:xfrm>
          <a:prstGeom prst="rect">
            <a:avLst/>
          </a:prstGeom>
        </p:spPr>
      </p:pic>
      <p:sp>
        <p:nvSpPr>
          <p:cNvPr id="17" name="Text 12"/>
          <p:cNvSpPr txBox="1"/>
          <p:nvPr/>
        </p:nvSpPr>
        <p:spPr>
          <a:xfrm>
            <a:off x="8183880" y="3127248"/>
            <a:ext cx="3474720" cy="292608"/>
          </a:xfrm>
          <a:prstGeom prst="rect">
            <a:avLst/>
          </a:prstGeom>
          <a:noFill/>
          <a:ln/>
        </p:spPr>
        <p:txBody>
          <a:bodyPr wrap="square" lIns="0" tIns="0" rIns="0" bIns="0" rtlCol="0" anchor="t"/>
          <a:lstStyle/>
          <a:p>
            <a:pPr marL="0" indent="0">
              <a:buNone/>
            </a:pPr>
            <a:r>
              <a:rPr lang="en-US" sz="1400" b="1" dirty="0">
                <a:solidFill>
                  <a:srgbClr val="2B2E36"/>
                </a:solidFill>
                <a:latin typeface="Calibri" pitchFamily="34" charset="0"/>
                <a:ea typeface="Calibri" pitchFamily="34" charset="-122"/>
                <a:cs typeface="Calibri" pitchFamily="34" charset="-120"/>
              </a:rPr>
              <a:t>Typefaces</a:t>
            </a:r>
            <a:endParaRPr lang="en-US" sz="1400" dirty="0"/>
          </a:p>
        </p:txBody>
      </p:sp>
      <p:sp>
        <p:nvSpPr>
          <p:cNvPr id="18" name="Text 13"/>
          <p:cNvSpPr txBox="1"/>
          <p:nvPr/>
        </p:nvSpPr>
        <p:spPr>
          <a:xfrm>
            <a:off x="8183880" y="3429000"/>
            <a:ext cx="3474720" cy="685800"/>
          </a:xfrm>
          <a:prstGeom prst="rect">
            <a:avLst/>
          </a:prstGeom>
          <a:noFill/>
          <a:ln/>
        </p:spPr>
        <p:txBody>
          <a:bodyPr wrap="square" lIns="0" tIns="0" rIns="0" bIns="0" rtlCol="0" anchor="t"/>
          <a:lstStyle/>
          <a:p>
            <a:pPr marL="0" indent="0">
              <a:buNone/>
            </a:pPr>
            <a:r>
              <a:rPr lang="en-US" sz="1150" dirty="0">
                <a:solidFill>
                  <a:srgbClr val="50555F"/>
                </a:solidFill>
                <a:latin typeface="Calibri" pitchFamily="34" charset="0"/>
                <a:ea typeface="Calibri" pitchFamily="34" charset="-122"/>
                <a:cs typeface="Calibri" pitchFamily="34" charset="-120"/>
              </a:rPr>
              <a:t>Raleway (Google Fonts, SIL Open Font License) and Calibri (Microsoft). Courier New for file paths.</a:t>
            </a:r>
            <a:endParaRPr lang="en-US" sz="1150" dirty="0"/>
          </a:p>
        </p:txBody>
      </p:sp>
      <p:sp>
        <p:nvSpPr>
          <p:cNvPr id="19" name="Shape 14"/>
          <p:cNvSpPr/>
          <p:nvPr/>
        </p:nvSpPr>
        <p:spPr>
          <a:xfrm>
            <a:off x="7589520" y="4197096"/>
            <a:ext cx="457200" cy="457200"/>
          </a:xfrm>
          <a:prstGeom prst="ellipse">
            <a:avLst/>
          </a:prstGeom>
          <a:solidFill>
            <a:srgbClr val="5F8FAF"/>
          </a:solidFill>
          <a:ln w="12700">
            <a:solidFill>
              <a:srgbClr val="5F8FAF"/>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7703820" y="4311396"/>
            <a:ext cx="228600" cy="228600"/>
          </a:xfrm>
          <a:prstGeom prst="rect">
            <a:avLst/>
          </a:prstGeom>
        </p:spPr>
      </p:pic>
      <p:sp>
        <p:nvSpPr>
          <p:cNvPr id="21" name="Text 15"/>
          <p:cNvSpPr txBox="1"/>
          <p:nvPr/>
        </p:nvSpPr>
        <p:spPr>
          <a:xfrm>
            <a:off x="8183880" y="4151376"/>
            <a:ext cx="3474720" cy="292608"/>
          </a:xfrm>
          <a:prstGeom prst="rect">
            <a:avLst/>
          </a:prstGeom>
          <a:noFill/>
          <a:ln/>
        </p:spPr>
        <p:txBody>
          <a:bodyPr wrap="square" lIns="0" tIns="0" rIns="0" bIns="0" rtlCol="0" anchor="t"/>
          <a:lstStyle/>
          <a:p>
            <a:pPr marL="0" indent="0">
              <a:buNone/>
            </a:pPr>
            <a:r>
              <a:rPr lang="en-US" sz="1400" b="1" dirty="0">
                <a:solidFill>
                  <a:srgbClr val="2B2E36"/>
                </a:solidFill>
                <a:latin typeface="Calibri" pitchFamily="34" charset="0"/>
                <a:ea typeface="Calibri" pitchFamily="34" charset="-122"/>
                <a:cs typeface="Calibri" pitchFamily="34" charset="-120"/>
              </a:rPr>
              <a:t>Design and diagrams</a:t>
            </a:r>
            <a:endParaRPr lang="en-US" sz="1400" dirty="0"/>
          </a:p>
        </p:txBody>
      </p:sp>
      <p:sp>
        <p:nvSpPr>
          <p:cNvPr id="22" name="Text 16"/>
          <p:cNvSpPr txBox="1"/>
          <p:nvPr/>
        </p:nvSpPr>
        <p:spPr>
          <a:xfrm>
            <a:off x="8183880" y="4453128"/>
            <a:ext cx="3474720" cy="685800"/>
          </a:xfrm>
          <a:prstGeom prst="rect">
            <a:avLst/>
          </a:prstGeom>
          <a:noFill/>
          <a:ln/>
        </p:spPr>
        <p:txBody>
          <a:bodyPr wrap="square" lIns="0" tIns="0" rIns="0" bIns="0" rtlCol="0" anchor="t"/>
          <a:lstStyle/>
          <a:p>
            <a:pPr marL="0" indent="0">
              <a:buNone/>
            </a:pPr>
            <a:r>
              <a:rPr lang="en-US" sz="1150" dirty="0">
                <a:solidFill>
                  <a:srgbClr val="50555F"/>
                </a:solidFill>
                <a:latin typeface="Calibri" pitchFamily="34" charset="0"/>
                <a:ea typeface="Calibri" pitchFamily="34" charset="-122"/>
                <a:cs typeface="Calibri" pitchFamily="34" charset="-120"/>
              </a:rPr>
              <a:t>Colour palette and layout adapted from the SYM06 “Rocks, Minerals, and Metadata” deck. Diagrams and timelines are original to this presentation.</a:t>
            </a:r>
            <a:endParaRPr lang="en-US" sz="1150" dirty="0"/>
          </a:p>
        </p:txBody>
      </p:sp>
      <p:sp>
        <p:nvSpPr>
          <p:cNvPr id="23" name="Shape 17"/>
          <p:cNvSpPr/>
          <p:nvPr/>
        </p:nvSpPr>
        <p:spPr>
          <a:xfrm>
            <a:off x="7589520" y="5221224"/>
            <a:ext cx="457200" cy="457200"/>
          </a:xfrm>
          <a:prstGeom prst="ellipse">
            <a:avLst/>
          </a:prstGeom>
          <a:solidFill>
            <a:srgbClr val="2E5C8F"/>
          </a:solidFill>
          <a:ln w="12700">
            <a:solidFill>
              <a:srgbClr val="2E5C8F"/>
            </a:solidFill>
            <a:prstDash val="solid"/>
          </a:ln>
        </p:spPr>
        <p:txBody>
          <a:bodyPr/>
          <a:lstStyle/>
          <a:p>
            <a:endParaRPr lang="en-US"/>
          </a:p>
        </p:txBody>
      </p:sp>
      <p:pic>
        <p:nvPicPr>
          <p:cNvPr id="24" name="Image 4" descr="preencoded.png"/>
          <p:cNvPicPr>
            <a:picLocks noChangeAspect="1"/>
          </p:cNvPicPr>
          <p:nvPr/>
        </p:nvPicPr>
        <p:blipFill>
          <a:blip r:embed="rId7"/>
          <a:stretch>
            <a:fillRect/>
          </a:stretch>
        </p:blipFill>
        <p:spPr>
          <a:xfrm>
            <a:off x="7703820" y="5335524"/>
            <a:ext cx="228600" cy="228600"/>
          </a:xfrm>
          <a:prstGeom prst="rect">
            <a:avLst/>
          </a:prstGeom>
        </p:spPr>
      </p:pic>
      <p:sp>
        <p:nvSpPr>
          <p:cNvPr id="25" name="Text 18"/>
          <p:cNvSpPr txBox="1"/>
          <p:nvPr/>
        </p:nvSpPr>
        <p:spPr>
          <a:xfrm>
            <a:off x="8183880" y="5175504"/>
            <a:ext cx="3474720" cy="292608"/>
          </a:xfrm>
          <a:prstGeom prst="rect">
            <a:avLst/>
          </a:prstGeom>
          <a:noFill/>
          <a:ln/>
        </p:spPr>
        <p:txBody>
          <a:bodyPr wrap="square" lIns="0" tIns="0" rIns="0" bIns="0" rtlCol="0" anchor="t"/>
          <a:lstStyle/>
          <a:p>
            <a:pPr marL="0" indent="0">
              <a:buNone/>
            </a:pPr>
            <a:r>
              <a:rPr lang="en-US" sz="1400" b="1" dirty="0">
                <a:solidFill>
                  <a:srgbClr val="2B2E36"/>
                </a:solidFill>
                <a:latin typeface="Calibri" pitchFamily="34" charset="0"/>
                <a:ea typeface="Calibri" pitchFamily="34" charset="-122"/>
                <a:cs typeface="Calibri" pitchFamily="34" charset="-120"/>
              </a:rPr>
              <a:t>Tools</a:t>
            </a:r>
            <a:endParaRPr lang="en-US" sz="1400" dirty="0"/>
          </a:p>
        </p:txBody>
      </p:sp>
      <p:sp>
        <p:nvSpPr>
          <p:cNvPr id="26" name="Text 19"/>
          <p:cNvSpPr txBox="1"/>
          <p:nvPr/>
        </p:nvSpPr>
        <p:spPr>
          <a:xfrm>
            <a:off x="8183880" y="5477256"/>
            <a:ext cx="3474720" cy="685800"/>
          </a:xfrm>
          <a:prstGeom prst="rect">
            <a:avLst/>
          </a:prstGeom>
          <a:noFill/>
          <a:ln/>
        </p:spPr>
        <p:txBody>
          <a:bodyPr wrap="square" lIns="0" tIns="0" rIns="0" bIns="0" rtlCol="0" anchor="t"/>
          <a:lstStyle/>
          <a:p>
            <a:pPr marL="0" indent="0">
              <a:buNone/>
            </a:pPr>
            <a:r>
              <a:rPr lang="en-US" sz="1150" dirty="0">
                <a:solidFill>
                  <a:srgbClr val="50555F"/>
                </a:solidFill>
                <a:latin typeface="Calibri" pitchFamily="34" charset="0"/>
                <a:ea typeface="Calibri" pitchFamily="34" charset="-122"/>
                <a:cs typeface="Calibri" pitchFamily="34" charset="-120"/>
              </a:rPr>
              <a:t>Built with PptxGenJS (MIT License). Figures come from profiling the tdwg2026-wks10 datasets.</a:t>
            </a:r>
            <a:endParaRPr lang="en-US" sz="1150" dirty="0"/>
          </a:p>
        </p:txBody>
      </p:sp>
      <p:sp>
        <p:nvSpPr>
          <p:cNvPr id="27" name="Text 20"/>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D939D"/>
                </a:solidFill>
                <a:latin typeface="Calibri" pitchFamily="34" charset="0"/>
                <a:ea typeface="Calibri" pitchFamily="34" charset="-122"/>
                <a:cs typeface="Calibri" pitchFamily="34" charset="-120"/>
              </a:rPr>
              <a:t>WKS10  ·  Building a Repeatable AI Pipeline</a:t>
            </a:r>
            <a:endParaRPr lang="en-US" sz="1000" dirty="0"/>
          </a:p>
        </p:txBody>
      </p:sp>
      <p:sp>
        <p:nvSpPr>
          <p:cNvPr id="28" name="Text 2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8D939D"/>
                </a:solidFill>
                <a:latin typeface="Calibri" pitchFamily="34" charset="0"/>
                <a:ea typeface="Calibri" pitchFamily="34" charset="-122"/>
                <a:cs typeface="Calibri" pitchFamily="34" charset="-120"/>
              </a:rPr>
              <a:t>34</a:t>
            </a:r>
            <a:endParaRPr lang="en-US" sz="1000" dirty="0"/>
          </a:p>
        </p:txBody>
      </p:sp>
      <p:sp>
        <p:nvSpPr>
          <p:cNvPr id="29" name="TextBox 28">
            <a:extLst>
              <a:ext uri="{FF2B5EF4-FFF2-40B4-BE49-F238E27FC236}">
                <a16:creationId xmlns:a16="http://schemas.microsoft.com/office/drawing/2014/main" id="{9056FB8F-2EE7-D3DB-8A5B-B354FD5AC3F1}"/>
              </a:ext>
            </a:extLst>
          </p:cNvPr>
          <p:cNvSpPr txBox="1"/>
          <p:nvPr/>
        </p:nvSpPr>
        <p:spPr>
          <a:xfrm>
            <a:off x="6587067" y="557654"/>
            <a:ext cx="5055988" cy="1109214"/>
          </a:xfrm>
          <a:prstGeom prst="rect">
            <a:avLst/>
          </a:prstGeom>
          <a:noFill/>
        </p:spPr>
        <p:txBody>
          <a:bodyPr wrap="square" rtlCol="0">
            <a:spAutoFit/>
          </a:bodyPr>
          <a:lstStyle/>
          <a:p>
            <a:pPr>
              <a:lnSpc>
                <a:spcPct val="120000"/>
              </a:lnSpc>
            </a:pPr>
            <a:r>
              <a:rPr lang="en-US" sz="1400" i="1" dirty="0"/>
              <a:t>Thanks to Yale Peabody Museum, </a:t>
            </a:r>
            <a:r>
              <a:rPr lang="en-US" sz="1400" i="1" dirty="0" err="1"/>
              <a:t>Naturhistorisches</a:t>
            </a:r>
            <a:r>
              <a:rPr lang="en-US" sz="1400" i="1" dirty="0"/>
              <a:t> Museum Bern, </a:t>
            </a:r>
            <a:r>
              <a:rPr lang="en-US" sz="1400" i="1" dirty="0" err="1"/>
              <a:t>Naturhistorisches</a:t>
            </a:r>
            <a:r>
              <a:rPr lang="en-US" sz="1400" i="1" dirty="0"/>
              <a:t> Museum Basel, </a:t>
            </a:r>
            <a:r>
              <a:rPr lang="en-US" sz="1400" i="1" dirty="0" err="1"/>
              <a:t>Muséum</a:t>
            </a:r>
            <a:r>
              <a:rPr lang="en-US" sz="1400" i="1" dirty="0"/>
              <a:t> </a:t>
            </a:r>
            <a:r>
              <a:rPr lang="en-US" sz="1400" i="1" dirty="0" err="1"/>
              <a:t>d'histoire</a:t>
            </a:r>
            <a:r>
              <a:rPr lang="en-US" sz="1400" i="1" dirty="0"/>
              <a:t> naturelle de Genève, and Natural History Museum  UK for providing source data for this presentation.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TotalTime>
  <Words>7967</Words>
  <Application>Microsoft Office PowerPoint</Application>
  <PresentationFormat>Widescreen</PresentationFormat>
  <Paragraphs>755</Paragraphs>
  <Slides>34</Slides>
  <Notes>34</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Courier New</vt:lpstr>
      <vt:lpstr>Open Sans</vt:lpstr>
      <vt:lpstr>Raleway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WKS10: Building a Repeatable AI Pipeline</dc:title>
  <dc:subject>PptxGenJS Presentation</dc:subject>
  <dc:creator>Ben Norton</dc:creator>
  <cp:lastModifiedBy>Ben Norton</cp:lastModifiedBy>
  <cp:revision>8</cp:revision>
  <dcterms:created xsi:type="dcterms:W3CDTF">2026-09-24T05:58:27Z</dcterms:created>
  <dcterms:modified xsi:type="dcterms:W3CDTF">2026-09-24T13:25:42Z</dcterms:modified>
</cp:coreProperties>
</file>